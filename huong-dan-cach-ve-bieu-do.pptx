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9"/>
  </p:notesMasterIdLst>
  <p:handoutMasterIdLst>
    <p:handoutMasterId r:id="rId40"/>
  </p:handoutMasterIdLst>
  <p:sldIdLst>
    <p:sldId id="706" r:id="rId5"/>
    <p:sldId id="770" r:id="rId6"/>
    <p:sldId id="741" r:id="rId7"/>
    <p:sldId id="742" r:id="rId8"/>
    <p:sldId id="743" r:id="rId9"/>
    <p:sldId id="744" r:id="rId10"/>
    <p:sldId id="771" r:id="rId11"/>
    <p:sldId id="745" r:id="rId12"/>
    <p:sldId id="746" r:id="rId13"/>
    <p:sldId id="747" r:id="rId14"/>
    <p:sldId id="774" r:id="rId15"/>
    <p:sldId id="704" r:id="rId16"/>
    <p:sldId id="737" r:id="rId17"/>
    <p:sldId id="738" r:id="rId18"/>
    <p:sldId id="772" r:id="rId19"/>
    <p:sldId id="739" r:id="rId20"/>
    <p:sldId id="775" r:id="rId21"/>
    <p:sldId id="748" r:id="rId22"/>
    <p:sldId id="750" r:id="rId23"/>
    <p:sldId id="751" r:id="rId24"/>
    <p:sldId id="752" r:id="rId25"/>
    <p:sldId id="753" r:id="rId26"/>
    <p:sldId id="773" r:id="rId27"/>
    <p:sldId id="777" r:id="rId28"/>
    <p:sldId id="778" r:id="rId29"/>
    <p:sldId id="779" r:id="rId30"/>
    <p:sldId id="780" r:id="rId31"/>
    <p:sldId id="781" r:id="rId32"/>
    <p:sldId id="782" r:id="rId33"/>
    <p:sldId id="783" r:id="rId34"/>
    <p:sldId id="784" r:id="rId35"/>
    <p:sldId id="785" r:id="rId36"/>
    <p:sldId id="786" r:id="rId37"/>
    <p:sldId id="769" r:id="rId38"/>
  </p:sldIdLst>
  <p:sldSz cx="9144000" cy="6858000" type="screen4x3"/>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xU0DNr95dvktJcfkGOn4xw==" hashData="1YGxLEMo01PYLzGej4X1z97A3+c+lvzf6uwBfJoCbbl8yyW0Iy4lVrGw+UIMUB68PeqsOtuFYPCIO+R8foGkjQ=="/>
  <p:extLst>
    <p:ext uri="{EFAFB233-063F-42B5-8137-9DF3F51BA10A}">
      <p15:sldGuideLst xmlns:p15="http://schemas.microsoft.com/office/powerpoint/2012/main">
        <p15:guide id="1" orient="horz" pos="2160" userDrawn="1">
          <p15:clr>
            <a:srgbClr val="A4A3A4"/>
          </p15:clr>
        </p15:guide>
        <p15:guide id="2" pos="249" userDrawn="1">
          <p15:clr>
            <a:srgbClr val="A4A3A4"/>
          </p15:clr>
        </p15:guide>
        <p15:guide id="4" pos="5511" userDrawn="1">
          <p15:clr>
            <a:srgbClr val="A4A3A4"/>
          </p15:clr>
        </p15:guide>
        <p15:guide id="5" orient="horz" pos="459" userDrawn="1">
          <p15:clr>
            <a:srgbClr val="A4A3A4"/>
          </p15:clr>
        </p15:guide>
        <p15:guide id="6" orient="horz" pos="3997" userDrawn="1">
          <p15:clr>
            <a:srgbClr val="A4A3A4"/>
          </p15:clr>
        </p15:guide>
        <p15:guide id="7"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50"/>
    <a:srgbClr val="C6E6A2"/>
    <a:srgbClr val="B4DE86"/>
    <a:srgbClr val="A9A9A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824" autoAdjust="0"/>
    <p:restoredTop sz="94249" autoAdjust="0"/>
  </p:normalViewPr>
  <p:slideViewPr>
    <p:cSldViewPr snapToGrid="0">
      <p:cViewPr varScale="1">
        <p:scale>
          <a:sx n="72" d="100"/>
          <a:sy n="72" d="100"/>
        </p:scale>
        <p:origin x="990" y="66"/>
      </p:cViewPr>
      <p:guideLst>
        <p:guide orient="horz" pos="2160"/>
        <p:guide pos="249"/>
        <p:guide pos="5511"/>
        <p:guide orient="horz" pos="459"/>
        <p:guide orient="horz" pos="3997"/>
        <p:guide pos="2880"/>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77" d="100"/>
          <a:sy n="77" d="100"/>
        </p:scale>
        <p:origin x="1776"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D5CF7B6E-06F8-4EA4-9972-29E59E3DA8F7}" type="datetimeFigureOut">
              <a:rPr kumimoji="1" lang="ja-JP" altLang="en-US" smtClean="0"/>
              <a:t>2023/7/14</a:t>
            </a:fld>
            <a:endParaRPr kumimoji="1" lang="ja-JP" altLang="en-US"/>
          </a:p>
        </p:txBody>
      </p:sp>
      <p:sp>
        <p:nvSpPr>
          <p:cNvPr id="4" name="フッター プレースホルダー 3"/>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49688" y="9429750"/>
            <a:ext cx="2946400" cy="496888"/>
          </a:xfrm>
          <a:prstGeom prst="rect">
            <a:avLst/>
          </a:prstGeom>
        </p:spPr>
        <p:txBody>
          <a:bodyPr vert="horz" lIns="91440" tIns="45720" rIns="91440" bIns="45720" rtlCol="0" anchor="b"/>
          <a:lstStyle>
            <a:lvl1pPr algn="r">
              <a:defRPr sz="1200"/>
            </a:lvl1pPr>
          </a:lstStyle>
          <a:p>
            <a:fld id="{CAB48240-D91F-4129-BF79-2A71E83D0D37}" type="slidenum">
              <a:rPr kumimoji="1" lang="ja-JP" altLang="en-US" smtClean="0"/>
              <a:t>‹#›</a:t>
            </a:fld>
            <a:endParaRPr kumimoji="1" lang="ja-JP" altLang="en-US"/>
          </a:p>
        </p:txBody>
      </p:sp>
    </p:spTree>
    <p:extLst>
      <p:ext uri="{BB962C8B-B14F-4D97-AF65-F5344CB8AC3E}">
        <p14:creationId xmlns:p14="http://schemas.microsoft.com/office/powerpoint/2010/main" val="29579740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FE9E4F50-57D5-4638-8961-5783F5566392}" type="datetimeFigureOut">
              <a:rPr kumimoji="1" lang="ja-JP" altLang="en-US" smtClean="0"/>
              <a:t>2023/7/14</a:t>
            </a:fld>
            <a:endParaRPr kumimoji="1" lang="ja-JP" altLang="en-US"/>
          </a:p>
        </p:txBody>
      </p:sp>
      <p:sp>
        <p:nvSpPr>
          <p:cNvPr id="4" name="スライド イメージ プレースホルダー 3"/>
          <p:cNvSpPr>
            <a:spLocks noGrp="1" noRot="1" noChangeAspect="1"/>
          </p:cNvSpPr>
          <p:nvPr>
            <p:ph type="sldImg" idx="2"/>
          </p:nvPr>
        </p:nvSpPr>
        <p:spPr>
          <a:xfrm>
            <a:off x="1165225" y="1241425"/>
            <a:ext cx="4467225" cy="334962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0E1B736C-7E22-4286-9492-6D135922483F}" type="slidenum">
              <a:rPr kumimoji="1" lang="ja-JP" altLang="en-US" smtClean="0"/>
              <a:t>‹#›</a:t>
            </a:fld>
            <a:endParaRPr kumimoji="1" lang="ja-JP" altLang="en-US"/>
          </a:p>
        </p:txBody>
      </p:sp>
    </p:spTree>
    <p:extLst>
      <p:ext uri="{BB962C8B-B14F-4D97-AF65-F5344CB8AC3E}">
        <p14:creationId xmlns:p14="http://schemas.microsoft.com/office/powerpoint/2010/main" val="281029248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0"/>
          </p:nvPr>
        </p:nvSpPr>
        <p:spPr/>
        <p:txBody>
          <a:bodyPr/>
          <a:lstStyle/>
          <a:p>
            <a:fld id="{0E1B736C-7E22-4286-9492-6D135922483F}" type="slidenum">
              <a:rPr kumimoji="1" lang="ja-JP" altLang="en-US" smtClean="0"/>
              <a:t>1</a:t>
            </a:fld>
            <a:endParaRPr kumimoji="1" lang="ja-JP" altLang="en-US"/>
          </a:p>
        </p:txBody>
      </p:sp>
    </p:spTree>
    <p:extLst>
      <p:ext uri="{BB962C8B-B14F-4D97-AF65-F5344CB8AC3E}">
        <p14:creationId xmlns:p14="http://schemas.microsoft.com/office/powerpoint/2010/main" val="41602271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0"/>
          </p:nvPr>
        </p:nvSpPr>
        <p:spPr/>
        <p:txBody>
          <a:bodyPr/>
          <a:lstStyle/>
          <a:p>
            <a:fld id="{0E1B736C-7E22-4286-9492-6D135922483F}" type="slidenum">
              <a:rPr kumimoji="1" lang="ja-JP" altLang="en-US" smtClean="0"/>
              <a:t>2</a:t>
            </a:fld>
            <a:endParaRPr kumimoji="1" lang="ja-JP" altLang="en-US"/>
          </a:p>
        </p:txBody>
      </p:sp>
    </p:spTree>
    <p:extLst>
      <p:ext uri="{BB962C8B-B14F-4D97-AF65-F5344CB8AC3E}">
        <p14:creationId xmlns:p14="http://schemas.microsoft.com/office/powerpoint/2010/main" val="3620709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0"/>
          </p:nvPr>
        </p:nvSpPr>
        <p:spPr/>
        <p:txBody>
          <a:bodyPr/>
          <a:lstStyle/>
          <a:p>
            <a:fld id="{0E1B736C-7E22-4286-9492-6D135922483F}" type="slidenum">
              <a:rPr kumimoji="1" lang="ja-JP" altLang="en-US" smtClean="0"/>
              <a:t>3</a:t>
            </a:fld>
            <a:endParaRPr kumimoji="1" lang="ja-JP" altLang="en-US"/>
          </a:p>
        </p:txBody>
      </p:sp>
    </p:spTree>
    <p:extLst>
      <p:ext uri="{BB962C8B-B14F-4D97-AF65-F5344CB8AC3E}">
        <p14:creationId xmlns:p14="http://schemas.microsoft.com/office/powerpoint/2010/main" val="12794272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0"/>
          </p:nvPr>
        </p:nvSpPr>
        <p:spPr/>
        <p:txBody>
          <a:bodyPr/>
          <a:lstStyle/>
          <a:p>
            <a:fld id="{0E1B736C-7E22-4286-9492-6D135922483F}" type="slidenum">
              <a:rPr kumimoji="1" lang="ja-JP" altLang="en-US" smtClean="0"/>
              <a:t>4</a:t>
            </a:fld>
            <a:endParaRPr kumimoji="1" lang="ja-JP" altLang="en-US"/>
          </a:p>
        </p:txBody>
      </p:sp>
    </p:spTree>
    <p:extLst>
      <p:ext uri="{BB962C8B-B14F-4D97-AF65-F5344CB8AC3E}">
        <p14:creationId xmlns:p14="http://schemas.microsoft.com/office/powerpoint/2010/main" val="23830697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0"/>
          </p:nvPr>
        </p:nvSpPr>
        <p:spPr/>
        <p:txBody>
          <a:bodyPr/>
          <a:lstStyle/>
          <a:p>
            <a:fld id="{0E1B736C-7E22-4286-9492-6D135922483F}" type="slidenum">
              <a:rPr kumimoji="1" lang="ja-JP" altLang="en-US" smtClean="0"/>
              <a:t>5</a:t>
            </a:fld>
            <a:endParaRPr kumimoji="1" lang="ja-JP" altLang="en-US"/>
          </a:p>
        </p:txBody>
      </p:sp>
    </p:spTree>
    <p:extLst>
      <p:ext uri="{BB962C8B-B14F-4D97-AF65-F5344CB8AC3E}">
        <p14:creationId xmlns:p14="http://schemas.microsoft.com/office/powerpoint/2010/main" val="6592000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0"/>
          </p:nvPr>
        </p:nvSpPr>
        <p:spPr/>
        <p:txBody>
          <a:bodyPr/>
          <a:lstStyle/>
          <a:p>
            <a:fld id="{0E1B736C-7E22-4286-9492-6D135922483F}" type="slidenum">
              <a:rPr kumimoji="1" lang="ja-JP" altLang="en-US" smtClean="0"/>
              <a:t>6</a:t>
            </a:fld>
            <a:endParaRPr kumimoji="1" lang="ja-JP" altLang="en-US"/>
          </a:p>
        </p:txBody>
      </p:sp>
    </p:spTree>
    <p:extLst>
      <p:ext uri="{BB962C8B-B14F-4D97-AF65-F5344CB8AC3E}">
        <p14:creationId xmlns:p14="http://schemas.microsoft.com/office/powerpoint/2010/main" val="33338801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0"/>
          </p:nvPr>
        </p:nvSpPr>
        <p:spPr/>
        <p:txBody>
          <a:bodyPr/>
          <a:lstStyle/>
          <a:p>
            <a:fld id="{0E1B736C-7E22-4286-9492-6D135922483F}" type="slidenum">
              <a:rPr kumimoji="1" lang="ja-JP" altLang="en-US" smtClean="0"/>
              <a:t>7</a:t>
            </a:fld>
            <a:endParaRPr kumimoji="1" lang="ja-JP" altLang="en-US"/>
          </a:p>
        </p:txBody>
      </p:sp>
    </p:spTree>
    <p:extLst>
      <p:ext uri="{BB962C8B-B14F-4D97-AF65-F5344CB8AC3E}">
        <p14:creationId xmlns:p14="http://schemas.microsoft.com/office/powerpoint/2010/main" val="351106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0"/>
          </p:nvPr>
        </p:nvSpPr>
        <p:spPr/>
        <p:txBody>
          <a:bodyPr/>
          <a:lstStyle/>
          <a:p>
            <a:fld id="{0E1B736C-7E22-4286-9492-6D135922483F}" type="slidenum">
              <a:rPr kumimoji="1" lang="ja-JP" altLang="en-US" smtClean="0"/>
              <a:t>8</a:t>
            </a:fld>
            <a:endParaRPr kumimoji="1" lang="ja-JP" altLang="en-US"/>
          </a:p>
        </p:txBody>
      </p:sp>
    </p:spTree>
    <p:extLst>
      <p:ext uri="{BB962C8B-B14F-4D97-AF65-F5344CB8AC3E}">
        <p14:creationId xmlns:p14="http://schemas.microsoft.com/office/powerpoint/2010/main" val="10009867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0"/>
          </p:nvPr>
        </p:nvSpPr>
        <p:spPr/>
        <p:txBody>
          <a:bodyPr/>
          <a:lstStyle/>
          <a:p>
            <a:fld id="{0E1B736C-7E22-4286-9492-6D135922483F}" type="slidenum">
              <a:rPr kumimoji="1" lang="ja-JP" altLang="en-US" smtClean="0"/>
              <a:t>9</a:t>
            </a:fld>
            <a:endParaRPr kumimoji="1" lang="ja-JP" altLang="en-US"/>
          </a:p>
        </p:txBody>
      </p:sp>
    </p:spTree>
    <p:extLst>
      <p:ext uri="{BB962C8B-B14F-4D97-AF65-F5344CB8AC3E}">
        <p14:creationId xmlns:p14="http://schemas.microsoft.com/office/powerpoint/2010/main" val="26020893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0"/>
          </p:nvPr>
        </p:nvSpPr>
        <p:spPr/>
        <p:txBody>
          <a:bodyPr/>
          <a:lstStyle/>
          <a:p>
            <a:fld id="{0E1B736C-7E22-4286-9492-6D135922483F}" type="slidenum">
              <a:rPr kumimoji="1" lang="ja-JP" altLang="en-US" smtClean="0"/>
              <a:t>10</a:t>
            </a:fld>
            <a:endParaRPr kumimoji="1" lang="ja-JP" altLang="en-US"/>
          </a:p>
        </p:txBody>
      </p:sp>
    </p:spTree>
    <p:extLst>
      <p:ext uri="{BB962C8B-B14F-4D97-AF65-F5344CB8AC3E}">
        <p14:creationId xmlns:p14="http://schemas.microsoft.com/office/powerpoint/2010/main" val="35360724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0"/>
          </p:nvPr>
        </p:nvSpPr>
        <p:spPr/>
        <p:txBody>
          <a:bodyPr/>
          <a:lstStyle/>
          <a:p>
            <a:fld id="{0E1B736C-7E22-4286-9492-6D135922483F}" type="slidenum">
              <a:rPr kumimoji="1" lang="ja-JP" altLang="en-US" smtClean="0"/>
              <a:t>11</a:t>
            </a:fld>
            <a:endParaRPr kumimoji="1" lang="ja-JP" altLang="en-US"/>
          </a:p>
        </p:txBody>
      </p:sp>
    </p:spTree>
    <p:extLst>
      <p:ext uri="{BB962C8B-B14F-4D97-AF65-F5344CB8AC3E}">
        <p14:creationId xmlns:p14="http://schemas.microsoft.com/office/powerpoint/2010/main" val="1263464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0"/>
          </p:nvPr>
        </p:nvSpPr>
        <p:spPr/>
        <p:txBody>
          <a:bodyPr/>
          <a:lstStyle/>
          <a:p>
            <a:fld id="{0E1B736C-7E22-4286-9492-6D135922483F}" type="slidenum">
              <a:rPr kumimoji="1" lang="ja-JP" altLang="en-US" smtClean="0"/>
              <a:t>12</a:t>
            </a:fld>
            <a:endParaRPr kumimoji="1" lang="ja-JP" altLang="en-US"/>
          </a:p>
        </p:txBody>
      </p:sp>
    </p:spTree>
    <p:extLst>
      <p:ext uri="{BB962C8B-B14F-4D97-AF65-F5344CB8AC3E}">
        <p14:creationId xmlns:p14="http://schemas.microsoft.com/office/powerpoint/2010/main" val="16945964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0"/>
          </p:nvPr>
        </p:nvSpPr>
        <p:spPr/>
        <p:txBody>
          <a:bodyPr/>
          <a:lstStyle/>
          <a:p>
            <a:fld id="{0E1B736C-7E22-4286-9492-6D135922483F}" type="slidenum">
              <a:rPr kumimoji="1" lang="ja-JP" altLang="en-US" smtClean="0"/>
              <a:t>13</a:t>
            </a:fld>
            <a:endParaRPr kumimoji="1" lang="ja-JP" altLang="en-US"/>
          </a:p>
        </p:txBody>
      </p:sp>
    </p:spTree>
    <p:extLst>
      <p:ext uri="{BB962C8B-B14F-4D97-AF65-F5344CB8AC3E}">
        <p14:creationId xmlns:p14="http://schemas.microsoft.com/office/powerpoint/2010/main" val="27120235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0"/>
          </p:nvPr>
        </p:nvSpPr>
        <p:spPr/>
        <p:txBody>
          <a:bodyPr/>
          <a:lstStyle/>
          <a:p>
            <a:fld id="{0E1B736C-7E22-4286-9492-6D135922483F}" type="slidenum">
              <a:rPr kumimoji="1" lang="ja-JP" altLang="en-US" smtClean="0"/>
              <a:t>14</a:t>
            </a:fld>
            <a:endParaRPr kumimoji="1" lang="ja-JP" altLang="en-US"/>
          </a:p>
        </p:txBody>
      </p:sp>
    </p:spTree>
    <p:extLst>
      <p:ext uri="{BB962C8B-B14F-4D97-AF65-F5344CB8AC3E}">
        <p14:creationId xmlns:p14="http://schemas.microsoft.com/office/powerpoint/2010/main" val="19924807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0"/>
          </p:nvPr>
        </p:nvSpPr>
        <p:spPr/>
        <p:txBody>
          <a:bodyPr/>
          <a:lstStyle/>
          <a:p>
            <a:fld id="{0E1B736C-7E22-4286-9492-6D135922483F}" type="slidenum">
              <a:rPr kumimoji="1" lang="ja-JP" altLang="en-US" smtClean="0"/>
              <a:t>15</a:t>
            </a:fld>
            <a:endParaRPr kumimoji="1" lang="ja-JP" altLang="en-US"/>
          </a:p>
        </p:txBody>
      </p:sp>
    </p:spTree>
    <p:extLst>
      <p:ext uri="{BB962C8B-B14F-4D97-AF65-F5344CB8AC3E}">
        <p14:creationId xmlns:p14="http://schemas.microsoft.com/office/powerpoint/2010/main" val="34431858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0"/>
          </p:nvPr>
        </p:nvSpPr>
        <p:spPr/>
        <p:txBody>
          <a:bodyPr/>
          <a:lstStyle/>
          <a:p>
            <a:fld id="{0E1B736C-7E22-4286-9492-6D135922483F}" type="slidenum">
              <a:rPr kumimoji="1" lang="ja-JP" altLang="en-US" smtClean="0"/>
              <a:t>16</a:t>
            </a:fld>
            <a:endParaRPr kumimoji="1" lang="ja-JP" altLang="en-US"/>
          </a:p>
        </p:txBody>
      </p:sp>
    </p:spTree>
    <p:extLst>
      <p:ext uri="{BB962C8B-B14F-4D97-AF65-F5344CB8AC3E}">
        <p14:creationId xmlns:p14="http://schemas.microsoft.com/office/powerpoint/2010/main" val="18915956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0"/>
          </p:nvPr>
        </p:nvSpPr>
        <p:spPr/>
        <p:txBody>
          <a:bodyPr/>
          <a:lstStyle/>
          <a:p>
            <a:fld id="{0E1B736C-7E22-4286-9492-6D135922483F}" type="slidenum">
              <a:rPr kumimoji="1" lang="ja-JP" altLang="en-US" smtClean="0"/>
              <a:t>17</a:t>
            </a:fld>
            <a:endParaRPr kumimoji="1" lang="ja-JP" altLang="en-US"/>
          </a:p>
        </p:txBody>
      </p:sp>
    </p:spTree>
    <p:extLst>
      <p:ext uri="{BB962C8B-B14F-4D97-AF65-F5344CB8AC3E}">
        <p14:creationId xmlns:p14="http://schemas.microsoft.com/office/powerpoint/2010/main" val="16248378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0"/>
          </p:nvPr>
        </p:nvSpPr>
        <p:spPr/>
        <p:txBody>
          <a:bodyPr/>
          <a:lstStyle/>
          <a:p>
            <a:fld id="{0E1B736C-7E22-4286-9492-6D135922483F}" type="slidenum">
              <a:rPr kumimoji="1" lang="ja-JP" altLang="en-US" smtClean="0"/>
              <a:t>18</a:t>
            </a:fld>
            <a:endParaRPr kumimoji="1" lang="ja-JP" altLang="en-US"/>
          </a:p>
        </p:txBody>
      </p:sp>
    </p:spTree>
    <p:extLst>
      <p:ext uri="{BB962C8B-B14F-4D97-AF65-F5344CB8AC3E}">
        <p14:creationId xmlns:p14="http://schemas.microsoft.com/office/powerpoint/2010/main" val="20595685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0"/>
          </p:nvPr>
        </p:nvSpPr>
        <p:spPr/>
        <p:txBody>
          <a:bodyPr/>
          <a:lstStyle/>
          <a:p>
            <a:fld id="{0E1B736C-7E22-4286-9492-6D135922483F}" type="slidenum">
              <a:rPr kumimoji="1" lang="ja-JP" altLang="en-US" smtClean="0"/>
              <a:t>19</a:t>
            </a:fld>
            <a:endParaRPr kumimoji="1" lang="ja-JP" altLang="en-US"/>
          </a:p>
        </p:txBody>
      </p:sp>
    </p:spTree>
    <p:extLst>
      <p:ext uri="{BB962C8B-B14F-4D97-AF65-F5344CB8AC3E}">
        <p14:creationId xmlns:p14="http://schemas.microsoft.com/office/powerpoint/2010/main" val="14322520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0"/>
          </p:nvPr>
        </p:nvSpPr>
        <p:spPr/>
        <p:txBody>
          <a:bodyPr/>
          <a:lstStyle/>
          <a:p>
            <a:fld id="{0E1B736C-7E22-4286-9492-6D135922483F}" type="slidenum">
              <a:rPr kumimoji="1" lang="ja-JP" altLang="en-US" smtClean="0"/>
              <a:t>20</a:t>
            </a:fld>
            <a:endParaRPr kumimoji="1" lang="ja-JP" altLang="en-US"/>
          </a:p>
        </p:txBody>
      </p:sp>
    </p:spTree>
    <p:extLst>
      <p:ext uri="{BB962C8B-B14F-4D97-AF65-F5344CB8AC3E}">
        <p14:creationId xmlns:p14="http://schemas.microsoft.com/office/powerpoint/2010/main" val="12639716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0"/>
          </p:nvPr>
        </p:nvSpPr>
        <p:spPr/>
        <p:txBody>
          <a:bodyPr/>
          <a:lstStyle/>
          <a:p>
            <a:fld id="{0E1B736C-7E22-4286-9492-6D135922483F}" type="slidenum">
              <a:rPr kumimoji="1" lang="ja-JP" altLang="en-US" smtClean="0"/>
              <a:t>21</a:t>
            </a:fld>
            <a:endParaRPr kumimoji="1" lang="ja-JP" altLang="en-US"/>
          </a:p>
        </p:txBody>
      </p:sp>
    </p:spTree>
    <p:extLst>
      <p:ext uri="{BB962C8B-B14F-4D97-AF65-F5344CB8AC3E}">
        <p14:creationId xmlns:p14="http://schemas.microsoft.com/office/powerpoint/2010/main" val="13766450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0"/>
          </p:nvPr>
        </p:nvSpPr>
        <p:spPr/>
        <p:txBody>
          <a:bodyPr/>
          <a:lstStyle/>
          <a:p>
            <a:fld id="{0E1B736C-7E22-4286-9492-6D135922483F}" type="slidenum">
              <a:rPr kumimoji="1" lang="ja-JP" altLang="en-US" smtClean="0"/>
              <a:t>22</a:t>
            </a:fld>
            <a:endParaRPr kumimoji="1" lang="ja-JP" altLang="en-US"/>
          </a:p>
        </p:txBody>
      </p:sp>
    </p:spTree>
    <p:extLst>
      <p:ext uri="{BB962C8B-B14F-4D97-AF65-F5344CB8AC3E}">
        <p14:creationId xmlns:p14="http://schemas.microsoft.com/office/powerpoint/2010/main" val="37718826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0"/>
          </p:nvPr>
        </p:nvSpPr>
        <p:spPr/>
        <p:txBody>
          <a:bodyPr/>
          <a:lstStyle/>
          <a:p>
            <a:fld id="{0E1B736C-7E22-4286-9492-6D135922483F}" type="slidenum">
              <a:rPr kumimoji="1" lang="ja-JP" altLang="en-US" smtClean="0"/>
              <a:t>23</a:t>
            </a:fld>
            <a:endParaRPr kumimoji="1" lang="ja-JP" altLang="en-US"/>
          </a:p>
        </p:txBody>
      </p:sp>
    </p:spTree>
    <p:extLst>
      <p:ext uri="{BB962C8B-B14F-4D97-AF65-F5344CB8AC3E}">
        <p14:creationId xmlns:p14="http://schemas.microsoft.com/office/powerpoint/2010/main" val="25032439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0"/>
          </p:nvPr>
        </p:nvSpPr>
        <p:spPr/>
        <p:txBody>
          <a:bodyPr/>
          <a:lstStyle/>
          <a:p>
            <a:fld id="{0E1B736C-7E22-4286-9492-6D135922483F}" type="slidenum">
              <a:rPr kumimoji="1" lang="ja-JP" altLang="en-US" smtClean="0"/>
              <a:t>24</a:t>
            </a:fld>
            <a:endParaRPr kumimoji="1" lang="ja-JP" altLang="en-US"/>
          </a:p>
        </p:txBody>
      </p:sp>
    </p:spTree>
    <p:extLst>
      <p:ext uri="{BB962C8B-B14F-4D97-AF65-F5344CB8AC3E}">
        <p14:creationId xmlns:p14="http://schemas.microsoft.com/office/powerpoint/2010/main" val="24037742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0"/>
          </p:nvPr>
        </p:nvSpPr>
        <p:spPr/>
        <p:txBody>
          <a:bodyPr/>
          <a:lstStyle/>
          <a:p>
            <a:fld id="{0E1B736C-7E22-4286-9492-6D135922483F}" type="slidenum">
              <a:rPr kumimoji="1" lang="ja-JP" altLang="en-US" smtClean="0"/>
              <a:t>25</a:t>
            </a:fld>
            <a:endParaRPr kumimoji="1" lang="ja-JP" altLang="en-US"/>
          </a:p>
        </p:txBody>
      </p:sp>
    </p:spTree>
    <p:extLst>
      <p:ext uri="{BB962C8B-B14F-4D97-AF65-F5344CB8AC3E}">
        <p14:creationId xmlns:p14="http://schemas.microsoft.com/office/powerpoint/2010/main" val="26450429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0"/>
          </p:nvPr>
        </p:nvSpPr>
        <p:spPr/>
        <p:txBody>
          <a:bodyPr/>
          <a:lstStyle/>
          <a:p>
            <a:fld id="{0E1B736C-7E22-4286-9492-6D135922483F}" type="slidenum">
              <a:rPr kumimoji="1" lang="ja-JP" altLang="en-US" smtClean="0"/>
              <a:t>26</a:t>
            </a:fld>
            <a:endParaRPr kumimoji="1" lang="ja-JP" altLang="en-US"/>
          </a:p>
        </p:txBody>
      </p:sp>
    </p:spTree>
    <p:extLst>
      <p:ext uri="{BB962C8B-B14F-4D97-AF65-F5344CB8AC3E}">
        <p14:creationId xmlns:p14="http://schemas.microsoft.com/office/powerpoint/2010/main" val="18339065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0"/>
          </p:nvPr>
        </p:nvSpPr>
        <p:spPr/>
        <p:txBody>
          <a:bodyPr/>
          <a:lstStyle/>
          <a:p>
            <a:fld id="{0E1B736C-7E22-4286-9492-6D135922483F}" type="slidenum">
              <a:rPr kumimoji="1" lang="ja-JP" altLang="en-US" smtClean="0"/>
              <a:t>27</a:t>
            </a:fld>
            <a:endParaRPr kumimoji="1" lang="ja-JP" altLang="en-US"/>
          </a:p>
        </p:txBody>
      </p:sp>
    </p:spTree>
    <p:extLst>
      <p:ext uri="{BB962C8B-B14F-4D97-AF65-F5344CB8AC3E}">
        <p14:creationId xmlns:p14="http://schemas.microsoft.com/office/powerpoint/2010/main" val="38662979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0"/>
          </p:nvPr>
        </p:nvSpPr>
        <p:spPr/>
        <p:txBody>
          <a:bodyPr/>
          <a:lstStyle/>
          <a:p>
            <a:fld id="{0E1B736C-7E22-4286-9492-6D135922483F}" type="slidenum">
              <a:rPr kumimoji="1" lang="ja-JP" altLang="en-US" smtClean="0"/>
              <a:t>28</a:t>
            </a:fld>
            <a:endParaRPr kumimoji="1" lang="ja-JP" altLang="en-US"/>
          </a:p>
        </p:txBody>
      </p:sp>
    </p:spTree>
    <p:extLst>
      <p:ext uri="{BB962C8B-B14F-4D97-AF65-F5344CB8AC3E}">
        <p14:creationId xmlns:p14="http://schemas.microsoft.com/office/powerpoint/2010/main" val="35243102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0"/>
          </p:nvPr>
        </p:nvSpPr>
        <p:spPr/>
        <p:txBody>
          <a:bodyPr/>
          <a:lstStyle/>
          <a:p>
            <a:fld id="{0E1B736C-7E22-4286-9492-6D135922483F}" type="slidenum">
              <a:rPr kumimoji="1" lang="ja-JP" altLang="en-US" smtClean="0"/>
              <a:t>29</a:t>
            </a:fld>
            <a:endParaRPr kumimoji="1" lang="ja-JP" altLang="en-US"/>
          </a:p>
        </p:txBody>
      </p:sp>
    </p:spTree>
    <p:extLst>
      <p:ext uri="{BB962C8B-B14F-4D97-AF65-F5344CB8AC3E}">
        <p14:creationId xmlns:p14="http://schemas.microsoft.com/office/powerpoint/2010/main" val="18108500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0"/>
          </p:nvPr>
        </p:nvSpPr>
        <p:spPr/>
        <p:txBody>
          <a:bodyPr/>
          <a:lstStyle/>
          <a:p>
            <a:fld id="{0E1B736C-7E22-4286-9492-6D135922483F}" type="slidenum">
              <a:rPr kumimoji="1" lang="ja-JP" altLang="en-US" smtClean="0"/>
              <a:t>30</a:t>
            </a:fld>
            <a:endParaRPr kumimoji="1" lang="ja-JP" altLang="en-US"/>
          </a:p>
        </p:txBody>
      </p:sp>
    </p:spTree>
    <p:extLst>
      <p:ext uri="{BB962C8B-B14F-4D97-AF65-F5344CB8AC3E}">
        <p14:creationId xmlns:p14="http://schemas.microsoft.com/office/powerpoint/2010/main" val="19650824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0"/>
          </p:nvPr>
        </p:nvSpPr>
        <p:spPr/>
        <p:txBody>
          <a:bodyPr/>
          <a:lstStyle/>
          <a:p>
            <a:fld id="{0E1B736C-7E22-4286-9492-6D135922483F}" type="slidenum">
              <a:rPr kumimoji="1" lang="ja-JP" altLang="en-US" smtClean="0"/>
              <a:t>31</a:t>
            </a:fld>
            <a:endParaRPr kumimoji="1" lang="ja-JP" altLang="en-US"/>
          </a:p>
        </p:txBody>
      </p:sp>
    </p:spTree>
    <p:extLst>
      <p:ext uri="{BB962C8B-B14F-4D97-AF65-F5344CB8AC3E}">
        <p14:creationId xmlns:p14="http://schemas.microsoft.com/office/powerpoint/2010/main" val="18971977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0"/>
          </p:nvPr>
        </p:nvSpPr>
        <p:spPr/>
        <p:txBody>
          <a:bodyPr/>
          <a:lstStyle/>
          <a:p>
            <a:fld id="{0E1B736C-7E22-4286-9492-6D135922483F}" type="slidenum">
              <a:rPr kumimoji="1" lang="ja-JP" altLang="en-US" smtClean="0"/>
              <a:t>32</a:t>
            </a:fld>
            <a:endParaRPr kumimoji="1" lang="ja-JP" altLang="en-US"/>
          </a:p>
        </p:txBody>
      </p:sp>
    </p:spTree>
    <p:extLst>
      <p:ext uri="{BB962C8B-B14F-4D97-AF65-F5344CB8AC3E}">
        <p14:creationId xmlns:p14="http://schemas.microsoft.com/office/powerpoint/2010/main" val="8708790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0"/>
          </p:nvPr>
        </p:nvSpPr>
        <p:spPr/>
        <p:txBody>
          <a:bodyPr/>
          <a:lstStyle/>
          <a:p>
            <a:fld id="{0E1B736C-7E22-4286-9492-6D135922483F}" type="slidenum">
              <a:rPr kumimoji="1" lang="ja-JP" altLang="en-US" smtClean="0"/>
              <a:t>33</a:t>
            </a:fld>
            <a:endParaRPr kumimoji="1" lang="ja-JP" altLang="en-US"/>
          </a:p>
        </p:txBody>
      </p:sp>
    </p:spTree>
    <p:extLst>
      <p:ext uri="{BB962C8B-B14F-4D97-AF65-F5344CB8AC3E}">
        <p14:creationId xmlns:p14="http://schemas.microsoft.com/office/powerpoint/2010/main" val="2425373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0"/>
          </p:nvPr>
        </p:nvSpPr>
        <p:spPr/>
        <p:txBody>
          <a:bodyPr/>
          <a:lstStyle/>
          <a:p>
            <a:fld id="{0E1B736C-7E22-4286-9492-6D135922483F}" type="slidenum">
              <a:rPr kumimoji="1" lang="ja-JP" altLang="en-US" smtClean="0"/>
              <a:t>34</a:t>
            </a:fld>
            <a:endParaRPr kumimoji="1" lang="ja-JP" altLang="en-US"/>
          </a:p>
        </p:txBody>
      </p:sp>
    </p:spTree>
    <p:extLst>
      <p:ext uri="{BB962C8B-B14F-4D97-AF65-F5344CB8AC3E}">
        <p14:creationId xmlns:p14="http://schemas.microsoft.com/office/powerpoint/2010/main" val="51060768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4_表紙用">
    <p:spTree>
      <p:nvGrpSpPr>
        <p:cNvPr id="1" name=""/>
        <p:cNvGrpSpPr/>
        <p:nvPr/>
      </p:nvGrpSpPr>
      <p:grpSpPr>
        <a:xfrm>
          <a:off x="0" y="0"/>
          <a:ext cx="0" cy="0"/>
          <a:chOff x="0" y="0"/>
          <a:chExt cx="0" cy="0"/>
        </a:xfrm>
      </p:grpSpPr>
      <p:sp>
        <p:nvSpPr>
          <p:cNvPr id="2" name="正方形/長方形 1"/>
          <p:cNvSpPr/>
          <p:nvPr userDrawn="1"/>
        </p:nvSpPr>
        <p:spPr>
          <a:xfrm>
            <a:off x="1" y="0"/>
            <a:ext cx="9144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5" name="Picture 1573"/>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276161" y="6213576"/>
            <a:ext cx="1919288" cy="416335"/>
          </a:xfrm>
          <a:prstGeom prst="rect">
            <a:avLst/>
          </a:prstGeom>
          <a:noFill/>
          <a:ln>
            <a:noFill/>
          </a:ln>
        </p:spPr>
      </p:pic>
      <p:pic>
        <p:nvPicPr>
          <p:cNvPr id="6" name="図 5">
            <a:extLst>
              <a:ext uri="{FF2B5EF4-FFF2-40B4-BE49-F238E27FC236}">
                <a16:creationId xmlns:a16="http://schemas.microsoft.com/office/drawing/2014/main" id="{FDC7A86C-DB6E-96B7-8133-F082B47D8BD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51698" y="0"/>
            <a:ext cx="4292301" cy="6858000"/>
          </a:xfrm>
          <a:prstGeom prst="rect">
            <a:avLst/>
          </a:prstGeom>
        </p:spPr>
      </p:pic>
    </p:spTree>
    <p:extLst>
      <p:ext uri="{BB962C8B-B14F-4D97-AF65-F5344CB8AC3E}">
        <p14:creationId xmlns:p14="http://schemas.microsoft.com/office/powerpoint/2010/main" val="36237151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白紙">
    <p:spTree>
      <p:nvGrpSpPr>
        <p:cNvPr id="1" name=""/>
        <p:cNvGrpSpPr/>
        <p:nvPr/>
      </p:nvGrpSpPr>
      <p:grpSpPr>
        <a:xfrm>
          <a:off x="0" y="0"/>
          <a:ext cx="0" cy="0"/>
          <a:chOff x="0" y="0"/>
          <a:chExt cx="0" cy="0"/>
        </a:xfrm>
      </p:grpSpPr>
      <p:sp>
        <p:nvSpPr>
          <p:cNvPr id="7" name="Slide Number Placeholder 5"/>
          <p:cNvSpPr>
            <a:spLocks noGrp="1"/>
          </p:cNvSpPr>
          <p:nvPr>
            <p:ph type="sldNum" sz="quarter" idx="4"/>
          </p:nvPr>
        </p:nvSpPr>
        <p:spPr>
          <a:xfrm>
            <a:off x="8518848" y="6483025"/>
            <a:ext cx="499707" cy="374975"/>
          </a:xfrm>
          <a:prstGeom prst="rect">
            <a:avLst/>
          </a:prstGeom>
        </p:spPr>
        <p:txBody>
          <a:bodyPr vert="horz" lIns="0" tIns="0" rIns="0" bIns="0" rtlCol="0" anchor="ctr" anchorCtr="0"/>
          <a:lstStyle>
            <a:lvl1pPr algn="r">
              <a:defRPr sz="1800">
                <a:solidFill>
                  <a:schemeClr val="tx1"/>
                </a:solidFill>
              </a:defRPr>
            </a:lvl1pPr>
          </a:lstStyle>
          <a:p>
            <a:fld id="{A3381702-59A5-4643-AE93-D7BF7F78153B}" type="slidenum">
              <a:rPr lang="en-GB" smtClean="0"/>
              <a:pPr/>
              <a:t>‹#›</a:t>
            </a:fld>
            <a:endParaRPr lang="en-GB" dirty="0"/>
          </a:p>
        </p:txBody>
      </p:sp>
      <p:sp>
        <p:nvSpPr>
          <p:cNvPr id="9" name="Footer Placeholder 4"/>
          <p:cNvSpPr>
            <a:spLocks noGrp="1"/>
          </p:cNvSpPr>
          <p:nvPr>
            <p:ph type="ftr" sz="quarter" idx="3"/>
          </p:nvPr>
        </p:nvSpPr>
        <p:spPr>
          <a:xfrm>
            <a:off x="6392174" y="6642000"/>
            <a:ext cx="2126674" cy="216000"/>
          </a:xfrm>
          <a:prstGeom prst="rect">
            <a:avLst/>
          </a:prstGeom>
        </p:spPr>
        <p:txBody>
          <a:bodyPr vert="horz" lIns="0" tIns="0" rIns="0" bIns="0" rtlCol="0" anchor="t" anchorCtr="0"/>
          <a:lstStyle>
            <a:lvl1pPr algn="r">
              <a:defRPr sz="700">
                <a:solidFill>
                  <a:schemeClr val="tx1"/>
                </a:solidFill>
                <a:latin typeface="+mn-lt"/>
              </a:defRPr>
            </a:lvl1pPr>
          </a:lstStyle>
          <a:p>
            <a:r>
              <a:rPr lang="fr-FR" altLang="ja-JP" dirty="0"/>
              <a:t>©20</a:t>
            </a:r>
            <a:r>
              <a:rPr lang="en-US" altLang="ja-JP" dirty="0"/>
              <a:t>23</a:t>
            </a:r>
            <a:r>
              <a:rPr lang="fr-FR" altLang="ja-JP" dirty="0"/>
              <a:t> KYOCERA Document Solutions Inc.</a:t>
            </a:r>
            <a:endParaRPr lang="en-GB" dirty="0"/>
          </a:p>
        </p:txBody>
      </p:sp>
    </p:spTree>
    <p:extLst>
      <p:ext uri="{BB962C8B-B14F-4D97-AF65-F5344CB8AC3E}">
        <p14:creationId xmlns:p14="http://schemas.microsoft.com/office/powerpoint/2010/main" val="158076037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395999" y="11831"/>
            <a:ext cx="8370630" cy="423341"/>
          </a:xfrm>
          <a:prstGeom prst="rect">
            <a:avLst/>
          </a:prstGeom>
        </p:spPr>
        <p:txBody>
          <a:bodyPr vert="horz" lIns="0" tIns="0" rIns="0" bIns="0" rtlCol="0" anchor="t" anchorCtr="0">
            <a:noAutofit/>
          </a:bodyPr>
          <a:lstStyle/>
          <a:p>
            <a:r>
              <a:rPr lang="ja-JP" altLang="en-US" dirty="0"/>
              <a:t>マスター タイトルの書式設定</a:t>
            </a:r>
            <a:endParaRPr lang="en-GB" dirty="0"/>
          </a:p>
        </p:txBody>
      </p:sp>
      <p:sp>
        <p:nvSpPr>
          <p:cNvPr id="8" name="Text Placeholder 2"/>
          <p:cNvSpPr>
            <a:spLocks noGrp="1"/>
          </p:cNvSpPr>
          <p:nvPr>
            <p:ph type="body" idx="1"/>
          </p:nvPr>
        </p:nvSpPr>
        <p:spPr>
          <a:xfrm>
            <a:off x="396000" y="1588957"/>
            <a:ext cx="8370629" cy="4062543"/>
          </a:xfrm>
          <a:prstGeom prst="rect">
            <a:avLst/>
          </a:prstGeom>
        </p:spPr>
        <p:txBody>
          <a:bodyPr vert="horz" lIns="0" tIns="0" rIns="0" bIns="0" rtlCol="0">
            <a:no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GB" dirty="0"/>
          </a:p>
        </p:txBody>
      </p:sp>
      <p:pic>
        <p:nvPicPr>
          <p:cNvPr id="12" name="Picture 9"/>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80327" y="6523613"/>
            <a:ext cx="1032653" cy="227114"/>
          </a:xfrm>
          <a:prstGeom prst="rect">
            <a:avLst/>
          </a:prstGeom>
          <a:noFill/>
          <a:ln>
            <a:noFill/>
          </a:ln>
        </p:spPr>
      </p:pic>
      <p:sp>
        <p:nvSpPr>
          <p:cNvPr id="15" name="Slide Number Placeholder 5"/>
          <p:cNvSpPr>
            <a:spLocks noGrp="1"/>
          </p:cNvSpPr>
          <p:nvPr>
            <p:ph type="sldNum" sz="quarter" idx="4"/>
          </p:nvPr>
        </p:nvSpPr>
        <p:spPr>
          <a:xfrm>
            <a:off x="8518848" y="6483025"/>
            <a:ext cx="499707" cy="374975"/>
          </a:xfrm>
          <a:prstGeom prst="rect">
            <a:avLst/>
          </a:prstGeom>
        </p:spPr>
        <p:txBody>
          <a:bodyPr vert="horz" lIns="0" tIns="0" rIns="0" bIns="0" rtlCol="0" anchor="t" anchorCtr="0"/>
          <a:lstStyle>
            <a:lvl1pPr algn="r">
              <a:defRPr sz="1800">
                <a:solidFill>
                  <a:schemeClr val="tx1"/>
                </a:solidFill>
              </a:defRPr>
            </a:lvl1pPr>
          </a:lstStyle>
          <a:p>
            <a:fld id="{A3381702-59A5-4643-AE93-D7BF7F78153B}" type="slidenum">
              <a:rPr lang="en-GB" smtClean="0"/>
              <a:pPr/>
              <a:t>‹#›</a:t>
            </a:fld>
            <a:endParaRPr lang="en-GB" dirty="0"/>
          </a:p>
        </p:txBody>
      </p:sp>
      <p:sp>
        <p:nvSpPr>
          <p:cNvPr id="16" name="Footer Placeholder 4"/>
          <p:cNvSpPr>
            <a:spLocks noGrp="1"/>
          </p:cNvSpPr>
          <p:nvPr>
            <p:ph type="ftr" sz="quarter" idx="3"/>
          </p:nvPr>
        </p:nvSpPr>
        <p:spPr>
          <a:xfrm>
            <a:off x="5640725" y="6642000"/>
            <a:ext cx="2878123" cy="216000"/>
          </a:xfrm>
          <a:prstGeom prst="rect">
            <a:avLst/>
          </a:prstGeom>
        </p:spPr>
        <p:txBody>
          <a:bodyPr vert="horz" lIns="0" tIns="0" rIns="0" bIns="0" rtlCol="0" anchor="ctr" anchorCtr="0"/>
          <a:lstStyle>
            <a:lvl1pPr algn="r">
              <a:defRPr sz="700">
                <a:solidFill>
                  <a:schemeClr val="tx1"/>
                </a:solidFill>
                <a:latin typeface="+mn-lt"/>
              </a:defRPr>
            </a:lvl1pPr>
          </a:lstStyle>
          <a:p>
            <a:r>
              <a:rPr lang="fr-FR" altLang="ja-JP" dirty="0"/>
              <a:t>©20</a:t>
            </a:r>
            <a:r>
              <a:rPr lang="en-US" altLang="ja-JP" dirty="0"/>
              <a:t>23</a:t>
            </a:r>
            <a:r>
              <a:rPr lang="fr-FR" altLang="ja-JP" dirty="0"/>
              <a:t> KYOCERA Document Solutions Inc.</a:t>
            </a:r>
            <a:endParaRPr lang="en-GB" dirty="0"/>
          </a:p>
        </p:txBody>
      </p:sp>
    </p:spTree>
    <p:extLst>
      <p:ext uri="{BB962C8B-B14F-4D97-AF65-F5344CB8AC3E}">
        <p14:creationId xmlns:p14="http://schemas.microsoft.com/office/powerpoint/2010/main" val="2952492359"/>
      </p:ext>
    </p:extLst>
  </p:cSld>
  <p:clrMap bg1="lt1" tx1="dk1" bg2="lt2" tx2="dk2" accent1="accent1" accent2="accent2" accent3="accent3" accent4="accent4" accent5="accent5" accent6="accent6" hlink="hlink" folHlink="folHlink"/>
  <p:sldLayoutIdLst>
    <p:sldLayoutId id="2147483690" r:id="rId1"/>
    <p:sldLayoutId id="2147483689" r:id="rId2"/>
  </p:sldLayoutIdLst>
  <p:hf hdr="0" dt="0"/>
  <p:txStyles>
    <p:title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34.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5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34">
            <a:extLst>
              <a:ext uri="{FF2B5EF4-FFF2-40B4-BE49-F238E27FC236}">
                <a16:creationId xmlns:a16="http://schemas.microsoft.com/office/drawing/2014/main" id="{2BE02E3C-7456-EBD9-02EA-255559ADFD4C}"/>
              </a:ext>
            </a:extLst>
          </p:cNvPr>
          <p:cNvSpPr>
            <a:spLocks noChangeAspect="1"/>
          </p:cNvSpPr>
          <p:nvPr/>
        </p:nvSpPr>
        <p:spPr bwMode="auto">
          <a:xfrm rot="10800000" flipV="1">
            <a:off x="738958" y="2155631"/>
            <a:ext cx="4134451" cy="119753"/>
          </a:xfrm>
          <a:custGeom>
            <a:avLst/>
            <a:gdLst>
              <a:gd name="T0" fmla="*/ 922 w 990"/>
              <a:gd name="T1" fmla="*/ 0 h 36"/>
              <a:gd name="T2" fmla="*/ 907 w 990"/>
              <a:gd name="T3" fmla="*/ 0 h 36"/>
              <a:gd name="T4" fmla="*/ 880 w 990"/>
              <a:gd name="T5" fmla="*/ 1 h 36"/>
              <a:gd name="T6" fmla="*/ 839 w 990"/>
              <a:gd name="T7" fmla="*/ 3 h 36"/>
              <a:gd name="T8" fmla="*/ 818 w 990"/>
              <a:gd name="T9" fmla="*/ 3 h 36"/>
              <a:gd name="T10" fmla="*/ 798 w 990"/>
              <a:gd name="T11" fmla="*/ 4 h 36"/>
              <a:gd name="T12" fmla="*/ 757 w 990"/>
              <a:gd name="T13" fmla="*/ 5 h 36"/>
              <a:gd name="T14" fmla="*/ 718 w 990"/>
              <a:gd name="T15" fmla="*/ 5 h 36"/>
              <a:gd name="T16" fmla="*/ 662 w 990"/>
              <a:gd name="T17" fmla="*/ 5 h 36"/>
              <a:gd name="T18" fmla="*/ 540 w 990"/>
              <a:gd name="T19" fmla="*/ 4 h 36"/>
              <a:gd name="T20" fmla="*/ 512 w 990"/>
              <a:gd name="T21" fmla="*/ 4 h 36"/>
              <a:gd name="T22" fmla="*/ 511 w 990"/>
              <a:gd name="T23" fmla="*/ 4 h 36"/>
              <a:gd name="T24" fmla="*/ 484 w 990"/>
              <a:gd name="T25" fmla="*/ 5 h 36"/>
              <a:gd name="T26" fmla="*/ 419 w 990"/>
              <a:gd name="T27" fmla="*/ 5 h 36"/>
              <a:gd name="T28" fmla="*/ 353 w 990"/>
              <a:gd name="T29" fmla="*/ 7 h 36"/>
              <a:gd name="T30" fmla="*/ 350 w 990"/>
              <a:gd name="T31" fmla="*/ 7 h 36"/>
              <a:gd name="T32" fmla="*/ 288 w 990"/>
              <a:gd name="T33" fmla="*/ 5 h 36"/>
              <a:gd name="T34" fmla="*/ 265 w 990"/>
              <a:gd name="T35" fmla="*/ 4 h 36"/>
              <a:gd name="T36" fmla="*/ 244 w 990"/>
              <a:gd name="T37" fmla="*/ 4 h 36"/>
              <a:gd name="T38" fmla="*/ 224 w 990"/>
              <a:gd name="T39" fmla="*/ 4 h 36"/>
              <a:gd name="T40" fmla="*/ 223 w 990"/>
              <a:gd name="T41" fmla="*/ 4 h 36"/>
              <a:gd name="T42" fmla="*/ 222 w 990"/>
              <a:gd name="T43" fmla="*/ 4 h 36"/>
              <a:gd name="T44" fmla="*/ 190 w 990"/>
              <a:gd name="T45" fmla="*/ 4 h 36"/>
              <a:gd name="T46" fmla="*/ 158 w 990"/>
              <a:gd name="T47" fmla="*/ 4 h 36"/>
              <a:gd name="T48" fmla="*/ 157 w 990"/>
              <a:gd name="T49" fmla="*/ 4 h 36"/>
              <a:gd name="T50" fmla="*/ 91 w 990"/>
              <a:gd name="T51" fmla="*/ 5 h 36"/>
              <a:gd name="T52" fmla="*/ 58 w 990"/>
              <a:gd name="T53" fmla="*/ 6 h 36"/>
              <a:gd name="T54" fmla="*/ 26 w 990"/>
              <a:gd name="T55" fmla="*/ 8 h 36"/>
              <a:gd name="T56" fmla="*/ 10 w 990"/>
              <a:gd name="T57" fmla="*/ 10 h 36"/>
              <a:gd name="T58" fmla="*/ 6 w 990"/>
              <a:gd name="T59" fmla="*/ 10 h 36"/>
              <a:gd name="T60" fmla="*/ 5 w 990"/>
              <a:gd name="T61" fmla="*/ 10 h 36"/>
              <a:gd name="T62" fmla="*/ 5 w 990"/>
              <a:gd name="T63" fmla="*/ 10 h 36"/>
              <a:gd name="T64" fmla="*/ 4 w 990"/>
              <a:gd name="T65" fmla="*/ 10 h 36"/>
              <a:gd name="T66" fmla="*/ 2 w 990"/>
              <a:gd name="T67" fmla="*/ 10 h 36"/>
              <a:gd name="T68" fmla="*/ 1 w 990"/>
              <a:gd name="T69" fmla="*/ 12 h 36"/>
              <a:gd name="T70" fmla="*/ 4 w 990"/>
              <a:gd name="T71" fmla="*/ 17 h 36"/>
              <a:gd name="T72" fmla="*/ 4 w 990"/>
              <a:gd name="T73" fmla="*/ 17 h 36"/>
              <a:gd name="T74" fmla="*/ 63 w 990"/>
              <a:gd name="T75" fmla="*/ 16 h 36"/>
              <a:gd name="T76" fmla="*/ 70 w 990"/>
              <a:gd name="T77" fmla="*/ 16 h 36"/>
              <a:gd name="T78" fmla="*/ 122 w 990"/>
              <a:gd name="T79" fmla="*/ 17 h 36"/>
              <a:gd name="T80" fmla="*/ 153 w 990"/>
              <a:gd name="T81" fmla="*/ 19 h 36"/>
              <a:gd name="T82" fmla="*/ 183 w 990"/>
              <a:gd name="T83" fmla="*/ 20 h 36"/>
              <a:gd name="T84" fmla="*/ 244 w 990"/>
              <a:gd name="T85" fmla="*/ 22 h 36"/>
              <a:gd name="T86" fmla="*/ 305 w 990"/>
              <a:gd name="T87" fmla="*/ 24 h 36"/>
              <a:gd name="T88" fmla="*/ 336 w 990"/>
              <a:gd name="T89" fmla="*/ 26 h 36"/>
              <a:gd name="T90" fmla="*/ 375 w 990"/>
              <a:gd name="T91" fmla="*/ 28 h 36"/>
              <a:gd name="T92" fmla="*/ 489 w 990"/>
              <a:gd name="T93" fmla="*/ 32 h 36"/>
              <a:gd name="T94" fmla="*/ 612 w 990"/>
              <a:gd name="T95" fmla="*/ 36 h 36"/>
              <a:gd name="T96" fmla="*/ 665 w 990"/>
              <a:gd name="T97" fmla="*/ 36 h 36"/>
              <a:gd name="T98" fmla="*/ 707 w 990"/>
              <a:gd name="T99" fmla="*/ 36 h 36"/>
              <a:gd name="T100" fmla="*/ 750 w 990"/>
              <a:gd name="T101" fmla="*/ 36 h 36"/>
              <a:gd name="T102" fmla="*/ 792 w 990"/>
              <a:gd name="T103" fmla="*/ 35 h 36"/>
              <a:gd name="T104" fmla="*/ 879 w 990"/>
              <a:gd name="T105" fmla="*/ 32 h 36"/>
              <a:gd name="T106" fmla="*/ 921 w 990"/>
              <a:gd name="T107" fmla="*/ 30 h 36"/>
              <a:gd name="T108" fmla="*/ 969 w 990"/>
              <a:gd name="T109" fmla="*/ 27 h 36"/>
              <a:gd name="T110" fmla="*/ 982 w 990"/>
              <a:gd name="T111" fmla="*/ 22 h 36"/>
              <a:gd name="T112" fmla="*/ 987 w 990"/>
              <a:gd name="T113" fmla="*/ 15 h 36"/>
              <a:gd name="T114" fmla="*/ 989 w 990"/>
              <a:gd name="T115" fmla="*/ 8 h 36"/>
              <a:gd name="T116" fmla="*/ 982 w 990"/>
              <a:gd name="T117" fmla="*/ 2 h 36"/>
              <a:gd name="T118" fmla="*/ 962 w 990"/>
              <a:gd name="T119" fmla="*/ 0 h 36"/>
              <a:gd name="T120" fmla="*/ 934 w 990"/>
              <a:gd name="T121" fmla="*/ 0 h 36"/>
              <a:gd name="T122" fmla="*/ 922 w 990"/>
              <a:gd name="T1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0" h="36">
                <a:moveTo>
                  <a:pt x="922" y="0"/>
                </a:moveTo>
                <a:cubicBezTo>
                  <a:pt x="917" y="0"/>
                  <a:pt x="912" y="0"/>
                  <a:pt x="907" y="0"/>
                </a:cubicBezTo>
                <a:cubicBezTo>
                  <a:pt x="898" y="0"/>
                  <a:pt x="889" y="1"/>
                  <a:pt x="880" y="1"/>
                </a:cubicBezTo>
                <a:cubicBezTo>
                  <a:pt x="839" y="3"/>
                  <a:pt x="839" y="3"/>
                  <a:pt x="839" y="3"/>
                </a:cubicBezTo>
                <a:cubicBezTo>
                  <a:pt x="818" y="3"/>
                  <a:pt x="818" y="3"/>
                  <a:pt x="818" y="3"/>
                </a:cubicBezTo>
                <a:cubicBezTo>
                  <a:pt x="798" y="4"/>
                  <a:pt x="798" y="4"/>
                  <a:pt x="798" y="4"/>
                </a:cubicBezTo>
                <a:cubicBezTo>
                  <a:pt x="757" y="5"/>
                  <a:pt x="757" y="5"/>
                  <a:pt x="757" y="5"/>
                </a:cubicBezTo>
                <a:cubicBezTo>
                  <a:pt x="744" y="5"/>
                  <a:pt x="731" y="5"/>
                  <a:pt x="718" y="5"/>
                </a:cubicBezTo>
                <a:cubicBezTo>
                  <a:pt x="699" y="5"/>
                  <a:pt x="681" y="5"/>
                  <a:pt x="662" y="5"/>
                </a:cubicBezTo>
                <a:cubicBezTo>
                  <a:pt x="540" y="4"/>
                  <a:pt x="540" y="4"/>
                  <a:pt x="540" y="4"/>
                </a:cubicBezTo>
                <a:cubicBezTo>
                  <a:pt x="512" y="4"/>
                  <a:pt x="512" y="4"/>
                  <a:pt x="512" y="4"/>
                </a:cubicBezTo>
                <a:cubicBezTo>
                  <a:pt x="512" y="4"/>
                  <a:pt x="511" y="4"/>
                  <a:pt x="511" y="4"/>
                </a:cubicBezTo>
                <a:cubicBezTo>
                  <a:pt x="502" y="4"/>
                  <a:pt x="493" y="4"/>
                  <a:pt x="484" y="5"/>
                </a:cubicBezTo>
                <a:cubicBezTo>
                  <a:pt x="462" y="5"/>
                  <a:pt x="441" y="5"/>
                  <a:pt x="419" y="5"/>
                </a:cubicBezTo>
                <a:cubicBezTo>
                  <a:pt x="397" y="6"/>
                  <a:pt x="375" y="7"/>
                  <a:pt x="353" y="7"/>
                </a:cubicBezTo>
                <a:cubicBezTo>
                  <a:pt x="352" y="7"/>
                  <a:pt x="351" y="7"/>
                  <a:pt x="350" y="7"/>
                </a:cubicBezTo>
                <a:cubicBezTo>
                  <a:pt x="330" y="7"/>
                  <a:pt x="309" y="5"/>
                  <a:pt x="288" y="5"/>
                </a:cubicBezTo>
                <a:cubicBezTo>
                  <a:pt x="280" y="4"/>
                  <a:pt x="272" y="4"/>
                  <a:pt x="265" y="4"/>
                </a:cubicBezTo>
                <a:cubicBezTo>
                  <a:pt x="258" y="4"/>
                  <a:pt x="251" y="4"/>
                  <a:pt x="244" y="4"/>
                </a:cubicBezTo>
                <a:cubicBezTo>
                  <a:pt x="237" y="4"/>
                  <a:pt x="230" y="4"/>
                  <a:pt x="224" y="4"/>
                </a:cubicBezTo>
                <a:cubicBezTo>
                  <a:pt x="223" y="4"/>
                  <a:pt x="223" y="4"/>
                  <a:pt x="223" y="4"/>
                </a:cubicBezTo>
                <a:cubicBezTo>
                  <a:pt x="223" y="4"/>
                  <a:pt x="222" y="4"/>
                  <a:pt x="222" y="4"/>
                </a:cubicBezTo>
                <a:cubicBezTo>
                  <a:pt x="212" y="4"/>
                  <a:pt x="201" y="4"/>
                  <a:pt x="190" y="4"/>
                </a:cubicBezTo>
                <a:cubicBezTo>
                  <a:pt x="180" y="4"/>
                  <a:pt x="169" y="4"/>
                  <a:pt x="158" y="4"/>
                </a:cubicBezTo>
                <a:cubicBezTo>
                  <a:pt x="158" y="4"/>
                  <a:pt x="157" y="4"/>
                  <a:pt x="157" y="4"/>
                </a:cubicBezTo>
                <a:cubicBezTo>
                  <a:pt x="135" y="4"/>
                  <a:pt x="113" y="4"/>
                  <a:pt x="91" y="5"/>
                </a:cubicBezTo>
                <a:cubicBezTo>
                  <a:pt x="80" y="5"/>
                  <a:pt x="69" y="6"/>
                  <a:pt x="58" y="6"/>
                </a:cubicBezTo>
                <a:cubicBezTo>
                  <a:pt x="48" y="6"/>
                  <a:pt x="37" y="7"/>
                  <a:pt x="26" y="8"/>
                </a:cubicBezTo>
                <a:cubicBezTo>
                  <a:pt x="10" y="10"/>
                  <a:pt x="10" y="10"/>
                  <a:pt x="10" y="10"/>
                </a:cubicBezTo>
                <a:cubicBezTo>
                  <a:pt x="6" y="10"/>
                  <a:pt x="6" y="10"/>
                  <a:pt x="6" y="10"/>
                </a:cubicBezTo>
                <a:cubicBezTo>
                  <a:pt x="6" y="10"/>
                  <a:pt x="5" y="10"/>
                  <a:pt x="5" y="10"/>
                </a:cubicBezTo>
                <a:cubicBezTo>
                  <a:pt x="5" y="10"/>
                  <a:pt x="5" y="10"/>
                  <a:pt x="5" y="10"/>
                </a:cubicBezTo>
                <a:cubicBezTo>
                  <a:pt x="4" y="10"/>
                  <a:pt x="4" y="10"/>
                  <a:pt x="4" y="10"/>
                </a:cubicBezTo>
                <a:cubicBezTo>
                  <a:pt x="3" y="10"/>
                  <a:pt x="2" y="10"/>
                  <a:pt x="2" y="10"/>
                </a:cubicBezTo>
                <a:cubicBezTo>
                  <a:pt x="1" y="10"/>
                  <a:pt x="1" y="11"/>
                  <a:pt x="1" y="12"/>
                </a:cubicBezTo>
                <a:cubicBezTo>
                  <a:pt x="0" y="15"/>
                  <a:pt x="2" y="17"/>
                  <a:pt x="4" y="17"/>
                </a:cubicBezTo>
                <a:cubicBezTo>
                  <a:pt x="4" y="17"/>
                  <a:pt x="4" y="17"/>
                  <a:pt x="4" y="17"/>
                </a:cubicBezTo>
                <a:cubicBezTo>
                  <a:pt x="24" y="17"/>
                  <a:pt x="43" y="16"/>
                  <a:pt x="63" y="16"/>
                </a:cubicBezTo>
                <a:cubicBezTo>
                  <a:pt x="65" y="16"/>
                  <a:pt x="67" y="16"/>
                  <a:pt x="70" y="16"/>
                </a:cubicBezTo>
                <a:cubicBezTo>
                  <a:pt x="87" y="16"/>
                  <a:pt x="105" y="16"/>
                  <a:pt x="122" y="17"/>
                </a:cubicBezTo>
                <a:cubicBezTo>
                  <a:pt x="133" y="18"/>
                  <a:pt x="143" y="19"/>
                  <a:pt x="153" y="19"/>
                </a:cubicBezTo>
                <a:cubicBezTo>
                  <a:pt x="183" y="20"/>
                  <a:pt x="183" y="20"/>
                  <a:pt x="183" y="20"/>
                </a:cubicBezTo>
                <a:cubicBezTo>
                  <a:pt x="203" y="20"/>
                  <a:pt x="224" y="21"/>
                  <a:pt x="244" y="22"/>
                </a:cubicBezTo>
                <a:cubicBezTo>
                  <a:pt x="265" y="22"/>
                  <a:pt x="285" y="23"/>
                  <a:pt x="305" y="24"/>
                </a:cubicBezTo>
                <a:cubicBezTo>
                  <a:pt x="336" y="26"/>
                  <a:pt x="336" y="26"/>
                  <a:pt x="336" y="26"/>
                </a:cubicBezTo>
                <a:cubicBezTo>
                  <a:pt x="346" y="26"/>
                  <a:pt x="361" y="28"/>
                  <a:pt x="375" y="28"/>
                </a:cubicBezTo>
                <a:cubicBezTo>
                  <a:pt x="416" y="31"/>
                  <a:pt x="448" y="31"/>
                  <a:pt x="489" y="32"/>
                </a:cubicBezTo>
                <a:cubicBezTo>
                  <a:pt x="530" y="34"/>
                  <a:pt x="571" y="35"/>
                  <a:pt x="612" y="36"/>
                </a:cubicBezTo>
                <a:cubicBezTo>
                  <a:pt x="629" y="36"/>
                  <a:pt x="647" y="36"/>
                  <a:pt x="665" y="36"/>
                </a:cubicBezTo>
                <a:cubicBezTo>
                  <a:pt x="679" y="36"/>
                  <a:pt x="693" y="36"/>
                  <a:pt x="707" y="36"/>
                </a:cubicBezTo>
                <a:cubicBezTo>
                  <a:pt x="750" y="36"/>
                  <a:pt x="750" y="36"/>
                  <a:pt x="750" y="36"/>
                </a:cubicBezTo>
                <a:cubicBezTo>
                  <a:pt x="792" y="35"/>
                  <a:pt x="792" y="35"/>
                  <a:pt x="792" y="35"/>
                </a:cubicBezTo>
                <a:cubicBezTo>
                  <a:pt x="821" y="34"/>
                  <a:pt x="850" y="33"/>
                  <a:pt x="879" y="32"/>
                </a:cubicBezTo>
                <a:cubicBezTo>
                  <a:pt x="921" y="30"/>
                  <a:pt x="921" y="30"/>
                  <a:pt x="921" y="30"/>
                </a:cubicBezTo>
                <a:cubicBezTo>
                  <a:pt x="937" y="30"/>
                  <a:pt x="953" y="29"/>
                  <a:pt x="969" y="27"/>
                </a:cubicBezTo>
                <a:cubicBezTo>
                  <a:pt x="973" y="26"/>
                  <a:pt x="979" y="25"/>
                  <a:pt x="982" y="22"/>
                </a:cubicBezTo>
                <a:cubicBezTo>
                  <a:pt x="984" y="20"/>
                  <a:pt x="986" y="17"/>
                  <a:pt x="987" y="15"/>
                </a:cubicBezTo>
                <a:cubicBezTo>
                  <a:pt x="989" y="13"/>
                  <a:pt x="990" y="10"/>
                  <a:pt x="989" y="8"/>
                </a:cubicBezTo>
                <a:cubicBezTo>
                  <a:pt x="988" y="4"/>
                  <a:pt x="985" y="3"/>
                  <a:pt x="982" y="2"/>
                </a:cubicBezTo>
                <a:cubicBezTo>
                  <a:pt x="975" y="0"/>
                  <a:pt x="968" y="0"/>
                  <a:pt x="962" y="0"/>
                </a:cubicBezTo>
                <a:cubicBezTo>
                  <a:pt x="934" y="0"/>
                  <a:pt x="934" y="0"/>
                  <a:pt x="934" y="0"/>
                </a:cubicBezTo>
                <a:cubicBezTo>
                  <a:pt x="930" y="0"/>
                  <a:pt x="926" y="0"/>
                  <a:pt x="922" y="0"/>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3" name="テキスト ボックス 11">
            <a:extLst>
              <a:ext uri="{FF2B5EF4-FFF2-40B4-BE49-F238E27FC236}">
                <a16:creationId xmlns:a16="http://schemas.microsoft.com/office/drawing/2014/main" id="{15FBC385-55D6-2198-A039-12B15E9CE8A4}"/>
              </a:ext>
            </a:extLst>
          </p:cNvPr>
          <p:cNvSpPr txBox="1"/>
          <p:nvPr/>
        </p:nvSpPr>
        <p:spPr>
          <a:xfrm>
            <a:off x="475528" y="1570856"/>
            <a:ext cx="4918526" cy="584775"/>
          </a:xfrm>
          <a:prstGeom prst="rect">
            <a:avLst/>
          </a:prstGeom>
          <a:noFill/>
        </p:spPr>
        <p:txBody>
          <a:bodyPr wrap="square" rtlCol="0">
            <a:spAutoFit/>
          </a:bodyPr>
          <a:lstStyle/>
          <a:p>
            <a:r>
              <a:rPr kumimoji="1" lang="en-US" altLang="ja-JP" sz="3200" b="1">
                <a:latin typeface="Calibri" panose="020F0502020204030204" pitchFamily="34" charset="0"/>
                <a:cs typeface="Calibri" panose="020F0502020204030204" pitchFamily="34" charset="0"/>
              </a:rPr>
              <a:t>HƯỚNG DẪN VẼ BIỂU ĐỒ</a:t>
            </a:r>
            <a:endParaRPr kumimoji="1" lang="vi-VN" altLang="ja-JP" sz="3200" b="1">
              <a:latin typeface="Calibri" panose="020F0502020204030204" pitchFamily="34" charset="0"/>
              <a:cs typeface="Calibri" panose="020F0502020204030204" pitchFamily="34" charset="0"/>
            </a:endParaRPr>
          </a:p>
        </p:txBody>
      </p:sp>
      <p:sp>
        <p:nvSpPr>
          <p:cNvPr id="4" name="テキスト ボックス 2">
            <a:extLst>
              <a:ext uri="{FF2B5EF4-FFF2-40B4-BE49-F238E27FC236}">
                <a16:creationId xmlns:a16="http://schemas.microsoft.com/office/drawing/2014/main" id="{F075C225-99EE-5523-3E44-4B635945388D}"/>
              </a:ext>
            </a:extLst>
          </p:cNvPr>
          <p:cNvSpPr txBox="1"/>
          <p:nvPr/>
        </p:nvSpPr>
        <p:spPr>
          <a:xfrm>
            <a:off x="313075" y="5371173"/>
            <a:ext cx="3985386" cy="369332"/>
          </a:xfrm>
          <a:prstGeom prst="rect">
            <a:avLst/>
          </a:prstGeom>
          <a:noFill/>
        </p:spPr>
        <p:txBody>
          <a:bodyPr wrap="none" rtlCol="0">
            <a:spAutoFit/>
          </a:bodyPr>
          <a:lstStyle/>
          <a:p>
            <a:r>
              <a:rPr kumimoji="1" lang="vi-VN" altLang="ja-JP" b="1" i="1">
                <a:latin typeface="+mj-lt"/>
              </a:rPr>
              <a:t>Ngày</a:t>
            </a:r>
            <a:r>
              <a:rPr kumimoji="1" lang="ja-JP" altLang="en-US" b="1" i="1">
                <a:latin typeface="+mj-lt"/>
              </a:rPr>
              <a:t> </a:t>
            </a:r>
            <a:r>
              <a:rPr kumimoji="1" lang="vi-VN" altLang="ja-JP" b="1" i="1">
                <a:latin typeface="+mj-lt"/>
              </a:rPr>
              <a:t> </a:t>
            </a:r>
            <a:r>
              <a:rPr kumimoji="1" lang="en-US" altLang="ja-JP" b="1" i="1">
                <a:latin typeface="+mj-lt"/>
              </a:rPr>
              <a:t>14</a:t>
            </a:r>
            <a:r>
              <a:rPr kumimoji="1" lang="vi-VN" altLang="ja-JP" b="1" i="1">
                <a:latin typeface="+mj-lt"/>
              </a:rPr>
              <a:t> </a:t>
            </a:r>
            <a:r>
              <a:rPr lang="vi-VN" altLang="ja-JP" b="1" i="1">
                <a:latin typeface="+mj-lt"/>
                <a:ea typeface="Meiryo UI" panose="020B0604030504040204" pitchFamily="50" charset="-128"/>
                <a:cs typeface="Meiryo UI" panose="020B0604030504040204" pitchFamily="50" charset="-128"/>
              </a:rPr>
              <a:t> </a:t>
            </a:r>
            <a:r>
              <a:rPr kumimoji="1" lang="vi-VN" altLang="ja-JP" b="1" i="1">
                <a:latin typeface="+mj-lt"/>
              </a:rPr>
              <a:t>tháng</a:t>
            </a:r>
            <a:r>
              <a:rPr lang="vi-VN" altLang="ja-JP" b="1" i="1">
                <a:latin typeface="+mj-lt"/>
                <a:ea typeface="Meiryo UI" panose="020B0604030504040204" pitchFamily="50" charset="-128"/>
                <a:cs typeface="Meiryo UI" panose="020B0604030504040204" pitchFamily="50" charset="-128"/>
              </a:rPr>
              <a:t> </a:t>
            </a:r>
            <a:r>
              <a:rPr kumimoji="1" lang="vi-VN" altLang="ja-JP" b="1" i="1">
                <a:latin typeface="+mj-lt"/>
              </a:rPr>
              <a:t> </a:t>
            </a:r>
            <a:r>
              <a:rPr kumimoji="1" lang="en-US" altLang="ja-JP" b="1" i="1">
                <a:latin typeface="+mj-lt"/>
              </a:rPr>
              <a:t>07</a:t>
            </a:r>
            <a:r>
              <a:rPr kumimoji="1" lang="vi-VN" altLang="ja-JP" b="1" i="1">
                <a:latin typeface="+mj-lt"/>
              </a:rPr>
              <a:t> </a:t>
            </a:r>
            <a:r>
              <a:rPr kumimoji="1" lang="ja-JP" altLang="en-US" b="1" i="1">
                <a:latin typeface="+mj-lt"/>
              </a:rPr>
              <a:t> </a:t>
            </a:r>
            <a:r>
              <a:rPr kumimoji="1" lang="vi-VN" altLang="ja-JP" b="1" i="1">
                <a:latin typeface="+mj-lt"/>
              </a:rPr>
              <a:t>năm</a:t>
            </a:r>
            <a:r>
              <a:rPr kumimoji="1" lang="ja-JP" altLang="en-US" b="1" i="1">
                <a:latin typeface="+mj-lt"/>
              </a:rPr>
              <a:t> </a:t>
            </a:r>
            <a:r>
              <a:rPr kumimoji="1" lang="vi-VN" altLang="ja-JP" b="1" i="1">
                <a:latin typeface="+mj-lt"/>
              </a:rPr>
              <a:t>202</a:t>
            </a:r>
            <a:r>
              <a:rPr kumimoji="1" lang="en-US" altLang="ja-JP" b="1" i="1">
                <a:latin typeface="+mj-lt"/>
              </a:rPr>
              <a:t>3</a:t>
            </a:r>
            <a:endParaRPr lang="ja-JP" altLang="en-US" b="1" i="1" dirty="0">
              <a:latin typeface="+mj-lt"/>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3025243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4"/>
          </p:nvPr>
        </p:nvSpPr>
        <p:spPr>
          <a:prstGeom prst="rect">
            <a:avLst/>
          </a:prstGeom>
        </p:spPr>
        <p:txBody>
          <a:bodyPr vert="horz" lIns="0" tIns="0" rIns="0" bIns="0" rtlCol="0" anchor="ctr" anchorCtr="0"/>
          <a:lstStyle>
            <a:lvl1pPr algn="r">
              <a:defRPr sz="1800">
                <a:solidFill>
                  <a:schemeClr val="tx1"/>
                </a:solidFill>
              </a:defRPr>
            </a:lvl1pPr>
          </a:lstStyle>
          <a:p>
            <a:fld id="{A3381702-59A5-4643-AE93-D7BF7F78153B}" type="slidenum">
              <a:rPr lang="en-GB" smtClean="0"/>
              <a:pPr/>
              <a:t>2</a:t>
            </a:fld>
            <a:endParaRPr lang="en-GB" dirty="0"/>
          </a:p>
        </p:txBody>
      </p:sp>
      <p:sp>
        <p:nvSpPr>
          <p:cNvPr id="8" name="Footer Placeholder 4"/>
          <p:cNvSpPr>
            <a:spLocks noGrp="1"/>
          </p:cNvSpPr>
          <p:nvPr>
            <p:ph type="ftr" sz="quarter" idx="3"/>
          </p:nvPr>
        </p:nvSpPr>
        <p:spPr>
          <a:prstGeom prst="rect">
            <a:avLst/>
          </a:prstGeom>
        </p:spPr>
        <p:txBody>
          <a:bodyPr vert="horz" lIns="0" tIns="0" rIns="0" bIns="0" rtlCol="0" anchor="t" anchorCtr="0"/>
          <a:lstStyle>
            <a:lvl1pPr algn="r">
              <a:defRPr sz="700">
                <a:solidFill>
                  <a:schemeClr val="tx1"/>
                </a:solidFill>
                <a:latin typeface="+mn-lt"/>
              </a:defRPr>
            </a:lvl1pPr>
          </a:lstStyle>
          <a:p>
            <a:r>
              <a:rPr lang="fr-FR" altLang="ja-JP" dirty="0"/>
              <a:t>©20</a:t>
            </a:r>
            <a:r>
              <a:rPr lang="en-US" altLang="ja-JP" dirty="0"/>
              <a:t>23</a:t>
            </a:r>
            <a:r>
              <a:rPr lang="fr-FR" altLang="ja-JP" dirty="0"/>
              <a:t> KYOCERA Document Solutions Inc.</a:t>
            </a:r>
            <a:endParaRPr lang="en-GB" dirty="0"/>
          </a:p>
        </p:txBody>
      </p:sp>
      <p:sp>
        <p:nvSpPr>
          <p:cNvPr id="3" name="Rectangle 2">
            <a:extLst>
              <a:ext uri="{FF2B5EF4-FFF2-40B4-BE49-F238E27FC236}">
                <a16:creationId xmlns:a16="http://schemas.microsoft.com/office/drawing/2014/main" id="{6180743F-434D-A46C-A761-F8126BC46D12}"/>
              </a:ext>
            </a:extLst>
          </p:cNvPr>
          <p:cNvSpPr/>
          <p:nvPr/>
        </p:nvSpPr>
        <p:spPr>
          <a:xfrm>
            <a:off x="295745" y="40624"/>
            <a:ext cx="4329265" cy="7545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nSpc>
                <a:spcPct val="107000"/>
              </a:lnSpc>
              <a:spcBef>
                <a:spcPts val="0"/>
              </a:spcBef>
              <a:spcAft>
                <a:spcPts val="800"/>
              </a:spcAft>
              <a:tabLst>
                <a:tab pos="457200" algn="l"/>
              </a:tabLst>
            </a:pPr>
            <a:r>
              <a:rPr lang="en-US" sz="2200" b="1">
                <a:solidFill>
                  <a:schemeClr val="tx1"/>
                </a:solidFill>
                <a:effectLst/>
                <a:latin typeface="Calibri" panose="020F0502020204030204" pitchFamily="34" charset="0"/>
                <a:ea typeface="游明朝" panose="02020400000000000000" pitchFamily="18" charset="-128"/>
                <a:cs typeface="Times New Roman" panose="02020603050405020304" pitchFamily="18" charset="0"/>
              </a:rPr>
              <a:t>MỤC LỤC</a:t>
            </a:r>
            <a:endParaRPr lang="en-US" sz="2200">
              <a:solidFill>
                <a:schemeClr val="tx1"/>
              </a:solidFill>
              <a:effectLst/>
              <a:latin typeface="Calibri" panose="020F0502020204030204" pitchFamily="34" charset="0"/>
              <a:ea typeface="游明朝" panose="02020400000000000000" pitchFamily="18" charset="-128"/>
              <a:cs typeface="Times New Roman" panose="02020603050405020304" pitchFamily="18" charset="0"/>
            </a:endParaRPr>
          </a:p>
        </p:txBody>
      </p:sp>
      <p:graphicFrame>
        <p:nvGraphicFramePr>
          <p:cNvPr id="5" name="Table 5">
            <a:extLst>
              <a:ext uri="{FF2B5EF4-FFF2-40B4-BE49-F238E27FC236}">
                <a16:creationId xmlns:a16="http://schemas.microsoft.com/office/drawing/2014/main" id="{F2C9C5EE-FD6A-7CA6-FE33-C331C2F021F7}"/>
              </a:ext>
            </a:extLst>
          </p:cNvPr>
          <p:cNvGraphicFramePr>
            <a:graphicFrameLocks noGrp="1"/>
          </p:cNvGraphicFramePr>
          <p:nvPr>
            <p:extLst>
              <p:ext uri="{D42A27DB-BD31-4B8C-83A1-F6EECF244321}">
                <p14:modId xmlns:p14="http://schemas.microsoft.com/office/powerpoint/2010/main" val="2220935706"/>
              </p:ext>
            </p:extLst>
          </p:nvPr>
        </p:nvGraphicFramePr>
        <p:xfrm>
          <a:off x="384487" y="683574"/>
          <a:ext cx="8295860" cy="5560131"/>
        </p:xfrm>
        <a:graphic>
          <a:graphicData uri="http://schemas.openxmlformats.org/drawingml/2006/table">
            <a:tbl>
              <a:tblPr firstRow="1" bandRow="1">
                <a:tableStyleId>{68D230F3-CF80-4859-8CE7-A43EE81993B5}</a:tableStyleId>
              </a:tblPr>
              <a:tblGrid>
                <a:gridCol w="871883">
                  <a:extLst>
                    <a:ext uri="{9D8B030D-6E8A-4147-A177-3AD203B41FA5}">
                      <a16:colId xmlns:a16="http://schemas.microsoft.com/office/drawing/2014/main" val="3741060136"/>
                    </a:ext>
                  </a:extLst>
                </a:gridCol>
                <a:gridCol w="2979756">
                  <a:extLst>
                    <a:ext uri="{9D8B030D-6E8A-4147-A177-3AD203B41FA5}">
                      <a16:colId xmlns:a16="http://schemas.microsoft.com/office/drawing/2014/main" val="3345785645"/>
                    </a:ext>
                  </a:extLst>
                </a:gridCol>
                <a:gridCol w="2824144">
                  <a:extLst>
                    <a:ext uri="{9D8B030D-6E8A-4147-A177-3AD203B41FA5}">
                      <a16:colId xmlns:a16="http://schemas.microsoft.com/office/drawing/2014/main" val="691195114"/>
                    </a:ext>
                  </a:extLst>
                </a:gridCol>
                <a:gridCol w="1620077">
                  <a:extLst>
                    <a:ext uri="{9D8B030D-6E8A-4147-A177-3AD203B41FA5}">
                      <a16:colId xmlns:a16="http://schemas.microsoft.com/office/drawing/2014/main" val="2854766230"/>
                    </a:ext>
                  </a:extLst>
                </a:gridCol>
              </a:tblGrid>
              <a:tr h="345916">
                <a:tc>
                  <a:txBody>
                    <a:bodyPr/>
                    <a:lstStyle/>
                    <a:p>
                      <a:pPr algn="ctr" fontAlgn="ctr"/>
                      <a:r>
                        <a:rPr lang="en-US" sz="1700" b="1" u="none" strike="noStrike">
                          <a:solidFill>
                            <a:srgbClr val="000000"/>
                          </a:solidFill>
                          <a:effectLst/>
                          <a:latin typeface="Calibri" panose="020F0502020204030204" pitchFamily="34" charset="0"/>
                          <a:cs typeface="Calibri" panose="020F0502020204030204" pitchFamily="34" charset="0"/>
                        </a:rPr>
                        <a:t>STT</a:t>
                      </a:r>
                      <a:endParaRPr lang="en-US" sz="17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700" b="1" i="0" u="none" strike="noStrike">
                          <a:solidFill>
                            <a:srgbClr val="000000"/>
                          </a:solidFill>
                          <a:effectLst/>
                          <a:latin typeface="Calibri" panose="020F0502020204030204" pitchFamily="34" charset="0"/>
                          <a:cs typeface="Calibri" panose="020F0502020204030204" pitchFamily="34" charset="0"/>
                        </a:rPr>
                        <a:t>Hạng mục</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700" b="1" i="0" u="none" strike="noStrike">
                          <a:solidFill>
                            <a:srgbClr val="000000"/>
                          </a:solidFill>
                          <a:effectLst/>
                          <a:latin typeface="Calibri" panose="020F0502020204030204" pitchFamily="34" charset="0"/>
                          <a:cs typeface="Calibri" panose="020F0502020204030204" pitchFamily="34" charset="0"/>
                        </a:rPr>
                        <a:t>Nội dung</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700" b="1" i="0" u="none" strike="noStrike">
                          <a:solidFill>
                            <a:srgbClr val="000000"/>
                          </a:solidFill>
                          <a:effectLst/>
                          <a:latin typeface="Calibri" panose="020F0502020204030204" pitchFamily="34" charset="0"/>
                          <a:cs typeface="Calibri" panose="020F0502020204030204" pitchFamily="34" charset="0"/>
                        </a:rPr>
                        <a:t>Slide</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38833448"/>
                  </a:ext>
                </a:extLst>
              </a:tr>
              <a:tr h="389026">
                <a:tc rowSpan="3">
                  <a:txBody>
                    <a:bodyPr/>
                    <a:lstStyle/>
                    <a:p>
                      <a:pPr algn="ctr" fontAlgn="ctr"/>
                      <a:r>
                        <a:rPr lang="en-US" sz="1700" b="0" i="0" u="none" strike="noStrike">
                          <a:solidFill>
                            <a:srgbClr val="000000"/>
                          </a:solidFill>
                          <a:effectLst/>
                          <a:latin typeface="Calibri" panose="020F0502020204030204" pitchFamily="34" charset="0"/>
                          <a:cs typeface="Calibri" panose="020F0502020204030204" pitchFamily="34" charset="0"/>
                        </a:rPr>
                        <a:t>1</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rowSpan="3">
                  <a:txBody>
                    <a:bodyPr/>
                    <a:lstStyle/>
                    <a:p>
                      <a:pPr algn="l" fontAlgn="ctr"/>
                      <a:r>
                        <a:rPr lang="en-US" sz="1700" b="0" u="none" strike="noStrike">
                          <a:solidFill>
                            <a:srgbClr val="000000"/>
                          </a:solidFill>
                          <a:effectLst/>
                          <a:latin typeface="Calibri" panose="020F0502020204030204" pitchFamily="34" charset="0"/>
                          <a:cs typeface="Calibri" panose="020F0502020204030204" pitchFamily="34" charset="0"/>
                        </a:rPr>
                        <a:t>Biểu đồ đường</a:t>
                      </a:r>
                      <a:endParaRPr lang="en-US" sz="1700" b="0"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700" b="0" i="0" u="none" strike="noStrike">
                          <a:solidFill>
                            <a:srgbClr val="000000"/>
                          </a:solidFill>
                          <a:effectLst/>
                          <a:latin typeface="Calibri" panose="020F0502020204030204" pitchFamily="34" charset="0"/>
                          <a:cs typeface="Calibri" panose="020F0502020204030204" pitchFamily="34" charset="0"/>
                        </a:rPr>
                        <a:t>Ý nghĩa</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700" b="0" i="0" u="none" strike="noStrike">
                          <a:solidFill>
                            <a:srgbClr val="000000"/>
                          </a:solidFill>
                          <a:effectLst/>
                          <a:latin typeface="Calibri" panose="020F0502020204030204" pitchFamily="34" charset="0"/>
                          <a:cs typeface="Calibri" panose="020F0502020204030204" pitchFamily="34" charset="0"/>
                        </a:rPr>
                        <a:t>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94206721"/>
                  </a:ext>
                </a:extLst>
              </a:tr>
              <a:tr h="389026">
                <a:tc vMerge="1">
                  <a:txBody>
                    <a:bodyPr/>
                    <a:lstStyle/>
                    <a:p>
                      <a:pPr algn="ctr" fontAlgn="ctr"/>
                      <a:r>
                        <a:rPr lang="en-US" sz="1500" b="0" u="none" strike="noStrike">
                          <a:solidFill>
                            <a:srgbClr val="000000"/>
                          </a:solidFill>
                          <a:effectLst/>
                          <a:latin typeface="Calibri" panose="020F0502020204030204" pitchFamily="34" charset="0"/>
                          <a:cs typeface="Calibri" panose="020F0502020204030204" pitchFamily="34" charset="0"/>
                        </a:rPr>
                        <a:t>2</a:t>
                      </a:r>
                      <a:endParaRPr lang="en-US" sz="1500" b="0"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tc>
                <a:tc vMerge="1">
                  <a:txBody>
                    <a:bodyPr/>
                    <a:lstStyle/>
                    <a:p>
                      <a:pPr algn="l" fontAlgn="ctr"/>
                      <a:endParaRPr lang="vi-VN" sz="1500" b="0"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tc>
                <a:tc>
                  <a:txBody>
                    <a:bodyPr/>
                    <a:lstStyle/>
                    <a:p>
                      <a:pPr algn="l" fontAlgn="ctr"/>
                      <a:r>
                        <a:rPr lang="en-US" sz="1700" b="0" i="0" u="none" strike="noStrike">
                          <a:solidFill>
                            <a:srgbClr val="000000"/>
                          </a:solidFill>
                          <a:effectLst/>
                          <a:latin typeface="Calibri" panose="020F0502020204030204" pitchFamily="34" charset="0"/>
                          <a:cs typeface="Calibri" panose="020F0502020204030204" pitchFamily="34" charset="0"/>
                        </a:rPr>
                        <a:t>Cách vẽ</a:t>
                      </a:r>
                      <a:endParaRPr lang="vi-VN" sz="1700" b="0"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700" b="0" i="0" u="none" strike="noStrike">
                          <a:solidFill>
                            <a:srgbClr val="000000"/>
                          </a:solidFill>
                          <a:effectLst/>
                          <a:latin typeface="Calibri" panose="020F0502020204030204" pitchFamily="34" charset="0"/>
                          <a:cs typeface="Calibri" panose="020F0502020204030204" pitchFamily="34" charset="0"/>
                        </a:rPr>
                        <a:t>4  - 10</a:t>
                      </a:r>
                      <a:endParaRPr lang="vi-VN" sz="1700" b="0"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88804331"/>
                  </a:ext>
                </a:extLst>
              </a:tr>
              <a:tr h="389026">
                <a:tc vMerge="1">
                  <a:txBody>
                    <a:bodyPr/>
                    <a:lstStyle/>
                    <a:p>
                      <a:pPr algn="ctr" fontAlgn="ctr"/>
                      <a:endParaRPr lang="en-US" sz="1700" b="0"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vMerge="1">
                  <a:txBody>
                    <a:bodyPr/>
                    <a:lstStyle/>
                    <a:p>
                      <a:pPr algn="l" fontAlgn="ctr"/>
                      <a:endParaRPr lang="en-US" sz="1700" b="0"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vi-VN" sz="1700" b="0" i="0" u="none" strike="noStrike">
                          <a:solidFill>
                            <a:srgbClr val="000000"/>
                          </a:solidFill>
                          <a:effectLst/>
                          <a:latin typeface="Calibri" panose="020F0502020204030204" pitchFamily="34" charset="0"/>
                          <a:cs typeface="Calibri" panose="020F0502020204030204" pitchFamily="34" charset="0"/>
                        </a:rPr>
                        <a:t>Lỗi cần tránh</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700" b="0" i="0" u="none" strike="noStrike">
                          <a:solidFill>
                            <a:srgbClr val="000000"/>
                          </a:solidFill>
                          <a:effectLst/>
                          <a:latin typeface="Calibri" panose="020F0502020204030204" pitchFamily="34" charset="0"/>
                          <a:cs typeface="Calibri" panose="020F0502020204030204" pitchFamily="34" charset="0"/>
                        </a:rPr>
                        <a:t>11</a:t>
                      </a:r>
                      <a:endParaRPr lang="vi-VN" sz="1700" b="0"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81863802"/>
                  </a:ext>
                </a:extLst>
              </a:tr>
              <a:tr h="389026">
                <a:tc rowSpan="3">
                  <a:txBody>
                    <a:bodyPr/>
                    <a:lstStyle/>
                    <a:p>
                      <a:pPr algn="ctr" fontAlgn="ctr"/>
                      <a:r>
                        <a:rPr lang="en-US" sz="1700" b="0" i="0" u="none" strike="noStrike">
                          <a:solidFill>
                            <a:srgbClr val="000000"/>
                          </a:solidFill>
                          <a:effectLst/>
                          <a:latin typeface="Calibri" panose="020F0502020204030204" pitchFamily="34" charset="0"/>
                          <a:cs typeface="Calibri" panose="020F0502020204030204" pitchFamily="34" charset="0"/>
                        </a:rPr>
                        <a:t>2</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700" b="0" u="none" strike="noStrike">
                          <a:solidFill>
                            <a:srgbClr val="000000"/>
                          </a:solidFill>
                          <a:effectLst/>
                          <a:latin typeface="Calibri" panose="020F0502020204030204" pitchFamily="34" charset="0"/>
                          <a:cs typeface="Calibri" panose="020F0502020204030204" pitchFamily="34" charset="0"/>
                        </a:rPr>
                        <a:t>Biểu đồ cột</a:t>
                      </a:r>
                      <a:endParaRPr lang="vi-VN" sz="1700" b="0"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700" b="0" i="0" u="none" strike="noStrike">
                          <a:solidFill>
                            <a:srgbClr val="000000"/>
                          </a:solidFill>
                          <a:effectLst/>
                          <a:latin typeface="Calibri" panose="020F0502020204030204" pitchFamily="34" charset="0"/>
                          <a:cs typeface="Calibri" panose="020F0502020204030204" pitchFamily="34" charset="0"/>
                        </a:rPr>
                        <a:t>Ý nghĩa</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700" b="0" i="0" u="none" strike="noStrike">
                          <a:solidFill>
                            <a:srgbClr val="000000"/>
                          </a:solidFill>
                          <a:effectLst/>
                          <a:latin typeface="Calibri" panose="020F0502020204030204" pitchFamily="34" charset="0"/>
                          <a:cs typeface="Calibri" panose="020F0502020204030204" pitchFamily="34" charset="0"/>
                        </a:rPr>
                        <a:t>12</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74184618"/>
                  </a:ext>
                </a:extLst>
              </a:tr>
              <a:tr h="389026">
                <a:tc vMerge="1">
                  <a:txBody>
                    <a:bodyPr/>
                    <a:lstStyle/>
                    <a:p>
                      <a:pPr algn="ctr" fontAlgn="ctr"/>
                      <a:r>
                        <a:rPr lang="en-US" sz="1500" b="0" u="none" strike="noStrike">
                          <a:solidFill>
                            <a:srgbClr val="000000"/>
                          </a:solidFill>
                          <a:effectLst/>
                          <a:latin typeface="Calibri" panose="020F0502020204030204" pitchFamily="34" charset="0"/>
                          <a:cs typeface="Calibri" panose="020F0502020204030204" pitchFamily="34" charset="0"/>
                        </a:rPr>
                        <a:t>4</a:t>
                      </a:r>
                      <a:endParaRPr lang="en-US" sz="1500" b="0"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tc>
                <a:tc vMerge="1">
                  <a:txBody>
                    <a:bodyPr/>
                    <a:lstStyle/>
                    <a:p>
                      <a:pPr algn="l" fontAlgn="ctr"/>
                      <a:endParaRPr lang="en-US" sz="1500" b="0"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tc>
                <a:tc>
                  <a:txBody>
                    <a:bodyPr/>
                    <a:lstStyle/>
                    <a:p>
                      <a:pPr algn="l" fontAlgn="ctr"/>
                      <a:r>
                        <a:rPr lang="en-US" sz="1700" b="0" i="0" u="none" strike="noStrike">
                          <a:solidFill>
                            <a:srgbClr val="000000"/>
                          </a:solidFill>
                          <a:effectLst/>
                          <a:latin typeface="Calibri" panose="020F0502020204030204" pitchFamily="34" charset="0"/>
                          <a:cs typeface="Calibri" panose="020F0502020204030204" pitchFamily="34" charset="0"/>
                        </a:rPr>
                        <a:t>Cách vẽ</a:t>
                      </a:r>
                      <a:endParaRPr lang="vi-VN" sz="1700" b="0"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700" b="0" i="0" u="none" strike="noStrike">
                          <a:solidFill>
                            <a:srgbClr val="000000"/>
                          </a:solidFill>
                          <a:effectLst/>
                          <a:latin typeface="Calibri" panose="020F0502020204030204" pitchFamily="34" charset="0"/>
                          <a:cs typeface="Calibri" panose="020F0502020204030204" pitchFamily="34" charset="0"/>
                        </a:rPr>
                        <a:t>13 – 16</a:t>
                      </a:r>
                      <a:endParaRPr lang="vi-VN" sz="1700" b="0"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00708665"/>
                  </a:ext>
                </a:extLst>
              </a:tr>
              <a:tr h="389026">
                <a:tc vMerge="1">
                  <a:txBody>
                    <a:bodyPr/>
                    <a:lstStyle/>
                    <a:p>
                      <a:pPr algn="ctr" fontAlgn="ctr"/>
                      <a:endParaRPr lang="en-US" sz="1700" b="0"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vi-VN" sz="1700" b="0"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vi-VN" sz="1700" b="0" i="0" u="none" strike="noStrike">
                          <a:solidFill>
                            <a:srgbClr val="000000"/>
                          </a:solidFill>
                          <a:effectLst/>
                          <a:latin typeface="Calibri" panose="020F0502020204030204" pitchFamily="34" charset="0"/>
                          <a:cs typeface="Calibri" panose="020F0502020204030204" pitchFamily="34" charset="0"/>
                        </a:rPr>
                        <a:t>Lỗi cần tránh</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700" b="0" i="0" u="none" strike="noStrike">
                          <a:solidFill>
                            <a:srgbClr val="000000"/>
                          </a:solidFill>
                          <a:effectLst/>
                          <a:latin typeface="Calibri" panose="020F0502020204030204" pitchFamily="34" charset="0"/>
                          <a:cs typeface="Calibri" panose="020F0502020204030204" pitchFamily="34" charset="0"/>
                        </a:rPr>
                        <a:t>17</a:t>
                      </a:r>
                      <a:endParaRPr lang="vi-VN" sz="1700" b="0"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59083669"/>
                  </a:ext>
                </a:extLst>
              </a:tr>
              <a:tr h="389026">
                <a:tc rowSpan="3">
                  <a:txBody>
                    <a:bodyPr/>
                    <a:lstStyle/>
                    <a:p>
                      <a:pPr algn="ctr" fontAlgn="ctr"/>
                      <a:r>
                        <a:rPr lang="en-US" sz="1700" b="0" i="0" u="none" strike="noStrike">
                          <a:solidFill>
                            <a:srgbClr val="000000"/>
                          </a:solidFill>
                          <a:effectLst/>
                          <a:latin typeface="Calibri" panose="020F0502020204030204" pitchFamily="34" charset="0"/>
                          <a:cs typeface="Calibri" panose="020F0502020204030204" pitchFamily="34" charset="0"/>
                        </a:rPr>
                        <a:t>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700" b="0" u="none" strike="noStrike">
                          <a:solidFill>
                            <a:srgbClr val="000000"/>
                          </a:solidFill>
                          <a:effectLst/>
                          <a:latin typeface="Calibri" panose="020F0502020204030204" pitchFamily="34" charset="0"/>
                          <a:cs typeface="Calibri" panose="020F0502020204030204" pitchFamily="34" charset="0"/>
                        </a:rPr>
                        <a:t>Biểu đồ tròn</a:t>
                      </a:r>
                      <a:endParaRPr lang="en-US" sz="1700" b="0"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700" b="0" i="0" u="none" strike="noStrike">
                          <a:solidFill>
                            <a:srgbClr val="000000"/>
                          </a:solidFill>
                          <a:effectLst/>
                          <a:latin typeface="Calibri" panose="020F0502020204030204" pitchFamily="34" charset="0"/>
                          <a:cs typeface="Calibri" panose="020F0502020204030204" pitchFamily="34" charset="0"/>
                        </a:rPr>
                        <a:t>Ý nghĩa</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700" b="0" i="0" u="none" strike="noStrike">
                          <a:solidFill>
                            <a:srgbClr val="000000"/>
                          </a:solidFill>
                          <a:effectLst/>
                          <a:latin typeface="Calibri" panose="020F0502020204030204" pitchFamily="34" charset="0"/>
                          <a:cs typeface="Calibri" panose="020F0502020204030204" pitchFamily="34" charset="0"/>
                        </a:rPr>
                        <a:t>18</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53512337"/>
                  </a:ext>
                </a:extLst>
              </a:tr>
              <a:tr h="389026">
                <a:tc vMerge="1">
                  <a:txBody>
                    <a:bodyPr/>
                    <a:lstStyle/>
                    <a:p>
                      <a:pPr algn="ctr" fontAlgn="ctr"/>
                      <a:r>
                        <a:rPr lang="en-US" sz="1500" b="0" u="none" strike="noStrike">
                          <a:solidFill>
                            <a:srgbClr val="000000"/>
                          </a:solidFill>
                          <a:effectLst/>
                          <a:latin typeface="Calibri" panose="020F0502020204030204" pitchFamily="34" charset="0"/>
                          <a:cs typeface="Calibri" panose="020F0502020204030204" pitchFamily="34" charset="0"/>
                        </a:rPr>
                        <a:t>6</a:t>
                      </a:r>
                      <a:endParaRPr lang="en-US" sz="1500" b="0"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tc>
                <a:tc vMerge="1">
                  <a:txBody>
                    <a:bodyPr/>
                    <a:lstStyle/>
                    <a:p>
                      <a:pPr algn="l" fontAlgn="ctr"/>
                      <a:endParaRPr lang="en-US" sz="1500" b="0"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tc>
                <a:tc>
                  <a:txBody>
                    <a:bodyPr/>
                    <a:lstStyle/>
                    <a:p>
                      <a:pPr algn="l" fontAlgn="ctr"/>
                      <a:r>
                        <a:rPr lang="en-US" sz="1700" b="0" i="0" u="none" strike="noStrike">
                          <a:solidFill>
                            <a:srgbClr val="000000"/>
                          </a:solidFill>
                          <a:effectLst/>
                          <a:latin typeface="Calibri" panose="020F0502020204030204" pitchFamily="34" charset="0"/>
                          <a:cs typeface="Calibri" panose="020F0502020204030204" pitchFamily="34" charset="0"/>
                        </a:rPr>
                        <a:t>Cách vẽ</a:t>
                      </a:r>
                      <a:endParaRPr lang="vi-VN" sz="1700" b="0"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700" b="0" i="0" u="none" strike="noStrike">
                          <a:solidFill>
                            <a:srgbClr val="000000"/>
                          </a:solidFill>
                          <a:effectLst/>
                          <a:latin typeface="Calibri" panose="020F0502020204030204" pitchFamily="34" charset="0"/>
                          <a:cs typeface="Calibri" panose="020F0502020204030204" pitchFamily="34" charset="0"/>
                        </a:rPr>
                        <a:t>19 – 22</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01404255"/>
                  </a:ext>
                </a:extLst>
              </a:tr>
              <a:tr h="389026">
                <a:tc vMerge="1">
                  <a:txBody>
                    <a:bodyPr/>
                    <a:lstStyle/>
                    <a:p>
                      <a:pPr algn="ctr" fontAlgn="ctr"/>
                      <a:endParaRPr lang="en-US" sz="1700" b="0"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sz="1700" b="0"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vi-VN" sz="1700" b="0" i="0" u="none" strike="noStrike">
                          <a:solidFill>
                            <a:srgbClr val="000000"/>
                          </a:solidFill>
                          <a:effectLst/>
                          <a:latin typeface="Calibri" panose="020F0502020204030204" pitchFamily="34" charset="0"/>
                          <a:cs typeface="Calibri" panose="020F0502020204030204" pitchFamily="34" charset="0"/>
                        </a:rPr>
                        <a:t>Lỗi cần tránh</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700" b="0" i="0" u="none" strike="noStrike">
                          <a:solidFill>
                            <a:srgbClr val="000000"/>
                          </a:solidFill>
                          <a:effectLst/>
                          <a:latin typeface="Calibri" panose="020F0502020204030204" pitchFamily="34" charset="0"/>
                          <a:cs typeface="Calibri" panose="020F0502020204030204" pitchFamily="34" charset="0"/>
                        </a:rPr>
                        <a:t>23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15124544"/>
                  </a:ext>
                </a:extLst>
              </a:tr>
              <a:tr h="389026">
                <a:tc rowSpan="3">
                  <a:txBody>
                    <a:bodyPr/>
                    <a:lstStyle/>
                    <a:p>
                      <a:pPr algn="ctr" fontAlgn="ctr"/>
                      <a:r>
                        <a:rPr lang="en-US" sz="1700" b="0" i="0" u="none" strike="noStrike">
                          <a:solidFill>
                            <a:srgbClr val="000000"/>
                          </a:solidFill>
                          <a:effectLst/>
                          <a:latin typeface="Calibri" panose="020F0502020204030204" pitchFamily="34" charset="0"/>
                          <a:cs typeface="Calibri" panose="020F0502020204030204" pitchFamily="34" charset="0"/>
                        </a:rPr>
                        <a:t>4</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rowSpan="3">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700" b="0" u="none" strike="noStrike">
                          <a:solidFill>
                            <a:srgbClr val="000000"/>
                          </a:solidFill>
                          <a:effectLst/>
                          <a:latin typeface="Calibri" panose="020F0502020204030204" pitchFamily="34" charset="0"/>
                          <a:cs typeface="Calibri" panose="020F0502020204030204" pitchFamily="34" charset="0"/>
                        </a:rPr>
                        <a:t>Biểu đồ kết hợp</a:t>
                      </a:r>
                      <a:endParaRPr lang="vi-VN" sz="1700" b="0"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700" b="0" i="0" u="none" strike="noStrike">
                          <a:solidFill>
                            <a:srgbClr val="000000"/>
                          </a:solidFill>
                          <a:effectLst/>
                          <a:latin typeface="Calibri" panose="020F0502020204030204" pitchFamily="34" charset="0"/>
                          <a:cs typeface="Calibri" panose="020F0502020204030204" pitchFamily="34" charset="0"/>
                        </a:rPr>
                        <a:t>Ý nghĩa</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700" b="0" i="0" u="none" strike="noStrike">
                          <a:solidFill>
                            <a:srgbClr val="000000"/>
                          </a:solidFill>
                          <a:effectLst/>
                          <a:latin typeface="Calibri" panose="020F0502020204030204" pitchFamily="34" charset="0"/>
                          <a:cs typeface="Calibri" panose="020F0502020204030204" pitchFamily="34" charset="0"/>
                        </a:rPr>
                        <a:t>24</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83480197"/>
                  </a:ext>
                </a:extLst>
              </a:tr>
              <a:tr h="389026">
                <a:tc vMerge="1">
                  <a:txBody>
                    <a:bodyPr/>
                    <a:lstStyle/>
                    <a:p>
                      <a:pPr algn="ctr" fontAlgn="ctr"/>
                      <a:endParaRPr lang="en-US" sz="1500" b="0"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vi-VN" sz="1500" b="0"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tc>
                <a:tc>
                  <a:txBody>
                    <a:bodyPr/>
                    <a:lstStyle/>
                    <a:p>
                      <a:pPr algn="l" fontAlgn="ctr"/>
                      <a:r>
                        <a:rPr lang="en-US" sz="1700" b="0" i="0" u="none" strike="noStrike">
                          <a:solidFill>
                            <a:srgbClr val="000000"/>
                          </a:solidFill>
                          <a:effectLst/>
                          <a:latin typeface="Calibri" panose="020F0502020204030204" pitchFamily="34" charset="0"/>
                          <a:cs typeface="Calibri" panose="020F0502020204030204" pitchFamily="34" charset="0"/>
                        </a:rPr>
                        <a:t>Cách vẽ</a:t>
                      </a:r>
                      <a:endParaRPr lang="vi-VN" sz="1700" b="0"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700" b="0" i="0" u="none" strike="noStrike">
                          <a:solidFill>
                            <a:srgbClr val="000000"/>
                          </a:solidFill>
                          <a:effectLst/>
                          <a:latin typeface="Calibri" panose="020F0502020204030204" pitchFamily="34" charset="0"/>
                          <a:cs typeface="Calibri" panose="020F0502020204030204" pitchFamily="34" charset="0"/>
                        </a:rPr>
                        <a:t>25 - 32</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9412260"/>
                  </a:ext>
                </a:extLst>
              </a:tr>
              <a:tr h="480646">
                <a:tc vMerge="1">
                  <a:txBody>
                    <a:bodyPr/>
                    <a:lstStyle/>
                    <a:p>
                      <a:pPr algn="ctr" fontAlgn="ctr"/>
                      <a:endParaRPr lang="en-US" sz="1700" b="0"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vi-VN" sz="1700" b="0"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r>
                        <a:rPr lang="vi-VN" sz="1700" b="0" i="0" u="none" strike="noStrike">
                          <a:solidFill>
                            <a:srgbClr val="000000"/>
                          </a:solidFill>
                          <a:effectLst/>
                          <a:latin typeface="Calibri" panose="020F0502020204030204" pitchFamily="34" charset="0"/>
                          <a:cs typeface="Calibri" panose="020F0502020204030204" pitchFamily="34" charset="0"/>
                        </a:rPr>
                        <a:t>Lỗi cần tránh</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700" b="0" i="0" u="none" strike="noStrike">
                          <a:solidFill>
                            <a:srgbClr val="000000"/>
                          </a:solidFill>
                          <a:effectLst/>
                          <a:latin typeface="Calibri" panose="020F0502020204030204" pitchFamily="34" charset="0"/>
                          <a:cs typeface="Calibri" panose="020F0502020204030204" pitchFamily="34" charset="0"/>
                        </a:rPr>
                        <a:t>33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06216298"/>
                  </a:ext>
                </a:extLst>
              </a:tr>
              <a:tr h="454283">
                <a:tc>
                  <a:txBody>
                    <a:bodyPr/>
                    <a:lstStyle/>
                    <a:p>
                      <a:pPr algn="ctr" fontAlgn="ctr"/>
                      <a:r>
                        <a:rPr lang="en-US" sz="1700" b="0" i="0" u="none" strike="noStrike">
                          <a:solidFill>
                            <a:srgbClr val="000000"/>
                          </a:solidFill>
                          <a:effectLst/>
                          <a:latin typeface="Calibri" panose="020F0502020204030204" pitchFamily="34" charset="0"/>
                          <a:cs typeface="Calibri" panose="020F0502020204030204" pitchFamily="34" charset="0"/>
                        </a:rPr>
                        <a:t>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grid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700" b="0" i="0" u="none" strike="noStrike">
                          <a:solidFill>
                            <a:srgbClr val="000000"/>
                          </a:solidFill>
                          <a:effectLst/>
                          <a:latin typeface="Calibri" panose="020F0502020204030204" pitchFamily="34" charset="0"/>
                          <a:cs typeface="Calibri" panose="020F0502020204030204" pitchFamily="34" charset="0"/>
                        </a:rPr>
                        <a:t>Tài liệu đính kèm</a:t>
                      </a:r>
                      <a:endParaRPr lang="vi-VN" sz="1700" b="0"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pPr algn="l" fontAlgn="ctr"/>
                      <a:endParaRPr lang="vi-VN" sz="1700" b="0"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sz="1700" b="0" i="0" u="none" strike="noStrike">
                          <a:solidFill>
                            <a:srgbClr val="000000"/>
                          </a:solidFill>
                          <a:effectLst/>
                          <a:latin typeface="Calibri" panose="020F0502020204030204" pitchFamily="34" charset="0"/>
                          <a:cs typeface="Calibri" panose="020F0502020204030204" pitchFamily="34" charset="0"/>
                        </a:rPr>
                        <a:t>34</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18361484"/>
                  </a:ext>
                </a:extLst>
              </a:tr>
            </a:tbl>
          </a:graphicData>
        </a:graphic>
      </p:graphicFrame>
      <p:sp>
        <p:nvSpPr>
          <p:cNvPr id="10" name="Freeform 34">
            <a:extLst>
              <a:ext uri="{FF2B5EF4-FFF2-40B4-BE49-F238E27FC236}">
                <a16:creationId xmlns:a16="http://schemas.microsoft.com/office/drawing/2014/main" id="{D7F206FB-23A9-557F-1093-7E1CCA0B1C1C}"/>
              </a:ext>
            </a:extLst>
          </p:cNvPr>
          <p:cNvSpPr>
            <a:spLocks noChangeAspect="1"/>
          </p:cNvSpPr>
          <p:nvPr/>
        </p:nvSpPr>
        <p:spPr bwMode="auto">
          <a:xfrm rot="10800000" flipV="1">
            <a:off x="384487" y="614294"/>
            <a:ext cx="1197871" cy="34698"/>
          </a:xfrm>
          <a:custGeom>
            <a:avLst/>
            <a:gdLst>
              <a:gd name="T0" fmla="*/ 922 w 990"/>
              <a:gd name="T1" fmla="*/ 0 h 36"/>
              <a:gd name="T2" fmla="*/ 907 w 990"/>
              <a:gd name="T3" fmla="*/ 0 h 36"/>
              <a:gd name="T4" fmla="*/ 880 w 990"/>
              <a:gd name="T5" fmla="*/ 1 h 36"/>
              <a:gd name="T6" fmla="*/ 839 w 990"/>
              <a:gd name="T7" fmla="*/ 3 h 36"/>
              <a:gd name="T8" fmla="*/ 818 w 990"/>
              <a:gd name="T9" fmla="*/ 3 h 36"/>
              <a:gd name="T10" fmla="*/ 798 w 990"/>
              <a:gd name="T11" fmla="*/ 4 h 36"/>
              <a:gd name="T12" fmla="*/ 757 w 990"/>
              <a:gd name="T13" fmla="*/ 5 h 36"/>
              <a:gd name="T14" fmla="*/ 718 w 990"/>
              <a:gd name="T15" fmla="*/ 5 h 36"/>
              <a:gd name="T16" fmla="*/ 662 w 990"/>
              <a:gd name="T17" fmla="*/ 5 h 36"/>
              <a:gd name="T18" fmla="*/ 540 w 990"/>
              <a:gd name="T19" fmla="*/ 4 h 36"/>
              <a:gd name="T20" fmla="*/ 512 w 990"/>
              <a:gd name="T21" fmla="*/ 4 h 36"/>
              <a:gd name="T22" fmla="*/ 511 w 990"/>
              <a:gd name="T23" fmla="*/ 4 h 36"/>
              <a:gd name="T24" fmla="*/ 484 w 990"/>
              <a:gd name="T25" fmla="*/ 5 h 36"/>
              <a:gd name="T26" fmla="*/ 419 w 990"/>
              <a:gd name="T27" fmla="*/ 5 h 36"/>
              <a:gd name="T28" fmla="*/ 353 w 990"/>
              <a:gd name="T29" fmla="*/ 7 h 36"/>
              <a:gd name="T30" fmla="*/ 350 w 990"/>
              <a:gd name="T31" fmla="*/ 7 h 36"/>
              <a:gd name="T32" fmla="*/ 288 w 990"/>
              <a:gd name="T33" fmla="*/ 5 h 36"/>
              <a:gd name="T34" fmla="*/ 265 w 990"/>
              <a:gd name="T35" fmla="*/ 4 h 36"/>
              <a:gd name="T36" fmla="*/ 244 w 990"/>
              <a:gd name="T37" fmla="*/ 4 h 36"/>
              <a:gd name="T38" fmla="*/ 224 w 990"/>
              <a:gd name="T39" fmla="*/ 4 h 36"/>
              <a:gd name="T40" fmla="*/ 223 w 990"/>
              <a:gd name="T41" fmla="*/ 4 h 36"/>
              <a:gd name="T42" fmla="*/ 222 w 990"/>
              <a:gd name="T43" fmla="*/ 4 h 36"/>
              <a:gd name="T44" fmla="*/ 190 w 990"/>
              <a:gd name="T45" fmla="*/ 4 h 36"/>
              <a:gd name="T46" fmla="*/ 158 w 990"/>
              <a:gd name="T47" fmla="*/ 4 h 36"/>
              <a:gd name="T48" fmla="*/ 157 w 990"/>
              <a:gd name="T49" fmla="*/ 4 h 36"/>
              <a:gd name="T50" fmla="*/ 91 w 990"/>
              <a:gd name="T51" fmla="*/ 5 h 36"/>
              <a:gd name="T52" fmla="*/ 58 w 990"/>
              <a:gd name="T53" fmla="*/ 6 h 36"/>
              <a:gd name="T54" fmla="*/ 26 w 990"/>
              <a:gd name="T55" fmla="*/ 8 h 36"/>
              <a:gd name="T56" fmla="*/ 10 w 990"/>
              <a:gd name="T57" fmla="*/ 10 h 36"/>
              <a:gd name="T58" fmla="*/ 6 w 990"/>
              <a:gd name="T59" fmla="*/ 10 h 36"/>
              <a:gd name="T60" fmla="*/ 5 w 990"/>
              <a:gd name="T61" fmla="*/ 10 h 36"/>
              <a:gd name="T62" fmla="*/ 5 w 990"/>
              <a:gd name="T63" fmla="*/ 10 h 36"/>
              <a:gd name="T64" fmla="*/ 4 w 990"/>
              <a:gd name="T65" fmla="*/ 10 h 36"/>
              <a:gd name="T66" fmla="*/ 2 w 990"/>
              <a:gd name="T67" fmla="*/ 10 h 36"/>
              <a:gd name="T68" fmla="*/ 1 w 990"/>
              <a:gd name="T69" fmla="*/ 12 h 36"/>
              <a:gd name="T70" fmla="*/ 4 w 990"/>
              <a:gd name="T71" fmla="*/ 17 h 36"/>
              <a:gd name="T72" fmla="*/ 4 w 990"/>
              <a:gd name="T73" fmla="*/ 17 h 36"/>
              <a:gd name="T74" fmla="*/ 63 w 990"/>
              <a:gd name="T75" fmla="*/ 16 h 36"/>
              <a:gd name="T76" fmla="*/ 70 w 990"/>
              <a:gd name="T77" fmla="*/ 16 h 36"/>
              <a:gd name="T78" fmla="*/ 122 w 990"/>
              <a:gd name="T79" fmla="*/ 17 h 36"/>
              <a:gd name="T80" fmla="*/ 153 w 990"/>
              <a:gd name="T81" fmla="*/ 19 h 36"/>
              <a:gd name="T82" fmla="*/ 183 w 990"/>
              <a:gd name="T83" fmla="*/ 20 h 36"/>
              <a:gd name="T84" fmla="*/ 244 w 990"/>
              <a:gd name="T85" fmla="*/ 22 h 36"/>
              <a:gd name="T86" fmla="*/ 305 w 990"/>
              <a:gd name="T87" fmla="*/ 24 h 36"/>
              <a:gd name="T88" fmla="*/ 336 w 990"/>
              <a:gd name="T89" fmla="*/ 26 h 36"/>
              <a:gd name="T90" fmla="*/ 375 w 990"/>
              <a:gd name="T91" fmla="*/ 28 h 36"/>
              <a:gd name="T92" fmla="*/ 489 w 990"/>
              <a:gd name="T93" fmla="*/ 32 h 36"/>
              <a:gd name="T94" fmla="*/ 612 w 990"/>
              <a:gd name="T95" fmla="*/ 36 h 36"/>
              <a:gd name="T96" fmla="*/ 665 w 990"/>
              <a:gd name="T97" fmla="*/ 36 h 36"/>
              <a:gd name="T98" fmla="*/ 707 w 990"/>
              <a:gd name="T99" fmla="*/ 36 h 36"/>
              <a:gd name="T100" fmla="*/ 750 w 990"/>
              <a:gd name="T101" fmla="*/ 36 h 36"/>
              <a:gd name="T102" fmla="*/ 792 w 990"/>
              <a:gd name="T103" fmla="*/ 35 h 36"/>
              <a:gd name="T104" fmla="*/ 879 w 990"/>
              <a:gd name="T105" fmla="*/ 32 h 36"/>
              <a:gd name="T106" fmla="*/ 921 w 990"/>
              <a:gd name="T107" fmla="*/ 30 h 36"/>
              <a:gd name="T108" fmla="*/ 969 w 990"/>
              <a:gd name="T109" fmla="*/ 27 h 36"/>
              <a:gd name="T110" fmla="*/ 982 w 990"/>
              <a:gd name="T111" fmla="*/ 22 h 36"/>
              <a:gd name="T112" fmla="*/ 987 w 990"/>
              <a:gd name="T113" fmla="*/ 15 h 36"/>
              <a:gd name="T114" fmla="*/ 989 w 990"/>
              <a:gd name="T115" fmla="*/ 8 h 36"/>
              <a:gd name="T116" fmla="*/ 982 w 990"/>
              <a:gd name="T117" fmla="*/ 2 h 36"/>
              <a:gd name="T118" fmla="*/ 962 w 990"/>
              <a:gd name="T119" fmla="*/ 0 h 36"/>
              <a:gd name="T120" fmla="*/ 934 w 990"/>
              <a:gd name="T121" fmla="*/ 0 h 36"/>
              <a:gd name="T122" fmla="*/ 922 w 990"/>
              <a:gd name="T1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0" h="36">
                <a:moveTo>
                  <a:pt x="922" y="0"/>
                </a:moveTo>
                <a:cubicBezTo>
                  <a:pt x="917" y="0"/>
                  <a:pt x="912" y="0"/>
                  <a:pt x="907" y="0"/>
                </a:cubicBezTo>
                <a:cubicBezTo>
                  <a:pt x="898" y="0"/>
                  <a:pt x="889" y="1"/>
                  <a:pt x="880" y="1"/>
                </a:cubicBezTo>
                <a:cubicBezTo>
                  <a:pt x="839" y="3"/>
                  <a:pt x="839" y="3"/>
                  <a:pt x="839" y="3"/>
                </a:cubicBezTo>
                <a:cubicBezTo>
                  <a:pt x="818" y="3"/>
                  <a:pt x="818" y="3"/>
                  <a:pt x="818" y="3"/>
                </a:cubicBezTo>
                <a:cubicBezTo>
                  <a:pt x="798" y="4"/>
                  <a:pt x="798" y="4"/>
                  <a:pt x="798" y="4"/>
                </a:cubicBezTo>
                <a:cubicBezTo>
                  <a:pt x="757" y="5"/>
                  <a:pt x="757" y="5"/>
                  <a:pt x="757" y="5"/>
                </a:cubicBezTo>
                <a:cubicBezTo>
                  <a:pt x="744" y="5"/>
                  <a:pt x="731" y="5"/>
                  <a:pt x="718" y="5"/>
                </a:cubicBezTo>
                <a:cubicBezTo>
                  <a:pt x="699" y="5"/>
                  <a:pt x="681" y="5"/>
                  <a:pt x="662" y="5"/>
                </a:cubicBezTo>
                <a:cubicBezTo>
                  <a:pt x="540" y="4"/>
                  <a:pt x="540" y="4"/>
                  <a:pt x="540" y="4"/>
                </a:cubicBezTo>
                <a:cubicBezTo>
                  <a:pt x="512" y="4"/>
                  <a:pt x="512" y="4"/>
                  <a:pt x="512" y="4"/>
                </a:cubicBezTo>
                <a:cubicBezTo>
                  <a:pt x="512" y="4"/>
                  <a:pt x="511" y="4"/>
                  <a:pt x="511" y="4"/>
                </a:cubicBezTo>
                <a:cubicBezTo>
                  <a:pt x="502" y="4"/>
                  <a:pt x="493" y="4"/>
                  <a:pt x="484" y="5"/>
                </a:cubicBezTo>
                <a:cubicBezTo>
                  <a:pt x="462" y="5"/>
                  <a:pt x="441" y="5"/>
                  <a:pt x="419" y="5"/>
                </a:cubicBezTo>
                <a:cubicBezTo>
                  <a:pt x="397" y="6"/>
                  <a:pt x="375" y="7"/>
                  <a:pt x="353" y="7"/>
                </a:cubicBezTo>
                <a:cubicBezTo>
                  <a:pt x="352" y="7"/>
                  <a:pt x="351" y="7"/>
                  <a:pt x="350" y="7"/>
                </a:cubicBezTo>
                <a:cubicBezTo>
                  <a:pt x="330" y="7"/>
                  <a:pt x="309" y="5"/>
                  <a:pt x="288" y="5"/>
                </a:cubicBezTo>
                <a:cubicBezTo>
                  <a:pt x="280" y="4"/>
                  <a:pt x="272" y="4"/>
                  <a:pt x="265" y="4"/>
                </a:cubicBezTo>
                <a:cubicBezTo>
                  <a:pt x="258" y="4"/>
                  <a:pt x="251" y="4"/>
                  <a:pt x="244" y="4"/>
                </a:cubicBezTo>
                <a:cubicBezTo>
                  <a:pt x="237" y="4"/>
                  <a:pt x="230" y="4"/>
                  <a:pt x="224" y="4"/>
                </a:cubicBezTo>
                <a:cubicBezTo>
                  <a:pt x="223" y="4"/>
                  <a:pt x="223" y="4"/>
                  <a:pt x="223" y="4"/>
                </a:cubicBezTo>
                <a:cubicBezTo>
                  <a:pt x="223" y="4"/>
                  <a:pt x="222" y="4"/>
                  <a:pt x="222" y="4"/>
                </a:cubicBezTo>
                <a:cubicBezTo>
                  <a:pt x="212" y="4"/>
                  <a:pt x="201" y="4"/>
                  <a:pt x="190" y="4"/>
                </a:cubicBezTo>
                <a:cubicBezTo>
                  <a:pt x="180" y="4"/>
                  <a:pt x="169" y="4"/>
                  <a:pt x="158" y="4"/>
                </a:cubicBezTo>
                <a:cubicBezTo>
                  <a:pt x="158" y="4"/>
                  <a:pt x="157" y="4"/>
                  <a:pt x="157" y="4"/>
                </a:cubicBezTo>
                <a:cubicBezTo>
                  <a:pt x="135" y="4"/>
                  <a:pt x="113" y="4"/>
                  <a:pt x="91" y="5"/>
                </a:cubicBezTo>
                <a:cubicBezTo>
                  <a:pt x="80" y="5"/>
                  <a:pt x="69" y="6"/>
                  <a:pt x="58" y="6"/>
                </a:cubicBezTo>
                <a:cubicBezTo>
                  <a:pt x="48" y="6"/>
                  <a:pt x="37" y="7"/>
                  <a:pt x="26" y="8"/>
                </a:cubicBezTo>
                <a:cubicBezTo>
                  <a:pt x="10" y="10"/>
                  <a:pt x="10" y="10"/>
                  <a:pt x="10" y="10"/>
                </a:cubicBezTo>
                <a:cubicBezTo>
                  <a:pt x="6" y="10"/>
                  <a:pt x="6" y="10"/>
                  <a:pt x="6" y="10"/>
                </a:cubicBezTo>
                <a:cubicBezTo>
                  <a:pt x="6" y="10"/>
                  <a:pt x="5" y="10"/>
                  <a:pt x="5" y="10"/>
                </a:cubicBezTo>
                <a:cubicBezTo>
                  <a:pt x="5" y="10"/>
                  <a:pt x="5" y="10"/>
                  <a:pt x="5" y="10"/>
                </a:cubicBezTo>
                <a:cubicBezTo>
                  <a:pt x="4" y="10"/>
                  <a:pt x="4" y="10"/>
                  <a:pt x="4" y="10"/>
                </a:cubicBezTo>
                <a:cubicBezTo>
                  <a:pt x="3" y="10"/>
                  <a:pt x="2" y="10"/>
                  <a:pt x="2" y="10"/>
                </a:cubicBezTo>
                <a:cubicBezTo>
                  <a:pt x="1" y="10"/>
                  <a:pt x="1" y="11"/>
                  <a:pt x="1" y="12"/>
                </a:cubicBezTo>
                <a:cubicBezTo>
                  <a:pt x="0" y="15"/>
                  <a:pt x="2" y="17"/>
                  <a:pt x="4" y="17"/>
                </a:cubicBezTo>
                <a:cubicBezTo>
                  <a:pt x="4" y="17"/>
                  <a:pt x="4" y="17"/>
                  <a:pt x="4" y="17"/>
                </a:cubicBezTo>
                <a:cubicBezTo>
                  <a:pt x="24" y="17"/>
                  <a:pt x="43" y="16"/>
                  <a:pt x="63" y="16"/>
                </a:cubicBezTo>
                <a:cubicBezTo>
                  <a:pt x="65" y="16"/>
                  <a:pt x="67" y="16"/>
                  <a:pt x="70" y="16"/>
                </a:cubicBezTo>
                <a:cubicBezTo>
                  <a:pt x="87" y="16"/>
                  <a:pt x="105" y="16"/>
                  <a:pt x="122" y="17"/>
                </a:cubicBezTo>
                <a:cubicBezTo>
                  <a:pt x="133" y="18"/>
                  <a:pt x="143" y="19"/>
                  <a:pt x="153" y="19"/>
                </a:cubicBezTo>
                <a:cubicBezTo>
                  <a:pt x="183" y="20"/>
                  <a:pt x="183" y="20"/>
                  <a:pt x="183" y="20"/>
                </a:cubicBezTo>
                <a:cubicBezTo>
                  <a:pt x="203" y="20"/>
                  <a:pt x="224" y="21"/>
                  <a:pt x="244" y="22"/>
                </a:cubicBezTo>
                <a:cubicBezTo>
                  <a:pt x="265" y="22"/>
                  <a:pt x="285" y="23"/>
                  <a:pt x="305" y="24"/>
                </a:cubicBezTo>
                <a:cubicBezTo>
                  <a:pt x="336" y="26"/>
                  <a:pt x="336" y="26"/>
                  <a:pt x="336" y="26"/>
                </a:cubicBezTo>
                <a:cubicBezTo>
                  <a:pt x="346" y="26"/>
                  <a:pt x="361" y="28"/>
                  <a:pt x="375" y="28"/>
                </a:cubicBezTo>
                <a:cubicBezTo>
                  <a:pt x="416" y="31"/>
                  <a:pt x="448" y="31"/>
                  <a:pt x="489" y="32"/>
                </a:cubicBezTo>
                <a:cubicBezTo>
                  <a:pt x="530" y="34"/>
                  <a:pt x="571" y="35"/>
                  <a:pt x="612" y="36"/>
                </a:cubicBezTo>
                <a:cubicBezTo>
                  <a:pt x="629" y="36"/>
                  <a:pt x="647" y="36"/>
                  <a:pt x="665" y="36"/>
                </a:cubicBezTo>
                <a:cubicBezTo>
                  <a:pt x="679" y="36"/>
                  <a:pt x="693" y="36"/>
                  <a:pt x="707" y="36"/>
                </a:cubicBezTo>
                <a:cubicBezTo>
                  <a:pt x="750" y="36"/>
                  <a:pt x="750" y="36"/>
                  <a:pt x="750" y="36"/>
                </a:cubicBezTo>
                <a:cubicBezTo>
                  <a:pt x="792" y="35"/>
                  <a:pt x="792" y="35"/>
                  <a:pt x="792" y="35"/>
                </a:cubicBezTo>
                <a:cubicBezTo>
                  <a:pt x="821" y="34"/>
                  <a:pt x="850" y="33"/>
                  <a:pt x="879" y="32"/>
                </a:cubicBezTo>
                <a:cubicBezTo>
                  <a:pt x="921" y="30"/>
                  <a:pt x="921" y="30"/>
                  <a:pt x="921" y="30"/>
                </a:cubicBezTo>
                <a:cubicBezTo>
                  <a:pt x="937" y="30"/>
                  <a:pt x="953" y="29"/>
                  <a:pt x="969" y="27"/>
                </a:cubicBezTo>
                <a:cubicBezTo>
                  <a:pt x="973" y="26"/>
                  <a:pt x="979" y="25"/>
                  <a:pt x="982" y="22"/>
                </a:cubicBezTo>
                <a:cubicBezTo>
                  <a:pt x="984" y="20"/>
                  <a:pt x="986" y="17"/>
                  <a:pt x="987" y="15"/>
                </a:cubicBezTo>
                <a:cubicBezTo>
                  <a:pt x="989" y="13"/>
                  <a:pt x="990" y="10"/>
                  <a:pt x="989" y="8"/>
                </a:cubicBezTo>
                <a:cubicBezTo>
                  <a:pt x="988" y="4"/>
                  <a:pt x="985" y="3"/>
                  <a:pt x="982" y="2"/>
                </a:cubicBezTo>
                <a:cubicBezTo>
                  <a:pt x="975" y="0"/>
                  <a:pt x="968" y="0"/>
                  <a:pt x="962" y="0"/>
                </a:cubicBezTo>
                <a:cubicBezTo>
                  <a:pt x="934" y="0"/>
                  <a:pt x="934" y="0"/>
                  <a:pt x="934" y="0"/>
                </a:cubicBezTo>
                <a:cubicBezTo>
                  <a:pt x="930" y="0"/>
                  <a:pt x="926" y="0"/>
                  <a:pt x="922" y="0"/>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34066067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4"/>
          </p:nvPr>
        </p:nvSpPr>
        <p:spPr>
          <a:prstGeom prst="rect">
            <a:avLst/>
          </a:prstGeom>
        </p:spPr>
        <p:txBody>
          <a:bodyPr vert="horz" lIns="0" tIns="0" rIns="0" bIns="0" rtlCol="0" anchor="ctr" anchorCtr="0"/>
          <a:lstStyle>
            <a:lvl1pPr algn="r">
              <a:defRPr sz="1800">
                <a:solidFill>
                  <a:schemeClr val="tx1"/>
                </a:solidFill>
              </a:defRPr>
            </a:lvl1pPr>
          </a:lstStyle>
          <a:p>
            <a:fld id="{A3381702-59A5-4643-AE93-D7BF7F78153B}" type="slidenum">
              <a:rPr lang="en-GB" smtClean="0"/>
              <a:pPr/>
              <a:t>3</a:t>
            </a:fld>
            <a:endParaRPr lang="en-GB" dirty="0"/>
          </a:p>
        </p:txBody>
      </p:sp>
      <p:sp>
        <p:nvSpPr>
          <p:cNvPr id="8" name="Footer Placeholder 4"/>
          <p:cNvSpPr>
            <a:spLocks noGrp="1"/>
          </p:cNvSpPr>
          <p:nvPr>
            <p:ph type="ftr" sz="quarter" idx="3"/>
          </p:nvPr>
        </p:nvSpPr>
        <p:spPr>
          <a:prstGeom prst="rect">
            <a:avLst/>
          </a:prstGeom>
        </p:spPr>
        <p:txBody>
          <a:bodyPr vert="horz" lIns="0" tIns="0" rIns="0" bIns="0" rtlCol="0" anchor="t" anchorCtr="0"/>
          <a:lstStyle>
            <a:lvl1pPr algn="r">
              <a:defRPr sz="700">
                <a:solidFill>
                  <a:schemeClr val="tx1"/>
                </a:solidFill>
                <a:latin typeface="+mn-lt"/>
              </a:defRPr>
            </a:lvl1pPr>
          </a:lstStyle>
          <a:p>
            <a:r>
              <a:rPr lang="fr-FR" altLang="ja-JP" dirty="0"/>
              <a:t>©20</a:t>
            </a:r>
            <a:r>
              <a:rPr lang="en-US" altLang="ja-JP" dirty="0"/>
              <a:t>23</a:t>
            </a:r>
            <a:r>
              <a:rPr lang="fr-FR" altLang="ja-JP" dirty="0"/>
              <a:t> KYOCERA Document Solutions Inc.</a:t>
            </a:r>
            <a:endParaRPr lang="en-GB" dirty="0"/>
          </a:p>
        </p:txBody>
      </p:sp>
      <p:sp>
        <p:nvSpPr>
          <p:cNvPr id="4" name="Rectangle 3">
            <a:extLst>
              <a:ext uri="{FF2B5EF4-FFF2-40B4-BE49-F238E27FC236}">
                <a16:creationId xmlns:a16="http://schemas.microsoft.com/office/drawing/2014/main" id="{0BAEFD46-8DC5-BB64-F040-FD68EE6A7C2D}"/>
              </a:ext>
            </a:extLst>
          </p:cNvPr>
          <p:cNvSpPr/>
          <p:nvPr/>
        </p:nvSpPr>
        <p:spPr>
          <a:xfrm>
            <a:off x="295745" y="40624"/>
            <a:ext cx="8722810" cy="6207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nSpc>
                <a:spcPct val="107000"/>
              </a:lnSpc>
              <a:spcBef>
                <a:spcPts val="0"/>
              </a:spcBef>
              <a:spcAft>
                <a:spcPts val="800"/>
              </a:spcAft>
              <a:tabLst>
                <a:tab pos="457200" algn="l"/>
              </a:tabLst>
            </a:pPr>
            <a:r>
              <a:rPr lang="en-US" sz="2200" b="1">
                <a:solidFill>
                  <a:schemeClr val="tx1"/>
                </a:solidFill>
                <a:effectLst/>
                <a:latin typeface="Calibri" panose="020F0502020204030204" pitchFamily="34" charset="0"/>
                <a:ea typeface="游明朝" panose="02020400000000000000" pitchFamily="18" charset="-128"/>
                <a:cs typeface="Times New Roman" panose="02020603050405020304" pitchFamily="18" charset="0"/>
              </a:rPr>
              <a:t>1. BIỂU ĐỒ </a:t>
            </a:r>
            <a:r>
              <a:rPr lang="en-US" sz="2200" b="1">
                <a:solidFill>
                  <a:schemeClr val="tx1"/>
                </a:solidFill>
                <a:latin typeface="Calibri" panose="020F0502020204030204" pitchFamily="34" charset="0"/>
                <a:ea typeface="游明朝" panose="02020400000000000000" pitchFamily="18" charset="-128"/>
                <a:cs typeface="Times New Roman" panose="02020603050405020304" pitchFamily="18" charset="0"/>
              </a:rPr>
              <a:t>ĐƯỜNG</a:t>
            </a:r>
            <a:endParaRPr lang="en-US" sz="2200">
              <a:solidFill>
                <a:schemeClr val="tx1"/>
              </a:solidFill>
              <a:effectLst/>
              <a:latin typeface="Calibri" panose="020F0502020204030204" pitchFamily="34" charset="0"/>
              <a:ea typeface="游明朝" panose="02020400000000000000" pitchFamily="18" charset="-128"/>
              <a:cs typeface="Times New Roman" panose="02020603050405020304" pitchFamily="18" charset="0"/>
            </a:endParaRPr>
          </a:p>
        </p:txBody>
      </p:sp>
      <p:sp>
        <p:nvSpPr>
          <p:cNvPr id="6" name="Freeform 34">
            <a:extLst>
              <a:ext uri="{FF2B5EF4-FFF2-40B4-BE49-F238E27FC236}">
                <a16:creationId xmlns:a16="http://schemas.microsoft.com/office/drawing/2014/main" id="{E988D51C-281C-0FC1-508D-073F501DA6DF}"/>
              </a:ext>
            </a:extLst>
          </p:cNvPr>
          <p:cNvSpPr>
            <a:spLocks noChangeAspect="1"/>
          </p:cNvSpPr>
          <p:nvPr/>
        </p:nvSpPr>
        <p:spPr bwMode="auto">
          <a:xfrm rot="10800000" flipV="1">
            <a:off x="470646" y="530743"/>
            <a:ext cx="2081464" cy="60288"/>
          </a:xfrm>
          <a:custGeom>
            <a:avLst/>
            <a:gdLst>
              <a:gd name="T0" fmla="*/ 922 w 990"/>
              <a:gd name="T1" fmla="*/ 0 h 36"/>
              <a:gd name="T2" fmla="*/ 907 w 990"/>
              <a:gd name="T3" fmla="*/ 0 h 36"/>
              <a:gd name="T4" fmla="*/ 880 w 990"/>
              <a:gd name="T5" fmla="*/ 1 h 36"/>
              <a:gd name="T6" fmla="*/ 839 w 990"/>
              <a:gd name="T7" fmla="*/ 3 h 36"/>
              <a:gd name="T8" fmla="*/ 818 w 990"/>
              <a:gd name="T9" fmla="*/ 3 h 36"/>
              <a:gd name="T10" fmla="*/ 798 w 990"/>
              <a:gd name="T11" fmla="*/ 4 h 36"/>
              <a:gd name="T12" fmla="*/ 757 w 990"/>
              <a:gd name="T13" fmla="*/ 5 h 36"/>
              <a:gd name="T14" fmla="*/ 718 w 990"/>
              <a:gd name="T15" fmla="*/ 5 h 36"/>
              <a:gd name="T16" fmla="*/ 662 w 990"/>
              <a:gd name="T17" fmla="*/ 5 h 36"/>
              <a:gd name="T18" fmla="*/ 540 w 990"/>
              <a:gd name="T19" fmla="*/ 4 h 36"/>
              <a:gd name="T20" fmla="*/ 512 w 990"/>
              <a:gd name="T21" fmla="*/ 4 h 36"/>
              <a:gd name="T22" fmla="*/ 511 w 990"/>
              <a:gd name="T23" fmla="*/ 4 h 36"/>
              <a:gd name="T24" fmla="*/ 484 w 990"/>
              <a:gd name="T25" fmla="*/ 5 h 36"/>
              <a:gd name="T26" fmla="*/ 419 w 990"/>
              <a:gd name="T27" fmla="*/ 5 h 36"/>
              <a:gd name="T28" fmla="*/ 353 w 990"/>
              <a:gd name="T29" fmla="*/ 7 h 36"/>
              <a:gd name="T30" fmla="*/ 350 w 990"/>
              <a:gd name="T31" fmla="*/ 7 h 36"/>
              <a:gd name="T32" fmla="*/ 288 w 990"/>
              <a:gd name="T33" fmla="*/ 5 h 36"/>
              <a:gd name="T34" fmla="*/ 265 w 990"/>
              <a:gd name="T35" fmla="*/ 4 h 36"/>
              <a:gd name="T36" fmla="*/ 244 w 990"/>
              <a:gd name="T37" fmla="*/ 4 h 36"/>
              <a:gd name="T38" fmla="*/ 224 w 990"/>
              <a:gd name="T39" fmla="*/ 4 h 36"/>
              <a:gd name="T40" fmla="*/ 223 w 990"/>
              <a:gd name="T41" fmla="*/ 4 h 36"/>
              <a:gd name="T42" fmla="*/ 222 w 990"/>
              <a:gd name="T43" fmla="*/ 4 h 36"/>
              <a:gd name="T44" fmla="*/ 190 w 990"/>
              <a:gd name="T45" fmla="*/ 4 h 36"/>
              <a:gd name="T46" fmla="*/ 158 w 990"/>
              <a:gd name="T47" fmla="*/ 4 h 36"/>
              <a:gd name="T48" fmla="*/ 157 w 990"/>
              <a:gd name="T49" fmla="*/ 4 h 36"/>
              <a:gd name="T50" fmla="*/ 91 w 990"/>
              <a:gd name="T51" fmla="*/ 5 h 36"/>
              <a:gd name="T52" fmla="*/ 58 w 990"/>
              <a:gd name="T53" fmla="*/ 6 h 36"/>
              <a:gd name="T54" fmla="*/ 26 w 990"/>
              <a:gd name="T55" fmla="*/ 8 h 36"/>
              <a:gd name="T56" fmla="*/ 10 w 990"/>
              <a:gd name="T57" fmla="*/ 10 h 36"/>
              <a:gd name="T58" fmla="*/ 6 w 990"/>
              <a:gd name="T59" fmla="*/ 10 h 36"/>
              <a:gd name="T60" fmla="*/ 5 w 990"/>
              <a:gd name="T61" fmla="*/ 10 h 36"/>
              <a:gd name="T62" fmla="*/ 5 w 990"/>
              <a:gd name="T63" fmla="*/ 10 h 36"/>
              <a:gd name="T64" fmla="*/ 4 w 990"/>
              <a:gd name="T65" fmla="*/ 10 h 36"/>
              <a:gd name="T66" fmla="*/ 2 w 990"/>
              <a:gd name="T67" fmla="*/ 10 h 36"/>
              <a:gd name="T68" fmla="*/ 1 w 990"/>
              <a:gd name="T69" fmla="*/ 12 h 36"/>
              <a:gd name="T70" fmla="*/ 4 w 990"/>
              <a:gd name="T71" fmla="*/ 17 h 36"/>
              <a:gd name="T72" fmla="*/ 4 w 990"/>
              <a:gd name="T73" fmla="*/ 17 h 36"/>
              <a:gd name="T74" fmla="*/ 63 w 990"/>
              <a:gd name="T75" fmla="*/ 16 h 36"/>
              <a:gd name="T76" fmla="*/ 70 w 990"/>
              <a:gd name="T77" fmla="*/ 16 h 36"/>
              <a:gd name="T78" fmla="*/ 122 w 990"/>
              <a:gd name="T79" fmla="*/ 17 h 36"/>
              <a:gd name="T80" fmla="*/ 153 w 990"/>
              <a:gd name="T81" fmla="*/ 19 h 36"/>
              <a:gd name="T82" fmla="*/ 183 w 990"/>
              <a:gd name="T83" fmla="*/ 20 h 36"/>
              <a:gd name="T84" fmla="*/ 244 w 990"/>
              <a:gd name="T85" fmla="*/ 22 h 36"/>
              <a:gd name="T86" fmla="*/ 305 w 990"/>
              <a:gd name="T87" fmla="*/ 24 h 36"/>
              <a:gd name="T88" fmla="*/ 336 w 990"/>
              <a:gd name="T89" fmla="*/ 26 h 36"/>
              <a:gd name="T90" fmla="*/ 375 w 990"/>
              <a:gd name="T91" fmla="*/ 28 h 36"/>
              <a:gd name="T92" fmla="*/ 489 w 990"/>
              <a:gd name="T93" fmla="*/ 32 h 36"/>
              <a:gd name="T94" fmla="*/ 612 w 990"/>
              <a:gd name="T95" fmla="*/ 36 h 36"/>
              <a:gd name="T96" fmla="*/ 665 w 990"/>
              <a:gd name="T97" fmla="*/ 36 h 36"/>
              <a:gd name="T98" fmla="*/ 707 w 990"/>
              <a:gd name="T99" fmla="*/ 36 h 36"/>
              <a:gd name="T100" fmla="*/ 750 w 990"/>
              <a:gd name="T101" fmla="*/ 36 h 36"/>
              <a:gd name="T102" fmla="*/ 792 w 990"/>
              <a:gd name="T103" fmla="*/ 35 h 36"/>
              <a:gd name="T104" fmla="*/ 879 w 990"/>
              <a:gd name="T105" fmla="*/ 32 h 36"/>
              <a:gd name="T106" fmla="*/ 921 w 990"/>
              <a:gd name="T107" fmla="*/ 30 h 36"/>
              <a:gd name="T108" fmla="*/ 969 w 990"/>
              <a:gd name="T109" fmla="*/ 27 h 36"/>
              <a:gd name="T110" fmla="*/ 982 w 990"/>
              <a:gd name="T111" fmla="*/ 22 h 36"/>
              <a:gd name="T112" fmla="*/ 987 w 990"/>
              <a:gd name="T113" fmla="*/ 15 h 36"/>
              <a:gd name="T114" fmla="*/ 989 w 990"/>
              <a:gd name="T115" fmla="*/ 8 h 36"/>
              <a:gd name="T116" fmla="*/ 982 w 990"/>
              <a:gd name="T117" fmla="*/ 2 h 36"/>
              <a:gd name="T118" fmla="*/ 962 w 990"/>
              <a:gd name="T119" fmla="*/ 0 h 36"/>
              <a:gd name="T120" fmla="*/ 934 w 990"/>
              <a:gd name="T121" fmla="*/ 0 h 36"/>
              <a:gd name="T122" fmla="*/ 922 w 990"/>
              <a:gd name="T1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0" h="36">
                <a:moveTo>
                  <a:pt x="922" y="0"/>
                </a:moveTo>
                <a:cubicBezTo>
                  <a:pt x="917" y="0"/>
                  <a:pt x="912" y="0"/>
                  <a:pt x="907" y="0"/>
                </a:cubicBezTo>
                <a:cubicBezTo>
                  <a:pt x="898" y="0"/>
                  <a:pt x="889" y="1"/>
                  <a:pt x="880" y="1"/>
                </a:cubicBezTo>
                <a:cubicBezTo>
                  <a:pt x="839" y="3"/>
                  <a:pt x="839" y="3"/>
                  <a:pt x="839" y="3"/>
                </a:cubicBezTo>
                <a:cubicBezTo>
                  <a:pt x="818" y="3"/>
                  <a:pt x="818" y="3"/>
                  <a:pt x="818" y="3"/>
                </a:cubicBezTo>
                <a:cubicBezTo>
                  <a:pt x="798" y="4"/>
                  <a:pt x="798" y="4"/>
                  <a:pt x="798" y="4"/>
                </a:cubicBezTo>
                <a:cubicBezTo>
                  <a:pt x="757" y="5"/>
                  <a:pt x="757" y="5"/>
                  <a:pt x="757" y="5"/>
                </a:cubicBezTo>
                <a:cubicBezTo>
                  <a:pt x="744" y="5"/>
                  <a:pt x="731" y="5"/>
                  <a:pt x="718" y="5"/>
                </a:cubicBezTo>
                <a:cubicBezTo>
                  <a:pt x="699" y="5"/>
                  <a:pt x="681" y="5"/>
                  <a:pt x="662" y="5"/>
                </a:cubicBezTo>
                <a:cubicBezTo>
                  <a:pt x="540" y="4"/>
                  <a:pt x="540" y="4"/>
                  <a:pt x="540" y="4"/>
                </a:cubicBezTo>
                <a:cubicBezTo>
                  <a:pt x="512" y="4"/>
                  <a:pt x="512" y="4"/>
                  <a:pt x="512" y="4"/>
                </a:cubicBezTo>
                <a:cubicBezTo>
                  <a:pt x="512" y="4"/>
                  <a:pt x="511" y="4"/>
                  <a:pt x="511" y="4"/>
                </a:cubicBezTo>
                <a:cubicBezTo>
                  <a:pt x="502" y="4"/>
                  <a:pt x="493" y="4"/>
                  <a:pt x="484" y="5"/>
                </a:cubicBezTo>
                <a:cubicBezTo>
                  <a:pt x="462" y="5"/>
                  <a:pt x="441" y="5"/>
                  <a:pt x="419" y="5"/>
                </a:cubicBezTo>
                <a:cubicBezTo>
                  <a:pt x="397" y="6"/>
                  <a:pt x="375" y="7"/>
                  <a:pt x="353" y="7"/>
                </a:cubicBezTo>
                <a:cubicBezTo>
                  <a:pt x="352" y="7"/>
                  <a:pt x="351" y="7"/>
                  <a:pt x="350" y="7"/>
                </a:cubicBezTo>
                <a:cubicBezTo>
                  <a:pt x="330" y="7"/>
                  <a:pt x="309" y="5"/>
                  <a:pt x="288" y="5"/>
                </a:cubicBezTo>
                <a:cubicBezTo>
                  <a:pt x="280" y="4"/>
                  <a:pt x="272" y="4"/>
                  <a:pt x="265" y="4"/>
                </a:cubicBezTo>
                <a:cubicBezTo>
                  <a:pt x="258" y="4"/>
                  <a:pt x="251" y="4"/>
                  <a:pt x="244" y="4"/>
                </a:cubicBezTo>
                <a:cubicBezTo>
                  <a:pt x="237" y="4"/>
                  <a:pt x="230" y="4"/>
                  <a:pt x="224" y="4"/>
                </a:cubicBezTo>
                <a:cubicBezTo>
                  <a:pt x="223" y="4"/>
                  <a:pt x="223" y="4"/>
                  <a:pt x="223" y="4"/>
                </a:cubicBezTo>
                <a:cubicBezTo>
                  <a:pt x="223" y="4"/>
                  <a:pt x="222" y="4"/>
                  <a:pt x="222" y="4"/>
                </a:cubicBezTo>
                <a:cubicBezTo>
                  <a:pt x="212" y="4"/>
                  <a:pt x="201" y="4"/>
                  <a:pt x="190" y="4"/>
                </a:cubicBezTo>
                <a:cubicBezTo>
                  <a:pt x="180" y="4"/>
                  <a:pt x="169" y="4"/>
                  <a:pt x="158" y="4"/>
                </a:cubicBezTo>
                <a:cubicBezTo>
                  <a:pt x="158" y="4"/>
                  <a:pt x="157" y="4"/>
                  <a:pt x="157" y="4"/>
                </a:cubicBezTo>
                <a:cubicBezTo>
                  <a:pt x="135" y="4"/>
                  <a:pt x="113" y="4"/>
                  <a:pt x="91" y="5"/>
                </a:cubicBezTo>
                <a:cubicBezTo>
                  <a:pt x="80" y="5"/>
                  <a:pt x="69" y="6"/>
                  <a:pt x="58" y="6"/>
                </a:cubicBezTo>
                <a:cubicBezTo>
                  <a:pt x="48" y="6"/>
                  <a:pt x="37" y="7"/>
                  <a:pt x="26" y="8"/>
                </a:cubicBezTo>
                <a:cubicBezTo>
                  <a:pt x="10" y="10"/>
                  <a:pt x="10" y="10"/>
                  <a:pt x="10" y="10"/>
                </a:cubicBezTo>
                <a:cubicBezTo>
                  <a:pt x="6" y="10"/>
                  <a:pt x="6" y="10"/>
                  <a:pt x="6" y="10"/>
                </a:cubicBezTo>
                <a:cubicBezTo>
                  <a:pt x="6" y="10"/>
                  <a:pt x="5" y="10"/>
                  <a:pt x="5" y="10"/>
                </a:cubicBezTo>
                <a:cubicBezTo>
                  <a:pt x="5" y="10"/>
                  <a:pt x="5" y="10"/>
                  <a:pt x="5" y="10"/>
                </a:cubicBezTo>
                <a:cubicBezTo>
                  <a:pt x="4" y="10"/>
                  <a:pt x="4" y="10"/>
                  <a:pt x="4" y="10"/>
                </a:cubicBezTo>
                <a:cubicBezTo>
                  <a:pt x="3" y="10"/>
                  <a:pt x="2" y="10"/>
                  <a:pt x="2" y="10"/>
                </a:cubicBezTo>
                <a:cubicBezTo>
                  <a:pt x="1" y="10"/>
                  <a:pt x="1" y="11"/>
                  <a:pt x="1" y="12"/>
                </a:cubicBezTo>
                <a:cubicBezTo>
                  <a:pt x="0" y="15"/>
                  <a:pt x="2" y="17"/>
                  <a:pt x="4" y="17"/>
                </a:cubicBezTo>
                <a:cubicBezTo>
                  <a:pt x="4" y="17"/>
                  <a:pt x="4" y="17"/>
                  <a:pt x="4" y="17"/>
                </a:cubicBezTo>
                <a:cubicBezTo>
                  <a:pt x="24" y="17"/>
                  <a:pt x="43" y="16"/>
                  <a:pt x="63" y="16"/>
                </a:cubicBezTo>
                <a:cubicBezTo>
                  <a:pt x="65" y="16"/>
                  <a:pt x="67" y="16"/>
                  <a:pt x="70" y="16"/>
                </a:cubicBezTo>
                <a:cubicBezTo>
                  <a:pt x="87" y="16"/>
                  <a:pt x="105" y="16"/>
                  <a:pt x="122" y="17"/>
                </a:cubicBezTo>
                <a:cubicBezTo>
                  <a:pt x="133" y="18"/>
                  <a:pt x="143" y="19"/>
                  <a:pt x="153" y="19"/>
                </a:cubicBezTo>
                <a:cubicBezTo>
                  <a:pt x="183" y="20"/>
                  <a:pt x="183" y="20"/>
                  <a:pt x="183" y="20"/>
                </a:cubicBezTo>
                <a:cubicBezTo>
                  <a:pt x="203" y="20"/>
                  <a:pt x="224" y="21"/>
                  <a:pt x="244" y="22"/>
                </a:cubicBezTo>
                <a:cubicBezTo>
                  <a:pt x="265" y="22"/>
                  <a:pt x="285" y="23"/>
                  <a:pt x="305" y="24"/>
                </a:cubicBezTo>
                <a:cubicBezTo>
                  <a:pt x="336" y="26"/>
                  <a:pt x="336" y="26"/>
                  <a:pt x="336" y="26"/>
                </a:cubicBezTo>
                <a:cubicBezTo>
                  <a:pt x="346" y="26"/>
                  <a:pt x="361" y="28"/>
                  <a:pt x="375" y="28"/>
                </a:cubicBezTo>
                <a:cubicBezTo>
                  <a:pt x="416" y="31"/>
                  <a:pt x="448" y="31"/>
                  <a:pt x="489" y="32"/>
                </a:cubicBezTo>
                <a:cubicBezTo>
                  <a:pt x="530" y="34"/>
                  <a:pt x="571" y="35"/>
                  <a:pt x="612" y="36"/>
                </a:cubicBezTo>
                <a:cubicBezTo>
                  <a:pt x="629" y="36"/>
                  <a:pt x="647" y="36"/>
                  <a:pt x="665" y="36"/>
                </a:cubicBezTo>
                <a:cubicBezTo>
                  <a:pt x="679" y="36"/>
                  <a:pt x="693" y="36"/>
                  <a:pt x="707" y="36"/>
                </a:cubicBezTo>
                <a:cubicBezTo>
                  <a:pt x="750" y="36"/>
                  <a:pt x="750" y="36"/>
                  <a:pt x="750" y="36"/>
                </a:cubicBezTo>
                <a:cubicBezTo>
                  <a:pt x="792" y="35"/>
                  <a:pt x="792" y="35"/>
                  <a:pt x="792" y="35"/>
                </a:cubicBezTo>
                <a:cubicBezTo>
                  <a:pt x="821" y="34"/>
                  <a:pt x="850" y="33"/>
                  <a:pt x="879" y="32"/>
                </a:cubicBezTo>
                <a:cubicBezTo>
                  <a:pt x="921" y="30"/>
                  <a:pt x="921" y="30"/>
                  <a:pt x="921" y="30"/>
                </a:cubicBezTo>
                <a:cubicBezTo>
                  <a:pt x="937" y="30"/>
                  <a:pt x="953" y="29"/>
                  <a:pt x="969" y="27"/>
                </a:cubicBezTo>
                <a:cubicBezTo>
                  <a:pt x="973" y="26"/>
                  <a:pt x="979" y="25"/>
                  <a:pt x="982" y="22"/>
                </a:cubicBezTo>
                <a:cubicBezTo>
                  <a:pt x="984" y="20"/>
                  <a:pt x="986" y="17"/>
                  <a:pt x="987" y="15"/>
                </a:cubicBezTo>
                <a:cubicBezTo>
                  <a:pt x="989" y="13"/>
                  <a:pt x="990" y="10"/>
                  <a:pt x="989" y="8"/>
                </a:cubicBezTo>
                <a:cubicBezTo>
                  <a:pt x="988" y="4"/>
                  <a:pt x="985" y="3"/>
                  <a:pt x="982" y="2"/>
                </a:cubicBezTo>
                <a:cubicBezTo>
                  <a:pt x="975" y="0"/>
                  <a:pt x="968" y="0"/>
                  <a:pt x="962" y="0"/>
                </a:cubicBezTo>
                <a:cubicBezTo>
                  <a:pt x="934" y="0"/>
                  <a:pt x="934" y="0"/>
                  <a:pt x="934" y="0"/>
                </a:cubicBezTo>
                <a:cubicBezTo>
                  <a:pt x="930" y="0"/>
                  <a:pt x="926" y="0"/>
                  <a:pt x="922" y="0"/>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2" name="Content Placeholder 2">
            <a:extLst>
              <a:ext uri="{FF2B5EF4-FFF2-40B4-BE49-F238E27FC236}">
                <a16:creationId xmlns:a16="http://schemas.microsoft.com/office/drawing/2014/main" id="{8A378710-0B40-86B5-B2C6-AF290BD75FB3}"/>
              </a:ext>
            </a:extLst>
          </p:cNvPr>
          <p:cNvSpPr txBox="1">
            <a:spLocks/>
          </p:cNvSpPr>
          <p:nvPr/>
        </p:nvSpPr>
        <p:spPr>
          <a:xfrm>
            <a:off x="401032" y="716399"/>
            <a:ext cx="8510739" cy="2207277"/>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1600" b="1">
                <a:latin typeface="Calibri" panose="020F0502020204030204" pitchFamily="34" charset="0"/>
                <a:cs typeface="Calibri" panose="020F0502020204030204" pitchFamily="34" charset="0"/>
              </a:rPr>
              <a:t>a. Ý nghĩa: </a:t>
            </a:r>
          </a:p>
          <a:p>
            <a:pPr marL="285750" indent="-285750" algn="l">
              <a:buFont typeface="Arial" panose="020B0604020202020204" pitchFamily="34" charset="0"/>
              <a:buChar char="•"/>
            </a:pPr>
            <a:r>
              <a:rPr lang="vi-VN" sz="1600">
                <a:latin typeface="Calibri" panose="020F0502020204030204" pitchFamily="34" charset="0"/>
                <a:cs typeface="Calibri" panose="020F0502020204030204" pitchFamily="34" charset="0"/>
              </a:rPr>
              <a:t>Biểu diễn xu hướng</a:t>
            </a:r>
            <a:r>
              <a:rPr lang="en-US" sz="1600">
                <a:latin typeface="Calibri" panose="020F0502020204030204" pitchFamily="34" charset="0"/>
                <a:cs typeface="Calibri" panose="020F0502020204030204" pitchFamily="34" charset="0"/>
              </a:rPr>
              <a:t> </a:t>
            </a:r>
            <a:r>
              <a:rPr lang="vi-VN" sz="1600">
                <a:latin typeface="Calibri" panose="020F0502020204030204" pitchFamily="34" charset="0"/>
                <a:cs typeface="Calibri" panose="020F0502020204030204" pitchFamily="34" charset="0"/>
              </a:rPr>
              <a:t>thay đổi của dữ liệu theo thời gian</a:t>
            </a:r>
            <a:endParaRPr lang="en-US" sz="1600">
              <a:latin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US" sz="1600">
                <a:latin typeface="Calibri" panose="020F0502020204030204" pitchFamily="34" charset="0"/>
                <a:cs typeface="Calibri" panose="020F0502020204030204" pitchFamily="34" charset="0"/>
              </a:rPr>
              <a:t>So </a:t>
            </a:r>
            <a:r>
              <a:rPr lang="vi-VN" sz="1600">
                <a:latin typeface="Calibri" panose="020F0502020204030204" pitchFamily="34" charset="0"/>
                <a:cs typeface="Calibri" panose="020F0502020204030204" pitchFamily="34" charset="0"/>
              </a:rPr>
              <a:t>sánh nhiều chuỗi dữ liệu trên cùng một đồ thị</a:t>
            </a:r>
            <a:endParaRPr lang="en-US" sz="1600">
              <a:latin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vi-VN" sz="1600">
                <a:latin typeface="Calibri" panose="020F0502020204030204" pitchFamily="34" charset="0"/>
                <a:cs typeface="Calibri" panose="020F0502020204030204" pitchFamily="34" charset="0"/>
              </a:rPr>
              <a:t>Dự đoán và dự báo</a:t>
            </a:r>
            <a:r>
              <a:rPr lang="en-US" sz="1600">
                <a:latin typeface="Calibri" panose="020F0502020204030204" pitchFamily="34" charset="0"/>
                <a:cs typeface="Calibri" panose="020F0502020204030204" pitchFamily="34" charset="0"/>
              </a:rPr>
              <a:t> </a:t>
            </a:r>
            <a:r>
              <a:rPr lang="vi-VN" sz="1600">
                <a:latin typeface="Calibri" panose="020F0502020204030204" pitchFamily="34" charset="0"/>
                <a:cs typeface="Calibri" panose="020F0502020204030204" pitchFamily="34" charset="0"/>
              </a:rPr>
              <a:t>sự phát triển tương lai của dữ liệu</a:t>
            </a:r>
            <a:endParaRPr lang="en-US" sz="1600">
              <a:latin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US" sz="1600">
                <a:latin typeface="Calibri" panose="020F0502020204030204" pitchFamily="34" charset="0"/>
                <a:cs typeface="Calibri" panose="020F0502020204030204" pitchFamily="34" charset="0"/>
              </a:rPr>
              <a:t>Giúp đ</a:t>
            </a:r>
            <a:r>
              <a:rPr lang="vi-VN" sz="1600">
                <a:latin typeface="Calibri" panose="020F0502020204030204" pitchFamily="34" charset="0"/>
                <a:cs typeface="Calibri" panose="020F0502020204030204" pitchFamily="34" charset="0"/>
              </a:rPr>
              <a:t>iều</a:t>
            </a:r>
            <a:r>
              <a:rPr lang="en-US" sz="1600">
                <a:latin typeface="Calibri" panose="020F0502020204030204" pitchFamily="34" charset="0"/>
                <a:cs typeface="Calibri" panose="020F0502020204030204" pitchFamily="34" charset="0"/>
              </a:rPr>
              <a:t> </a:t>
            </a:r>
            <a:r>
              <a:rPr lang="vi-VN" sz="1600">
                <a:latin typeface="Calibri" panose="020F0502020204030204" pitchFamily="34" charset="0"/>
                <a:cs typeface="Calibri" panose="020F0502020204030204" pitchFamily="34" charset="0"/>
              </a:rPr>
              <a:t>tra biến động</a:t>
            </a:r>
            <a:r>
              <a:rPr lang="en-US" sz="1600">
                <a:latin typeface="Calibri" panose="020F0502020204030204" pitchFamily="34" charset="0"/>
                <a:cs typeface="Calibri" panose="020F0502020204030204" pitchFamily="34" charset="0"/>
              </a:rPr>
              <a:t> của dữ liệu</a:t>
            </a:r>
          </a:p>
        </p:txBody>
      </p:sp>
      <p:sp>
        <p:nvSpPr>
          <p:cNvPr id="11" name="Content Placeholder 2">
            <a:extLst>
              <a:ext uri="{FF2B5EF4-FFF2-40B4-BE49-F238E27FC236}">
                <a16:creationId xmlns:a16="http://schemas.microsoft.com/office/drawing/2014/main" id="{3AAB1784-4BD7-0AB5-FADC-653701EC3EAA}"/>
              </a:ext>
            </a:extLst>
          </p:cNvPr>
          <p:cNvSpPr txBox="1">
            <a:spLocks/>
          </p:cNvSpPr>
          <p:nvPr/>
        </p:nvSpPr>
        <p:spPr>
          <a:xfrm>
            <a:off x="2133361" y="2344429"/>
            <a:ext cx="4962148" cy="420222"/>
          </a:xfrm>
          <a:prstGeom prst="rect">
            <a:avLst/>
          </a:prstGeom>
          <a:solidFill>
            <a:srgbClr val="00B050"/>
          </a:solid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defTabSz="914400">
              <a:defRPr sz="1400">
                <a:solidFill>
                  <a:schemeClr val="lt1"/>
                </a:solidFill>
              </a:defRPr>
            </a:lvl1pPr>
            <a:lvl2pPr defTabSz="914400">
              <a:defRPr>
                <a:solidFill>
                  <a:schemeClr val="lt1"/>
                </a:solidFill>
              </a:defRPr>
            </a:lvl2pPr>
            <a:lvl3pPr defTabSz="914400">
              <a:defRPr>
                <a:solidFill>
                  <a:schemeClr val="lt1"/>
                </a:solidFill>
              </a:defRPr>
            </a:lvl3pPr>
            <a:lvl4pPr defTabSz="914400">
              <a:defRPr>
                <a:solidFill>
                  <a:schemeClr val="lt1"/>
                </a:solidFill>
              </a:defRPr>
            </a:lvl4pPr>
            <a:lvl5pPr defTabSz="914400">
              <a:defRPr>
                <a:solidFill>
                  <a:schemeClr val="lt1"/>
                </a:solidFill>
              </a:defRPr>
            </a:lvl5pPr>
            <a:lvl6pPr defTabSz="914400">
              <a:defRPr>
                <a:solidFill>
                  <a:schemeClr val="lt1"/>
                </a:solidFill>
              </a:defRPr>
            </a:lvl6pPr>
            <a:lvl7pPr defTabSz="914400">
              <a:defRPr>
                <a:solidFill>
                  <a:schemeClr val="lt1"/>
                </a:solidFill>
              </a:defRPr>
            </a:lvl7pPr>
            <a:lvl8pPr defTabSz="914400">
              <a:defRPr>
                <a:solidFill>
                  <a:schemeClr val="lt1"/>
                </a:solidFill>
              </a:defRPr>
            </a:lvl8pPr>
            <a:lvl9pPr defTabSz="914400">
              <a:defRPr>
                <a:solidFill>
                  <a:schemeClr val="lt1"/>
                </a:solidFill>
              </a:defRPr>
            </a:lvl9pPr>
          </a:lstStyle>
          <a:p>
            <a:r>
              <a:rPr lang="en-US">
                <a:latin typeface="Calibri" panose="020F0502020204030204" pitchFamily="34" charset="0"/>
                <a:cs typeface="Calibri" panose="020F0502020204030204" pitchFamily="34" charset="0"/>
              </a:rPr>
              <a:t>Ví dụ về biểu đồ theo dõi thời gian nghỉ tháng 06/2023</a:t>
            </a:r>
          </a:p>
        </p:txBody>
      </p:sp>
      <p:pic>
        <p:nvPicPr>
          <p:cNvPr id="5" name="Picture 4">
            <a:extLst>
              <a:ext uri="{FF2B5EF4-FFF2-40B4-BE49-F238E27FC236}">
                <a16:creationId xmlns:a16="http://schemas.microsoft.com/office/drawing/2014/main" id="{2C196992-22C0-8C80-F2B0-FC60AFDD0E05}"/>
              </a:ext>
            </a:extLst>
          </p:cNvPr>
          <p:cNvPicPr>
            <a:picLocks noChangeAspect="1"/>
          </p:cNvPicPr>
          <p:nvPr/>
        </p:nvPicPr>
        <p:blipFill>
          <a:blip r:embed="rId3"/>
          <a:stretch>
            <a:fillRect/>
          </a:stretch>
        </p:blipFill>
        <p:spPr>
          <a:xfrm>
            <a:off x="1855933" y="2816709"/>
            <a:ext cx="5584131" cy="3697910"/>
          </a:xfrm>
          <a:prstGeom prst="rect">
            <a:avLst/>
          </a:prstGeom>
        </p:spPr>
      </p:pic>
    </p:spTree>
    <p:extLst>
      <p:ext uri="{BB962C8B-B14F-4D97-AF65-F5344CB8AC3E}">
        <p14:creationId xmlns:p14="http://schemas.microsoft.com/office/powerpoint/2010/main" val="1124991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4DC6ABF-9710-CABA-9C33-F76FB5F4A97F}"/>
              </a:ext>
            </a:extLst>
          </p:cNvPr>
          <p:cNvPicPr>
            <a:picLocks noChangeAspect="1"/>
          </p:cNvPicPr>
          <p:nvPr/>
        </p:nvPicPr>
        <p:blipFill>
          <a:blip r:embed="rId3"/>
          <a:stretch>
            <a:fillRect/>
          </a:stretch>
        </p:blipFill>
        <p:spPr>
          <a:xfrm>
            <a:off x="2828175" y="4060609"/>
            <a:ext cx="4915333" cy="2388059"/>
          </a:xfrm>
          <a:prstGeom prst="rect">
            <a:avLst/>
          </a:prstGeom>
          <a:effectLst>
            <a:glow rad="63500">
              <a:schemeClr val="bg1">
                <a:lumMod val="65000"/>
                <a:alpha val="40000"/>
              </a:schemeClr>
            </a:glow>
          </a:effectLst>
        </p:spPr>
      </p:pic>
      <p:sp>
        <p:nvSpPr>
          <p:cNvPr id="7" name="Slide Number Placeholder 5"/>
          <p:cNvSpPr>
            <a:spLocks noGrp="1"/>
          </p:cNvSpPr>
          <p:nvPr>
            <p:ph type="sldNum" sz="quarter" idx="4"/>
          </p:nvPr>
        </p:nvSpPr>
        <p:spPr>
          <a:prstGeom prst="rect">
            <a:avLst/>
          </a:prstGeom>
        </p:spPr>
        <p:txBody>
          <a:bodyPr vert="horz" lIns="0" tIns="0" rIns="0" bIns="0" rtlCol="0" anchor="ctr" anchorCtr="0"/>
          <a:lstStyle>
            <a:lvl1pPr algn="r">
              <a:defRPr sz="1800">
                <a:solidFill>
                  <a:schemeClr val="tx1"/>
                </a:solidFill>
              </a:defRPr>
            </a:lvl1pPr>
          </a:lstStyle>
          <a:p>
            <a:fld id="{A3381702-59A5-4643-AE93-D7BF7F78153B}" type="slidenum">
              <a:rPr lang="en-GB" smtClean="0"/>
              <a:pPr/>
              <a:t>4</a:t>
            </a:fld>
            <a:endParaRPr lang="en-GB" dirty="0"/>
          </a:p>
        </p:txBody>
      </p:sp>
      <p:sp>
        <p:nvSpPr>
          <p:cNvPr id="8" name="Footer Placeholder 4"/>
          <p:cNvSpPr>
            <a:spLocks noGrp="1"/>
          </p:cNvSpPr>
          <p:nvPr>
            <p:ph type="ftr" sz="quarter" idx="3"/>
          </p:nvPr>
        </p:nvSpPr>
        <p:spPr>
          <a:prstGeom prst="rect">
            <a:avLst/>
          </a:prstGeom>
        </p:spPr>
        <p:txBody>
          <a:bodyPr vert="horz" lIns="0" tIns="0" rIns="0" bIns="0" rtlCol="0" anchor="t" anchorCtr="0"/>
          <a:lstStyle>
            <a:lvl1pPr algn="r">
              <a:defRPr sz="700">
                <a:solidFill>
                  <a:schemeClr val="tx1"/>
                </a:solidFill>
                <a:latin typeface="+mn-lt"/>
              </a:defRPr>
            </a:lvl1pPr>
          </a:lstStyle>
          <a:p>
            <a:r>
              <a:rPr lang="fr-FR" altLang="ja-JP" dirty="0"/>
              <a:t>©20</a:t>
            </a:r>
            <a:r>
              <a:rPr lang="en-US" altLang="ja-JP" dirty="0"/>
              <a:t>23</a:t>
            </a:r>
            <a:r>
              <a:rPr lang="fr-FR" altLang="ja-JP" dirty="0"/>
              <a:t> KYOCERA Document Solutions Inc.</a:t>
            </a:r>
            <a:endParaRPr lang="en-GB" dirty="0"/>
          </a:p>
        </p:txBody>
      </p:sp>
      <p:sp>
        <p:nvSpPr>
          <p:cNvPr id="4" name="Rectangle 3">
            <a:extLst>
              <a:ext uri="{FF2B5EF4-FFF2-40B4-BE49-F238E27FC236}">
                <a16:creationId xmlns:a16="http://schemas.microsoft.com/office/drawing/2014/main" id="{0BAEFD46-8DC5-BB64-F040-FD68EE6A7C2D}"/>
              </a:ext>
            </a:extLst>
          </p:cNvPr>
          <p:cNvSpPr/>
          <p:nvPr/>
        </p:nvSpPr>
        <p:spPr>
          <a:xfrm>
            <a:off x="295745" y="40624"/>
            <a:ext cx="8722810" cy="6207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nSpc>
                <a:spcPct val="107000"/>
              </a:lnSpc>
              <a:spcBef>
                <a:spcPts val="0"/>
              </a:spcBef>
              <a:spcAft>
                <a:spcPts val="800"/>
              </a:spcAft>
              <a:tabLst>
                <a:tab pos="457200" algn="l"/>
              </a:tabLst>
            </a:pPr>
            <a:r>
              <a:rPr lang="en-US" sz="2200" b="1">
                <a:solidFill>
                  <a:schemeClr val="tx1"/>
                </a:solidFill>
                <a:effectLst/>
                <a:latin typeface="Calibri" panose="020F0502020204030204" pitchFamily="34" charset="0"/>
                <a:ea typeface="游明朝" panose="02020400000000000000" pitchFamily="18" charset="-128"/>
                <a:cs typeface="Times New Roman" panose="02020603050405020304" pitchFamily="18" charset="0"/>
              </a:rPr>
              <a:t>1. BIỂU ĐỒ </a:t>
            </a:r>
            <a:r>
              <a:rPr lang="en-US" sz="2200" b="1">
                <a:solidFill>
                  <a:schemeClr val="tx1"/>
                </a:solidFill>
                <a:latin typeface="Calibri" panose="020F0502020204030204" pitchFamily="34" charset="0"/>
                <a:ea typeface="游明朝" panose="02020400000000000000" pitchFamily="18" charset="-128"/>
                <a:cs typeface="Times New Roman" panose="02020603050405020304" pitchFamily="18" charset="0"/>
              </a:rPr>
              <a:t>ĐƯỜNG</a:t>
            </a:r>
            <a:endParaRPr lang="en-US" sz="2200">
              <a:solidFill>
                <a:schemeClr val="tx1"/>
              </a:solidFill>
              <a:effectLst/>
              <a:latin typeface="Calibri" panose="020F0502020204030204" pitchFamily="34" charset="0"/>
              <a:ea typeface="游明朝" panose="02020400000000000000" pitchFamily="18" charset="-128"/>
              <a:cs typeface="Times New Roman" panose="02020603050405020304" pitchFamily="18" charset="0"/>
            </a:endParaRPr>
          </a:p>
        </p:txBody>
      </p:sp>
      <p:sp>
        <p:nvSpPr>
          <p:cNvPr id="6" name="Freeform 34">
            <a:extLst>
              <a:ext uri="{FF2B5EF4-FFF2-40B4-BE49-F238E27FC236}">
                <a16:creationId xmlns:a16="http://schemas.microsoft.com/office/drawing/2014/main" id="{E988D51C-281C-0FC1-508D-073F501DA6DF}"/>
              </a:ext>
            </a:extLst>
          </p:cNvPr>
          <p:cNvSpPr>
            <a:spLocks noChangeAspect="1"/>
          </p:cNvSpPr>
          <p:nvPr/>
        </p:nvSpPr>
        <p:spPr bwMode="auto">
          <a:xfrm rot="10800000" flipV="1">
            <a:off x="509368" y="536909"/>
            <a:ext cx="1655684" cy="47957"/>
          </a:xfrm>
          <a:custGeom>
            <a:avLst/>
            <a:gdLst>
              <a:gd name="T0" fmla="*/ 922 w 990"/>
              <a:gd name="T1" fmla="*/ 0 h 36"/>
              <a:gd name="T2" fmla="*/ 907 w 990"/>
              <a:gd name="T3" fmla="*/ 0 h 36"/>
              <a:gd name="T4" fmla="*/ 880 w 990"/>
              <a:gd name="T5" fmla="*/ 1 h 36"/>
              <a:gd name="T6" fmla="*/ 839 w 990"/>
              <a:gd name="T7" fmla="*/ 3 h 36"/>
              <a:gd name="T8" fmla="*/ 818 w 990"/>
              <a:gd name="T9" fmla="*/ 3 h 36"/>
              <a:gd name="T10" fmla="*/ 798 w 990"/>
              <a:gd name="T11" fmla="*/ 4 h 36"/>
              <a:gd name="T12" fmla="*/ 757 w 990"/>
              <a:gd name="T13" fmla="*/ 5 h 36"/>
              <a:gd name="T14" fmla="*/ 718 w 990"/>
              <a:gd name="T15" fmla="*/ 5 h 36"/>
              <a:gd name="T16" fmla="*/ 662 w 990"/>
              <a:gd name="T17" fmla="*/ 5 h 36"/>
              <a:gd name="T18" fmla="*/ 540 w 990"/>
              <a:gd name="T19" fmla="*/ 4 h 36"/>
              <a:gd name="T20" fmla="*/ 512 w 990"/>
              <a:gd name="T21" fmla="*/ 4 h 36"/>
              <a:gd name="T22" fmla="*/ 511 w 990"/>
              <a:gd name="T23" fmla="*/ 4 h 36"/>
              <a:gd name="T24" fmla="*/ 484 w 990"/>
              <a:gd name="T25" fmla="*/ 5 h 36"/>
              <a:gd name="T26" fmla="*/ 419 w 990"/>
              <a:gd name="T27" fmla="*/ 5 h 36"/>
              <a:gd name="T28" fmla="*/ 353 w 990"/>
              <a:gd name="T29" fmla="*/ 7 h 36"/>
              <a:gd name="T30" fmla="*/ 350 w 990"/>
              <a:gd name="T31" fmla="*/ 7 h 36"/>
              <a:gd name="T32" fmla="*/ 288 w 990"/>
              <a:gd name="T33" fmla="*/ 5 h 36"/>
              <a:gd name="T34" fmla="*/ 265 w 990"/>
              <a:gd name="T35" fmla="*/ 4 h 36"/>
              <a:gd name="T36" fmla="*/ 244 w 990"/>
              <a:gd name="T37" fmla="*/ 4 h 36"/>
              <a:gd name="T38" fmla="*/ 224 w 990"/>
              <a:gd name="T39" fmla="*/ 4 h 36"/>
              <a:gd name="T40" fmla="*/ 223 w 990"/>
              <a:gd name="T41" fmla="*/ 4 h 36"/>
              <a:gd name="T42" fmla="*/ 222 w 990"/>
              <a:gd name="T43" fmla="*/ 4 h 36"/>
              <a:gd name="T44" fmla="*/ 190 w 990"/>
              <a:gd name="T45" fmla="*/ 4 h 36"/>
              <a:gd name="T46" fmla="*/ 158 w 990"/>
              <a:gd name="T47" fmla="*/ 4 h 36"/>
              <a:gd name="T48" fmla="*/ 157 w 990"/>
              <a:gd name="T49" fmla="*/ 4 h 36"/>
              <a:gd name="T50" fmla="*/ 91 w 990"/>
              <a:gd name="T51" fmla="*/ 5 h 36"/>
              <a:gd name="T52" fmla="*/ 58 w 990"/>
              <a:gd name="T53" fmla="*/ 6 h 36"/>
              <a:gd name="T54" fmla="*/ 26 w 990"/>
              <a:gd name="T55" fmla="*/ 8 h 36"/>
              <a:gd name="T56" fmla="*/ 10 w 990"/>
              <a:gd name="T57" fmla="*/ 10 h 36"/>
              <a:gd name="T58" fmla="*/ 6 w 990"/>
              <a:gd name="T59" fmla="*/ 10 h 36"/>
              <a:gd name="T60" fmla="*/ 5 w 990"/>
              <a:gd name="T61" fmla="*/ 10 h 36"/>
              <a:gd name="T62" fmla="*/ 5 w 990"/>
              <a:gd name="T63" fmla="*/ 10 h 36"/>
              <a:gd name="T64" fmla="*/ 4 w 990"/>
              <a:gd name="T65" fmla="*/ 10 h 36"/>
              <a:gd name="T66" fmla="*/ 2 w 990"/>
              <a:gd name="T67" fmla="*/ 10 h 36"/>
              <a:gd name="T68" fmla="*/ 1 w 990"/>
              <a:gd name="T69" fmla="*/ 12 h 36"/>
              <a:gd name="T70" fmla="*/ 4 w 990"/>
              <a:gd name="T71" fmla="*/ 17 h 36"/>
              <a:gd name="T72" fmla="*/ 4 w 990"/>
              <a:gd name="T73" fmla="*/ 17 h 36"/>
              <a:gd name="T74" fmla="*/ 63 w 990"/>
              <a:gd name="T75" fmla="*/ 16 h 36"/>
              <a:gd name="T76" fmla="*/ 70 w 990"/>
              <a:gd name="T77" fmla="*/ 16 h 36"/>
              <a:gd name="T78" fmla="*/ 122 w 990"/>
              <a:gd name="T79" fmla="*/ 17 h 36"/>
              <a:gd name="T80" fmla="*/ 153 w 990"/>
              <a:gd name="T81" fmla="*/ 19 h 36"/>
              <a:gd name="T82" fmla="*/ 183 w 990"/>
              <a:gd name="T83" fmla="*/ 20 h 36"/>
              <a:gd name="T84" fmla="*/ 244 w 990"/>
              <a:gd name="T85" fmla="*/ 22 h 36"/>
              <a:gd name="T86" fmla="*/ 305 w 990"/>
              <a:gd name="T87" fmla="*/ 24 h 36"/>
              <a:gd name="T88" fmla="*/ 336 w 990"/>
              <a:gd name="T89" fmla="*/ 26 h 36"/>
              <a:gd name="T90" fmla="*/ 375 w 990"/>
              <a:gd name="T91" fmla="*/ 28 h 36"/>
              <a:gd name="T92" fmla="*/ 489 w 990"/>
              <a:gd name="T93" fmla="*/ 32 h 36"/>
              <a:gd name="T94" fmla="*/ 612 w 990"/>
              <a:gd name="T95" fmla="*/ 36 h 36"/>
              <a:gd name="T96" fmla="*/ 665 w 990"/>
              <a:gd name="T97" fmla="*/ 36 h 36"/>
              <a:gd name="T98" fmla="*/ 707 w 990"/>
              <a:gd name="T99" fmla="*/ 36 h 36"/>
              <a:gd name="T100" fmla="*/ 750 w 990"/>
              <a:gd name="T101" fmla="*/ 36 h 36"/>
              <a:gd name="T102" fmla="*/ 792 w 990"/>
              <a:gd name="T103" fmla="*/ 35 h 36"/>
              <a:gd name="T104" fmla="*/ 879 w 990"/>
              <a:gd name="T105" fmla="*/ 32 h 36"/>
              <a:gd name="T106" fmla="*/ 921 w 990"/>
              <a:gd name="T107" fmla="*/ 30 h 36"/>
              <a:gd name="T108" fmla="*/ 969 w 990"/>
              <a:gd name="T109" fmla="*/ 27 h 36"/>
              <a:gd name="T110" fmla="*/ 982 w 990"/>
              <a:gd name="T111" fmla="*/ 22 h 36"/>
              <a:gd name="T112" fmla="*/ 987 w 990"/>
              <a:gd name="T113" fmla="*/ 15 h 36"/>
              <a:gd name="T114" fmla="*/ 989 w 990"/>
              <a:gd name="T115" fmla="*/ 8 h 36"/>
              <a:gd name="T116" fmla="*/ 982 w 990"/>
              <a:gd name="T117" fmla="*/ 2 h 36"/>
              <a:gd name="T118" fmla="*/ 962 w 990"/>
              <a:gd name="T119" fmla="*/ 0 h 36"/>
              <a:gd name="T120" fmla="*/ 934 w 990"/>
              <a:gd name="T121" fmla="*/ 0 h 36"/>
              <a:gd name="T122" fmla="*/ 922 w 990"/>
              <a:gd name="T1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0" h="36">
                <a:moveTo>
                  <a:pt x="922" y="0"/>
                </a:moveTo>
                <a:cubicBezTo>
                  <a:pt x="917" y="0"/>
                  <a:pt x="912" y="0"/>
                  <a:pt x="907" y="0"/>
                </a:cubicBezTo>
                <a:cubicBezTo>
                  <a:pt x="898" y="0"/>
                  <a:pt x="889" y="1"/>
                  <a:pt x="880" y="1"/>
                </a:cubicBezTo>
                <a:cubicBezTo>
                  <a:pt x="839" y="3"/>
                  <a:pt x="839" y="3"/>
                  <a:pt x="839" y="3"/>
                </a:cubicBezTo>
                <a:cubicBezTo>
                  <a:pt x="818" y="3"/>
                  <a:pt x="818" y="3"/>
                  <a:pt x="818" y="3"/>
                </a:cubicBezTo>
                <a:cubicBezTo>
                  <a:pt x="798" y="4"/>
                  <a:pt x="798" y="4"/>
                  <a:pt x="798" y="4"/>
                </a:cubicBezTo>
                <a:cubicBezTo>
                  <a:pt x="757" y="5"/>
                  <a:pt x="757" y="5"/>
                  <a:pt x="757" y="5"/>
                </a:cubicBezTo>
                <a:cubicBezTo>
                  <a:pt x="744" y="5"/>
                  <a:pt x="731" y="5"/>
                  <a:pt x="718" y="5"/>
                </a:cubicBezTo>
                <a:cubicBezTo>
                  <a:pt x="699" y="5"/>
                  <a:pt x="681" y="5"/>
                  <a:pt x="662" y="5"/>
                </a:cubicBezTo>
                <a:cubicBezTo>
                  <a:pt x="540" y="4"/>
                  <a:pt x="540" y="4"/>
                  <a:pt x="540" y="4"/>
                </a:cubicBezTo>
                <a:cubicBezTo>
                  <a:pt x="512" y="4"/>
                  <a:pt x="512" y="4"/>
                  <a:pt x="512" y="4"/>
                </a:cubicBezTo>
                <a:cubicBezTo>
                  <a:pt x="512" y="4"/>
                  <a:pt x="511" y="4"/>
                  <a:pt x="511" y="4"/>
                </a:cubicBezTo>
                <a:cubicBezTo>
                  <a:pt x="502" y="4"/>
                  <a:pt x="493" y="4"/>
                  <a:pt x="484" y="5"/>
                </a:cubicBezTo>
                <a:cubicBezTo>
                  <a:pt x="462" y="5"/>
                  <a:pt x="441" y="5"/>
                  <a:pt x="419" y="5"/>
                </a:cubicBezTo>
                <a:cubicBezTo>
                  <a:pt x="397" y="6"/>
                  <a:pt x="375" y="7"/>
                  <a:pt x="353" y="7"/>
                </a:cubicBezTo>
                <a:cubicBezTo>
                  <a:pt x="352" y="7"/>
                  <a:pt x="351" y="7"/>
                  <a:pt x="350" y="7"/>
                </a:cubicBezTo>
                <a:cubicBezTo>
                  <a:pt x="330" y="7"/>
                  <a:pt x="309" y="5"/>
                  <a:pt x="288" y="5"/>
                </a:cubicBezTo>
                <a:cubicBezTo>
                  <a:pt x="280" y="4"/>
                  <a:pt x="272" y="4"/>
                  <a:pt x="265" y="4"/>
                </a:cubicBezTo>
                <a:cubicBezTo>
                  <a:pt x="258" y="4"/>
                  <a:pt x="251" y="4"/>
                  <a:pt x="244" y="4"/>
                </a:cubicBezTo>
                <a:cubicBezTo>
                  <a:pt x="237" y="4"/>
                  <a:pt x="230" y="4"/>
                  <a:pt x="224" y="4"/>
                </a:cubicBezTo>
                <a:cubicBezTo>
                  <a:pt x="223" y="4"/>
                  <a:pt x="223" y="4"/>
                  <a:pt x="223" y="4"/>
                </a:cubicBezTo>
                <a:cubicBezTo>
                  <a:pt x="223" y="4"/>
                  <a:pt x="222" y="4"/>
                  <a:pt x="222" y="4"/>
                </a:cubicBezTo>
                <a:cubicBezTo>
                  <a:pt x="212" y="4"/>
                  <a:pt x="201" y="4"/>
                  <a:pt x="190" y="4"/>
                </a:cubicBezTo>
                <a:cubicBezTo>
                  <a:pt x="180" y="4"/>
                  <a:pt x="169" y="4"/>
                  <a:pt x="158" y="4"/>
                </a:cubicBezTo>
                <a:cubicBezTo>
                  <a:pt x="158" y="4"/>
                  <a:pt x="157" y="4"/>
                  <a:pt x="157" y="4"/>
                </a:cubicBezTo>
                <a:cubicBezTo>
                  <a:pt x="135" y="4"/>
                  <a:pt x="113" y="4"/>
                  <a:pt x="91" y="5"/>
                </a:cubicBezTo>
                <a:cubicBezTo>
                  <a:pt x="80" y="5"/>
                  <a:pt x="69" y="6"/>
                  <a:pt x="58" y="6"/>
                </a:cubicBezTo>
                <a:cubicBezTo>
                  <a:pt x="48" y="6"/>
                  <a:pt x="37" y="7"/>
                  <a:pt x="26" y="8"/>
                </a:cubicBezTo>
                <a:cubicBezTo>
                  <a:pt x="10" y="10"/>
                  <a:pt x="10" y="10"/>
                  <a:pt x="10" y="10"/>
                </a:cubicBezTo>
                <a:cubicBezTo>
                  <a:pt x="6" y="10"/>
                  <a:pt x="6" y="10"/>
                  <a:pt x="6" y="10"/>
                </a:cubicBezTo>
                <a:cubicBezTo>
                  <a:pt x="6" y="10"/>
                  <a:pt x="5" y="10"/>
                  <a:pt x="5" y="10"/>
                </a:cubicBezTo>
                <a:cubicBezTo>
                  <a:pt x="5" y="10"/>
                  <a:pt x="5" y="10"/>
                  <a:pt x="5" y="10"/>
                </a:cubicBezTo>
                <a:cubicBezTo>
                  <a:pt x="4" y="10"/>
                  <a:pt x="4" y="10"/>
                  <a:pt x="4" y="10"/>
                </a:cubicBezTo>
                <a:cubicBezTo>
                  <a:pt x="3" y="10"/>
                  <a:pt x="2" y="10"/>
                  <a:pt x="2" y="10"/>
                </a:cubicBezTo>
                <a:cubicBezTo>
                  <a:pt x="1" y="10"/>
                  <a:pt x="1" y="11"/>
                  <a:pt x="1" y="12"/>
                </a:cubicBezTo>
                <a:cubicBezTo>
                  <a:pt x="0" y="15"/>
                  <a:pt x="2" y="17"/>
                  <a:pt x="4" y="17"/>
                </a:cubicBezTo>
                <a:cubicBezTo>
                  <a:pt x="4" y="17"/>
                  <a:pt x="4" y="17"/>
                  <a:pt x="4" y="17"/>
                </a:cubicBezTo>
                <a:cubicBezTo>
                  <a:pt x="24" y="17"/>
                  <a:pt x="43" y="16"/>
                  <a:pt x="63" y="16"/>
                </a:cubicBezTo>
                <a:cubicBezTo>
                  <a:pt x="65" y="16"/>
                  <a:pt x="67" y="16"/>
                  <a:pt x="70" y="16"/>
                </a:cubicBezTo>
                <a:cubicBezTo>
                  <a:pt x="87" y="16"/>
                  <a:pt x="105" y="16"/>
                  <a:pt x="122" y="17"/>
                </a:cubicBezTo>
                <a:cubicBezTo>
                  <a:pt x="133" y="18"/>
                  <a:pt x="143" y="19"/>
                  <a:pt x="153" y="19"/>
                </a:cubicBezTo>
                <a:cubicBezTo>
                  <a:pt x="183" y="20"/>
                  <a:pt x="183" y="20"/>
                  <a:pt x="183" y="20"/>
                </a:cubicBezTo>
                <a:cubicBezTo>
                  <a:pt x="203" y="20"/>
                  <a:pt x="224" y="21"/>
                  <a:pt x="244" y="22"/>
                </a:cubicBezTo>
                <a:cubicBezTo>
                  <a:pt x="265" y="22"/>
                  <a:pt x="285" y="23"/>
                  <a:pt x="305" y="24"/>
                </a:cubicBezTo>
                <a:cubicBezTo>
                  <a:pt x="336" y="26"/>
                  <a:pt x="336" y="26"/>
                  <a:pt x="336" y="26"/>
                </a:cubicBezTo>
                <a:cubicBezTo>
                  <a:pt x="346" y="26"/>
                  <a:pt x="361" y="28"/>
                  <a:pt x="375" y="28"/>
                </a:cubicBezTo>
                <a:cubicBezTo>
                  <a:pt x="416" y="31"/>
                  <a:pt x="448" y="31"/>
                  <a:pt x="489" y="32"/>
                </a:cubicBezTo>
                <a:cubicBezTo>
                  <a:pt x="530" y="34"/>
                  <a:pt x="571" y="35"/>
                  <a:pt x="612" y="36"/>
                </a:cubicBezTo>
                <a:cubicBezTo>
                  <a:pt x="629" y="36"/>
                  <a:pt x="647" y="36"/>
                  <a:pt x="665" y="36"/>
                </a:cubicBezTo>
                <a:cubicBezTo>
                  <a:pt x="679" y="36"/>
                  <a:pt x="693" y="36"/>
                  <a:pt x="707" y="36"/>
                </a:cubicBezTo>
                <a:cubicBezTo>
                  <a:pt x="750" y="36"/>
                  <a:pt x="750" y="36"/>
                  <a:pt x="750" y="36"/>
                </a:cubicBezTo>
                <a:cubicBezTo>
                  <a:pt x="792" y="35"/>
                  <a:pt x="792" y="35"/>
                  <a:pt x="792" y="35"/>
                </a:cubicBezTo>
                <a:cubicBezTo>
                  <a:pt x="821" y="34"/>
                  <a:pt x="850" y="33"/>
                  <a:pt x="879" y="32"/>
                </a:cubicBezTo>
                <a:cubicBezTo>
                  <a:pt x="921" y="30"/>
                  <a:pt x="921" y="30"/>
                  <a:pt x="921" y="30"/>
                </a:cubicBezTo>
                <a:cubicBezTo>
                  <a:pt x="937" y="30"/>
                  <a:pt x="953" y="29"/>
                  <a:pt x="969" y="27"/>
                </a:cubicBezTo>
                <a:cubicBezTo>
                  <a:pt x="973" y="26"/>
                  <a:pt x="979" y="25"/>
                  <a:pt x="982" y="22"/>
                </a:cubicBezTo>
                <a:cubicBezTo>
                  <a:pt x="984" y="20"/>
                  <a:pt x="986" y="17"/>
                  <a:pt x="987" y="15"/>
                </a:cubicBezTo>
                <a:cubicBezTo>
                  <a:pt x="989" y="13"/>
                  <a:pt x="990" y="10"/>
                  <a:pt x="989" y="8"/>
                </a:cubicBezTo>
                <a:cubicBezTo>
                  <a:pt x="988" y="4"/>
                  <a:pt x="985" y="3"/>
                  <a:pt x="982" y="2"/>
                </a:cubicBezTo>
                <a:cubicBezTo>
                  <a:pt x="975" y="0"/>
                  <a:pt x="968" y="0"/>
                  <a:pt x="962" y="0"/>
                </a:cubicBezTo>
                <a:cubicBezTo>
                  <a:pt x="934" y="0"/>
                  <a:pt x="934" y="0"/>
                  <a:pt x="934" y="0"/>
                </a:cubicBezTo>
                <a:cubicBezTo>
                  <a:pt x="930" y="0"/>
                  <a:pt x="926" y="0"/>
                  <a:pt x="922" y="0"/>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2" name="Content Placeholder 2">
            <a:extLst>
              <a:ext uri="{FF2B5EF4-FFF2-40B4-BE49-F238E27FC236}">
                <a16:creationId xmlns:a16="http://schemas.microsoft.com/office/drawing/2014/main" id="{8A378710-0B40-86B5-B2C6-AF290BD75FB3}"/>
              </a:ext>
            </a:extLst>
          </p:cNvPr>
          <p:cNvSpPr txBox="1">
            <a:spLocks/>
          </p:cNvSpPr>
          <p:nvPr/>
        </p:nvSpPr>
        <p:spPr>
          <a:xfrm>
            <a:off x="401032" y="716399"/>
            <a:ext cx="8510739" cy="3289234"/>
          </a:xfrm>
          <a:prstGeom prst="rect">
            <a:avLst/>
          </a:prstGeom>
          <a:effectLst>
            <a:glow rad="63500">
              <a:schemeClr val="bg1">
                <a:lumMod val="65000"/>
                <a:alpha val="40000"/>
              </a:schemeClr>
            </a:glow>
          </a:effectLst>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1600" b="1">
                <a:latin typeface="Calibri" panose="020F0502020204030204" pitchFamily="34" charset="0"/>
                <a:cs typeface="Calibri" panose="020F0502020204030204" pitchFamily="34" charset="0"/>
              </a:rPr>
              <a:t>b. Cách vẽ: </a:t>
            </a:r>
          </a:p>
          <a:p>
            <a:pPr algn="l"/>
            <a:r>
              <a:rPr lang="en-US" sz="1600" b="1">
                <a:latin typeface="Calibri" panose="020F0502020204030204" pitchFamily="34" charset="0"/>
                <a:cs typeface="Calibri" panose="020F0502020204030204" pitchFamily="34" charset="0"/>
              </a:rPr>
              <a:t>Bước 1</a:t>
            </a:r>
            <a:r>
              <a:rPr lang="en-US" sz="1600">
                <a:latin typeface="Calibri" panose="020F0502020204030204" pitchFamily="34" charset="0"/>
                <a:cs typeface="Calibri" panose="020F0502020204030204" pitchFamily="34" charset="0"/>
              </a:rPr>
              <a:t>: Bôi đen vùng dữ liệu cần vẽ biểu đồ</a:t>
            </a:r>
          </a:p>
          <a:p>
            <a:pPr marL="342900" indent="-342900" algn="l">
              <a:buAutoNum type="alphaUcPeriod"/>
            </a:pPr>
            <a:endParaRPr lang="en-US" sz="1600">
              <a:latin typeface="Calibri" panose="020F0502020204030204" pitchFamily="34" charset="0"/>
              <a:cs typeface="Calibri" panose="020F0502020204030204" pitchFamily="34" charset="0"/>
            </a:endParaRPr>
          </a:p>
          <a:p>
            <a:pPr marL="342900" indent="-342900" algn="l">
              <a:buAutoNum type="alphaUcPeriod"/>
            </a:pPr>
            <a:endParaRPr lang="en-US" sz="1600">
              <a:latin typeface="Calibri" panose="020F0502020204030204" pitchFamily="34" charset="0"/>
              <a:cs typeface="Calibri" panose="020F0502020204030204" pitchFamily="34" charset="0"/>
            </a:endParaRPr>
          </a:p>
          <a:p>
            <a:pPr marL="342900" indent="-342900" algn="l">
              <a:buAutoNum type="alphaUcPeriod"/>
            </a:pPr>
            <a:endParaRPr lang="en-US" sz="1600">
              <a:latin typeface="Calibri" panose="020F0502020204030204" pitchFamily="34" charset="0"/>
              <a:cs typeface="Calibri" panose="020F0502020204030204" pitchFamily="34" charset="0"/>
            </a:endParaRPr>
          </a:p>
          <a:p>
            <a:pPr marL="342900" indent="-342900" algn="l">
              <a:buAutoNum type="alphaUcPeriod"/>
            </a:pPr>
            <a:endParaRPr lang="en-US" sz="1600">
              <a:latin typeface="Calibri" panose="020F0502020204030204" pitchFamily="34" charset="0"/>
              <a:cs typeface="Calibri" panose="020F0502020204030204" pitchFamily="34" charset="0"/>
            </a:endParaRPr>
          </a:p>
          <a:p>
            <a:pPr algn="l"/>
            <a:endParaRPr lang="en-US" sz="1600">
              <a:latin typeface="Calibri" panose="020F0502020204030204" pitchFamily="34" charset="0"/>
              <a:cs typeface="Calibri" panose="020F0502020204030204" pitchFamily="34" charset="0"/>
            </a:endParaRPr>
          </a:p>
          <a:p>
            <a:pPr algn="l"/>
            <a:endParaRPr lang="en-US" sz="1600">
              <a:latin typeface="Calibri" panose="020F0502020204030204" pitchFamily="34" charset="0"/>
              <a:cs typeface="Calibri" panose="020F0502020204030204" pitchFamily="34" charset="0"/>
            </a:endParaRPr>
          </a:p>
          <a:p>
            <a:pPr algn="l"/>
            <a:r>
              <a:rPr lang="en-US" sz="1600" b="1">
                <a:latin typeface="Calibri" panose="020F0502020204030204" pitchFamily="34" charset="0"/>
                <a:cs typeface="Calibri" panose="020F0502020204030204" pitchFamily="34" charset="0"/>
              </a:rPr>
              <a:t>Bước 2</a:t>
            </a:r>
            <a:r>
              <a:rPr lang="en-US" sz="1600">
                <a:latin typeface="Calibri" panose="020F0502020204030204" pitchFamily="34" charset="0"/>
                <a:cs typeface="Calibri" panose="020F0502020204030204" pitchFamily="34" charset="0"/>
              </a:rPr>
              <a:t>: </a:t>
            </a:r>
            <a:r>
              <a:rPr lang="vi-VN" sz="1600">
                <a:latin typeface="Calibri" panose="020F0502020204030204" pitchFamily="34" charset="0"/>
                <a:cs typeface="Calibri" panose="020F0502020204030204" pitchFamily="34" charset="0"/>
              </a:rPr>
              <a:t>Chọn thẻ Insert</a:t>
            </a:r>
            <a:r>
              <a:rPr lang="en-US" sz="1600">
                <a:latin typeface="Calibri" panose="020F0502020204030204" pitchFamily="34" charset="0"/>
                <a:cs typeface="Calibri" panose="020F0502020204030204" pitchFamily="34" charset="0"/>
              </a:rPr>
              <a:t> (1)</a:t>
            </a:r>
            <a:r>
              <a:rPr lang="vi-VN" sz="1600">
                <a:latin typeface="Calibri" panose="020F0502020204030204" pitchFamily="34" charset="0"/>
                <a:cs typeface="Calibri" panose="020F0502020204030204" pitchFamily="34" charset="0"/>
              </a:rPr>
              <a:t> trên thanh Ribbon -&gt; </a:t>
            </a:r>
            <a:r>
              <a:rPr lang="en-US" sz="1600">
                <a:latin typeface="Calibri" panose="020F0502020204030204" pitchFamily="34" charset="0"/>
                <a:cs typeface="Calibri" panose="020F0502020204030204" pitchFamily="34" charset="0"/>
              </a:rPr>
              <a:t>Trong mục Charts c</a:t>
            </a:r>
            <a:r>
              <a:rPr lang="vi-VN" sz="1600">
                <a:latin typeface="Calibri" panose="020F0502020204030204" pitchFamily="34" charset="0"/>
                <a:cs typeface="Calibri" panose="020F0502020204030204" pitchFamily="34" charset="0"/>
              </a:rPr>
              <a:t>họn biểu tượng biểu đồ dạng </a:t>
            </a:r>
            <a:r>
              <a:rPr lang="en-US" sz="1600">
                <a:latin typeface="Calibri" panose="020F0502020204030204" pitchFamily="34" charset="0"/>
                <a:cs typeface="Calibri" panose="020F0502020204030204" pitchFamily="34" charset="0"/>
              </a:rPr>
              <a:t>đường (2), chọn biểu đồ 2D Line (3)</a:t>
            </a:r>
          </a:p>
        </p:txBody>
      </p:sp>
      <p:sp>
        <p:nvSpPr>
          <p:cNvPr id="12" name="Oval 11">
            <a:extLst>
              <a:ext uri="{FF2B5EF4-FFF2-40B4-BE49-F238E27FC236}">
                <a16:creationId xmlns:a16="http://schemas.microsoft.com/office/drawing/2014/main" id="{478E9BE9-E096-9583-6388-DAC6969FBAAB}"/>
              </a:ext>
            </a:extLst>
          </p:cNvPr>
          <p:cNvSpPr/>
          <p:nvPr/>
        </p:nvSpPr>
        <p:spPr>
          <a:xfrm>
            <a:off x="3369882" y="3723897"/>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1</a:t>
            </a:r>
          </a:p>
        </p:txBody>
      </p:sp>
      <p:sp>
        <p:nvSpPr>
          <p:cNvPr id="13" name="Oval 12">
            <a:extLst>
              <a:ext uri="{FF2B5EF4-FFF2-40B4-BE49-F238E27FC236}">
                <a16:creationId xmlns:a16="http://schemas.microsoft.com/office/drawing/2014/main" id="{FA710147-DA6F-A624-BA44-4B884BEEDE25}"/>
              </a:ext>
            </a:extLst>
          </p:cNvPr>
          <p:cNvSpPr/>
          <p:nvPr/>
        </p:nvSpPr>
        <p:spPr>
          <a:xfrm>
            <a:off x="4903605" y="4594261"/>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2</a:t>
            </a:r>
          </a:p>
        </p:txBody>
      </p:sp>
      <p:sp>
        <p:nvSpPr>
          <p:cNvPr id="14" name="Oval 13">
            <a:extLst>
              <a:ext uri="{FF2B5EF4-FFF2-40B4-BE49-F238E27FC236}">
                <a16:creationId xmlns:a16="http://schemas.microsoft.com/office/drawing/2014/main" id="{49D19BF0-4B5E-F071-AAE9-06BA9969F953}"/>
              </a:ext>
            </a:extLst>
          </p:cNvPr>
          <p:cNvSpPr/>
          <p:nvPr/>
        </p:nvSpPr>
        <p:spPr>
          <a:xfrm>
            <a:off x="5749490" y="5540812"/>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3</a:t>
            </a:r>
          </a:p>
        </p:txBody>
      </p:sp>
      <p:pic>
        <p:nvPicPr>
          <p:cNvPr id="5" name="Picture 4">
            <a:extLst>
              <a:ext uri="{FF2B5EF4-FFF2-40B4-BE49-F238E27FC236}">
                <a16:creationId xmlns:a16="http://schemas.microsoft.com/office/drawing/2014/main" id="{F764C3A4-86AF-55B9-8F71-37856EA12CD2}"/>
              </a:ext>
            </a:extLst>
          </p:cNvPr>
          <p:cNvPicPr>
            <a:picLocks noChangeAspect="1"/>
          </p:cNvPicPr>
          <p:nvPr/>
        </p:nvPicPr>
        <p:blipFill>
          <a:blip r:embed="rId4"/>
          <a:stretch>
            <a:fillRect/>
          </a:stretch>
        </p:blipFill>
        <p:spPr>
          <a:xfrm>
            <a:off x="426686" y="1324316"/>
            <a:ext cx="2838846" cy="2057687"/>
          </a:xfrm>
          <a:prstGeom prst="rect">
            <a:avLst/>
          </a:prstGeom>
          <a:effectLst>
            <a:glow rad="63500">
              <a:schemeClr val="bg1">
                <a:lumMod val="65000"/>
                <a:alpha val="40000"/>
              </a:schemeClr>
            </a:glow>
          </a:effectLst>
        </p:spPr>
      </p:pic>
    </p:spTree>
    <p:extLst>
      <p:ext uri="{BB962C8B-B14F-4D97-AF65-F5344CB8AC3E}">
        <p14:creationId xmlns:p14="http://schemas.microsoft.com/office/powerpoint/2010/main" val="24971380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4"/>
          </p:nvPr>
        </p:nvSpPr>
        <p:spPr>
          <a:prstGeom prst="rect">
            <a:avLst/>
          </a:prstGeom>
        </p:spPr>
        <p:txBody>
          <a:bodyPr vert="horz" lIns="0" tIns="0" rIns="0" bIns="0" rtlCol="0" anchor="ctr" anchorCtr="0"/>
          <a:lstStyle>
            <a:lvl1pPr algn="r">
              <a:defRPr sz="1800">
                <a:solidFill>
                  <a:schemeClr val="tx1"/>
                </a:solidFill>
              </a:defRPr>
            </a:lvl1pPr>
          </a:lstStyle>
          <a:p>
            <a:fld id="{A3381702-59A5-4643-AE93-D7BF7F78153B}" type="slidenum">
              <a:rPr lang="en-GB" smtClean="0"/>
              <a:pPr/>
              <a:t>5</a:t>
            </a:fld>
            <a:endParaRPr lang="en-GB" dirty="0"/>
          </a:p>
        </p:txBody>
      </p:sp>
      <p:sp>
        <p:nvSpPr>
          <p:cNvPr id="8" name="Footer Placeholder 4"/>
          <p:cNvSpPr>
            <a:spLocks noGrp="1"/>
          </p:cNvSpPr>
          <p:nvPr>
            <p:ph type="ftr" sz="quarter" idx="3"/>
          </p:nvPr>
        </p:nvSpPr>
        <p:spPr>
          <a:prstGeom prst="rect">
            <a:avLst/>
          </a:prstGeom>
        </p:spPr>
        <p:txBody>
          <a:bodyPr vert="horz" lIns="0" tIns="0" rIns="0" bIns="0" rtlCol="0" anchor="t" anchorCtr="0"/>
          <a:lstStyle>
            <a:lvl1pPr algn="r">
              <a:defRPr sz="700">
                <a:solidFill>
                  <a:schemeClr val="tx1"/>
                </a:solidFill>
                <a:latin typeface="+mn-lt"/>
              </a:defRPr>
            </a:lvl1pPr>
          </a:lstStyle>
          <a:p>
            <a:r>
              <a:rPr lang="fr-FR" altLang="ja-JP" dirty="0"/>
              <a:t>©20</a:t>
            </a:r>
            <a:r>
              <a:rPr lang="en-US" altLang="ja-JP" dirty="0"/>
              <a:t>23</a:t>
            </a:r>
            <a:r>
              <a:rPr lang="fr-FR" altLang="ja-JP" dirty="0"/>
              <a:t> KYOCERA Document Solutions Inc.</a:t>
            </a:r>
            <a:endParaRPr lang="en-GB" dirty="0"/>
          </a:p>
        </p:txBody>
      </p:sp>
      <p:sp>
        <p:nvSpPr>
          <p:cNvPr id="4" name="Rectangle 3">
            <a:extLst>
              <a:ext uri="{FF2B5EF4-FFF2-40B4-BE49-F238E27FC236}">
                <a16:creationId xmlns:a16="http://schemas.microsoft.com/office/drawing/2014/main" id="{0BAEFD46-8DC5-BB64-F040-FD68EE6A7C2D}"/>
              </a:ext>
            </a:extLst>
          </p:cNvPr>
          <p:cNvSpPr/>
          <p:nvPr/>
        </p:nvSpPr>
        <p:spPr>
          <a:xfrm>
            <a:off x="295745" y="40624"/>
            <a:ext cx="8722810" cy="6207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nSpc>
                <a:spcPct val="107000"/>
              </a:lnSpc>
              <a:spcBef>
                <a:spcPts val="0"/>
              </a:spcBef>
              <a:spcAft>
                <a:spcPts val="800"/>
              </a:spcAft>
              <a:tabLst>
                <a:tab pos="457200" algn="l"/>
              </a:tabLst>
            </a:pPr>
            <a:r>
              <a:rPr lang="en-US" sz="2200" b="1">
                <a:solidFill>
                  <a:schemeClr val="tx1"/>
                </a:solidFill>
                <a:effectLst/>
                <a:latin typeface="Calibri" panose="020F0502020204030204" pitchFamily="34" charset="0"/>
                <a:ea typeface="游明朝" panose="02020400000000000000" pitchFamily="18" charset="-128"/>
                <a:cs typeface="Times New Roman" panose="02020603050405020304" pitchFamily="18" charset="0"/>
              </a:rPr>
              <a:t>1. BIỂU ĐỒ </a:t>
            </a:r>
            <a:r>
              <a:rPr lang="en-US" sz="2200" b="1">
                <a:solidFill>
                  <a:schemeClr val="tx1"/>
                </a:solidFill>
                <a:latin typeface="Calibri" panose="020F0502020204030204" pitchFamily="34" charset="0"/>
                <a:ea typeface="游明朝" panose="02020400000000000000" pitchFamily="18" charset="-128"/>
                <a:cs typeface="Times New Roman" panose="02020603050405020304" pitchFamily="18" charset="0"/>
              </a:rPr>
              <a:t>ĐƯỜNG</a:t>
            </a:r>
            <a:endParaRPr lang="en-US" sz="2200">
              <a:solidFill>
                <a:schemeClr val="tx1"/>
              </a:solidFill>
              <a:effectLst/>
              <a:latin typeface="Calibri" panose="020F0502020204030204" pitchFamily="34" charset="0"/>
              <a:ea typeface="游明朝" panose="02020400000000000000" pitchFamily="18" charset="-128"/>
              <a:cs typeface="Times New Roman" panose="02020603050405020304" pitchFamily="18" charset="0"/>
            </a:endParaRPr>
          </a:p>
        </p:txBody>
      </p:sp>
      <p:sp>
        <p:nvSpPr>
          <p:cNvPr id="6" name="Freeform 34">
            <a:extLst>
              <a:ext uri="{FF2B5EF4-FFF2-40B4-BE49-F238E27FC236}">
                <a16:creationId xmlns:a16="http://schemas.microsoft.com/office/drawing/2014/main" id="{E988D51C-281C-0FC1-508D-073F501DA6DF}"/>
              </a:ext>
            </a:extLst>
          </p:cNvPr>
          <p:cNvSpPr>
            <a:spLocks noChangeAspect="1"/>
          </p:cNvSpPr>
          <p:nvPr/>
        </p:nvSpPr>
        <p:spPr bwMode="auto">
          <a:xfrm rot="10800000" flipV="1">
            <a:off x="509368" y="536909"/>
            <a:ext cx="1655684" cy="47957"/>
          </a:xfrm>
          <a:custGeom>
            <a:avLst/>
            <a:gdLst>
              <a:gd name="T0" fmla="*/ 922 w 990"/>
              <a:gd name="T1" fmla="*/ 0 h 36"/>
              <a:gd name="T2" fmla="*/ 907 w 990"/>
              <a:gd name="T3" fmla="*/ 0 h 36"/>
              <a:gd name="T4" fmla="*/ 880 w 990"/>
              <a:gd name="T5" fmla="*/ 1 h 36"/>
              <a:gd name="T6" fmla="*/ 839 w 990"/>
              <a:gd name="T7" fmla="*/ 3 h 36"/>
              <a:gd name="T8" fmla="*/ 818 w 990"/>
              <a:gd name="T9" fmla="*/ 3 h 36"/>
              <a:gd name="T10" fmla="*/ 798 w 990"/>
              <a:gd name="T11" fmla="*/ 4 h 36"/>
              <a:gd name="T12" fmla="*/ 757 w 990"/>
              <a:gd name="T13" fmla="*/ 5 h 36"/>
              <a:gd name="T14" fmla="*/ 718 w 990"/>
              <a:gd name="T15" fmla="*/ 5 h 36"/>
              <a:gd name="T16" fmla="*/ 662 w 990"/>
              <a:gd name="T17" fmla="*/ 5 h 36"/>
              <a:gd name="T18" fmla="*/ 540 w 990"/>
              <a:gd name="T19" fmla="*/ 4 h 36"/>
              <a:gd name="T20" fmla="*/ 512 w 990"/>
              <a:gd name="T21" fmla="*/ 4 h 36"/>
              <a:gd name="T22" fmla="*/ 511 w 990"/>
              <a:gd name="T23" fmla="*/ 4 h 36"/>
              <a:gd name="T24" fmla="*/ 484 w 990"/>
              <a:gd name="T25" fmla="*/ 5 h 36"/>
              <a:gd name="T26" fmla="*/ 419 w 990"/>
              <a:gd name="T27" fmla="*/ 5 h 36"/>
              <a:gd name="T28" fmla="*/ 353 w 990"/>
              <a:gd name="T29" fmla="*/ 7 h 36"/>
              <a:gd name="T30" fmla="*/ 350 w 990"/>
              <a:gd name="T31" fmla="*/ 7 h 36"/>
              <a:gd name="T32" fmla="*/ 288 w 990"/>
              <a:gd name="T33" fmla="*/ 5 h 36"/>
              <a:gd name="T34" fmla="*/ 265 w 990"/>
              <a:gd name="T35" fmla="*/ 4 h 36"/>
              <a:gd name="T36" fmla="*/ 244 w 990"/>
              <a:gd name="T37" fmla="*/ 4 h 36"/>
              <a:gd name="T38" fmla="*/ 224 w 990"/>
              <a:gd name="T39" fmla="*/ 4 h 36"/>
              <a:gd name="T40" fmla="*/ 223 w 990"/>
              <a:gd name="T41" fmla="*/ 4 h 36"/>
              <a:gd name="T42" fmla="*/ 222 w 990"/>
              <a:gd name="T43" fmla="*/ 4 h 36"/>
              <a:gd name="T44" fmla="*/ 190 w 990"/>
              <a:gd name="T45" fmla="*/ 4 h 36"/>
              <a:gd name="T46" fmla="*/ 158 w 990"/>
              <a:gd name="T47" fmla="*/ 4 h 36"/>
              <a:gd name="T48" fmla="*/ 157 w 990"/>
              <a:gd name="T49" fmla="*/ 4 h 36"/>
              <a:gd name="T50" fmla="*/ 91 w 990"/>
              <a:gd name="T51" fmla="*/ 5 h 36"/>
              <a:gd name="T52" fmla="*/ 58 w 990"/>
              <a:gd name="T53" fmla="*/ 6 h 36"/>
              <a:gd name="T54" fmla="*/ 26 w 990"/>
              <a:gd name="T55" fmla="*/ 8 h 36"/>
              <a:gd name="T56" fmla="*/ 10 w 990"/>
              <a:gd name="T57" fmla="*/ 10 h 36"/>
              <a:gd name="T58" fmla="*/ 6 w 990"/>
              <a:gd name="T59" fmla="*/ 10 h 36"/>
              <a:gd name="T60" fmla="*/ 5 w 990"/>
              <a:gd name="T61" fmla="*/ 10 h 36"/>
              <a:gd name="T62" fmla="*/ 5 w 990"/>
              <a:gd name="T63" fmla="*/ 10 h 36"/>
              <a:gd name="T64" fmla="*/ 4 w 990"/>
              <a:gd name="T65" fmla="*/ 10 h 36"/>
              <a:gd name="T66" fmla="*/ 2 w 990"/>
              <a:gd name="T67" fmla="*/ 10 h 36"/>
              <a:gd name="T68" fmla="*/ 1 w 990"/>
              <a:gd name="T69" fmla="*/ 12 h 36"/>
              <a:gd name="T70" fmla="*/ 4 w 990"/>
              <a:gd name="T71" fmla="*/ 17 h 36"/>
              <a:gd name="T72" fmla="*/ 4 w 990"/>
              <a:gd name="T73" fmla="*/ 17 h 36"/>
              <a:gd name="T74" fmla="*/ 63 w 990"/>
              <a:gd name="T75" fmla="*/ 16 h 36"/>
              <a:gd name="T76" fmla="*/ 70 w 990"/>
              <a:gd name="T77" fmla="*/ 16 h 36"/>
              <a:gd name="T78" fmla="*/ 122 w 990"/>
              <a:gd name="T79" fmla="*/ 17 h 36"/>
              <a:gd name="T80" fmla="*/ 153 w 990"/>
              <a:gd name="T81" fmla="*/ 19 h 36"/>
              <a:gd name="T82" fmla="*/ 183 w 990"/>
              <a:gd name="T83" fmla="*/ 20 h 36"/>
              <a:gd name="T84" fmla="*/ 244 w 990"/>
              <a:gd name="T85" fmla="*/ 22 h 36"/>
              <a:gd name="T86" fmla="*/ 305 w 990"/>
              <a:gd name="T87" fmla="*/ 24 h 36"/>
              <a:gd name="T88" fmla="*/ 336 w 990"/>
              <a:gd name="T89" fmla="*/ 26 h 36"/>
              <a:gd name="T90" fmla="*/ 375 w 990"/>
              <a:gd name="T91" fmla="*/ 28 h 36"/>
              <a:gd name="T92" fmla="*/ 489 w 990"/>
              <a:gd name="T93" fmla="*/ 32 h 36"/>
              <a:gd name="T94" fmla="*/ 612 w 990"/>
              <a:gd name="T95" fmla="*/ 36 h 36"/>
              <a:gd name="T96" fmla="*/ 665 w 990"/>
              <a:gd name="T97" fmla="*/ 36 h 36"/>
              <a:gd name="T98" fmla="*/ 707 w 990"/>
              <a:gd name="T99" fmla="*/ 36 h 36"/>
              <a:gd name="T100" fmla="*/ 750 w 990"/>
              <a:gd name="T101" fmla="*/ 36 h 36"/>
              <a:gd name="T102" fmla="*/ 792 w 990"/>
              <a:gd name="T103" fmla="*/ 35 h 36"/>
              <a:gd name="T104" fmla="*/ 879 w 990"/>
              <a:gd name="T105" fmla="*/ 32 h 36"/>
              <a:gd name="T106" fmla="*/ 921 w 990"/>
              <a:gd name="T107" fmla="*/ 30 h 36"/>
              <a:gd name="T108" fmla="*/ 969 w 990"/>
              <a:gd name="T109" fmla="*/ 27 h 36"/>
              <a:gd name="T110" fmla="*/ 982 w 990"/>
              <a:gd name="T111" fmla="*/ 22 h 36"/>
              <a:gd name="T112" fmla="*/ 987 w 990"/>
              <a:gd name="T113" fmla="*/ 15 h 36"/>
              <a:gd name="T114" fmla="*/ 989 w 990"/>
              <a:gd name="T115" fmla="*/ 8 h 36"/>
              <a:gd name="T116" fmla="*/ 982 w 990"/>
              <a:gd name="T117" fmla="*/ 2 h 36"/>
              <a:gd name="T118" fmla="*/ 962 w 990"/>
              <a:gd name="T119" fmla="*/ 0 h 36"/>
              <a:gd name="T120" fmla="*/ 934 w 990"/>
              <a:gd name="T121" fmla="*/ 0 h 36"/>
              <a:gd name="T122" fmla="*/ 922 w 990"/>
              <a:gd name="T1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0" h="36">
                <a:moveTo>
                  <a:pt x="922" y="0"/>
                </a:moveTo>
                <a:cubicBezTo>
                  <a:pt x="917" y="0"/>
                  <a:pt x="912" y="0"/>
                  <a:pt x="907" y="0"/>
                </a:cubicBezTo>
                <a:cubicBezTo>
                  <a:pt x="898" y="0"/>
                  <a:pt x="889" y="1"/>
                  <a:pt x="880" y="1"/>
                </a:cubicBezTo>
                <a:cubicBezTo>
                  <a:pt x="839" y="3"/>
                  <a:pt x="839" y="3"/>
                  <a:pt x="839" y="3"/>
                </a:cubicBezTo>
                <a:cubicBezTo>
                  <a:pt x="818" y="3"/>
                  <a:pt x="818" y="3"/>
                  <a:pt x="818" y="3"/>
                </a:cubicBezTo>
                <a:cubicBezTo>
                  <a:pt x="798" y="4"/>
                  <a:pt x="798" y="4"/>
                  <a:pt x="798" y="4"/>
                </a:cubicBezTo>
                <a:cubicBezTo>
                  <a:pt x="757" y="5"/>
                  <a:pt x="757" y="5"/>
                  <a:pt x="757" y="5"/>
                </a:cubicBezTo>
                <a:cubicBezTo>
                  <a:pt x="744" y="5"/>
                  <a:pt x="731" y="5"/>
                  <a:pt x="718" y="5"/>
                </a:cubicBezTo>
                <a:cubicBezTo>
                  <a:pt x="699" y="5"/>
                  <a:pt x="681" y="5"/>
                  <a:pt x="662" y="5"/>
                </a:cubicBezTo>
                <a:cubicBezTo>
                  <a:pt x="540" y="4"/>
                  <a:pt x="540" y="4"/>
                  <a:pt x="540" y="4"/>
                </a:cubicBezTo>
                <a:cubicBezTo>
                  <a:pt x="512" y="4"/>
                  <a:pt x="512" y="4"/>
                  <a:pt x="512" y="4"/>
                </a:cubicBezTo>
                <a:cubicBezTo>
                  <a:pt x="512" y="4"/>
                  <a:pt x="511" y="4"/>
                  <a:pt x="511" y="4"/>
                </a:cubicBezTo>
                <a:cubicBezTo>
                  <a:pt x="502" y="4"/>
                  <a:pt x="493" y="4"/>
                  <a:pt x="484" y="5"/>
                </a:cubicBezTo>
                <a:cubicBezTo>
                  <a:pt x="462" y="5"/>
                  <a:pt x="441" y="5"/>
                  <a:pt x="419" y="5"/>
                </a:cubicBezTo>
                <a:cubicBezTo>
                  <a:pt x="397" y="6"/>
                  <a:pt x="375" y="7"/>
                  <a:pt x="353" y="7"/>
                </a:cubicBezTo>
                <a:cubicBezTo>
                  <a:pt x="352" y="7"/>
                  <a:pt x="351" y="7"/>
                  <a:pt x="350" y="7"/>
                </a:cubicBezTo>
                <a:cubicBezTo>
                  <a:pt x="330" y="7"/>
                  <a:pt x="309" y="5"/>
                  <a:pt x="288" y="5"/>
                </a:cubicBezTo>
                <a:cubicBezTo>
                  <a:pt x="280" y="4"/>
                  <a:pt x="272" y="4"/>
                  <a:pt x="265" y="4"/>
                </a:cubicBezTo>
                <a:cubicBezTo>
                  <a:pt x="258" y="4"/>
                  <a:pt x="251" y="4"/>
                  <a:pt x="244" y="4"/>
                </a:cubicBezTo>
                <a:cubicBezTo>
                  <a:pt x="237" y="4"/>
                  <a:pt x="230" y="4"/>
                  <a:pt x="224" y="4"/>
                </a:cubicBezTo>
                <a:cubicBezTo>
                  <a:pt x="223" y="4"/>
                  <a:pt x="223" y="4"/>
                  <a:pt x="223" y="4"/>
                </a:cubicBezTo>
                <a:cubicBezTo>
                  <a:pt x="223" y="4"/>
                  <a:pt x="222" y="4"/>
                  <a:pt x="222" y="4"/>
                </a:cubicBezTo>
                <a:cubicBezTo>
                  <a:pt x="212" y="4"/>
                  <a:pt x="201" y="4"/>
                  <a:pt x="190" y="4"/>
                </a:cubicBezTo>
                <a:cubicBezTo>
                  <a:pt x="180" y="4"/>
                  <a:pt x="169" y="4"/>
                  <a:pt x="158" y="4"/>
                </a:cubicBezTo>
                <a:cubicBezTo>
                  <a:pt x="158" y="4"/>
                  <a:pt x="157" y="4"/>
                  <a:pt x="157" y="4"/>
                </a:cubicBezTo>
                <a:cubicBezTo>
                  <a:pt x="135" y="4"/>
                  <a:pt x="113" y="4"/>
                  <a:pt x="91" y="5"/>
                </a:cubicBezTo>
                <a:cubicBezTo>
                  <a:pt x="80" y="5"/>
                  <a:pt x="69" y="6"/>
                  <a:pt x="58" y="6"/>
                </a:cubicBezTo>
                <a:cubicBezTo>
                  <a:pt x="48" y="6"/>
                  <a:pt x="37" y="7"/>
                  <a:pt x="26" y="8"/>
                </a:cubicBezTo>
                <a:cubicBezTo>
                  <a:pt x="10" y="10"/>
                  <a:pt x="10" y="10"/>
                  <a:pt x="10" y="10"/>
                </a:cubicBezTo>
                <a:cubicBezTo>
                  <a:pt x="6" y="10"/>
                  <a:pt x="6" y="10"/>
                  <a:pt x="6" y="10"/>
                </a:cubicBezTo>
                <a:cubicBezTo>
                  <a:pt x="6" y="10"/>
                  <a:pt x="5" y="10"/>
                  <a:pt x="5" y="10"/>
                </a:cubicBezTo>
                <a:cubicBezTo>
                  <a:pt x="5" y="10"/>
                  <a:pt x="5" y="10"/>
                  <a:pt x="5" y="10"/>
                </a:cubicBezTo>
                <a:cubicBezTo>
                  <a:pt x="4" y="10"/>
                  <a:pt x="4" y="10"/>
                  <a:pt x="4" y="10"/>
                </a:cubicBezTo>
                <a:cubicBezTo>
                  <a:pt x="3" y="10"/>
                  <a:pt x="2" y="10"/>
                  <a:pt x="2" y="10"/>
                </a:cubicBezTo>
                <a:cubicBezTo>
                  <a:pt x="1" y="10"/>
                  <a:pt x="1" y="11"/>
                  <a:pt x="1" y="12"/>
                </a:cubicBezTo>
                <a:cubicBezTo>
                  <a:pt x="0" y="15"/>
                  <a:pt x="2" y="17"/>
                  <a:pt x="4" y="17"/>
                </a:cubicBezTo>
                <a:cubicBezTo>
                  <a:pt x="4" y="17"/>
                  <a:pt x="4" y="17"/>
                  <a:pt x="4" y="17"/>
                </a:cubicBezTo>
                <a:cubicBezTo>
                  <a:pt x="24" y="17"/>
                  <a:pt x="43" y="16"/>
                  <a:pt x="63" y="16"/>
                </a:cubicBezTo>
                <a:cubicBezTo>
                  <a:pt x="65" y="16"/>
                  <a:pt x="67" y="16"/>
                  <a:pt x="70" y="16"/>
                </a:cubicBezTo>
                <a:cubicBezTo>
                  <a:pt x="87" y="16"/>
                  <a:pt x="105" y="16"/>
                  <a:pt x="122" y="17"/>
                </a:cubicBezTo>
                <a:cubicBezTo>
                  <a:pt x="133" y="18"/>
                  <a:pt x="143" y="19"/>
                  <a:pt x="153" y="19"/>
                </a:cubicBezTo>
                <a:cubicBezTo>
                  <a:pt x="183" y="20"/>
                  <a:pt x="183" y="20"/>
                  <a:pt x="183" y="20"/>
                </a:cubicBezTo>
                <a:cubicBezTo>
                  <a:pt x="203" y="20"/>
                  <a:pt x="224" y="21"/>
                  <a:pt x="244" y="22"/>
                </a:cubicBezTo>
                <a:cubicBezTo>
                  <a:pt x="265" y="22"/>
                  <a:pt x="285" y="23"/>
                  <a:pt x="305" y="24"/>
                </a:cubicBezTo>
                <a:cubicBezTo>
                  <a:pt x="336" y="26"/>
                  <a:pt x="336" y="26"/>
                  <a:pt x="336" y="26"/>
                </a:cubicBezTo>
                <a:cubicBezTo>
                  <a:pt x="346" y="26"/>
                  <a:pt x="361" y="28"/>
                  <a:pt x="375" y="28"/>
                </a:cubicBezTo>
                <a:cubicBezTo>
                  <a:pt x="416" y="31"/>
                  <a:pt x="448" y="31"/>
                  <a:pt x="489" y="32"/>
                </a:cubicBezTo>
                <a:cubicBezTo>
                  <a:pt x="530" y="34"/>
                  <a:pt x="571" y="35"/>
                  <a:pt x="612" y="36"/>
                </a:cubicBezTo>
                <a:cubicBezTo>
                  <a:pt x="629" y="36"/>
                  <a:pt x="647" y="36"/>
                  <a:pt x="665" y="36"/>
                </a:cubicBezTo>
                <a:cubicBezTo>
                  <a:pt x="679" y="36"/>
                  <a:pt x="693" y="36"/>
                  <a:pt x="707" y="36"/>
                </a:cubicBezTo>
                <a:cubicBezTo>
                  <a:pt x="750" y="36"/>
                  <a:pt x="750" y="36"/>
                  <a:pt x="750" y="36"/>
                </a:cubicBezTo>
                <a:cubicBezTo>
                  <a:pt x="792" y="35"/>
                  <a:pt x="792" y="35"/>
                  <a:pt x="792" y="35"/>
                </a:cubicBezTo>
                <a:cubicBezTo>
                  <a:pt x="821" y="34"/>
                  <a:pt x="850" y="33"/>
                  <a:pt x="879" y="32"/>
                </a:cubicBezTo>
                <a:cubicBezTo>
                  <a:pt x="921" y="30"/>
                  <a:pt x="921" y="30"/>
                  <a:pt x="921" y="30"/>
                </a:cubicBezTo>
                <a:cubicBezTo>
                  <a:pt x="937" y="30"/>
                  <a:pt x="953" y="29"/>
                  <a:pt x="969" y="27"/>
                </a:cubicBezTo>
                <a:cubicBezTo>
                  <a:pt x="973" y="26"/>
                  <a:pt x="979" y="25"/>
                  <a:pt x="982" y="22"/>
                </a:cubicBezTo>
                <a:cubicBezTo>
                  <a:pt x="984" y="20"/>
                  <a:pt x="986" y="17"/>
                  <a:pt x="987" y="15"/>
                </a:cubicBezTo>
                <a:cubicBezTo>
                  <a:pt x="989" y="13"/>
                  <a:pt x="990" y="10"/>
                  <a:pt x="989" y="8"/>
                </a:cubicBezTo>
                <a:cubicBezTo>
                  <a:pt x="988" y="4"/>
                  <a:pt x="985" y="3"/>
                  <a:pt x="982" y="2"/>
                </a:cubicBezTo>
                <a:cubicBezTo>
                  <a:pt x="975" y="0"/>
                  <a:pt x="968" y="0"/>
                  <a:pt x="962" y="0"/>
                </a:cubicBezTo>
                <a:cubicBezTo>
                  <a:pt x="934" y="0"/>
                  <a:pt x="934" y="0"/>
                  <a:pt x="934" y="0"/>
                </a:cubicBezTo>
                <a:cubicBezTo>
                  <a:pt x="930" y="0"/>
                  <a:pt x="926" y="0"/>
                  <a:pt x="922" y="0"/>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2" name="Content Placeholder 2">
            <a:extLst>
              <a:ext uri="{FF2B5EF4-FFF2-40B4-BE49-F238E27FC236}">
                <a16:creationId xmlns:a16="http://schemas.microsoft.com/office/drawing/2014/main" id="{8A378710-0B40-86B5-B2C6-AF290BD75FB3}"/>
              </a:ext>
            </a:extLst>
          </p:cNvPr>
          <p:cNvSpPr txBox="1">
            <a:spLocks/>
          </p:cNvSpPr>
          <p:nvPr/>
        </p:nvSpPr>
        <p:spPr>
          <a:xfrm>
            <a:off x="401032" y="716399"/>
            <a:ext cx="8510739" cy="1326843"/>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1600" b="1">
                <a:latin typeface="Calibri" panose="020F0502020204030204" pitchFamily="34" charset="0"/>
                <a:cs typeface="Calibri" panose="020F0502020204030204" pitchFamily="34" charset="0"/>
              </a:rPr>
              <a:t>b. Cách vẽ: </a:t>
            </a:r>
          </a:p>
          <a:p>
            <a:pPr algn="l"/>
            <a:r>
              <a:rPr lang="en-US" sz="1600" b="1">
                <a:latin typeface="Calibri" panose="020F0502020204030204" pitchFamily="34" charset="0"/>
                <a:cs typeface="Calibri" panose="020F0502020204030204" pitchFamily="34" charset="0"/>
              </a:rPr>
              <a:t>Bước 3</a:t>
            </a:r>
            <a:r>
              <a:rPr lang="en-US" sz="1600">
                <a:latin typeface="Calibri" panose="020F0502020204030204" pitchFamily="34" charset="0"/>
                <a:cs typeface="Calibri" panose="020F0502020204030204" pitchFamily="34" charset="0"/>
              </a:rPr>
              <a:t>: Hoàn thiện biểu đồ</a:t>
            </a:r>
          </a:p>
          <a:p>
            <a:pPr marL="285750" indent="-285750" algn="l">
              <a:buFontTx/>
              <a:buChar char="-"/>
            </a:pPr>
            <a:r>
              <a:rPr lang="en-US" sz="1600" b="1">
                <a:latin typeface="Calibri" panose="020F0502020204030204" pitchFamily="34" charset="0"/>
                <a:cs typeface="Calibri" panose="020F0502020204030204" pitchFamily="34" charset="0"/>
              </a:rPr>
              <a:t>Thay đổi tiêu đề biểu đồ:</a:t>
            </a:r>
            <a:r>
              <a:rPr lang="en-US" sz="1600">
                <a:latin typeface="Calibri" panose="020F0502020204030204" pitchFamily="34" charset="0"/>
                <a:cs typeface="Calibri" panose="020F0502020204030204" pitchFamily="34" charset="0"/>
              </a:rPr>
              <a:t> Click đúp chuột vào tiêu đề (1) để thay đổi tiêu đề</a:t>
            </a:r>
          </a:p>
          <a:p>
            <a:pPr marL="285750" indent="-285750" algn="l">
              <a:buFontTx/>
              <a:buChar char="-"/>
            </a:pPr>
            <a:r>
              <a:rPr lang="en-US" sz="1600" b="1">
                <a:latin typeface="Calibri" panose="020F0502020204030204" pitchFamily="34" charset="0"/>
                <a:cs typeface="Calibri" panose="020F0502020204030204" pitchFamily="34" charset="0"/>
              </a:rPr>
              <a:t>Thay đổi kích thước biểu đồ</a:t>
            </a:r>
            <a:r>
              <a:rPr lang="en-US" sz="1600">
                <a:latin typeface="Calibri" panose="020F0502020204030204" pitchFamily="34" charset="0"/>
                <a:cs typeface="Calibri" panose="020F0502020204030204" pitchFamily="34" charset="0"/>
              </a:rPr>
              <a:t>: di chuột vào các góc (2) để thay đổi kích thước biểu đồ cho phù hợp</a:t>
            </a:r>
          </a:p>
        </p:txBody>
      </p:sp>
      <p:pic>
        <p:nvPicPr>
          <p:cNvPr id="11" name="Picture 10">
            <a:extLst>
              <a:ext uri="{FF2B5EF4-FFF2-40B4-BE49-F238E27FC236}">
                <a16:creationId xmlns:a16="http://schemas.microsoft.com/office/drawing/2014/main" id="{13BAD145-4308-3999-A858-075A1BFC4688}"/>
              </a:ext>
            </a:extLst>
          </p:cNvPr>
          <p:cNvPicPr>
            <a:picLocks noChangeAspect="1"/>
          </p:cNvPicPr>
          <p:nvPr/>
        </p:nvPicPr>
        <p:blipFill>
          <a:blip r:embed="rId3"/>
          <a:stretch>
            <a:fillRect/>
          </a:stretch>
        </p:blipFill>
        <p:spPr>
          <a:xfrm>
            <a:off x="625614" y="2500794"/>
            <a:ext cx="5766560" cy="3726272"/>
          </a:xfrm>
          <a:prstGeom prst="rect">
            <a:avLst/>
          </a:prstGeom>
          <a:effectLst>
            <a:glow rad="63500">
              <a:schemeClr val="bg1">
                <a:lumMod val="65000"/>
                <a:alpha val="40000"/>
              </a:schemeClr>
            </a:glow>
          </a:effectLst>
        </p:spPr>
      </p:pic>
      <p:sp>
        <p:nvSpPr>
          <p:cNvPr id="12" name="Oval 11">
            <a:extLst>
              <a:ext uri="{FF2B5EF4-FFF2-40B4-BE49-F238E27FC236}">
                <a16:creationId xmlns:a16="http://schemas.microsoft.com/office/drawing/2014/main" id="{EE39C399-697C-FE44-F510-CB4B7E102188}"/>
              </a:ext>
            </a:extLst>
          </p:cNvPr>
          <p:cNvSpPr/>
          <p:nvPr/>
        </p:nvSpPr>
        <p:spPr>
          <a:xfrm>
            <a:off x="3332681" y="2353609"/>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1</a:t>
            </a:r>
          </a:p>
        </p:txBody>
      </p:sp>
      <p:sp>
        <p:nvSpPr>
          <p:cNvPr id="13" name="Oval 12">
            <a:extLst>
              <a:ext uri="{FF2B5EF4-FFF2-40B4-BE49-F238E27FC236}">
                <a16:creationId xmlns:a16="http://schemas.microsoft.com/office/drawing/2014/main" id="{6F93BA1C-6FA9-D5A4-7EFA-CB8DF75B6B37}"/>
              </a:ext>
            </a:extLst>
          </p:cNvPr>
          <p:cNvSpPr/>
          <p:nvPr/>
        </p:nvSpPr>
        <p:spPr>
          <a:xfrm>
            <a:off x="6392174" y="5874641"/>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2</a:t>
            </a:r>
          </a:p>
        </p:txBody>
      </p:sp>
    </p:spTree>
    <p:extLst>
      <p:ext uri="{BB962C8B-B14F-4D97-AF65-F5344CB8AC3E}">
        <p14:creationId xmlns:p14="http://schemas.microsoft.com/office/powerpoint/2010/main" val="2227657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EAD516-93E4-CF84-85D7-D16A3A8D03C3}"/>
              </a:ext>
            </a:extLst>
          </p:cNvPr>
          <p:cNvPicPr>
            <a:picLocks noChangeAspect="1"/>
          </p:cNvPicPr>
          <p:nvPr/>
        </p:nvPicPr>
        <p:blipFill>
          <a:blip r:embed="rId3"/>
          <a:stretch>
            <a:fillRect/>
          </a:stretch>
        </p:blipFill>
        <p:spPr>
          <a:xfrm>
            <a:off x="17204" y="1987115"/>
            <a:ext cx="9153379" cy="4512508"/>
          </a:xfrm>
          <a:prstGeom prst="rect">
            <a:avLst/>
          </a:prstGeom>
          <a:effectLst>
            <a:glow rad="63500">
              <a:schemeClr val="bg1">
                <a:lumMod val="65000"/>
                <a:alpha val="40000"/>
              </a:schemeClr>
            </a:glow>
          </a:effectLst>
        </p:spPr>
      </p:pic>
      <p:sp>
        <p:nvSpPr>
          <p:cNvPr id="7" name="Slide Number Placeholder 5"/>
          <p:cNvSpPr>
            <a:spLocks noGrp="1"/>
          </p:cNvSpPr>
          <p:nvPr>
            <p:ph type="sldNum" sz="quarter" idx="4"/>
          </p:nvPr>
        </p:nvSpPr>
        <p:spPr>
          <a:prstGeom prst="rect">
            <a:avLst/>
          </a:prstGeom>
        </p:spPr>
        <p:txBody>
          <a:bodyPr vert="horz" lIns="0" tIns="0" rIns="0" bIns="0" rtlCol="0" anchor="ctr" anchorCtr="0"/>
          <a:lstStyle>
            <a:lvl1pPr algn="r">
              <a:defRPr sz="1800">
                <a:solidFill>
                  <a:schemeClr val="tx1"/>
                </a:solidFill>
              </a:defRPr>
            </a:lvl1pPr>
          </a:lstStyle>
          <a:p>
            <a:fld id="{A3381702-59A5-4643-AE93-D7BF7F78153B}" type="slidenum">
              <a:rPr lang="en-GB" smtClean="0"/>
              <a:pPr/>
              <a:t>6</a:t>
            </a:fld>
            <a:endParaRPr lang="en-GB" dirty="0"/>
          </a:p>
        </p:txBody>
      </p:sp>
      <p:sp>
        <p:nvSpPr>
          <p:cNvPr id="8" name="Footer Placeholder 4"/>
          <p:cNvSpPr>
            <a:spLocks noGrp="1"/>
          </p:cNvSpPr>
          <p:nvPr>
            <p:ph type="ftr" sz="quarter" idx="3"/>
          </p:nvPr>
        </p:nvSpPr>
        <p:spPr>
          <a:prstGeom prst="rect">
            <a:avLst/>
          </a:prstGeom>
        </p:spPr>
        <p:txBody>
          <a:bodyPr vert="horz" lIns="0" tIns="0" rIns="0" bIns="0" rtlCol="0" anchor="t" anchorCtr="0"/>
          <a:lstStyle>
            <a:lvl1pPr algn="r">
              <a:defRPr sz="700">
                <a:solidFill>
                  <a:schemeClr val="tx1"/>
                </a:solidFill>
                <a:latin typeface="+mn-lt"/>
              </a:defRPr>
            </a:lvl1pPr>
          </a:lstStyle>
          <a:p>
            <a:r>
              <a:rPr lang="fr-FR" altLang="ja-JP" dirty="0"/>
              <a:t>©20</a:t>
            </a:r>
            <a:r>
              <a:rPr lang="en-US" altLang="ja-JP" dirty="0"/>
              <a:t>23</a:t>
            </a:r>
            <a:r>
              <a:rPr lang="fr-FR" altLang="ja-JP" dirty="0"/>
              <a:t> KYOCERA Document Solutions Inc.</a:t>
            </a:r>
            <a:endParaRPr lang="en-GB" dirty="0"/>
          </a:p>
        </p:txBody>
      </p:sp>
      <p:sp>
        <p:nvSpPr>
          <p:cNvPr id="4" name="Rectangle 3">
            <a:extLst>
              <a:ext uri="{FF2B5EF4-FFF2-40B4-BE49-F238E27FC236}">
                <a16:creationId xmlns:a16="http://schemas.microsoft.com/office/drawing/2014/main" id="{0BAEFD46-8DC5-BB64-F040-FD68EE6A7C2D}"/>
              </a:ext>
            </a:extLst>
          </p:cNvPr>
          <p:cNvSpPr/>
          <p:nvPr/>
        </p:nvSpPr>
        <p:spPr>
          <a:xfrm>
            <a:off x="295745" y="40624"/>
            <a:ext cx="8722810" cy="6207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nSpc>
                <a:spcPct val="107000"/>
              </a:lnSpc>
              <a:spcBef>
                <a:spcPts val="0"/>
              </a:spcBef>
              <a:spcAft>
                <a:spcPts val="800"/>
              </a:spcAft>
              <a:tabLst>
                <a:tab pos="457200" algn="l"/>
              </a:tabLst>
            </a:pPr>
            <a:r>
              <a:rPr lang="en-US" sz="2200" b="1">
                <a:solidFill>
                  <a:schemeClr val="tx1"/>
                </a:solidFill>
                <a:effectLst/>
                <a:latin typeface="Calibri" panose="020F0502020204030204" pitchFamily="34" charset="0"/>
                <a:ea typeface="游明朝" panose="02020400000000000000" pitchFamily="18" charset="-128"/>
                <a:cs typeface="Times New Roman" panose="02020603050405020304" pitchFamily="18" charset="0"/>
              </a:rPr>
              <a:t>1. BIỂU ĐỒ </a:t>
            </a:r>
            <a:r>
              <a:rPr lang="en-US" sz="2200" b="1">
                <a:solidFill>
                  <a:schemeClr val="tx1"/>
                </a:solidFill>
                <a:latin typeface="Calibri" panose="020F0502020204030204" pitchFamily="34" charset="0"/>
                <a:ea typeface="游明朝" panose="02020400000000000000" pitchFamily="18" charset="-128"/>
                <a:cs typeface="Times New Roman" panose="02020603050405020304" pitchFamily="18" charset="0"/>
              </a:rPr>
              <a:t>ĐƯỜNG</a:t>
            </a:r>
            <a:endParaRPr lang="en-US" sz="2200">
              <a:solidFill>
                <a:schemeClr val="tx1"/>
              </a:solidFill>
              <a:effectLst/>
              <a:latin typeface="Calibri" panose="020F0502020204030204" pitchFamily="34" charset="0"/>
              <a:ea typeface="游明朝" panose="02020400000000000000" pitchFamily="18" charset="-128"/>
              <a:cs typeface="Times New Roman" panose="02020603050405020304" pitchFamily="18" charset="0"/>
            </a:endParaRPr>
          </a:p>
        </p:txBody>
      </p:sp>
      <p:sp>
        <p:nvSpPr>
          <p:cNvPr id="6" name="Freeform 34">
            <a:extLst>
              <a:ext uri="{FF2B5EF4-FFF2-40B4-BE49-F238E27FC236}">
                <a16:creationId xmlns:a16="http://schemas.microsoft.com/office/drawing/2014/main" id="{E988D51C-281C-0FC1-508D-073F501DA6DF}"/>
              </a:ext>
            </a:extLst>
          </p:cNvPr>
          <p:cNvSpPr>
            <a:spLocks noChangeAspect="1"/>
          </p:cNvSpPr>
          <p:nvPr/>
        </p:nvSpPr>
        <p:spPr bwMode="auto">
          <a:xfrm rot="10800000" flipV="1">
            <a:off x="509368" y="536909"/>
            <a:ext cx="1655684" cy="47957"/>
          </a:xfrm>
          <a:custGeom>
            <a:avLst/>
            <a:gdLst>
              <a:gd name="T0" fmla="*/ 922 w 990"/>
              <a:gd name="T1" fmla="*/ 0 h 36"/>
              <a:gd name="T2" fmla="*/ 907 w 990"/>
              <a:gd name="T3" fmla="*/ 0 h 36"/>
              <a:gd name="T4" fmla="*/ 880 w 990"/>
              <a:gd name="T5" fmla="*/ 1 h 36"/>
              <a:gd name="T6" fmla="*/ 839 w 990"/>
              <a:gd name="T7" fmla="*/ 3 h 36"/>
              <a:gd name="T8" fmla="*/ 818 w 990"/>
              <a:gd name="T9" fmla="*/ 3 h 36"/>
              <a:gd name="T10" fmla="*/ 798 w 990"/>
              <a:gd name="T11" fmla="*/ 4 h 36"/>
              <a:gd name="T12" fmla="*/ 757 w 990"/>
              <a:gd name="T13" fmla="*/ 5 h 36"/>
              <a:gd name="T14" fmla="*/ 718 w 990"/>
              <a:gd name="T15" fmla="*/ 5 h 36"/>
              <a:gd name="T16" fmla="*/ 662 w 990"/>
              <a:gd name="T17" fmla="*/ 5 h 36"/>
              <a:gd name="T18" fmla="*/ 540 w 990"/>
              <a:gd name="T19" fmla="*/ 4 h 36"/>
              <a:gd name="T20" fmla="*/ 512 w 990"/>
              <a:gd name="T21" fmla="*/ 4 h 36"/>
              <a:gd name="T22" fmla="*/ 511 w 990"/>
              <a:gd name="T23" fmla="*/ 4 h 36"/>
              <a:gd name="T24" fmla="*/ 484 w 990"/>
              <a:gd name="T25" fmla="*/ 5 h 36"/>
              <a:gd name="T26" fmla="*/ 419 w 990"/>
              <a:gd name="T27" fmla="*/ 5 h 36"/>
              <a:gd name="T28" fmla="*/ 353 w 990"/>
              <a:gd name="T29" fmla="*/ 7 h 36"/>
              <a:gd name="T30" fmla="*/ 350 w 990"/>
              <a:gd name="T31" fmla="*/ 7 h 36"/>
              <a:gd name="T32" fmla="*/ 288 w 990"/>
              <a:gd name="T33" fmla="*/ 5 h 36"/>
              <a:gd name="T34" fmla="*/ 265 w 990"/>
              <a:gd name="T35" fmla="*/ 4 h 36"/>
              <a:gd name="T36" fmla="*/ 244 w 990"/>
              <a:gd name="T37" fmla="*/ 4 h 36"/>
              <a:gd name="T38" fmla="*/ 224 w 990"/>
              <a:gd name="T39" fmla="*/ 4 h 36"/>
              <a:gd name="T40" fmla="*/ 223 w 990"/>
              <a:gd name="T41" fmla="*/ 4 h 36"/>
              <a:gd name="T42" fmla="*/ 222 w 990"/>
              <a:gd name="T43" fmla="*/ 4 h 36"/>
              <a:gd name="T44" fmla="*/ 190 w 990"/>
              <a:gd name="T45" fmla="*/ 4 h 36"/>
              <a:gd name="T46" fmla="*/ 158 w 990"/>
              <a:gd name="T47" fmla="*/ 4 h 36"/>
              <a:gd name="T48" fmla="*/ 157 w 990"/>
              <a:gd name="T49" fmla="*/ 4 h 36"/>
              <a:gd name="T50" fmla="*/ 91 w 990"/>
              <a:gd name="T51" fmla="*/ 5 h 36"/>
              <a:gd name="T52" fmla="*/ 58 w 990"/>
              <a:gd name="T53" fmla="*/ 6 h 36"/>
              <a:gd name="T54" fmla="*/ 26 w 990"/>
              <a:gd name="T55" fmla="*/ 8 h 36"/>
              <a:gd name="T56" fmla="*/ 10 w 990"/>
              <a:gd name="T57" fmla="*/ 10 h 36"/>
              <a:gd name="T58" fmla="*/ 6 w 990"/>
              <a:gd name="T59" fmla="*/ 10 h 36"/>
              <a:gd name="T60" fmla="*/ 5 w 990"/>
              <a:gd name="T61" fmla="*/ 10 h 36"/>
              <a:gd name="T62" fmla="*/ 5 w 990"/>
              <a:gd name="T63" fmla="*/ 10 h 36"/>
              <a:gd name="T64" fmla="*/ 4 w 990"/>
              <a:gd name="T65" fmla="*/ 10 h 36"/>
              <a:gd name="T66" fmla="*/ 2 w 990"/>
              <a:gd name="T67" fmla="*/ 10 h 36"/>
              <a:gd name="T68" fmla="*/ 1 w 990"/>
              <a:gd name="T69" fmla="*/ 12 h 36"/>
              <a:gd name="T70" fmla="*/ 4 w 990"/>
              <a:gd name="T71" fmla="*/ 17 h 36"/>
              <a:gd name="T72" fmla="*/ 4 w 990"/>
              <a:gd name="T73" fmla="*/ 17 h 36"/>
              <a:gd name="T74" fmla="*/ 63 w 990"/>
              <a:gd name="T75" fmla="*/ 16 h 36"/>
              <a:gd name="T76" fmla="*/ 70 w 990"/>
              <a:gd name="T77" fmla="*/ 16 h 36"/>
              <a:gd name="T78" fmla="*/ 122 w 990"/>
              <a:gd name="T79" fmla="*/ 17 h 36"/>
              <a:gd name="T80" fmla="*/ 153 w 990"/>
              <a:gd name="T81" fmla="*/ 19 h 36"/>
              <a:gd name="T82" fmla="*/ 183 w 990"/>
              <a:gd name="T83" fmla="*/ 20 h 36"/>
              <a:gd name="T84" fmla="*/ 244 w 990"/>
              <a:gd name="T85" fmla="*/ 22 h 36"/>
              <a:gd name="T86" fmla="*/ 305 w 990"/>
              <a:gd name="T87" fmla="*/ 24 h 36"/>
              <a:gd name="T88" fmla="*/ 336 w 990"/>
              <a:gd name="T89" fmla="*/ 26 h 36"/>
              <a:gd name="T90" fmla="*/ 375 w 990"/>
              <a:gd name="T91" fmla="*/ 28 h 36"/>
              <a:gd name="T92" fmla="*/ 489 w 990"/>
              <a:gd name="T93" fmla="*/ 32 h 36"/>
              <a:gd name="T94" fmla="*/ 612 w 990"/>
              <a:gd name="T95" fmla="*/ 36 h 36"/>
              <a:gd name="T96" fmla="*/ 665 w 990"/>
              <a:gd name="T97" fmla="*/ 36 h 36"/>
              <a:gd name="T98" fmla="*/ 707 w 990"/>
              <a:gd name="T99" fmla="*/ 36 h 36"/>
              <a:gd name="T100" fmla="*/ 750 w 990"/>
              <a:gd name="T101" fmla="*/ 36 h 36"/>
              <a:gd name="T102" fmla="*/ 792 w 990"/>
              <a:gd name="T103" fmla="*/ 35 h 36"/>
              <a:gd name="T104" fmla="*/ 879 w 990"/>
              <a:gd name="T105" fmla="*/ 32 h 36"/>
              <a:gd name="T106" fmla="*/ 921 w 990"/>
              <a:gd name="T107" fmla="*/ 30 h 36"/>
              <a:gd name="T108" fmla="*/ 969 w 990"/>
              <a:gd name="T109" fmla="*/ 27 h 36"/>
              <a:gd name="T110" fmla="*/ 982 w 990"/>
              <a:gd name="T111" fmla="*/ 22 h 36"/>
              <a:gd name="T112" fmla="*/ 987 w 990"/>
              <a:gd name="T113" fmla="*/ 15 h 36"/>
              <a:gd name="T114" fmla="*/ 989 w 990"/>
              <a:gd name="T115" fmla="*/ 8 h 36"/>
              <a:gd name="T116" fmla="*/ 982 w 990"/>
              <a:gd name="T117" fmla="*/ 2 h 36"/>
              <a:gd name="T118" fmla="*/ 962 w 990"/>
              <a:gd name="T119" fmla="*/ 0 h 36"/>
              <a:gd name="T120" fmla="*/ 934 w 990"/>
              <a:gd name="T121" fmla="*/ 0 h 36"/>
              <a:gd name="T122" fmla="*/ 922 w 990"/>
              <a:gd name="T1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0" h="36">
                <a:moveTo>
                  <a:pt x="922" y="0"/>
                </a:moveTo>
                <a:cubicBezTo>
                  <a:pt x="917" y="0"/>
                  <a:pt x="912" y="0"/>
                  <a:pt x="907" y="0"/>
                </a:cubicBezTo>
                <a:cubicBezTo>
                  <a:pt x="898" y="0"/>
                  <a:pt x="889" y="1"/>
                  <a:pt x="880" y="1"/>
                </a:cubicBezTo>
                <a:cubicBezTo>
                  <a:pt x="839" y="3"/>
                  <a:pt x="839" y="3"/>
                  <a:pt x="839" y="3"/>
                </a:cubicBezTo>
                <a:cubicBezTo>
                  <a:pt x="818" y="3"/>
                  <a:pt x="818" y="3"/>
                  <a:pt x="818" y="3"/>
                </a:cubicBezTo>
                <a:cubicBezTo>
                  <a:pt x="798" y="4"/>
                  <a:pt x="798" y="4"/>
                  <a:pt x="798" y="4"/>
                </a:cubicBezTo>
                <a:cubicBezTo>
                  <a:pt x="757" y="5"/>
                  <a:pt x="757" y="5"/>
                  <a:pt x="757" y="5"/>
                </a:cubicBezTo>
                <a:cubicBezTo>
                  <a:pt x="744" y="5"/>
                  <a:pt x="731" y="5"/>
                  <a:pt x="718" y="5"/>
                </a:cubicBezTo>
                <a:cubicBezTo>
                  <a:pt x="699" y="5"/>
                  <a:pt x="681" y="5"/>
                  <a:pt x="662" y="5"/>
                </a:cubicBezTo>
                <a:cubicBezTo>
                  <a:pt x="540" y="4"/>
                  <a:pt x="540" y="4"/>
                  <a:pt x="540" y="4"/>
                </a:cubicBezTo>
                <a:cubicBezTo>
                  <a:pt x="512" y="4"/>
                  <a:pt x="512" y="4"/>
                  <a:pt x="512" y="4"/>
                </a:cubicBezTo>
                <a:cubicBezTo>
                  <a:pt x="512" y="4"/>
                  <a:pt x="511" y="4"/>
                  <a:pt x="511" y="4"/>
                </a:cubicBezTo>
                <a:cubicBezTo>
                  <a:pt x="502" y="4"/>
                  <a:pt x="493" y="4"/>
                  <a:pt x="484" y="5"/>
                </a:cubicBezTo>
                <a:cubicBezTo>
                  <a:pt x="462" y="5"/>
                  <a:pt x="441" y="5"/>
                  <a:pt x="419" y="5"/>
                </a:cubicBezTo>
                <a:cubicBezTo>
                  <a:pt x="397" y="6"/>
                  <a:pt x="375" y="7"/>
                  <a:pt x="353" y="7"/>
                </a:cubicBezTo>
                <a:cubicBezTo>
                  <a:pt x="352" y="7"/>
                  <a:pt x="351" y="7"/>
                  <a:pt x="350" y="7"/>
                </a:cubicBezTo>
                <a:cubicBezTo>
                  <a:pt x="330" y="7"/>
                  <a:pt x="309" y="5"/>
                  <a:pt x="288" y="5"/>
                </a:cubicBezTo>
                <a:cubicBezTo>
                  <a:pt x="280" y="4"/>
                  <a:pt x="272" y="4"/>
                  <a:pt x="265" y="4"/>
                </a:cubicBezTo>
                <a:cubicBezTo>
                  <a:pt x="258" y="4"/>
                  <a:pt x="251" y="4"/>
                  <a:pt x="244" y="4"/>
                </a:cubicBezTo>
                <a:cubicBezTo>
                  <a:pt x="237" y="4"/>
                  <a:pt x="230" y="4"/>
                  <a:pt x="224" y="4"/>
                </a:cubicBezTo>
                <a:cubicBezTo>
                  <a:pt x="223" y="4"/>
                  <a:pt x="223" y="4"/>
                  <a:pt x="223" y="4"/>
                </a:cubicBezTo>
                <a:cubicBezTo>
                  <a:pt x="223" y="4"/>
                  <a:pt x="222" y="4"/>
                  <a:pt x="222" y="4"/>
                </a:cubicBezTo>
                <a:cubicBezTo>
                  <a:pt x="212" y="4"/>
                  <a:pt x="201" y="4"/>
                  <a:pt x="190" y="4"/>
                </a:cubicBezTo>
                <a:cubicBezTo>
                  <a:pt x="180" y="4"/>
                  <a:pt x="169" y="4"/>
                  <a:pt x="158" y="4"/>
                </a:cubicBezTo>
                <a:cubicBezTo>
                  <a:pt x="158" y="4"/>
                  <a:pt x="157" y="4"/>
                  <a:pt x="157" y="4"/>
                </a:cubicBezTo>
                <a:cubicBezTo>
                  <a:pt x="135" y="4"/>
                  <a:pt x="113" y="4"/>
                  <a:pt x="91" y="5"/>
                </a:cubicBezTo>
                <a:cubicBezTo>
                  <a:pt x="80" y="5"/>
                  <a:pt x="69" y="6"/>
                  <a:pt x="58" y="6"/>
                </a:cubicBezTo>
                <a:cubicBezTo>
                  <a:pt x="48" y="6"/>
                  <a:pt x="37" y="7"/>
                  <a:pt x="26" y="8"/>
                </a:cubicBezTo>
                <a:cubicBezTo>
                  <a:pt x="10" y="10"/>
                  <a:pt x="10" y="10"/>
                  <a:pt x="10" y="10"/>
                </a:cubicBezTo>
                <a:cubicBezTo>
                  <a:pt x="6" y="10"/>
                  <a:pt x="6" y="10"/>
                  <a:pt x="6" y="10"/>
                </a:cubicBezTo>
                <a:cubicBezTo>
                  <a:pt x="6" y="10"/>
                  <a:pt x="5" y="10"/>
                  <a:pt x="5" y="10"/>
                </a:cubicBezTo>
                <a:cubicBezTo>
                  <a:pt x="5" y="10"/>
                  <a:pt x="5" y="10"/>
                  <a:pt x="5" y="10"/>
                </a:cubicBezTo>
                <a:cubicBezTo>
                  <a:pt x="4" y="10"/>
                  <a:pt x="4" y="10"/>
                  <a:pt x="4" y="10"/>
                </a:cubicBezTo>
                <a:cubicBezTo>
                  <a:pt x="3" y="10"/>
                  <a:pt x="2" y="10"/>
                  <a:pt x="2" y="10"/>
                </a:cubicBezTo>
                <a:cubicBezTo>
                  <a:pt x="1" y="10"/>
                  <a:pt x="1" y="11"/>
                  <a:pt x="1" y="12"/>
                </a:cubicBezTo>
                <a:cubicBezTo>
                  <a:pt x="0" y="15"/>
                  <a:pt x="2" y="17"/>
                  <a:pt x="4" y="17"/>
                </a:cubicBezTo>
                <a:cubicBezTo>
                  <a:pt x="4" y="17"/>
                  <a:pt x="4" y="17"/>
                  <a:pt x="4" y="17"/>
                </a:cubicBezTo>
                <a:cubicBezTo>
                  <a:pt x="24" y="17"/>
                  <a:pt x="43" y="16"/>
                  <a:pt x="63" y="16"/>
                </a:cubicBezTo>
                <a:cubicBezTo>
                  <a:pt x="65" y="16"/>
                  <a:pt x="67" y="16"/>
                  <a:pt x="70" y="16"/>
                </a:cubicBezTo>
                <a:cubicBezTo>
                  <a:pt x="87" y="16"/>
                  <a:pt x="105" y="16"/>
                  <a:pt x="122" y="17"/>
                </a:cubicBezTo>
                <a:cubicBezTo>
                  <a:pt x="133" y="18"/>
                  <a:pt x="143" y="19"/>
                  <a:pt x="153" y="19"/>
                </a:cubicBezTo>
                <a:cubicBezTo>
                  <a:pt x="183" y="20"/>
                  <a:pt x="183" y="20"/>
                  <a:pt x="183" y="20"/>
                </a:cubicBezTo>
                <a:cubicBezTo>
                  <a:pt x="203" y="20"/>
                  <a:pt x="224" y="21"/>
                  <a:pt x="244" y="22"/>
                </a:cubicBezTo>
                <a:cubicBezTo>
                  <a:pt x="265" y="22"/>
                  <a:pt x="285" y="23"/>
                  <a:pt x="305" y="24"/>
                </a:cubicBezTo>
                <a:cubicBezTo>
                  <a:pt x="336" y="26"/>
                  <a:pt x="336" y="26"/>
                  <a:pt x="336" y="26"/>
                </a:cubicBezTo>
                <a:cubicBezTo>
                  <a:pt x="346" y="26"/>
                  <a:pt x="361" y="28"/>
                  <a:pt x="375" y="28"/>
                </a:cubicBezTo>
                <a:cubicBezTo>
                  <a:pt x="416" y="31"/>
                  <a:pt x="448" y="31"/>
                  <a:pt x="489" y="32"/>
                </a:cubicBezTo>
                <a:cubicBezTo>
                  <a:pt x="530" y="34"/>
                  <a:pt x="571" y="35"/>
                  <a:pt x="612" y="36"/>
                </a:cubicBezTo>
                <a:cubicBezTo>
                  <a:pt x="629" y="36"/>
                  <a:pt x="647" y="36"/>
                  <a:pt x="665" y="36"/>
                </a:cubicBezTo>
                <a:cubicBezTo>
                  <a:pt x="679" y="36"/>
                  <a:pt x="693" y="36"/>
                  <a:pt x="707" y="36"/>
                </a:cubicBezTo>
                <a:cubicBezTo>
                  <a:pt x="750" y="36"/>
                  <a:pt x="750" y="36"/>
                  <a:pt x="750" y="36"/>
                </a:cubicBezTo>
                <a:cubicBezTo>
                  <a:pt x="792" y="35"/>
                  <a:pt x="792" y="35"/>
                  <a:pt x="792" y="35"/>
                </a:cubicBezTo>
                <a:cubicBezTo>
                  <a:pt x="821" y="34"/>
                  <a:pt x="850" y="33"/>
                  <a:pt x="879" y="32"/>
                </a:cubicBezTo>
                <a:cubicBezTo>
                  <a:pt x="921" y="30"/>
                  <a:pt x="921" y="30"/>
                  <a:pt x="921" y="30"/>
                </a:cubicBezTo>
                <a:cubicBezTo>
                  <a:pt x="937" y="30"/>
                  <a:pt x="953" y="29"/>
                  <a:pt x="969" y="27"/>
                </a:cubicBezTo>
                <a:cubicBezTo>
                  <a:pt x="973" y="26"/>
                  <a:pt x="979" y="25"/>
                  <a:pt x="982" y="22"/>
                </a:cubicBezTo>
                <a:cubicBezTo>
                  <a:pt x="984" y="20"/>
                  <a:pt x="986" y="17"/>
                  <a:pt x="987" y="15"/>
                </a:cubicBezTo>
                <a:cubicBezTo>
                  <a:pt x="989" y="13"/>
                  <a:pt x="990" y="10"/>
                  <a:pt x="989" y="8"/>
                </a:cubicBezTo>
                <a:cubicBezTo>
                  <a:pt x="988" y="4"/>
                  <a:pt x="985" y="3"/>
                  <a:pt x="982" y="2"/>
                </a:cubicBezTo>
                <a:cubicBezTo>
                  <a:pt x="975" y="0"/>
                  <a:pt x="968" y="0"/>
                  <a:pt x="962" y="0"/>
                </a:cubicBezTo>
                <a:cubicBezTo>
                  <a:pt x="934" y="0"/>
                  <a:pt x="934" y="0"/>
                  <a:pt x="934" y="0"/>
                </a:cubicBezTo>
                <a:cubicBezTo>
                  <a:pt x="930" y="0"/>
                  <a:pt x="926" y="0"/>
                  <a:pt x="922" y="0"/>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2" name="Content Placeholder 2">
            <a:extLst>
              <a:ext uri="{FF2B5EF4-FFF2-40B4-BE49-F238E27FC236}">
                <a16:creationId xmlns:a16="http://schemas.microsoft.com/office/drawing/2014/main" id="{8A378710-0B40-86B5-B2C6-AF290BD75FB3}"/>
              </a:ext>
            </a:extLst>
          </p:cNvPr>
          <p:cNvSpPr txBox="1">
            <a:spLocks/>
          </p:cNvSpPr>
          <p:nvPr/>
        </p:nvSpPr>
        <p:spPr>
          <a:xfrm>
            <a:off x="401032" y="716399"/>
            <a:ext cx="8510739" cy="1226941"/>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1600" b="1">
                <a:latin typeface="Calibri" panose="020F0502020204030204" pitchFamily="34" charset="0"/>
                <a:cs typeface="Calibri" panose="020F0502020204030204" pitchFamily="34" charset="0"/>
              </a:rPr>
              <a:t>Bước 3</a:t>
            </a:r>
            <a:r>
              <a:rPr lang="en-US" sz="1600">
                <a:latin typeface="Calibri" panose="020F0502020204030204" pitchFamily="34" charset="0"/>
                <a:cs typeface="Calibri" panose="020F0502020204030204" pitchFamily="34" charset="0"/>
              </a:rPr>
              <a:t>: Hoàn thiện biểu đồ</a:t>
            </a:r>
          </a:p>
          <a:p>
            <a:pPr marL="285750" indent="-285750" algn="l">
              <a:buFontTx/>
              <a:buChar char="-"/>
            </a:pPr>
            <a:r>
              <a:rPr lang="en-US" sz="1600" b="1">
                <a:latin typeface="Calibri" panose="020F0502020204030204" pitchFamily="34" charset="0"/>
                <a:cs typeface="Calibri" panose="020F0502020204030204" pitchFamily="34" charset="0"/>
              </a:rPr>
              <a:t>Thay đổi giá trị thang chia:</a:t>
            </a:r>
            <a:r>
              <a:rPr lang="en-US" sz="1600">
                <a:latin typeface="Calibri" panose="020F0502020204030204" pitchFamily="34" charset="0"/>
                <a:cs typeface="Calibri" panose="020F0502020204030204" pitchFamily="34" charset="0"/>
              </a:rPr>
              <a:t> Click đúp chuột vào trục tung (1) để hiện bảng “Format Axis”, thay đổi giá trị min, max tại ô (2), (3), thay đổi khoảng chia tại ô (4)</a:t>
            </a:r>
          </a:p>
          <a:p>
            <a:pPr marL="285750" indent="-285750" algn="l">
              <a:buFontTx/>
              <a:buChar char="-"/>
            </a:pPr>
            <a:endParaRPr lang="en-US" sz="1600">
              <a:latin typeface="Calibri" panose="020F0502020204030204" pitchFamily="34" charset="0"/>
              <a:cs typeface="Calibri" panose="020F0502020204030204" pitchFamily="34" charset="0"/>
            </a:endParaRPr>
          </a:p>
        </p:txBody>
      </p:sp>
      <p:sp>
        <p:nvSpPr>
          <p:cNvPr id="12" name="Oval 11">
            <a:extLst>
              <a:ext uri="{FF2B5EF4-FFF2-40B4-BE49-F238E27FC236}">
                <a16:creationId xmlns:a16="http://schemas.microsoft.com/office/drawing/2014/main" id="{EE39C399-697C-FE44-F510-CB4B7E102188}"/>
              </a:ext>
            </a:extLst>
          </p:cNvPr>
          <p:cNvSpPr/>
          <p:nvPr/>
        </p:nvSpPr>
        <p:spPr>
          <a:xfrm>
            <a:off x="119532" y="2210074"/>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1</a:t>
            </a:r>
          </a:p>
        </p:txBody>
      </p:sp>
      <p:sp>
        <p:nvSpPr>
          <p:cNvPr id="13" name="Oval 12">
            <a:extLst>
              <a:ext uri="{FF2B5EF4-FFF2-40B4-BE49-F238E27FC236}">
                <a16:creationId xmlns:a16="http://schemas.microsoft.com/office/drawing/2014/main" id="{6F93BA1C-6FA9-D5A4-7EFA-CB8DF75B6B37}"/>
              </a:ext>
            </a:extLst>
          </p:cNvPr>
          <p:cNvSpPr/>
          <p:nvPr/>
        </p:nvSpPr>
        <p:spPr>
          <a:xfrm>
            <a:off x="8533362" y="3815215"/>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3</a:t>
            </a:r>
          </a:p>
        </p:txBody>
      </p:sp>
      <p:sp>
        <p:nvSpPr>
          <p:cNvPr id="14" name="Oval 13">
            <a:extLst>
              <a:ext uri="{FF2B5EF4-FFF2-40B4-BE49-F238E27FC236}">
                <a16:creationId xmlns:a16="http://schemas.microsoft.com/office/drawing/2014/main" id="{94B5F51D-9593-7C05-BDAD-36A1FF7D96E1}"/>
              </a:ext>
            </a:extLst>
          </p:cNvPr>
          <p:cNvSpPr/>
          <p:nvPr/>
        </p:nvSpPr>
        <p:spPr>
          <a:xfrm>
            <a:off x="8189699" y="3383302"/>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2</a:t>
            </a:r>
          </a:p>
        </p:txBody>
      </p:sp>
      <p:sp>
        <p:nvSpPr>
          <p:cNvPr id="15" name="Oval 14">
            <a:extLst>
              <a:ext uri="{FF2B5EF4-FFF2-40B4-BE49-F238E27FC236}">
                <a16:creationId xmlns:a16="http://schemas.microsoft.com/office/drawing/2014/main" id="{14ECF481-DFD8-39D9-1203-0C72A3BFD07C}"/>
              </a:ext>
            </a:extLst>
          </p:cNvPr>
          <p:cNvSpPr/>
          <p:nvPr/>
        </p:nvSpPr>
        <p:spPr>
          <a:xfrm>
            <a:off x="8362642" y="4258726"/>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4</a:t>
            </a:r>
          </a:p>
        </p:txBody>
      </p:sp>
    </p:spTree>
    <p:extLst>
      <p:ext uri="{BB962C8B-B14F-4D97-AF65-F5344CB8AC3E}">
        <p14:creationId xmlns:p14="http://schemas.microsoft.com/office/powerpoint/2010/main" val="3106662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6B6C835-E709-9737-7DD6-C711CC491A3B}"/>
              </a:ext>
            </a:extLst>
          </p:cNvPr>
          <p:cNvPicPr>
            <a:picLocks noChangeAspect="1"/>
          </p:cNvPicPr>
          <p:nvPr/>
        </p:nvPicPr>
        <p:blipFill>
          <a:blip r:embed="rId3"/>
          <a:stretch>
            <a:fillRect/>
          </a:stretch>
        </p:blipFill>
        <p:spPr>
          <a:xfrm>
            <a:off x="615384" y="1586357"/>
            <a:ext cx="8009480" cy="2257369"/>
          </a:xfrm>
          <a:prstGeom prst="rect">
            <a:avLst/>
          </a:prstGeom>
          <a:effectLst>
            <a:glow rad="63500">
              <a:schemeClr val="bg1">
                <a:lumMod val="65000"/>
                <a:alpha val="40000"/>
              </a:schemeClr>
            </a:glow>
          </a:effectLst>
        </p:spPr>
      </p:pic>
      <p:sp>
        <p:nvSpPr>
          <p:cNvPr id="7" name="Slide Number Placeholder 5"/>
          <p:cNvSpPr>
            <a:spLocks noGrp="1"/>
          </p:cNvSpPr>
          <p:nvPr>
            <p:ph type="sldNum" sz="quarter" idx="4"/>
          </p:nvPr>
        </p:nvSpPr>
        <p:spPr>
          <a:prstGeom prst="rect">
            <a:avLst/>
          </a:prstGeom>
        </p:spPr>
        <p:txBody>
          <a:bodyPr vert="horz" lIns="0" tIns="0" rIns="0" bIns="0" rtlCol="0" anchor="ctr" anchorCtr="0"/>
          <a:lstStyle>
            <a:lvl1pPr algn="r">
              <a:defRPr sz="1800">
                <a:solidFill>
                  <a:schemeClr val="tx1"/>
                </a:solidFill>
              </a:defRPr>
            </a:lvl1pPr>
          </a:lstStyle>
          <a:p>
            <a:fld id="{A3381702-59A5-4643-AE93-D7BF7F78153B}" type="slidenum">
              <a:rPr lang="en-GB" smtClean="0"/>
              <a:pPr/>
              <a:t>7</a:t>
            </a:fld>
            <a:endParaRPr lang="en-GB" dirty="0"/>
          </a:p>
        </p:txBody>
      </p:sp>
      <p:sp>
        <p:nvSpPr>
          <p:cNvPr id="8" name="Footer Placeholder 4"/>
          <p:cNvSpPr>
            <a:spLocks noGrp="1"/>
          </p:cNvSpPr>
          <p:nvPr>
            <p:ph type="ftr" sz="quarter" idx="3"/>
          </p:nvPr>
        </p:nvSpPr>
        <p:spPr>
          <a:prstGeom prst="rect">
            <a:avLst/>
          </a:prstGeom>
        </p:spPr>
        <p:txBody>
          <a:bodyPr vert="horz" lIns="0" tIns="0" rIns="0" bIns="0" rtlCol="0" anchor="t" anchorCtr="0"/>
          <a:lstStyle>
            <a:lvl1pPr algn="r">
              <a:defRPr sz="700">
                <a:solidFill>
                  <a:schemeClr val="tx1"/>
                </a:solidFill>
                <a:latin typeface="+mn-lt"/>
              </a:defRPr>
            </a:lvl1pPr>
          </a:lstStyle>
          <a:p>
            <a:r>
              <a:rPr lang="fr-FR" altLang="ja-JP" dirty="0"/>
              <a:t>©20</a:t>
            </a:r>
            <a:r>
              <a:rPr lang="en-US" altLang="ja-JP" dirty="0"/>
              <a:t>23</a:t>
            </a:r>
            <a:r>
              <a:rPr lang="fr-FR" altLang="ja-JP" dirty="0"/>
              <a:t> KYOCERA Document Solutions Inc.</a:t>
            </a:r>
            <a:endParaRPr lang="en-GB" dirty="0"/>
          </a:p>
        </p:txBody>
      </p:sp>
      <p:sp>
        <p:nvSpPr>
          <p:cNvPr id="4" name="Rectangle 3">
            <a:extLst>
              <a:ext uri="{FF2B5EF4-FFF2-40B4-BE49-F238E27FC236}">
                <a16:creationId xmlns:a16="http://schemas.microsoft.com/office/drawing/2014/main" id="{0BAEFD46-8DC5-BB64-F040-FD68EE6A7C2D}"/>
              </a:ext>
            </a:extLst>
          </p:cNvPr>
          <p:cNvSpPr/>
          <p:nvPr/>
        </p:nvSpPr>
        <p:spPr>
          <a:xfrm>
            <a:off x="295745" y="40624"/>
            <a:ext cx="8722810" cy="6207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nSpc>
                <a:spcPct val="107000"/>
              </a:lnSpc>
              <a:spcBef>
                <a:spcPts val="0"/>
              </a:spcBef>
              <a:spcAft>
                <a:spcPts val="800"/>
              </a:spcAft>
              <a:tabLst>
                <a:tab pos="457200" algn="l"/>
              </a:tabLst>
            </a:pPr>
            <a:r>
              <a:rPr lang="en-US" sz="2200" b="1">
                <a:solidFill>
                  <a:schemeClr val="tx1"/>
                </a:solidFill>
                <a:effectLst/>
                <a:latin typeface="Calibri" panose="020F0502020204030204" pitchFamily="34" charset="0"/>
                <a:ea typeface="游明朝" panose="02020400000000000000" pitchFamily="18" charset="-128"/>
                <a:cs typeface="Times New Roman" panose="02020603050405020304" pitchFamily="18" charset="0"/>
              </a:rPr>
              <a:t>1. BIỂU ĐỒ </a:t>
            </a:r>
            <a:r>
              <a:rPr lang="en-US" sz="2200" b="1">
                <a:solidFill>
                  <a:schemeClr val="tx1"/>
                </a:solidFill>
                <a:latin typeface="Calibri" panose="020F0502020204030204" pitchFamily="34" charset="0"/>
                <a:ea typeface="游明朝" panose="02020400000000000000" pitchFamily="18" charset="-128"/>
                <a:cs typeface="Times New Roman" panose="02020603050405020304" pitchFamily="18" charset="0"/>
              </a:rPr>
              <a:t>ĐƯỜNG</a:t>
            </a:r>
            <a:endParaRPr lang="en-US" sz="2200">
              <a:solidFill>
                <a:schemeClr val="tx1"/>
              </a:solidFill>
              <a:effectLst/>
              <a:latin typeface="Calibri" panose="020F0502020204030204" pitchFamily="34" charset="0"/>
              <a:ea typeface="游明朝" panose="02020400000000000000" pitchFamily="18" charset="-128"/>
              <a:cs typeface="Times New Roman" panose="02020603050405020304" pitchFamily="18" charset="0"/>
            </a:endParaRPr>
          </a:p>
        </p:txBody>
      </p:sp>
      <p:sp>
        <p:nvSpPr>
          <p:cNvPr id="6" name="Freeform 34">
            <a:extLst>
              <a:ext uri="{FF2B5EF4-FFF2-40B4-BE49-F238E27FC236}">
                <a16:creationId xmlns:a16="http://schemas.microsoft.com/office/drawing/2014/main" id="{E988D51C-281C-0FC1-508D-073F501DA6DF}"/>
              </a:ext>
            </a:extLst>
          </p:cNvPr>
          <p:cNvSpPr>
            <a:spLocks noChangeAspect="1"/>
          </p:cNvSpPr>
          <p:nvPr/>
        </p:nvSpPr>
        <p:spPr bwMode="auto">
          <a:xfrm rot="10800000" flipV="1">
            <a:off x="509368" y="536909"/>
            <a:ext cx="1655684" cy="47957"/>
          </a:xfrm>
          <a:custGeom>
            <a:avLst/>
            <a:gdLst>
              <a:gd name="T0" fmla="*/ 922 w 990"/>
              <a:gd name="T1" fmla="*/ 0 h 36"/>
              <a:gd name="T2" fmla="*/ 907 w 990"/>
              <a:gd name="T3" fmla="*/ 0 h 36"/>
              <a:gd name="T4" fmla="*/ 880 w 990"/>
              <a:gd name="T5" fmla="*/ 1 h 36"/>
              <a:gd name="T6" fmla="*/ 839 w 990"/>
              <a:gd name="T7" fmla="*/ 3 h 36"/>
              <a:gd name="T8" fmla="*/ 818 w 990"/>
              <a:gd name="T9" fmla="*/ 3 h 36"/>
              <a:gd name="T10" fmla="*/ 798 w 990"/>
              <a:gd name="T11" fmla="*/ 4 h 36"/>
              <a:gd name="T12" fmla="*/ 757 w 990"/>
              <a:gd name="T13" fmla="*/ 5 h 36"/>
              <a:gd name="T14" fmla="*/ 718 w 990"/>
              <a:gd name="T15" fmla="*/ 5 h 36"/>
              <a:gd name="T16" fmla="*/ 662 w 990"/>
              <a:gd name="T17" fmla="*/ 5 h 36"/>
              <a:gd name="T18" fmla="*/ 540 w 990"/>
              <a:gd name="T19" fmla="*/ 4 h 36"/>
              <a:gd name="T20" fmla="*/ 512 w 990"/>
              <a:gd name="T21" fmla="*/ 4 h 36"/>
              <a:gd name="T22" fmla="*/ 511 w 990"/>
              <a:gd name="T23" fmla="*/ 4 h 36"/>
              <a:gd name="T24" fmla="*/ 484 w 990"/>
              <a:gd name="T25" fmla="*/ 5 h 36"/>
              <a:gd name="T26" fmla="*/ 419 w 990"/>
              <a:gd name="T27" fmla="*/ 5 h 36"/>
              <a:gd name="T28" fmla="*/ 353 w 990"/>
              <a:gd name="T29" fmla="*/ 7 h 36"/>
              <a:gd name="T30" fmla="*/ 350 w 990"/>
              <a:gd name="T31" fmla="*/ 7 h 36"/>
              <a:gd name="T32" fmla="*/ 288 w 990"/>
              <a:gd name="T33" fmla="*/ 5 h 36"/>
              <a:gd name="T34" fmla="*/ 265 w 990"/>
              <a:gd name="T35" fmla="*/ 4 h 36"/>
              <a:gd name="T36" fmla="*/ 244 w 990"/>
              <a:gd name="T37" fmla="*/ 4 h 36"/>
              <a:gd name="T38" fmla="*/ 224 w 990"/>
              <a:gd name="T39" fmla="*/ 4 h 36"/>
              <a:gd name="T40" fmla="*/ 223 w 990"/>
              <a:gd name="T41" fmla="*/ 4 h 36"/>
              <a:gd name="T42" fmla="*/ 222 w 990"/>
              <a:gd name="T43" fmla="*/ 4 h 36"/>
              <a:gd name="T44" fmla="*/ 190 w 990"/>
              <a:gd name="T45" fmla="*/ 4 h 36"/>
              <a:gd name="T46" fmla="*/ 158 w 990"/>
              <a:gd name="T47" fmla="*/ 4 h 36"/>
              <a:gd name="T48" fmla="*/ 157 w 990"/>
              <a:gd name="T49" fmla="*/ 4 h 36"/>
              <a:gd name="T50" fmla="*/ 91 w 990"/>
              <a:gd name="T51" fmla="*/ 5 h 36"/>
              <a:gd name="T52" fmla="*/ 58 w 990"/>
              <a:gd name="T53" fmla="*/ 6 h 36"/>
              <a:gd name="T54" fmla="*/ 26 w 990"/>
              <a:gd name="T55" fmla="*/ 8 h 36"/>
              <a:gd name="T56" fmla="*/ 10 w 990"/>
              <a:gd name="T57" fmla="*/ 10 h 36"/>
              <a:gd name="T58" fmla="*/ 6 w 990"/>
              <a:gd name="T59" fmla="*/ 10 h 36"/>
              <a:gd name="T60" fmla="*/ 5 w 990"/>
              <a:gd name="T61" fmla="*/ 10 h 36"/>
              <a:gd name="T62" fmla="*/ 5 w 990"/>
              <a:gd name="T63" fmla="*/ 10 h 36"/>
              <a:gd name="T64" fmla="*/ 4 w 990"/>
              <a:gd name="T65" fmla="*/ 10 h 36"/>
              <a:gd name="T66" fmla="*/ 2 w 990"/>
              <a:gd name="T67" fmla="*/ 10 h 36"/>
              <a:gd name="T68" fmla="*/ 1 w 990"/>
              <a:gd name="T69" fmla="*/ 12 h 36"/>
              <a:gd name="T70" fmla="*/ 4 w 990"/>
              <a:gd name="T71" fmla="*/ 17 h 36"/>
              <a:gd name="T72" fmla="*/ 4 w 990"/>
              <a:gd name="T73" fmla="*/ 17 h 36"/>
              <a:gd name="T74" fmla="*/ 63 w 990"/>
              <a:gd name="T75" fmla="*/ 16 h 36"/>
              <a:gd name="T76" fmla="*/ 70 w 990"/>
              <a:gd name="T77" fmla="*/ 16 h 36"/>
              <a:gd name="T78" fmla="*/ 122 w 990"/>
              <a:gd name="T79" fmla="*/ 17 h 36"/>
              <a:gd name="T80" fmla="*/ 153 w 990"/>
              <a:gd name="T81" fmla="*/ 19 h 36"/>
              <a:gd name="T82" fmla="*/ 183 w 990"/>
              <a:gd name="T83" fmla="*/ 20 h 36"/>
              <a:gd name="T84" fmla="*/ 244 w 990"/>
              <a:gd name="T85" fmla="*/ 22 h 36"/>
              <a:gd name="T86" fmla="*/ 305 w 990"/>
              <a:gd name="T87" fmla="*/ 24 h 36"/>
              <a:gd name="T88" fmla="*/ 336 w 990"/>
              <a:gd name="T89" fmla="*/ 26 h 36"/>
              <a:gd name="T90" fmla="*/ 375 w 990"/>
              <a:gd name="T91" fmla="*/ 28 h 36"/>
              <a:gd name="T92" fmla="*/ 489 w 990"/>
              <a:gd name="T93" fmla="*/ 32 h 36"/>
              <a:gd name="T94" fmla="*/ 612 w 990"/>
              <a:gd name="T95" fmla="*/ 36 h 36"/>
              <a:gd name="T96" fmla="*/ 665 w 990"/>
              <a:gd name="T97" fmla="*/ 36 h 36"/>
              <a:gd name="T98" fmla="*/ 707 w 990"/>
              <a:gd name="T99" fmla="*/ 36 h 36"/>
              <a:gd name="T100" fmla="*/ 750 w 990"/>
              <a:gd name="T101" fmla="*/ 36 h 36"/>
              <a:gd name="T102" fmla="*/ 792 w 990"/>
              <a:gd name="T103" fmla="*/ 35 h 36"/>
              <a:gd name="T104" fmla="*/ 879 w 990"/>
              <a:gd name="T105" fmla="*/ 32 h 36"/>
              <a:gd name="T106" fmla="*/ 921 w 990"/>
              <a:gd name="T107" fmla="*/ 30 h 36"/>
              <a:gd name="T108" fmla="*/ 969 w 990"/>
              <a:gd name="T109" fmla="*/ 27 h 36"/>
              <a:gd name="T110" fmla="*/ 982 w 990"/>
              <a:gd name="T111" fmla="*/ 22 h 36"/>
              <a:gd name="T112" fmla="*/ 987 w 990"/>
              <a:gd name="T113" fmla="*/ 15 h 36"/>
              <a:gd name="T114" fmla="*/ 989 w 990"/>
              <a:gd name="T115" fmla="*/ 8 h 36"/>
              <a:gd name="T116" fmla="*/ 982 w 990"/>
              <a:gd name="T117" fmla="*/ 2 h 36"/>
              <a:gd name="T118" fmla="*/ 962 w 990"/>
              <a:gd name="T119" fmla="*/ 0 h 36"/>
              <a:gd name="T120" fmla="*/ 934 w 990"/>
              <a:gd name="T121" fmla="*/ 0 h 36"/>
              <a:gd name="T122" fmla="*/ 922 w 990"/>
              <a:gd name="T1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0" h="36">
                <a:moveTo>
                  <a:pt x="922" y="0"/>
                </a:moveTo>
                <a:cubicBezTo>
                  <a:pt x="917" y="0"/>
                  <a:pt x="912" y="0"/>
                  <a:pt x="907" y="0"/>
                </a:cubicBezTo>
                <a:cubicBezTo>
                  <a:pt x="898" y="0"/>
                  <a:pt x="889" y="1"/>
                  <a:pt x="880" y="1"/>
                </a:cubicBezTo>
                <a:cubicBezTo>
                  <a:pt x="839" y="3"/>
                  <a:pt x="839" y="3"/>
                  <a:pt x="839" y="3"/>
                </a:cubicBezTo>
                <a:cubicBezTo>
                  <a:pt x="818" y="3"/>
                  <a:pt x="818" y="3"/>
                  <a:pt x="818" y="3"/>
                </a:cubicBezTo>
                <a:cubicBezTo>
                  <a:pt x="798" y="4"/>
                  <a:pt x="798" y="4"/>
                  <a:pt x="798" y="4"/>
                </a:cubicBezTo>
                <a:cubicBezTo>
                  <a:pt x="757" y="5"/>
                  <a:pt x="757" y="5"/>
                  <a:pt x="757" y="5"/>
                </a:cubicBezTo>
                <a:cubicBezTo>
                  <a:pt x="744" y="5"/>
                  <a:pt x="731" y="5"/>
                  <a:pt x="718" y="5"/>
                </a:cubicBezTo>
                <a:cubicBezTo>
                  <a:pt x="699" y="5"/>
                  <a:pt x="681" y="5"/>
                  <a:pt x="662" y="5"/>
                </a:cubicBezTo>
                <a:cubicBezTo>
                  <a:pt x="540" y="4"/>
                  <a:pt x="540" y="4"/>
                  <a:pt x="540" y="4"/>
                </a:cubicBezTo>
                <a:cubicBezTo>
                  <a:pt x="512" y="4"/>
                  <a:pt x="512" y="4"/>
                  <a:pt x="512" y="4"/>
                </a:cubicBezTo>
                <a:cubicBezTo>
                  <a:pt x="512" y="4"/>
                  <a:pt x="511" y="4"/>
                  <a:pt x="511" y="4"/>
                </a:cubicBezTo>
                <a:cubicBezTo>
                  <a:pt x="502" y="4"/>
                  <a:pt x="493" y="4"/>
                  <a:pt x="484" y="5"/>
                </a:cubicBezTo>
                <a:cubicBezTo>
                  <a:pt x="462" y="5"/>
                  <a:pt x="441" y="5"/>
                  <a:pt x="419" y="5"/>
                </a:cubicBezTo>
                <a:cubicBezTo>
                  <a:pt x="397" y="6"/>
                  <a:pt x="375" y="7"/>
                  <a:pt x="353" y="7"/>
                </a:cubicBezTo>
                <a:cubicBezTo>
                  <a:pt x="352" y="7"/>
                  <a:pt x="351" y="7"/>
                  <a:pt x="350" y="7"/>
                </a:cubicBezTo>
                <a:cubicBezTo>
                  <a:pt x="330" y="7"/>
                  <a:pt x="309" y="5"/>
                  <a:pt x="288" y="5"/>
                </a:cubicBezTo>
                <a:cubicBezTo>
                  <a:pt x="280" y="4"/>
                  <a:pt x="272" y="4"/>
                  <a:pt x="265" y="4"/>
                </a:cubicBezTo>
                <a:cubicBezTo>
                  <a:pt x="258" y="4"/>
                  <a:pt x="251" y="4"/>
                  <a:pt x="244" y="4"/>
                </a:cubicBezTo>
                <a:cubicBezTo>
                  <a:pt x="237" y="4"/>
                  <a:pt x="230" y="4"/>
                  <a:pt x="224" y="4"/>
                </a:cubicBezTo>
                <a:cubicBezTo>
                  <a:pt x="223" y="4"/>
                  <a:pt x="223" y="4"/>
                  <a:pt x="223" y="4"/>
                </a:cubicBezTo>
                <a:cubicBezTo>
                  <a:pt x="223" y="4"/>
                  <a:pt x="222" y="4"/>
                  <a:pt x="222" y="4"/>
                </a:cubicBezTo>
                <a:cubicBezTo>
                  <a:pt x="212" y="4"/>
                  <a:pt x="201" y="4"/>
                  <a:pt x="190" y="4"/>
                </a:cubicBezTo>
                <a:cubicBezTo>
                  <a:pt x="180" y="4"/>
                  <a:pt x="169" y="4"/>
                  <a:pt x="158" y="4"/>
                </a:cubicBezTo>
                <a:cubicBezTo>
                  <a:pt x="158" y="4"/>
                  <a:pt x="157" y="4"/>
                  <a:pt x="157" y="4"/>
                </a:cubicBezTo>
                <a:cubicBezTo>
                  <a:pt x="135" y="4"/>
                  <a:pt x="113" y="4"/>
                  <a:pt x="91" y="5"/>
                </a:cubicBezTo>
                <a:cubicBezTo>
                  <a:pt x="80" y="5"/>
                  <a:pt x="69" y="6"/>
                  <a:pt x="58" y="6"/>
                </a:cubicBezTo>
                <a:cubicBezTo>
                  <a:pt x="48" y="6"/>
                  <a:pt x="37" y="7"/>
                  <a:pt x="26" y="8"/>
                </a:cubicBezTo>
                <a:cubicBezTo>
                  <a:pt x="10" y="10"/>
                  <a:pt x="10" y="10"/>
                  <a:pt x="10" y="10"/>
                </a:cubicBezTo>
                <a:cubicBezTo>
                  <a:pt x="6" y="10"/>
                  <a:pt x="6" y="10"/>
                  <a:pt x="6" y="10"/>
                </a:cubicBezTo>
                <a:cubicBezTo>
                  <a:pt x="6" y="10"/>
                  <a:pt x="5" y="10"/>
                  <a:pt x="5" y="10"/>
                </a:cubicBezTo>
                <a:cubicBezTo>
                  <a:pt x="5" y="10"/>
                  <a:pt x="5" y="10"/>
                  <a:pt x="5" y="10"/>
                </a:cubicBezTo>
                <a:cubicBezTo>
                  <a:pt x="4" y="10"/>
                  <a:pt x="4" y="10"/>
                  <a:pt x="4" y="10"/>
                </a:cubicBezTo>
                <a:cubicBezTo>
                  <a:pt x="3" y="10"/>
                  <a:pt x="2" y="10"/>
                  <a:pt x="2" y="10"/>
                </a:cubicBezTo>
                <a:cubicBezTo>
                  <a:pt x="1" y="10"/>
                  <a:pt x="1" y="11"/>
                  <a:pt x="1" y="12"/>
                </a:cubicBezTo>
                <a:cubicBezTo>
                  <a:pt x="0" y="15"/>
                  <a:pt x="2" y="17"/>
                  <a:pt x="4" y="17"/>
                </a:cubicBezTo>
                <a:cubicBezTo>
                  <a:pt x="4" y="17"/>
                  <a:pt x="4" y="17"/>
                  <a:pt x="4" y="17"/>
                </a:cubicBezTo>
                <a:cubicBezTo>
                  <a:pt x="24" y="17"/>
                  <a:pt x="43" y="16"/>
                  <a:pt x="63" y="16"/>
                </a:cubicBezTo>
                <a:cubicBezTo>
                  <a:pt x="65" y="16"/>
                  <a:pt x="67" y="16"/>
                  <a:pt x="70" y="16"/>
                </a:cubicBezTo>
                <a:cubicBezTo>
                  <a:pt x="87" y="16"/>
                  <a:pt x="105" y="16"/>
                  <a:pt x="122" y="17"/>
                </a:cubicBezTo>
                <a:cubicBezTo>
                  <a:pt x="133" y="18"/>
                  <a:pt x="143" y="19"/>
                  <a:pt x="153" y="19"/>
                </a:cubicBezTo>
                <a:cubicBezTo>
                  <a:pt x="183" y="20"/>
                  <a:pt x="183" y="20"/>
                  <a:pt x="183" y="20"/>
                </a:cubicBezTo>
                <a:cubicBezTo>
                  <a:pt x="203" y="20"/>
                  <a:pt x="224" y="21"/>
                  <a:pt x="244" y="22"/>
                </a:cubicBezTo>
                <a:cubicBezTo>
                  <a:pt x="265" y="22"/>
                  <a:pt x="285" y="23"/>
                  <a:pt x="305" y="24"/>
                </a:cubicBezTo>
                <a:cubicBezTo>
                  <a:pt x="336" y="26"/>
                  <a:pt x="336" y="26"/>
                  <a:pt x="336" y="26"/>
                </a:cubicBezTo>
                <a:cubicBezTo>
                  <a:pt x="346" y="26"/>
                  <a:pt x="361" y="28"/>
                  <a:pt x="375" y="28"/>
                </a:cubicBezTo>
                <a:cubicBezTo>
                  <a:pt x="416" y="31"/>
                  <a:pt x="448" y="31"/>
                  <a:pt x="489" y="32"/>
                </a:cubicBezTo>
                <a:cubicBezTo>
                  <a:pt x="530" y="34"/>
                  <a:pt x="571" y="35"/>
                  <a:pt x="612" y="36"/>
                </a:cubicBezTo>
                <a:cubicBezTo>
                  <a:pt x="629" y="36"/>
                  <a:pt x="647" y="36"/>
                  <a:pt x="665" y="36"/>
                </a:cubicBezTo>
                <a:cubicBezTo>
                  <a:pt x="679" y="36"/>
                  <a:pt x="693" y="36"/>
                  <a:pt x="707" y="36"/>
                </a:cubicBezTo>
                <a:cubicBezTo>
                  <a:pt x="750" y="36"/>
                  <a:pt x="750" y="36"/>
                  <a:pt x="750" y="36"/>
                </a:cubicBezTo>
                <a:cubicBezTo>
                  <a:pt x="792" y="35"/>
                  <a:pt x="792" y="35"/>
                  <a:pt x="792" y="35"/>
                </a:cubicBezTo>
                <a:cubicBezTo>
                  <a:pt x="821" y="34"/>
                  <a:pt x="850" y="33"/>
                  <a:pt x="879" y="32"/>
                </a:cubicBezTo>
                <a:cubicBezTo>
                  <a:pt x="921" y="30"/>
                  <a:pt x="921" y="30"/>
                  <a:pt x="921" y="30"/>
                </a:cubicBezTo>
                <a:cubicBezTo>
                  <a:pt x="937" y="30"/>
                  <a:pt x="953" y="29"/>
                  <a:pt x="969" y="27"/>
                </a:cubicBezTo>
                <a:cubicBezTo>
                  <a:pt x="973" y="26"/>
                  <a:pt x="979" y="25"/>
                  <a:pt x="982" y="22"/>
                </a:cubicBezTo>
                <a:cubicBezTo>
                  <a:pt x="984" y="20"/>
                  <a:pt x="986" y="17"/>
                  <a:pt x="987" y="15"/>
                </a:cubicBezTo>
                <a:cubicBezTo>
                  <a:pt x="989" y="13"/>
                  <a:pt x="990" y="10"/>
                  <a:pt x="989" y="8"/>
                </a:cubicBezTo>
                <a:cubicBezTo>
                  <a:pt x="988" y="4"/>
                  <a:pt x="985" y="3"/>
                  <a:pt x="982" y="2"/>
                </a:cubicBezTo>
                <a:cubicBezTo>
                  <a:pt x="975" y="0"/>
                  <a:pt x="968" y="0"/>
                  <a:pt x="962" y="0"/>
                </a:cubicBezTo>
                <a:cubicBezTo>
                  <a:pt x="934" y="0"/>
                  <a:pt x="934" y="0"/>
                  <a:pt x="934" y="0"/>
                </a:cubicBezTo>
                <a:cubicBezTo>
                  <a:pt x="930" y="0"/>
                  <a:pt x="926" y="0"/>
                  <a:pt x="922" y="0"/>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2" name="Content Placeholder 2">
            <a:extLst>
              <a:ext uri="{FF2B5EF4-FFF2-40B4-BE49-F238E27FC236}">
                <a16:creationId xmlns:a16="http://schemas.microsoft.com/office/drawing/2014/main" id="{8A378710-0B40-86B5-B2C6-AF290BD75FB3}"/>
              </a:ext>
            </a:extLst>
          </p:cNvPr>
          <p:cNvSpPr txBox="1">
            <a:spLocks/>
          </p:cNvSpPr>
          <p:nvPr/>
        </p:nvSpPr>
        <p:spPr>
          <a:xfrm>
            <a:off x="401032" y="716399"/>
            <a:ext cx="8510739" cy="881599"/>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1600" b="1">
                <a:latin typeface="Calibri" panose="020F0502020204030204" pitchFamily="34" charset="0"/>
                <a:cs typeface="Calibri" panose="020F0502020204030204" pitchFamily="34" charset="0"/>
              </a:rPr>
              <a:t>Bước 3</a:t>
            </a:r>
            <a:r>
              <a:rPr lang="en-US" sz="1600">
                <a:latin typeface="Calibri" panose="020F0502020204030204" pitchFamily="34" charset="0"/>
                <a:cs typeface="Calibri" panose="020F0502020204030204" pitchFamily="34" charset="0"/>
              </a:rPr>
              <a:t>: Hoàn thiện biểu đồ</a:t>
            </a:r>
          </a:p>
          <a:p>
            <a:pPr marL="285750" indent="-285750" algn="l">
              <a:buFontTx/>
              <a:buChar char="-"/>
            </a:pPr>
            <a:r>
              <a:rPr lang="en-US" sz="1600" b="1">
                <a:latin typeface="Calibri" panose="020F0502020204030204" pitchFamily="34" charset="0"/>
                <a:cs typeface="Calibri" panose="020F0502020204030204" pitchFamily="34" charset="0"/>
              </a:rPr>
              <a:t>Thêm đường trục tung: </a:t>
            </a:r>
            <a:r>
              <a:rPr lang="en-US" sz="1600">
                <a:latin typeface="Calibri" panose="020F0502020204030204" pitchFamily="34" charset="0"/>
                <a:cs typeface="Calibri" panose="020F0502020204030204" pitchFamily="34" charset="0"/>
              </a:rPr>
              <a:t>Click đúp chuột vào trục tung (1) để hiện bảng “Format Axis”, chọn biểu tượng (2), chọn Solid line </a:t>
            </a:r>
          </a:p>
        </p:txBody>
      </p:sp>
      <p:sp>
        <p:nvSpPr>
          <p:cNvPr id="12" name="Oval 11">
            <a:extLst>
              <a:ext uri="{FF2B5EF4-FFF2-40B4-BE49-F238E27FC236}">
                <a16:creationId xmlns:a16="http://schemas.microsoft.com/office/drawing/2014/main" id="{EE39C399-697C-FE44-F510-CB4B7E102188}"/>
              </a:ext>
            </a:extLst>
          </p:cNvPr>
          <p:cNvSpPr/>
          <p:nvPr/>
        </p:nvSpPr>
        <p:spPr>
          <a:xfrm>
            <a:off x="798514" y="2522932"/>
            <a:ext cx="328018" cy="328469"/>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1</a:t>
            </a:r>
          </a:p>
        </p:txBody>
      </p:sp>
      <p:sp>
        <p:nvSpPr>
          <p:cNvPr id="13" name="Oval 12">
            <a:extLst>
              <a:ext uri="{FF2B5EF4-FFF2-40B4-BE49-F238E27FC236}">
                <a16:creationId xmlns:a16="http://schemas.microsoft.com/office/drawing/2014/main" id="{6F93BA1C-6FA9-D5A4-7EFA-CB8DF75B6B37}"/>
              </a:ext>
            </a:extLst>
          </p:cNvPr>
          <p:cNvSpPr/>
          <p:nvPr/>
        </p:nvSpPr>
        <p:spPr>
          <a:xfrm>
            <a:off x="6254669" y="3100816"/>
            <a:ext cx="328018" cy="328469"/>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3</a:t>
            </a:r>
          </a:p>
        </p:txBody>
      </p:sp>
      <p:sp>
        <p:nvSpPr>
          <p:cNvPr id="14" name="Oval 13">
            <a:extLst>
              <a:ext uri="{FF2B5EF4-FFF2-40B4-BE49-F238E27FC236}">
                <a16:creationId xmlns:a16="http://schemas.microsoft.com/office/drawing/2014/main" id="{94B5F51D-9593-7C05-BDAD-36A1FF7D96E1}"/>
              </a:ext>
            </a:extLst>
          </p:cNvPr>
          <p:cNvSpPr/>
          <p:nvPr/>
        </p:nvSpPr>
        <p:spPr>
          <a:xfrm>
            <a:off x="6103912" y="2236947"/>
            <a:ext cx="328018" cy="328469"/>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2</a:t>
            </a:r>
          </a:p>
        </p:txBody>
      </p:sp>
      <p:sp>
        <p:nvSpPr>
          <p:cNvPr id="9" name="Content Placeholder 2">
            <a:extLst>
              <a:ext uri="{FF2B5EF4-FFF2-40B4-BE49-F238E27FC236}">
                <a16:creationId xmlns:a16="http://schemas.microsoft.com/office/drawing/2014/main" id="{8698B018-37CA-B8DA-5A95-2DC8A3B5DD7C}"/>
              </a:ext>
            </a:extLst>
          </p:cNvPr>
          <p:cNvSpPr txBox="1">
            <a:spLocks/>
          </p:cNvSpPr>
          <p:nvPr/>
        </p:nvSpPr>
        <p:spPr>
          <a:xfrm>
            <a:off x="470361" y="4068234"/>
            <a:ext cx="8510739" cy="881599"/>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marL="285750" indent="-285750" algn="l">
              <a:buFontTx/>
              <a:buChar char="-"/>
            </a:pPr>
            <a:r>
              <a:rPr lang="en-US" sz="1600" b="1">
                <a:latin typeface="Calibri" panose="020F0502020204030204" pitchFamily="34" charset="0"/>
                <a:cs typeface="Calibri" panose="020F0502020204030204" pitchFamily="34" charset="0"/>
              </a:rPr>
              <a:t>Thêm tiêu đề cho trục tung: </a:t>
            </a:r>
            <a:r>
              <a:rPr lang="en-US" sz="1600">
                <a:latin typeface="Calibri" panose="020F0502020204030204" pitchFamily="34" charset="0"/>
                <a:cs typeface="Calibri" panose="020F0502020204030204" pitchFamily="34" charset="0"/>
              </a:rPr>
              <a:t>Chọn Insert/Text (1)/Text Box (2), bôi chọn vị trí muốn đặt tiêu đề (3), gõ tiêu đề phù hơp (4)</a:t>
            </a:r>
          </a:p>
        </p:txBody>
      </p:sp>
      <p:pic>
        <p:nvPicPr>
          <p:cNvPr id="17" name="Picture 16">
            <a:extLst>
              <a:ext uri="{FF2B5EF4-FFF2-40B4-BE49-F238E27FC236}">
                <a16:creationId xmlns:a16="http://schemas.microsoft.com/office/drawing/2014/main" id="{F4690572-B853-17E2-46DE-A1F1D9C4578F}"/>
              </a:ext>
            </a:extLst>
          </p:cNvPr>
          <p:cNvPicPr>
            <a:picLocks noChangeAspect="1"/>
          </p:cNvPicPr>
          <p:nvPr/>
        </p:nvPicPr>
        <p:blipFill>
          <a:blip r:embed="rId4"/>
          <a:stretch>
            <a:fillRect/>
          </a:stretch>
        </p:blipFill>
        <p:spPr>
          <a:xfrm>
            <a:off x="4025956" y="5293609"/>
            <a:ext cx="1448002" cy="562053"/>
          </a:xfrm>
          <a:prstGeom prst="rect">
            <a:avLst/>
          </a:prstGeom>
          <a:effectLst>
            <a:glow rad="63500">
              <a:schemeClr val="bg1">
                <a:lumMod val="65000"/>
                <a:alpha val="40000"/>
              </a:schemeClr>
            </a:glow>
          </a:effectLst>
        </p:spPr>
      </p:pic>
      <p:pic>
        <p:nvPicPr>
          <p:cNvPr id="19" name="Picture 18">
            <a:extLst>
              <a:ext uri="{FF2B5EF4-FFF2-40B4-BE49-F238E27FC236}">
                <a16:creationId xmlns:a16="http://schemas.microsoft.com/office/drawing/2014/main" id="{2A51030F-E179-324F-56B5-8CC70454C989}"/>
              </a:ext>
            </a:extLst>
          </p:cNvPr>
          <p:cNvPicPr>
            <a:picLocks noChangeAspect="1"/>
          </p:cNvPicPr>
          <p:nvPr/>
        </p:nvPicPr>
        <p:blipFill>
          <a:blip r:embed="rId5"/>
          <a:stretch>
            <a:fillRect/>
          </a:stretch>
        </p:blipFill>
        <p:spPr>
          <a:xfrm>
            <a:off x="1831254" y="4622729"/>
            <a:ext cx="1524213" cy="1943371"/>
          </a:xfrm>
          <a:prstGeom prst="rect">
            <a:avLst/>
          </a:prstGeom>
          <a:effectLst>
            <a:glow rad="63500">
              <a:schemeClr val="bg1">
                <a:lumMod val="65000"/>
                <a:alpha val="40000"/>
              </a:schemeClr>
            </a:glow>
          </a:effectLst>
        </p:spPr>
      </p:pic>
      <p:pic>
        <p:nvPicPr>
          <p:cNvPr id="21" name="Picture 20">
            <a:extLst>
              <a:ext uri="{FF2B5EF4-FFF2-40B4-BE49-F238E27FC236}">
                <a16:creationId xmlns:a16="http://schemas.microsoft.com/office/drawing/2014/main" id="{15A5D1FF-692A-13DE-80CF-62F07C1E5EE8}"/>
              </a:ext>
            </a:extLst>
          </p:cNvPr>
          <p:cNvPicPr>
            <a:picLocks noChangeAspect="1"/>
          </p:cNvPicPr>
          <p:nvPr/>
        </p:nvPicPr>
        <p:blipFill>
          <a:blip r:embed="rId6"/>
          <a:stretch>
            <a:fillRect/>
          </a:stretch>
        </p:blipFill>
        <p:spPr>
          <a:xfrm>
            <a:off x="6582687" y="5274555"/>
            <a:ext cx="1105054" cy="600159"/>
          </a:xfrm>
          <a:prstGeom prst="rect">
            <a:avLst/>
          </a:prstGeom>
          <a:effectLst>
            <a:glow rad="63500">
              <a:schemeClr val="bg1">
                <a:lumMod val="65000"/>
                <a:alpha val="40000"/>
              </a:schemeClr>
            </a:glow>
          </a:effectLst>
        </p:spPr>
      </p:pic>
      <p:sp>
        <p:nvSpPr>
          <p:cNvPr id="22" name="Oval 21">
            <a:extLst>
              <a:ext uri="{FF2B5EF4-FFF2-40B4-BE49-F238E27FC236}">
                <a16:creationId xmlns:a16="http://schemas.microsoft.com/office/drawing/2014/main" id="{4AF22AE9-2D55-ACD3-E788-1B8395A85A32}"/>
              </a:ext>
            </a:extLst>
          </p:cNvPr>
          <p:cNvSpPr/>
          <p:nvPr/>
        </p:nvSpPr>
        <p:spPr>
          <a:xfrm>
            <a:off x="2794036" y="5247612"/>
            <a:ext cx="328018" cy="328469"/>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1</a:t>
            </a:r>
          </a:p>
        </p:txBody>
      </p:sp>
      <p:sp>
        <p:nvSpPr>
          <p:cNvPr id="23" name="Oval 22">
            <a:extLst>
              <a:ext uri="{FF2B5EF4-FFF2-40B4-BE49-F238E27FC236}">
                <a16:creationId xmlns:a16="http://schemas.microsoft.com/office/drawing/2014/main" id="{D57DABD6-7D7D-1CCC-BFBB-9849B9F82627}"/>
              </a:ext>
            </a:extLst>
          </p:cNvPr>
          <p:cNvSpPr/>
          <p:nvPr/>
        </p:nvSpPr>
        <p:spPr>
          <a:xfrm>
            <a:off x="2088822" y="6260869"/>
            <a:ext cx="328018" cy="328469"/>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2</a:t>
            </a:r>
          </a:p>
        </p:txBody>
      </p:sp>
      <p:sp>
        <p:nvSpPr>
          <p:cNvPr id="24" name="Arrow: Right 23">
            <a:extLst>
              <a:ext uri="{FF2B5EF4-FFF2-40B4-BE49-F238E27FC236}">
                <a16:creationId xmlns:a16="http://schemas.microsoft.com/office/drawing/2014/main" id="{F0BDE42B-552D-9449-AC2C-672F981AB8D5}"/>
              </a:ext>
            </a:extLst>
          </p:cNvPr>
          <p:cNvSpPr/>
          <p:nvPr/>
        </p:nvSpPr>
        <p:spPr>
          <a:xfrm>
            <a:off x="3538330" y="5428862"/>
            <a:ext cx="254213" cy="281028"/>
          </a:xfrm>
          <a:prstGeom prst="right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Arrow: Right 24">
            <a:extLst>
              <a:ext uri="{FF2B5EF4-FFF2-40B4-BE49-F238E27FC236}">
                <a16:creationId xmlns:a16="http://schemas.microsoft.com/office/drawing/2014/main" id="{D9F0FDA5-21EC-9992-A427-7E1AEE0B163C}"/>
              </a:ext>
            </a:extLst>
          </p:cNvPr>
          <p:cNvSpPr/>
          <p:nvPr/>
        </p:nvSpPr>
        <p:spPr>
          <a:xfrm>
            <a:off x="5901216" y="5434120"/>
            <a:ext cx="254213" cy="281028"/>
          </a:xfrm>
          <a:prstGeom prst="right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1AEC7004-F7E3-743B-F99F-BB997CF19790}"/>
              </a:ext>
            </a:extLst>
          </p:cNvPr>
          <p:cNvSpPr/>
          <p:nvPr/>
        </p:nvSpPr>
        <p:spPr>
          <a:xfrm>
            <a:off x="4572000" y="5932400"/>
            <a:ext cx="328018" cy="328469"/>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3</a:t>
            </a:r>
          </a:p>
        </p:txBody>
      </p:sp>
      <p:sp>
        <p:nvSpPr>
          <p:cNvPr id="27" name="Oval 26">
            <a:extLst>
              <a:ext uri="{FF2B5EF4-FFF2-40B4-BE49-F238E27FC236}">
                <a16:creationId xmlns:a16="http://schemas.microsoft.com/office/drawing/2014/main" id="{EE343BED-384E-5F94-8FF8-0F59E4F23787}"/>
              </a:ext>
            </a:extLst>
          </p:cNvPr>
          <p:cNvSpPr/>
          <p:nvPr/>
        </p:nvSpPr>
        <p:spPr>
          <a:xfrm>
            <a:off x="6939501" y="5939110"/>
            <a:ext cx="328018" cy="328469"/>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4</a:t>
            </a:r>
          </a:p>
        </p:txBody>
      </p:sp>
    </p:spTree>
    <p:extLst>
      <p:ext uri="{BB962C8B-B14F-4D97-AF65-F5344CB8AC3E}">
        <p14:creationId xmlns:p14="http://schemas.microsoft.com/office/powerpoint/2010/main" val="24561868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67DF2AC-4E6C-6FEC-9D07-D0D08736CC6C}"/>
              </a:ext>
            </a:extLst>
          </p:cNvPr>
          <p:cNvPicPr>
            <a:picLocks noChangeAspect="1"/>
          </p:cNvPicPr>
          <p:nvPr/>
        </p:nvPicPr>
        <p:blipFill rotWithShape="1">
          <a:blip r:embed="rId3"/>
          <a:srcRect b="1868"/>
          <a:stretch/>
        </p:blipFill>
        <p:spPr>
          <a:xfrm>
            <a:off x="345792" y="1814286"/>
            <a:ext cx="8522441" cy="4651946"/>
          </a:xfrm>
          <a:prstGeom prst="rect">
            <a:avLst/>
          </a:prstGeom>
          <a:effectLst>
            <a:glow rad="63500">
              <a:schemeClr val="bg1">
                <a:lumMod val="65000"/>
                <a:alpha val="40000"/>
              </a:schemeClr>
            </a:glow>
          </a:effectLst>
        </p:spPr>
      </p:pic>
      <p:sp>
        <p:nvSpPr>
          <p:cNvPr id="7" name="Slide Number Placeholder 5"/>
          <p:cNvSpPr>
            <a:spLocks noGrp="1"/>
          </p:cNvSpPr>
          <p:nvPr>
            <p:ph type="sldNum" sz="quarter" idx="4"/>
          </p:nvPr>
        </p:nvSpPr>
        <p:spPr>
          <a:prstGeom prst="rect">
            <a:avLst/>
          </a:prstGeom>
        </p:spPr>
        <p:txBody>
          <a:bodyPr vert="horz" lIns="0" tIns="0" rIns="0" bIns="0" rtlCol="0" anchor="ctr" anchorCtr="0"/>
          <a:lstStyle>
            <a:lvl1pPr algn="r">
              <a:defRPr sz="1800">
                <a:solidFill>
                  <a:schemeClr val="tx1"/>
                </a:solidFill>
              </a:defRPr>
            </a:lvl1pPr>
          </a:lstStyle>
          <a:p>
            <a:fld id="{A3381702-59A5-4643-AE93-D7BF7F78153B}" type="slidenum">
              <a:rPr lang="en-GB" smtClean="0"/>
              <a:pPr/>
              <a:t>8</a:t>
            </a:fld>
            <a:endParaRPr lang="en-GB" dirty="0"/>
          </a:p>
        </p:txBody>
      </p:sp>
      <p:sp>
        <p:nvSpPr>
          <p:cNvPr id="8" name="Footer Placeholder 4"/>
          <p:cNvSpPr>
            <a:spLocks noGrp="1"/>
          </p:cNvSpPr>
          <p:nvPr>
            <p:ph type="ftr" sz="quarter" idx="3"/>
          </p:nvPr>
        </p:nvSpPr>
        <p:spPr>
          <a:prstGeom prst="rect">
            <a:avLst/>
          </a:prstGeom>
        </p:spPr>
        <p:txBody>
          <a:bodyPr vert="horz" lIns="0" tIns="0" rIns="0" bIns="0" rtlCol="0" anchor="t" anchorCtr="0"/>
          <a:lstStyle>
            <a:lvl1pPr algn="r">
              <a:defRPr sz="700">
                <a:solidFill>
                  <a:schemeClr val="tx1"/>
                </a:solidFill>
                <a:latin typeface="+mn-lt"/>
              </a:defRPr>
            </a:lvl1pPr>
          </a:lstStyle>
          <a:p>
            <a:r>
              <a:rPr lang="fr-FR" altLang="ja-JP" dirty="0"/>
              <a:t>©20</a:t>
            </a:r>
            <a:r>
              <a:rPr lang="en-US" altLang="ja-JP" dirty="0"/>
              <a:t>23</a:t>
            </a:r>
            <a:r>
              <a:rPr lang="fr-FR" altLang="ja-JP" dirty="0"/>
              <a:t> KYOCERA Document Solutions Inc.</a:t>
            </a:r>
            <a:endParaRPr lang="en-GB" dirty="0"/>
          </a:p>
        </p:txBody>
      </p:sp>
      <p:sp>
        <p:nvSpPr>
          <p:cNvPr id="6" name="Freeform 34">
            <a:extLst>
              <a:ext uri="{FF2B5EF4-FFF2-40B4-BE49-F238E27FC236}">
                <a16:creationId xmlns:a16="http://schemas.microsoft.com/office/drawing/2014/main" id="{E988D51C-281C-0FC1-508D-073F501DA6DF}"/>
              </a:ext>
            </a:extLst>
          </p:cNvPr>
          <p:cNvSpPr>
            <a:spLocks noChangeAspect="1"/>
          </p:cNvSpPr>
          <p:nvPr/>
        </p:nvSpPr>
        <p:spPr bwMode="auto">
          <a:xfrm rot="10800000" flipV="1">
            <a:off x="509368" y="536909"/>
            <a:ext cx="1655684" cy="47957"/>
          </a:xfrm>
          <a:custGeom>
            <a:avLst/>
            <a:gdLst>
              <a:gd name="T0" fmla="*/ 922 w 990"/>
              <a:gd name="T1" fmla="*/ 0 h 36"/>
              <a:gd name="T2" fmla="*/ 907 w 990"/>
              <a:gd name="T3" fmla="*/ 0 h 36"/>
              <a:gd name="T4" fmla="*/ 880 w 990"/>
              <a:gd name="T5" fmla="*/ 1 h 36"/>
              <a:gd name="T6" fmla="*/ 839 w 990"/>
              <a:gd name="T7" fmla="*/ 3 h 36"/>
              <a:gd name="T8" fmla="*/ 818 w 990"/>
              <a:gd name="T9" fmla="*/ 3 h 36"/>
              <a:gd name="T10" fmla="*/ 798 w 990"/>
              <a:gd name="T11" fmla="*/ 4 h 36"/>
              <a:gd name="T12" fmla="*/ 757 w 990"/>
              <a:gd name="T13" fmla="*/ 5 h 36"/>
              <a:gd name="T14" fmla="*/ 718 w 990"/>
              <a:gd name="T15" fmla="*/ 5 h 36"/>
              <a:gd name="T16" fmla="*/ 662 w 990"/>
              <a:gd name="T17" fmla="*/ 5 h 36"/>
              <a:gd name="T18" fmla="*/ 540 w 990"/>
              <a:gd name="T19" fmla="*/ 4 h 36"/>
              <a:gd name="T20" fmla="*/ 512 w 990"/>
              <a:gd name="T21" fmla="*/ 4 h 36"/>
              <a:gd name="T22" fmla="*/ 511 w 990"/>
              <a:gd name="T23" fmla="*/ 4 h 36"/>
              <a:gd name="T24" fmla="*/ 484 w 990"/>
              <a:gd name="T25" fmla="*/ 5 h 36"/>
              <a:gd name="T26" fmla="*/ 419 w 990"/>
              <a:gd name="T27" fmla="*/ 5 h 36"/>
              <a:gd name="T28" fmla="*/ 353 w 990"/>
              <a:gd name="T29" fmla="*/ 7 h 36"/>
              <a:gd name="T30" fmla="*/ 350 w 990"/>
              <a:gd name="T31" fmla="*/ 7 h 36"/>
              <a:gd name="T32" fmla="*/ 288 w 990"/>
              <a:gd name="T33" fmla="*/ 5 h 36"/>
              <a:gd name="T34" fmla="*/ 265 w 990"/>
              <a:gd name="T35" fmla="*/ 4 h 36"/>
              <a:gd name="T36" fmla="*/ 244 w 990"/>
              <a:gd name="T37" fmla="*/ 4 h 36"/>
              <a:gd name="T38" fmla="*/ 224 w 990"/>
              <a:gd name="T39" fmla="*/ 4 h 36"/>
              <a:gd name="T40" fmla="*/ 223 w 990"/>
              <a:gd name="T41" fmla="*/ 4 h 36"/>
              <a:gd name="T42" fmla="*/ 222 w 990"/>
              <a:gd name="T43" fmla="*/ 4 h 36"/>
              <a:gd name="T44" fmla="*/ 190 w 990"/>
              <a:gd name="T45" fmla="*/ 4 h 36"/>
              <a:gd name="T46" fmla="*/ 158 w 990"/>
              <a:gd name="T47" fmla="*/ 4 h 36"/>
              <a:gd name="T48" fmla="*/ 157 w 990"/>
              <a:gd name="T49" fmla="*/ 4 h 36"/>
              <a:gd name="T50" fmla="*/ 91 w 990"/>
              <a:gd name="T51" fmla="*/ 5 h 36"/>
              <a:gd name="T52" fmla="*/ 58 w 990"/>
              <a:gd name="T53" fmla="*/ 6 h 36"/>
              <a:gd name="T54" fmla="*/ 26 w 990"/>
              <a:gd name="T55" fmla="*/ 8 h 36"/>
              <a:gd name="T56" fmla="*/ 10 w 990"/>
              <a:gd name="T57" fmla="*/ 10 h 36"/>
              <a:gd name="T58" fmla="*/ 6 w 990"/>
              <a:gd name="T59" fmla="*/ 10 h 36"/>
              <a:gd name="T60" fmla="*/ 5 w 990"/>
              <a:gd name="T61" fmla="*/ 10 h 36"/>
              <a:gd name="T62" fmla="*/ 5 w 990"/>
              <a:gd name="T63" fmla="*/ 10 h 36"/>
              <a:gd name="T64" fmla="*/ 4 w 990"/>
              <a:gd name="T65" fmla="*/ 10 h 36"/>
              <a:gd name="T66" fmla="*/ 2 w 990"/>
              <a:gd name="T67" fmla="*/ 10 h 36"/>
              <a:gd name="T68" fmla="*/ 1 w 990"/>
              <a:gd name="T69" fmla="*/ 12 h 36"/>
              <a:gd name="T70" fmla="*/ 4 w 990"/>
              <a:gd name="T71" fmla="*/ 17 h 36"/>
              <a:gd name="T72" fmla="*/ 4 w 990"/>
              <a:gd name="T73" fmla="*/ 17 h 36"/>
              <a:gd name="T74" fmla="*/ 63 w 990"/>
              <a:gd name="T75" fmla="*/ 16 h 36"/>
              <a:gd name="T76" fmla="*/ 70 w 990"/>
              <a:gd name="T77" fmla="*/ 16 h 36"/>
              <a:gd name="T78" fmla="*/ 122 w 990"/>
              <a:gd name="T79" fmla="*/ 17 h 36"/>
              <a:gd name="T80" fmla="*/ 153 w 990"/>
              <a:gd name="T81" fmla="*/ 19 h 36"/>
              <a:gd name="T82" fmla="*/ 183 w 990"/>
              <a:gd name="T83" fmla="*/ 20 h 36"/>
              <a:gd name="T84" fmla="*/ 244 w 990"/>
              <a:gd name="T85" fmla="*/ 22 h 36"/>
              <a:gd name="T86" fmla="*/ 305 w 990"/>
              <a:gd name="T87" fmla="*/ 24 h 36"/>
              <a:gd name="T88" fmla="*/ 336 w 990"/>
              <a:gd name="T89" fmla="*/ 26 h 36"/>
              <a:gd name="T90" fmla="*/ 375 w 990"/>
              <a:gd name="T91" fmla="*/ 28 h 36"/>
              <a:gd name="T92" fmla="*/ 489 w 990"/>
              <a:gd name="T93" fmla="*/ 32 h 36"/>
              <a:gd name="T94" fmla="*/ 612 w 990"/>
              <a:gd name="T95" fmla="*/ 36 h 36"/>
              <a:gd name="T96" fmla="*/ 665 w 990"/>
              <a:gd name="T97" fmla="*/ 36 h 36"/>
              <a:gd name="T98" fmla="*/ 707 w 990"/>
              <a:gd name="T99" fmla="*/ 36 h 36"/>
              <a:gd name="T100" fmla="*/ 750 w 990"/>
              <a:gd name="T101" fmla="*/ 36 h 36"/>
              <a:gd name="T102" fmla="*/ 792 w 990"/>
              <a:gd name="T103" fmla="*/ 35 h 36"/>
              <a:gd name="T104" fmla="*/ 879 w 990"/>
              <a:gd name="T105" fmla="*/ 32 h 36"/>
              <a:gd name="T106" fmla="*/ 921 w 990"/>
              <a:gd name="T107" fmla="*/ 30 h 36"/>
              <a:gd name="T108" fmla="*/ 969 w 990"/>
              <a:gd name="T109" fmla="*/ 27 h 36"/>
              <a:gd name="T110" fmla="*/ 982 w 990"/>
              <a:gd name="T111" fmla="*/ 22 h 36"/>
              <a:gd name="T112" fmla="*/ 987 w 990"/>
              <a:gd name="T113" fmla="*/ 15 h 36"/>
              <a:gd name="T114" fmla="*/ 989 w 990"/>
              <a:gd name="T115" fmla="*/ 8 h 36"/>
              <a:gd name="T116" fmla="*/ 982 w 990"/>
              <a:gd name="T117" fmla="*/ 2 h 36"/>
              <a:gd name="T118" fmla="*/ 962 w 990"/>
              <a:gd name="T119" fmla="*/ 0 h 36"/>
              <a:gd name="T120" fmla="*/ 934 w 990"/>
              <a:gd name="T121" fmla="*/ 0 h 36"/>
              <a:gd name="T122" fmla="*/ 922 w 990"/>
              <a:gd name="T1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0" h="36">
                <a:moveTo>
                  <a:pt x="922" y="0"/>
                </a:moveTo>
                <a:cubicBezTo>
                  <a:pt x="917" y="0"/>
                  <a:pt x="912" y="0"/>
                  <a:pt x="907" y="0"/>
                </a:cubicBezTo>
                <a:cubicBezTo>
                  <a:pt x="898" y="0"/>
                  <a:pt x="889" y="1"/>
                  <a:pt x="880" y="1"/>
                </a:cubicBezTo>
                <a:cubicBezTo>
                  <a:pt x="839" y="3"/>
                  <a:pt x="839" y="3"/>
                  <a:pt x="839" y="3"/>
                </a:cubicBezTo>
                <a:cubicBezTo>
                  <a:pt x="818" y="3"/>
                  <a:pt x="818" y="3"/>
                  <a:pt x="818" y="3"/>
                </a:cubicBezTo>
                <a:cubicBezTo>
                  <a:pt x="798" y="4"/>
                  <a:pt x="798" y="4"/>
                  <a:pt x="798" y="4"/>
                </a:cubicBezTo>
                <a:cubicBezTo>
                  <a:pt x="757" y="5"/>
                  <a:pt x="757" y="5"/>
                  <a:pt x="757" y="5"/>
                </a:cubicBezTo>
                <a:cubicBezTo>
                  <a:pt x="744" y="5"/>
                  <a:pt x="731" y="5"/>
                  <a:pt x="718" y="5"/>
                </a:cubicBezTo>
                <a:cubicBezTo>
                  <a:pt x="699" y="5"/>
                  <a:pt x="681" y="5"/>
                  <a:pt x="662" y="5"/>
                </a:cubicBezTo>
                <a:cubicBezTo>
                  <a:pt x="540" y="4"/>
                  <a:pt x="540" y="4"/>
                  <a:pt x="540" y="4"/>
                </a:cubicBezTo>
                <a:cubicBezTo>
                  <a:pt x="512" y="4"/>
                  <a:pt x="512" y="4"/>
                  <a:pt x="512" y="4"/>
                </a:cubicBezTo>
                <a:cubicBezTo>
                  <a:pt x="512" y="4"/>
                  <a:pt x="511" y="4"/>
                  <a:pt x="511" y="4"/>
                </a:cubicBezTo>
                <a:cubicBezTo>
                  <a:pt x="502" y="4"/>
                  <a:pt x="493" y="4"/>
                  <a:pt x="484" y="5"/>
                </a:cubicBezTo>
                <a:cubicBezTo>
                  <a:pt x="462" y="5"/>
                  <a:pt x="441" y="5"/>
                  <a:pt x="419" y="5"/>
                </a:cubicBezTo>
                <a:cubicBezTo>
                  <a:pt x="397" y="6"/>
                  <a:pt x="375" y="7"/>
                  <a:pt x="353" y="7"/>
                </a:cubicBezTo>
                <a:cubicBezTo>
                  <a:pt x="352" y="7"/>
                  <a:pt x="351" y="7"/>
                  <a:pt x="350" y="7"/>
                </a:cubicBezTo>
                <a:cubicBezTo>
                  <a:pt x="330" y="7"/>
                  <a:pt x="309" y="5"/>
                  <a:pt x="288" y="5"/>
                </a:cubicBezTo>
                <a:cubicBezTo>
                  <a:pt x="280" y="4"/>
                  <a:pt x="272" y="4"/>
                  <a:pt x="265" y="4"/>
                </a:cubicBezTo>
                <a:cubicBezTo>
                  <a:pt x="258" y="4"/>
                  <a:pt x="251" y="4"/>
                  <a:pt x="244" y="4"/>
                </a:cubicBezTo>
                <a:cubicBezTo>
                  <a:pt x="237" y="4"/>
                  <a:pt x="230" y="4"/>
                  <a:pt x="224" y="4"/>
                </a:cubicBezTo>
                <a:cubicBezTo>
                  <a:pt x="223" y="4"/>
                  <a:pt x="223" y="4"/>
                  <a:pt x="223" y="4"/>
                </a:cubicBezTo>
                <a:cubicBezTo>
                  <a:pt x="223" y="4"/>
                  <a:pt x="222" y="4"/>
                  <a:pt x="222" y="4"/>
                </a:cubicBezTo>
                <a:cubicBezTo>
                  <a:pt x="212" y="4"/>
                  <a:pt x="201" y="4"/>
                  <a:pt x="190" y="4"/>
                </a:cubicBezTo>
                <a:cubicBezTo>
                  <a:pt x="180" y="4"/>
                  <a:pt x="169" y="4"/>
                  <a:pt x="158" y="4"/>
                </a:cubicBezTo>
                <a:cubicBezTo>
                  <a:pt x="158" y="4"/>
                  <a:pt x="157" y="4"/>
                  <a:pt x="157" y="4"/>
                </a:cubicBezTo>
                <a:cubicBezTo>
                  <a:pt x="135" y="4"/>
                  <a:pt x="113" y="4"/>
                  <a:pt x="91" y="5"/>
                </a:cubicBezTo>
                <a:cubicBezTo>
                  <a:pt x="80" y="5"/>
                  <a:pt x="69" y="6"/>
                  <a:pt x="58" y="6"/>
                </a:cubicBezTo>
                <a:cubicBezTo>
                  <a:pt x="48" y="6"/>
                  <a:pt x="37" y="7"/>
                  <a:pt x="26" y="8"/>
                </a:cubicBezTo>
                <a:cubicBezTo>
                  <a:pt x="10" y="10"/>
                  <a:pt x="10" y="10"/>
                  <a:pt x="10" y="10"/>
                </a:cubicBezTo>
                <a:cubicBezTo>
                  <a:pt x="6" y="10"/>
                  <a:pt x="6" y="10"/>
                  <a:pt x="6" y="10"/>
                </a:cubicBezTo>
                <a:cubicBezTo>
                  <a:pt x="6" y="10"/>
                  <a:pt x="5" y="10"/>
                  <a:pt x="5" y="10"/>
                </a:cubicBezTo>
                <a:cubicBezTo>
                  <a:pt x="5" y="10"/>
                  <a:pt x="5" y="10"/>
                  <a:pt x="5" y="10"/>
                </a:cubicBezTo>
                <a:cubicBezTo>
                  <a:pt x="4" y="10"/>
                  <a:pt x="4" y="10"/>
                  <a:pt x="4" y="10"/>
                </a:cubicBezTo>
                <a:cubicBezTo>
                  <a:pt x="3" y="10"/>
                  <a:pt x="2" y="10"/>
                  <a:pt x="2" y="10"/>
                </a:cubicBezTo>
                <a:cubicBezTo>
                  <a:pt x="1" y="10"/>
                  <a:pt x="1" y="11"/>
                  <a:pt x="1" y="12"/>
                </a:cubicBezTo>
                <a:cubicBezTo>
                  <a:pt x="0" y="15"/>
                  <a:pt x="2" y="17"/>
                  <a:pt x="4" y="17"/>
                </a:cubicBezTo>
                <a:cubicBezTo>
                  <a:pt x="4" y="17"/>
                  <a:pt x="4" y="17"/>
                  <a:pt x="4" y="17"/>
                </a:cubicBezTo>
                <a:cubicBezTo>
                  <a:pt x="24" y="17"/>
                  <a:pt x="43" y="16"/>
                  <a:pt x="63" y="16"/>
                </a:cubicBezTo>
                <a:cubicBezTo>
                  <a:pt x="65" y="16"/>
                  <a:pt x="67" y="16"/>
                  <a:pt x="70" y="16"/>
                </a:cubicBezTo>
                <a:cubicBezTo>
                  <a:pt x="87" y="16"/>
                  <a:pt x="105" y="16"/>
                  <a:pt x="122" y="17"/>
                </a:cubicBezTo>
                <a:cubicBezTo>
                  <a:pt x="133" y="18"/>
                  <a:pt x="143" y="19"/>
                  <a:pt x="153" y="19"/>
                </a:cubicBezTo>
                <a:cubicBezTo>
                  <a:pt x="183" y="20"/>
                  <a:pt x="183" y="20"/>
                  <a:pt x="183" y="20"/>
                </a:cubicBezTo>
                <a:cubicBezTo>
                  <a:pt x="203" y="20"/>
                  <a:pt x="224" y="21"/>
                  <a:pt x="244" y="22"/>
                </a:cubicBezTo>
                <a:cubicBezTo>
                  <a:pt x="265" y="22"/>
                  <a:pt x="285" y="23"/>
                  <a:pt x="305" y="24"/>
                </a:cubicBezTo>
                <a:cubicBezTo>
                  <a:pt x="336" y="26"/>
                  <a:pt x="336" y="26"/>
                  <a:pt x="336" y="26"/>
                </a:cubicBezTo>
                <a:cubicBezTo>
                  <a:pt x="346" y="26"/>
                  <a:pt x="361" y="28"/>
                  <a:pt x="375" y="28"/>
                </a:cubicBezTo>
                <a:cubicBezTo>
                  <a:pt x="416" y="31"/>
                  <a:pt x="448" y="31"/>
                  <a:pt x="489" y="32"/>
                </a:cubicBezTo>
                <a:cubicBezTo>
                  <a:pt x="530" y="34"/>
                  <a:pt x="571" y="35"/>
                  <a:pt x="612" y="36"/>
                </a:cubicBezTo>
                <a:cubicBezTo>
                  <a:pt x="629" y="36"/>
                  <a:pt x="647" y="36"/>
                  <a:pt x="665" y="36"/>
                </a:cubicBezTo>
                <a:cubicBezTo>
                  <a:pt x="679" y="36"/>
                  <a:pt x="693" y="36"/>
                  <a:pt x="707" y="36"/>
                </a:cubicBezTo>
                <a:cubicBezTo>
                  <a:pt x="750" y="36"/>
                  <a:pt x="750" y="36"/>
                  <a:pt x="750" y="36"/>
                </a:cubicBezTo>
                <a:cubicBezTo>
                  <a:pt x="792" y="35"/>
                  <a:pt x="792" y="35"/>
                  <a:pt x="792" y="35"/>
                </a:cubicBezTo>
                <a:cubicBezTo>
                  <a:pt x="821" y="34"/>
                  <a:pt x="850" y="33"/>
                  <a:pt x="879" y="32"/>
                </a:cubicBezTo>
                <a:cubicBezTo>
                  <a:pt x="921" y="30"/>
                  <a:pt x="921" y="30"/>
                  <a:pt x="921" y="30"/>
                </a:cubicBezTo>
                <a:cubicBezTo>
                  <a:pt x="937" y="30"/>
                  <a:pt x="953" y="29"/>
                  <a:pt x="969" y="27"/>
                </a:cubicBezTo>
                <a:cubicBezTo>
                  <a:pt x="973" y="26"/>
                  <a:pt x="979" y="25"/>
                  <a:pt x="982" y="22"/>
                </a:cubicBezTo>
                <a:cubicBezTo>
                  <a:pt x="984" y="20"/>
                  <a:pt x="986" y="17"/>
                  <a:pt x="987" y="15"/>
                </a:cubicBezTo>
                <a:cubicBezTo>
                  <a:pt x="989" y="13"/>
                  <a:pt x="990" y="10"/>
                  <a:pt x="989" y="8"/>
                </a:cubicBezTo>
                <a:cubicBezTo>
                  <a:pt x="988" y="4"/>
                  <a:pt x="985" y="3"/>
                  <a:pt x="982" y="2"/>
                </a:cubicBezTo>
                <a:cubicBezTo>
                  <a:pt x="975" y="0"/>
                  <a:pt x="968" y="0"/>
                  <a:pt x="962" y="0"/>
                </a:cubicBezTo>
                <a:cubicBezTo>
                  <a:pt x="934" y="0"/>
                  <a:pt x="934" y="0"/>
                  <a:pt x="934" y="0"/>
                </a:cubicBezTo>
                <a:cubicBezTo>
                  <a:pt x="930" y="0"/>
                  <a:pt x="926" y="0"/>
                  <a:pt x="922" y="0"/>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2" name="Content Placeholder 2">
            <a:extLst>
              <a:ext uri="{FF2B5EF4-FFF2-40B4-BE49-F238E27FC236}">
                <a16:creationId xmlns:a16="http://schemas.microsoft.com/office/drawing/2014/main" id="{8A378710-0B40-86B5-B2C6-AF290BD75FB3}"/>
              </a:ext>
            </a:extLst>
          </p:cNvPr>
          <p:cNvSpPr txBox="1">
            <a:spLocks/>
          </p:cNvSpPr>
          <p:nvPr/>
        </p:nvSpPr>
        <p:spPr>
          <a:xfrm>
            <a:off x="401032" y="716399"/>
            <a:ext cx="8510739" cy="1226941"/>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1600" b="1">
                <a:latin typeface="Calibri" panose="020F0502020204030204" pitchFamily="34" charset="0"/>
                <a:cs typeface="Calibri" panose="020F0502020204030204" pitchFamily="34" charset="0"/>
              </a:rPr>
              <a:t>Bước 3</a:t>
            </a:r>
            <a:r>
              <a:rPr lang="en-US" sz="1600">
                <a:latin typeface="Calibri" panose="020F0502020204030204" pitchFamily="34" charset="0"/>
                <a:cs typeface="Calibri" panose="020F0502020204030204" pitchFamily="34" charset="0"/>
              </a:rPr>
              <a:t>: Hoàn thiện biểu đồ</a:t>
            </a:r>
          </a:p>
          <a:p>
            <a:pPr marL="285750" indent="-285750" algn="l">
              <a:buFontTx/>
              <a:buChar char="-"/>
            </a:pPr>
            <a:r>
              <a:rPr lang="en-US" sz="1600" b="1">
                <a:latin typeface="Calibri" panose="020F0502020204030204" pitchFamily="34" charset="0"/>
                <a:cs typeface="Calibri" panose="020F0502020204030204" pitchFamily="34" charset="0"/>
              </a:rPr>
              <a:t>Thêm điểm Marking theo từng ngày: </a:t>
            </a:r>
            <a:r>
              <a:rPr lang="en-US" sz="1600">
                <a:latin typeface="Calibri" panose="020F0502020204030204" pitchFamily="34" charset="0"/>
                <a:cs typeface="Calibri" panose="020F0502020204030204" pitchFamily="34" charset="0"/>
              </a:rPr>
              <a:t>Click đúp chuột vào đường (1) để hiện bảng Format Data Series, chọn lần lượt từ (2) =&gt; (6) để chọn kiểu hiển thị cho điểm Marking. Chọn (7) để thay đổi độ lớn điểm marking và chọn (8) để đổi màu sắc của điểm marking</a:t>
            </a:r>
          </a:p>
          <a:p>
            <a:pPr marL="285750" indent="-285750" algn="l">
              <a:buFontTx/>
              <a:buChar char="-"/>
            </a:pPr>
            <a:endParaRPr lang="en-US" sz="1600" b="1">
              <a:latin typeface="Calibri" panose="020F0502020204030204" pitchFamily="34" charset="0"/>
              <a:cs typeface="Calibri" panose="020F0502020204030204" pitchFamily="34" charset="0"/>
            </a:endParaRPr>
          </a:p>
          <a:p>
            <a:pPr marL="285750" indent="-285750" algn="l">
              <a:buFontTx/>
              <a:buChar char="-"/>
            </a:pPr>
            <a:endParaRPr lang="en-US" sz="1600">
              <a:latin typeface="Calibri" panose="020F0502020204030204" pitchFamily="34" charset="0"/>
              <a:cs typeface="Calibri" panose="020F0502020204030204" pitchFamily="34" charset="0"/>
            </a:endParaRPr>
          </a:p>
        </p:txBody>
      </p:sp>
      <p:sp>
        <p:nvSpPr>
          <p:cNvPr id="12" name="Oval 11">
            <a:extLst>
              <a:ext uri="{FF2B5EF4-FFF2-40B4-BE49-F238E27FC236}">
                <a16:creationId xmlns:a16="http://schemas.microsoft.com/office/drawing/2014/main" id="{EE39C399-697C-FE44-F510-CB4B7E102188}"/>
              </a:ext>
            </a:extLst>
          </p:cNvPr>
          <p:cNvSpPr/>
          <p:nvPr/>
        </p:nvSpPr>
        <p:spPr>
          <a:xfrm>
            <a:off x="892031" y="2559589"/>
            <a:ext cx="328018" cy="328469"/>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1</a:t>
            </a:r>
          </a:p>
        </p:txBody>
      </p:sp>
      <p:sp>
        <p:nvSpPr>
          <p:cNvPr id="13" name="Oval 12">
            <a:extLst>
              <a:ext uri="{FF2B5EF4-FFF2-40B4-BE49-F238E27FC236}">
                <a16:creationId xmlns:a16="http://schemas.microsoft.com/office/drawing/2014/main" id="{6F93BA1C-6FA9-D5A4-7EFA-CB8DF75B6B37}"/>
              </a:ext>
            </a:extLst>
          </p:cNvPr>
          <p:cNvSpPr/>
          <p:nvPr/>
        </p:nvSpPr>
        <p:spPr>
          <a:xfrm>
            <a:off x="7620370" y="2826513"/>
            <a:ext cx="328018" cy="328469"/>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3</a:t>
            </a:r>
          </a:p>
        </p:txBody>
      </p:sp>
      <p:sp>
        <p:nvSpPr>
          <p:cNvPr id="14" name="Oval 13">
            <a:extLst>
              <a:ext uri="{FF2B5EF4-FFF2-40B4-BE49-F238E27FC236}">
                <a16:creationId xmlns:a16="http://schemas.microsoft.com/office/drawing/2014/main" id="{94B5F51D-9593-7C05-BDAD-36A1FF7D96E1}"/>
              </a:ext>
            </a:extLst>
          </p:cNvPr>
          <p:cNvSpPr/>
          <p:nvPr/>
        </p:nvSpPr>
        <p:spPr>
          <a:xfrm>
            <a:off x="6215317" y="2438877"/>
            <a:ext cx="328018" cy="328469"/>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2</a:t>
            </a:r>
          </a:p>
        </p:txBody>
      </p:sp>
      <p:sp>
        <p:nvSpPr>
          <p:cNvPr id="15" name="Oval 14">
            <a:extLst>
              <a:ext uri="{FF2B5EF4-FFF2-40B4-BE49-F238E27FC236}">
                <a16:creationId xmlns:a16="http://schemas.microsoft.com/office/drawing/2014/main" id="{14ECF481-DFD8-39D9-1203-0C72A3BFD07C}"/>
              </a:ext>
            </a:extLst>
          </p:cNvPr>
          <p:cNvSpPr/>
          <p:nvPr/>
        </p:nvSpPr>
        <p:spPr>
          <a:xfrm>
            <a:off x="7535690" y="3200524"/>
            <a:ext cx="328018" cy="328469"/>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4</a:t>
            </a:r>
          </a:p>
        </p:txBody>
      </p:sp>
      <p:sp>
        <p:nvSpPr>
          <p:cNvPr id="10" name="Oval 9">
            <a:extLst>
              <a:ext uri="{FF2B5EF4-FFF2-40B4-BE49-F238E27FC236}">
                <a16:creationId xmlns:a16="http://schemas.microsoft.com/office/drawing/2014/main" id="{B855A108-68F2-4DC4-80D7-FE9AA2C0078B}"/>
              </a:ext>
            </a:extLst>
          </p:cNvPr>
          <p:cNvSpPr/>
          <p:nvPr/>
        </p:nvSpPr>
        <p:spPr>
          <a:xfrm>
            <a:off x="6342907" y="3760031"/>
            <a:ext cx="328018" cy="328469"/>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5</a:t>
            </a:r>
          </a:p>
        </p:txBody>
      </p:sp>
      <p:sp>
        <p:nvSpPr>
          <p:cNvPr id="11" name="Oval 10">
            <a:extLst>
              <a:ext uri="{FF2B5EF4-FFF2-40B4-BE49-F238E27FC236}">
                <a16:creationId xmlns:a16="http://schemas.microsoft.com/office/drawing/2014/main" id="{E04CBB43-6497-8F75-20FE-300908E3B51A}"/>
              </a:ext>
            </a:extLst>
          </p:cNvPr>
          <p:cNvSpPr/>
          <p:nvPr/>
        </p:nvSpPr>
        <p:spPr>
          <a:xfrm>
            <a:off x="7577843" y="3928474"/>
            <a:ext cx="328018" cy="328469"/>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6</a:t>
            </a:r>
          </a:p>
        </p:txBody>
      </p:sp>
      <p:sp>
        <p:nvSpPr>
          <p:cNvPr id="16" name="Oval 15">
            <a:extLst>
              <a:ext uri="{FF2B5EF4-FFF2-40B4-BE49-F238E27FC236}">
                <a16:creationId xmlns:a16="http://schemas.microsoft.com/office/drawing/2014/main" id="{DD846095-5DD1-7F68-AD13-99775185F62F}"/>
              </a:ext>
            </a:extLst>
          </p:cNvPr>
          <p:cNvSpPr/>
          <p:nvPr/>
        </p:nvSpPr>
        <p:spPr>
          <a:xfrm>
            <a:off x="7236050" y="4530262"/>
            <a:ext cx="328018" cy="328469"/>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7</a:t>
            </a:r>
          </a:p>
        </p:txBody>
      </p:sp>
      <p:sp>
        <p:nvSpPr>
          <p:cNvPr id="17" name="Oval 16">
            <a:extLst>
              <a:ext uri="{FF2B5EF4-FFF2-40B4-BE49-F238E27FC236}">
                <a16:creationId xmlns:a16="http://schemas.microsoft.com/office/drawing/2014/main" id="{6BE8421F-C232-0EC6-04FB-8CF51E7302CA}"/>
              </a:ext>
            </a:extLst>
          </p:cNvPr>
          <p:cNvSpPr/>
          <p:nvPr/>
        </p:nvSpPr>
        <p:spPr>
          <a:xfrm>
            <a:off x="7803410" y="6082078"/>
            <a:ext cx="328018" cy="328469"/>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8</a:t>
            </a:r>
          </a:p>
        </p:txBody>
      </p:sp>
      <p:sp>
        <p:nvSpPr>
          <p:cNvPr id="19" name="Rectangle 18">
            <a:extLst>
              <a:ext uri="{FF2B5EF4-FFF2-40B4-BE49-F238E27FC236}">
                <a16:creationId xmlns:a16="http://schemas.microsoft.com/office/drawing/2014/main" id="{55A505FF-2BC5-2D88-5D99-627BC6529618}"/>
              </a:ext>
            </a:extLst>
          </p:cNvPr>
          <p:cNvSpPr/>
          <p:nvPr/>
        </p:nvSpPr>
        <p:spPr>
          <a:xfrm>
            <a:off x="295745" y="40624"/>
            <a:ext cx="8722810" cy="6207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nSpc>
                <a:spcPct val="107000"/>
              </a:lnSpc>
              <a:spcBef>
                <a:spcPts val="0"/>
              </a:spcBef>
              <a:spcAft>
                <a:spcPts val="800"/>
              </a:spcAft>
              <a:tabLst>
                <a:tab pos="457200" algn="l"/>
              </a:tabLst>
            </a:pPr>
            <a:r>
              <a:rPr lang="en-US" sz="2200" b="1">
                <a:solidFill>
                  <a:schemeClr val="tx1"/>
                </a:solidFill>
                <a:effectLst/>
                <a:latin typeface="Calibri" panose="020F0502020204030204" pitchFamily="34" charset="0"/>
                <a:ea typeface="游明朝" panose="02020400000000000000" pitchFamily="18" charset="-128"/>
                <a:cs typeface="Times New Roman" panose="02020603050405020304" pitchFamily="18" charset="0"/>
              </a:rPr>
              <a:t>1. BIỂU ĐỒ </a:t>
            </a:r>
            <a:r>
              <a:rPr lang="en-US" sz="2200" b="1">
                <a:solidFill>
                  <a:schemeClr val="tx1"/>
                </a:solidFill>
                <a:latin typeface="Calibri" panose="020F0502020204030204" pitchFamily="34" charset="0"/>
                <a:ea typeface="游明朝" panose="02020400000000000000" pitchFamily="18" charset="-128"/>
                <a:cs typeface="Times New Roman" panose="02020603050405020304" pitchFamily="18" charset="0"/>
              </a:rPr>
              <a:t>ĐƯỜNG</a:t>
            </a:r>
            <a:endParaRPr lang="en-US" sz="2200">
              <a:solidFill>
                <a:schemeClr val="tx1"/>
              </a:solidFill>
              <a:effectLst/>
              <a:latin typeface="Calibri" panose="020F0502020204030204" pitchFamily="34" charset="0"/>
              <a:ea typeface="游明朝" panose="02020400000000000000" pitchFamily="18" charset="-128"/>
              <a:cs typeface="Times New Roman" panose="02020603050405020304" pitchFamily="18" charset="0"/>
            </a:endParaRPr>
          </a:p>
        </p:txBody>
      </p:sp>
    </p:spTree>
    <p:extLst>
      <p:ext uri="{BB962C8B-B14F-4D97-AF65-F5344CB8AC3E}">
        <p14:creationId xmlns:p14="http://schemas.microsoft.com/office/powerpoint/2010/main" val="34523766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9010564-AF89-6D46-E4EF-217D9E35AD98}"/>
              </a:ext>
            </a:extLst>
          </p:cNvPr>
          <p:cNvPicPr>
            <a:picLocks noChangeAspect="1"/>
          </p:cNvPicPr>
          <p:nvPr/>
        </p:nvPicPr>
        <p:blipFill>
          <a:blip r:embed="rId3"/>
          <a:stretch>
            <a:fillRect/>
          </a:stretch>
        </p:blipFill>
        <p:spPr>
          <a:xfrm>
            <a:off x="122501" y="2395687"/>
            <a:ext cx="8925600" cy="3304761"/>
          </a:xfrm>
          <a:prstGeom prst="rect">
            <a:avLst/>
          </a:prstGeom>
          <a:effectLst>
            <a:glow rad="63500">
              <a:schemeClr val="bg1">
                <a:lumMod val="65000"/>
                <a:alpha val="40000"/>
              </a:schemeClr>
            </a:glow>
          </a:effectLst>
        </p:spPr>
      </p:pic>
      <p:sp>
        <p:nvSpPr>
          <p:cNvPr id="7" name="Slide Number Placeholder 5"/>
          <p:cNvSpPr>
            <a:spLocks noGrp="1"/>
          </p:cNvSpPr>
          <p:nvPr>
            <p:ph type="sldNum" sz="quarter" idx="4"/>
          </p:nvPr>
        </p:nvSpPr>
        <p:spPr>
          <a:prstGeom prst="rect">
            <a:avLst/>
          </a:prstGeom>
        </p:spPr>
        <p:txBody>
          <a:bodyPr vert="horz" lIns="0" tIns="0" rIns="0" bIns="0" rtlCol="0" anchor="ctr" anchorCtr="0"/>
          <a:lstStyle>
            <a:lvl1pPr algn="r">
              <a:defRPr sz="1800">
                <a:solidFill>
                  <a:schemeClr val="tx1"/>
                </a:solidFill>
              </a:defRPr>
            </a:lvl1pPr>
          </a:lstStyle>
          <a:p>
            <a:fld id="{A3381702-59A5-4643-AE93-D7BF7F78153B}" type="slidenum">
              <a:rPr lang="en-GB" smtClean="0"/>
              <a:pPr/>
              <a:t>9</a:t>
            </a:fld>
            <a:endParaRPr lang="en-GB" dirty="0"/>
          </a:p>
        </p:txBody>
      </p:sp>
      <p:sp>
        <p:nvSpPr>
          <p:cNvPr id="8" name="Footer Placeholder 4"/>
          <p:cNvSpPr>
            <a:spLocks noGrp="1"/>
          </p:cNvSpPr>
          <p:nvPr>
            <p:ph type="ftr" sz="quarter" idx="3"/>
          </p:nvPr>
        </p:nvSpPr>
        <p:spPr>
          <a:prstGeom prst="rect">
            <a:avLst/>
          </a:prstGeom>
        </p:spPr>
        <p:txBody>
          <a:bodyPr vert="horz" lIns="0" tIns="0" rIns="0" bIns="0" rtlCol="0" anchor="t" anchorCtr="0"/>
          <a:lstStyle>
            <a:lvl1pPr algn="r">
              <a:defRPr sz="700">
                <a:solidFill>
                  <a:schemeClr val="tx1"/>
                </a:solidFill>
                <a:latin typeface="+mn-lt"/>
              </a:defRPr>
            </a:lvl1pPr>
          </a:lstStyle>
          <a:p>
            <a:r>
              <a:rPr lang="fr-FR" altLang="ja-JP" dirty="0"/>
              <a:t>©20</a:t>
            </a:r>
            <a:r>
              <a:rPr lang="en-US" altLang="ja-JP" dirty="0"/>
              <a:t>23</a:t>
            </a:r>
            <a:r>
              <a:rPr lang="fr-FR" altLang="ja-JP" dirty="0"/>
              <a:t> KYOCERA Document Solutions Inc.</a:t>
            </a:r>
            <a:endParaRPr lang="en-GB" dirty="0"/>
          </a:p>
        </p:txBody>
      </p:sp>
      <p:sp>
        <p:nvSpPr>
          <p:cNvPr id="4" name="Rectangle 3">
            <a:extLst>
              <a:ext uri="{FF2B5EF4-FFF2-40B4-BE49-F238E27FC236}">
                <a16:creationId xmlns:a16="http://schemas.microsoft.com/office/drawing/2014/main" id="{0BAEFD46-8DC5-BB64-F040-FD68EE6A7C2D}"/>
              </a:ext>
            </a:extLst>
          </p:cNvPr>
          <p:cNvSpPr/>
          <p:nvPr/>
        </p:nvSpPr>
        <p:spPr>
          <a:xfrm>
            <a:off x="295745" y="40624"/>
            <a:ext cx="8722810" cy="6207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nSpc>
                <a:spcPct val="107000"/>
              </a:lnSpc>
              <a:spcBef>
                <a:spcPts val="0"/>
              </a:spcBef>
              <a:spcAft>
                <a:spcPts val="800"/>
              </a:spcAft>
              <a:tabLst>
                <a:tab pos="457200" algn="l"/>
              </a:tabLst>
            </a:pPr>
            <a:r>
              <a:rPr lang="en-US" sz="2200" b="1">
                <a:solidFill>
                  <a:schemeClr val="tx1"/>
                </a:solidFill>
                <a:effectLst/>
                <a:latin typeface="Calibri" panose="020F0502020204030204" pitchFamily="34" charset="0"/>
                <a:ea typeface="游明朝" panose="02020400000000000000" pitchFamily="18" charset="-128"/>
                <a:cs typeface="Times New Roman" panose="02020603050405020304" pitchFamily="18" charset="0"/>
              </a:rPr>
              <a:t>1. BIỂU ĐỒ </a:t>
            </a:r>
            <a:r>
              <a:rPr lang="en-US" sz="2200" b="1">
                <a:solidFill>
                  <a:schemeClr val="tx1"/>
                </a:solidFill>
                <a:latin typeface="Calibri" panose="020F0502020204030204" pitchFamily="34" charset="0"/>
                <a:ea typeface="游明朝" panose="02020400000000000000" pitchFamily="18" charset="-128"/>
                <a:cs typeface="Times New Roman" panose="02020603050405020304" pitchFamily="18" charset="0"/>
              </a:rPr>
              <a:t>ĐƯỜNG</a:t>
            </a:r>
            <a:endParaRPr lang="en-US" sz="2200">
              <a:solidFill>
                <a:schemeClr val="tx1"/>
              </a:solidFill>
              <a:effectLst/>
              <a:latin typeface="Calibri" panose="020F0502020204030204" pitchFamily="34" charset="0"/>
              <a:ea typeface="游明朝" panose="02020400000000000000" pitchFamily="18" charset="-128"/>
              <a:cs typeface="Times New Roman" panose="02020603050405020304" pitchFamily="18" charset="0"/>
            </a:endParaRPr>
          </a:p>
        </p:txBody>
      </p:sp>
      <p:sp>
        <p:nvSpPr>
          <p:cNvPr id="6" name="Freeform 34">
            <a:extLst>
              <a:ext uri="{FF2B5EF4-FFF2-40B4-BE49-F238E27FC236}">
                <a16:creationId xmlns:a16="http://schemas.microsoft.com/office/drawing/2014/main" id="{E988D51C-281C-0FC1-508D-073F501DA6DF}"/>
              </a:ext>
            </a:extLst>
          </p:cNvPr>
          <p:cNvSpPr>
            <a:spLocks noChangeAspect="1"/>
          </p:cNvSpPr>
          <p:nvPr/>
        </p:nvSpPr>
        <p:spPr bwMode="auto">
          <a:xfrm rot="10800000" flipV="1">
            <a:off x="509368" y="536909"/>
            <a:ext cx="1655684" cy="47957"/>
          </a:xfrm>
          <a:custGeom>
            <a:avLst/>
            <a:gdLst>
              <a:gd name="T0" fmla="*/ 922 w 990"/>
              <a:gd name="T1" fmla="*/ 0 h 36"/>
              <a:gd name="T2" fmla="*/ 907 w 990"/>
              <a:gd name="T3" fmla="*/ 0 h 36"/>
              <a:gd name="T4" fmla="*/ 880 w 990"/>
              <a:gd name="T5" fmla="*/ 1 h 36"/>
              <a:gd name="T6" fmla="*/ 839 w 990"/>
              <a:gd name="T7" fmla="*/ 3 h 36"/>
              <a:gd name="T8" fmla="*/ 818 w 990"/>
              <a:gd name="T9" fmla="*/ 3 h 36"/>
              <a:gd name="T10" fmla="*/ 798 w 990"/>
              <a:gd name="T11" fmla="*/ 4 h 36"/>
              <a:gd name="T12" fmla="*/ 757 w 990"/>
              <a:gd name="T13" fmla="*/ 5 h 36"/>
              <a:gd name="T14" fmla="*/ 718 w 990"/>
              <a:gd name="T15" fmla="*/ 5 h 36"/>
              <a:gd name="T16" fmla="*/ 662 w 990"/>
              <a:gd name="T17" fmla="*/ 5 h 36"/>
              <a:gd name="T18" fmla="*/ 540 w 990"/>
              <a:gd name="T19" fmla="*/ 4 h 36"/>
              <a:gd name="T20" fmla="*/ 512 w 990"/>
              <a:gd name="T21" fmla="*/ 4 h 36"/>
              <a:gd name="T22" fmla="*/ 511 w 990"/>
              <a:gd name="T23" fmla="*/ 4 h 36"/>
              <a:gd name="T24" fmla="*/ 484 w 990"/>
              <a:gd name="T25" fmla="*/ 5 h 36"/>
              <a:gd name="T26" fmla="*/ 419 w 990"/>
              <a:gd name="T27" fmla="*/ 5 h 36"/>
              <a:gd name="T28" fmla="*/ 353 w 990"/>
              <a:gd name="T29" fmla="*/ 7 h 36"/>
              <a:gd name="T30" fmla="*/ 350 w 990"/>
              <a:gd name="T31" fmla="*/ 7 h 36"/>
              <a:gd name="T32" fmla="*/ 288 w 990"/>
              <a:gd name="T33" fmla="*/ 5 h 36"/>
              <a:gd name="T34" fmla="*/ 265 w 990"/>
              <a:gd name="T35" fmla="*/ 4 h 36"/>
              <a:gd name="T36" fmla="*/ 244 w 990"/>
              <a:gd name="T37" fmla="*/ 4 h 36"/>
              <a:gd name="T38" fmla="*/ 224 w 990"/>
              <a:gd name="T39" fmla="*/ 4 h 36"/>
              <a:gd name="T40" fmla="*/ 223 w 990"/>
              <a:gd name="T41" fmla="*/ 4 h 36"/>
              <a:gd name="T42" fmla="*/ 222 w 990"/>
              <a:gd name="T43" fmla="*/ 4 h 36"/>
              <a:gd name="T44" fmla="*/ 190 w 990"/>
              <a:gd name="T45" fmla="*/ 4 h 36"/>
              <a:gd name="T46" fmla="*/ 158 w 990"/>
              <a:gd name="T47" fmla="*/ 4 h 36"/>
              <a:gd name="T48" fmla="*/ 157 w 990"/>
              <a:gd name="T49" fmla="*/ 4 h 36"/>
              <a:gd name="T50" fmla="*/ 91 w 990"/>
              <a:gd name="T51" fmla="*/ 5 h 36"/>
              <a:gd name="T52" fmla="*/ 58 w 990"/>
              <a:gd name="T53" fmla="*/ 6 h 36"/>
              <a:gd name="T54" fmla="*/ 26 w 990"/>
              <a:gd name="T55" fmla="*/ 8 h 36"/>
              <a:gd name="T56" fmla="*/ 10 w 990"/>
              <a:gd name="T57" fmla="*/ 10 h 36"/>
              <a:gd name="T58" fmla="*/ 6 w 990"/>
              <a:gd name="T59" fmla="*/ 10 h 36"/>
              <a:gd name="T60" fmla="*/ 5 w 990"/>
              <a:gd name="T61" fmla="*/ 10 h 36"/>
              <a:gd name="T62" fmla="*/ 5 w 990"/>
              <a:gd name="T63" fmla="*/ 10 h 36"/>
              <a:gd name="T64" fmla="*/ 4 w 990"/>
              <a:gd name="T65" fmla="*/ 10 h 36"/>
              <a:gd name="T66" fmla="*/ 2 w 990"/>
              <a:gd name="T67" fmla="*/ 10 h 36"/>
              <a:gd name="T68" fmla="*/ 1 w 990"/>
              <a:gd name="T69" fmla="*/ 12 h 36"/>
              <a:gd name="T70" fmla="*/ 4 w 990"/>
              <a:gd name="T71" fmla="*/ 17 h 36"/>
              <a:gd name="T72" fmla="*/ 4 w 990"/>
              <a:gd name="T73" fmla="*/ 17 h 36"/>
              <a:gd name="T74" fmla="*/ 63 w 990"/>
              <a:gd name="T75" fmla="*/ 16 h 36"/>
              <a:gd name="T76" fmla="*/ 70 w 990"/>
              <a:gd name="T77" fmla="*/ 16 h 36"/>
              <a:gd name="T78" fmla="*/ 122 w 990"/>
              <a:gd name="T79" fmla="*/ 17 h 36"/>
              <a:gd name="T80" fmla="*/ 153 w 990"/>
              <a:gd name="T81" fmla="*/ 19 h 36"/>
              <a:gd name="T82" fmla="*/ 183 w 990"/>
              <a:gd name="T83" fmla="*/ 20 h 36"/>
              <a:gd name="T84" fmla="*/ 244 w 990"/>
              <a:gd name="T85" fmla="*/ 22 h 36"/>
              <a:gd name="T86" fmla="*/ 305 w 990"/>
              <a:gd name="T87" fmla="*/ 24 h 36"/>
              <a:gd name="T88" fmla="*/ 336 w 990"/>
              <a:gd name="T89" fmla="*/ 26 h 36"/>
              <a:gd name="T90" fmla="*/ 375 w 990"/>
              <a:gd name="T91" fmla="*/ 28 h 36"/>
              <a:gd name="T92" fmla="*/ 489 w 990"/>
              <a:gd name="T93" fmla="*/ 32 h 36"/>
              <a:gd name="T94" fmla="*/ 612 w 990"/>
              <a:gd name="T95" fmla="*/ 36 h 36"/>
              <a:gd name="T96" fmla="*/ 665 w 990"/>
              <a:gd name="T97" fmla="*/ 36 h 36"/>
              <a:gd name="T98" fmla="*/ 707 w 990"/>
              <a:gd name="T99" fmla="*/ 36 h 36"/>
              <a:gd name="T100" fmla="*/ 750 w 990"/>
              <a:gd name="T101" fmla="*/ 36 h 36"/>
              <a:gd name="T102" fmla="*/ 792 w 990"/>
              <a:gd name="T103" fmla="*/ 35 h 36"/>
              <a:gd name="T104" fmla="*/ 879 w 990"/>
              <a:gd name="T105" fmla="*/ 32 h 36"/>
              <a:gd name="T106" fmla="*/ 921 w 990"/>
              <a:gd name="T107" fmla="*/ 30 h 36"/>
              <a:gd name="T108" fmla="*/ 969 w 990"/>
              <a:gd name="T109" fmla="*/ 27 h 36"/>
              <a:gd name="T110" fmla="*/ 982 w 990"/>
              <a:gd name="T111" fmla="*/ 22 h 36"/>
              <a:gd name="T112" fmla="*/ 987 w 990"/>
              <a:gd name="T113" fmla="*/ 15 h 36"/>
              <a:gd name="T114" fmla="*/ 989 w 990"/>
              <a:gd name="T115" fmla="*/ 8 h 36"/>
              <a:gd name="T116" fmla="*/ 982 w 990"/>
              <a:gd name="T117" fmla="*/ 2 h 36"/>
              <a:gd name="T118" fmla="*/ 962 w 990"/>
              <a:gd name="T119" fmla="*/ 0 h 36"/>
              <a:gd name="T120" fmla="*/ 934 w 990"/>
              <a:gd name="T121" fmla="*/ 0 h 36"/>
              <a:gd name="T122" fmla="*/ 922 w 990"/>
              <a:gd name="T1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0" h="36">
                <a:moveTo>
                  <a:pt x="922" y="0"/>
                </a:moveTo>
                <a:cubicBezTo>
                  <a:pt x="917" y="0"/>
                  <a:pt x="912" y="0"/>
                  <a:pt x="907" y="0"/>
                </a:cubicBezTo>
                <a:cubicBezTo>
                  <a:pt x="898" y="0"/>
                  <a:pt x="889" y="1"/>
                  <a:pt x="880" y="1"/>
                </a:cubicBezTo>
                <a:cubicBezTo>
                  <a:pt x="839" y="3"/>
                  <a:pt x="839" y="3"/>
                  <a:pt x="839" y="3"/>
                </a:cubicBezTo>
                <a:cubicBezTo>
                  <a:pt x="818" y="3"/>
                  <a:pt x="818" y="3"/>
                  <a:pt x="818" y="3"/>
                </a:cubicBezTo>
                <a:cubicBezTo>
                  <a:pt x="798" y="4"/>
                  <a:pt x="798" y="4"/>
                  <a:pt x="798" y="4"/>
                </a:cubicBezTo>
                <a:cubicBezTo>
                  <a:pt x="757" y="5"/>
                  <a:pt x="757" y="5"/>
                  <a:pt x="757" y="5"/>
                </a:cubicBezTo>
                <a:cubicBezTo>
                  <a:pt x="744" y="5"/>
                  <a:pt x="731" y="5"/>
                  <a:pt x="718" y="5"/>
                </a:cubicBezTo>
                <a:cubicBezTo>
                  <a:pt x="699" y="5"/>
                  <a:pt x="681" y="5"/>
                  <a:pt x="662" y="5"/>
                </a:cubicBezTo>
                <a:cubicBezTo>
                  <a:pt x="540" y="4"/>
                  <a:pt x="540" y="4"/>
                  <a:pt x="540" y="4"/>
                </a:cubicBezTo>
                <a:cubicBezTo>
                  <a:pt x="512" y="4"/>
                  <a:pt x="512" y="4"/>
                  <a:pt x="512" y="4"/>
                </a:cubicBezTo>
                <a:cubicBezTo>
                  <a:pt x="512" y="4"/>
                  <a:pt x="511" y="4"/>
                  <a:pt x="511" y="4"/>
                </a:cubicBezTo>
                <a:cubicBezTo>
                  <a:pt x="502" y="4"/>
                  <a:pt x="493" y="4"/>
                  <a:pt x="484" y="5"/>
                </a:cubicBezTo>
                <a:cubicBezTo>
                  <a:pt x="462" y="5"/>
                  <a:pt x="441" y="5"/>
                  <a:pt x="419" y="5"/>
                </a:cubicBezTo>
                <a:cubicBezTo>
                  <a:pt x="397" y="6"/>
                  <a:pt x="375" y="7"/>
                  <a:pt x="353" y="7"/>
                </a:cubicBezTo>
                <a:cubicBezTo>
                  <a:pt x="352" y="7"/>
                  <a:pt x="351" y="7"/>
                  <a:pt x="350" y="7"/>
                </a:cubicBezTo>
                <a:cubicBezTo>
                  <a:pt x="330" y="7"/>
                  <a:pt x="309" y="5"/>
                  <a:pt x="288" y="5"/>
                </a:cubicBezTo>
                <a:cubicBezTo>
                  <a:pt x="280" y="4"/>
                  <a:pt x="272" y="4"/>
                  <a:pt x="265" y="4"/>
                </a:cubicBezTo>
                <a:cubicBezTo>
                  <a:pt x="258" y="4"/>
                  <a:pt x="251" y="4"/>
                  <a:pt x="244" y="4"/>
                </a:cubicBezTo>
                <a:cubicBezTo>
                  <a:pt x="237" y="4"/>
                  <a:pt x="230" y="4"/>
                  <a:pt x="224" y="4"/>
                </a:cubicBezTo>
                <a:cubicBezTo>
                  <a:pt x="223" y="4"/>
                  <a:pt x="223" y="4"/>
                  <a:pt x="223" y="4"/>
                </a:cubicBezTo>
                <a:cubicBezTo>
                  <a:pt x="223" y="4"/>
                  <a:pt x="222" y="4"/>
                  <a:pt x="222" y="4"/>
                </a:cubicBezTo>
                <a:cubicBezTo>
                  <a:pt x="212" y="4"/>
                  <a:pt x="201" y="4"/>
                  <a:pt x="190" y="4"/>
                </a:cubicBezTo>
                <a:cubicBezTo>
                  <a:pt x="180" y="4"/>
                  <a:pt x="169" y="4"/>
                  <a:pt x="158" y="4"/>
                </a:cubicBezTo>
                <a:cubicBezTo>
                  <a:pt x="158" y="4"/>
                  <a:pt x="157" y="4"/>
                  <a:pt x="157" y="4"/>
                </a:cubicBezTo>
                <a:cubicBezTo>
                  <a:pt x="135" y="4"/>
                  <a:pt x="113" y="4"/>
                  <a:pt x="91" y="5"/>
                </a:cubicBezTo>
                <a:cubicBezTo>
                  <a:pt x="80" y="5"/>
                  <a:pt x="69" y="6"/>
                  <a:pt x="58" y="6"/>
                </a:cubicBezTo>
                <a:cubicBezTo>
                  <a:pt x="48" y="6"/>
                  <a:pt x="37" y="7"/>
                  <a:pt x="26" y="8"/>
                </a:cubicBezTo>
                <a:cubicBezTo>
                  <a:pt x="10" y="10"/>
                  <a:pt x="10" y="10"/>
                  <a:pt x="10" y="10"/>
                </a:cubicBezTo>
                <a:cubicBezTo>
                  <a:pt x="6" y="10"/>
                  <a:pt x="6" y="10"/>
                  <a:pt x="6" y="10"/>
                </a:cubicBezTo>
                <a:cubicBezTo>
                  <a:pt x="6" y="10"/>
                  <a:pt x="5" y="10"/>
                  <a:pt x="5" y="10"/>
                </a:cubicBezTo>
                <a:cubicBezTo>
                  <a:pt x="5" y="10"/>
                  <a:pt x="5" y="10"/>
                  <a:pt x="5" y="10"/>
                </a:cubicBezTo>
                <a:cubicBezTo>
                  <a:pt x="4" y="10"/>
                  <a:pt x="4" y="10"/>
                  <a:pt x="4" y="10"/>
                </a:cubicBezTo>
                <a:cubicBezTo>
                  <a:pt x="3" y="10"/>
                  <a:pt x="2" y="10"/>
                  <a:pt x="2" y="10"/>
                </a:cubicBezTo>
                <a:cubicBezTo>
                  <a:pt x="1" y="10"/>
                  <a:pt x="1" y="11"/>
                  <a:pt x="1" y="12"/>
                </a:cubicBezTo>
                <a:cubicBezTo>
                  <a:pt x="0" y="15"/>
                  <a:pt x="2" y="17"/>
                  <a:pt x="4" y="17"/>
                </a:cubicBezTo>
                <a:cubicBezTo>
                  <a:pt x="4" y="17"/>
                  <a:pt x="4" y="17"/>
                  <a:pt x="4" y="17"/>
                </a:cubicBezTo>
                <a:cubicBezTo>
                  <a:pt x="24" y="17"/>
                  <a:pt x="43" y="16"/>
                  <a:pt x="63" y="16"/>
                </a:cubicBezTo>
                <a:cubicBezTo>
                  <a:pt x="65" y="16"/>
                  <a:pt x="67" y="16"/>
                  <a:pt x="70" y="16"/>
                </a:cubicBezTo>
                <a:cubicBezTo>
                  <a:pt x="87" y="16"/>
                  <a:pt x="105" y="16"/>
                  <a:pt x="122" y="17"/>
                </a:cubicBezTo>
                <a:cubicBezTo>
                  <a:pt x="133" y="18"/>
                  <a:pt x="143" y="19"/>
                  <a:pt x="153" y="19"/>
                </a:cubicBezTo>
                <a:cubicBezTo>
                  <a:pt x="183" y="20"/>
                  <a:pt x="183" y="20"/>
                  <a:pt x="183" y="20"/>
                </a:cubicBezTo>
                <a:cubicBezTo>
                  <a:pt x="203" y="20"/>
                  <a:pt x="224" y="21"/>
                  <a:pt x="244" y="22"/>
                </a:cubicBezTo>
                <a:cubicBezTo>
                  <a:pt x="265" y="22"/>
                  <a:pt x="285" y="23"/>
                  <a:pt x="305" y="24"/>
                </a:cubicBezTo>
                <a:cubicBezTo>
                  <a:pt x="336" y="26"/>
                  <a:pt x="336" y="26"/>
                  <a:pt x="336" y="26"/>
                </a:cubicBezTo>
                <a:cubicBezTo>
                  <a:pt x="346" y="26"/>
                  <a:pt x="361" y="28"/>
                  <a:pt x="375" y="28"/>
                </a:cubicBezTo>
                <a:cubicBezTo>
                  <a:pt x="416" y="31"/>
                  <a:pt x="448" y="31"/>
                  <a:pt x="489" y="32"/>
                </a:cubicBezTo>
                <a:cubicBezTo>
                  <a:pt x="530" y="34"/>
                  <a:pt x="571" y="35"/>
                  <a:pt x="612" y="36"/>
                </a:cubicBezTo>
                <a:cubicBezTo>
                  <a:pt x="629" y="36"/>
                  <a:pt x="647" y="36"/>
                  <a:pt x="665" y="36"/>
                </a:cubicBezTo>
                <a:cubicBezTo>
                  <a:pt x="679" y="36"/>
                  <a:pt x="693" y="36"/>
                  <a:pt x="707" y="36"/>
                </a:cubicBezTo>
                <a:cubicBezTo>
                  <a:pt x="750" y="36"/>
                  <a:pt x="750" y="36"/>
                  <a:pt x="750" y="36"/>
                </a:cubicBezTo>
                <a:cubicBezTo>
                  <a:pt x="792" y="35"/>
                  <a:pt x="792" y="35"/>
                  <a:pt x="792" y="35"/>
                </a:cubicBezTo>
                <a:cubicBezTo>
                  <a:pt x="821" y="34"/>
                  <a:pt x="850" y="33"/>
                  <a:pt x="879" y="32"/>
                </a:cubicBezTo>
                <a:cubicBezTo>
                  <a:pt x="921" y="30"/>
                  <a:pt x="921" y="30"/>
                  <a:pt x="921" y="30"/>
                </a:cubicBezTo>
                <a:cubicBezTo>
                  <a:pt x="937" y="30"/>
                  <a:pt x="953" y="29"/>
                  <a:pt x="969" y="27"/>
                </a:cubicBezTo>
                <a:cubicBezTo>
                  <a:pt x="973" y="26"/>
                  <a:pt x="979" y="25"/>
                  <a:pt x="982" y="22"/>
                </a:cubicBezTo>
                <a:cubicBezTo>
                  <a:pt x="984" y="20"/>
                  <a:pt x="986" y="17"/>
                  <a:pt x="987" y="15"/>
                </a:cubicBezTo>
                <a:cubicBezTo>
                  <a:pt x="989" y="13"/>
                  <a:pt x="990" y="10"/>
                  <a:pt x="989" y="8"/>
                </a:cubicBezTo>
                <a:cubicBezTo>
                  <a:pt x="988" y="4"/>
                  <a:pt x="985" y="3"/>
                  <a:pt x="982" y="2"/>
                </a:cubicBezTo>
                <a:cubicBezTo>
                  <a:pt x="975" y="0"/>
                  <a:pt x="968" y="0"/>
                  <a:pt x="962" y="0"/>
                </a:cubicBezTo>
                <a:cubicBezTo>
                  <a:pt x="934" y="0"/>
                  <a:pt x="934" y="0"/>
                  <a:pt x="934" y="0"/>
                </a:cubicBezTo>
                <a:cubicBezTo>
                  <a:pt x="930" y="0"/>
                  <a:pt x="926" y="0"/>
                  <a:pt x="922" y="0"/>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2" name="Content Placeholder 2">
            <a:extLst>
              <a:ext uri="{FF2B5EF4-FFF2-40B4-BE49-F238E27FC236}">
                <a16:creationId xmlns:a16="http://schemas.microsoft.com/office/drawing/2014/main" id="{8A378710-0B40-86B5-B2C6-AF290BD75FB3}"/>
              </a:ext>
            </a:extLst>
          </p:cNvPr>
          <p:cNvSpPr txBox="1">
            <a:spLocks/>
          </p:cNvSpPr>
          <p:nvPr/>
        </p:nvSpPr>
        <p:spPr>
          <a:xfrm>
            <a:off x="401032" y="716399"/>
            <a:ext cx="8510739" cy="1226941"/>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1600" b="1">
                <a:latin typeface="Calibri" panose="020F0502020204030204" pitchFamily="34" charset="0"/>
                <a:cs typeface="Calibri" panose="020F0502020204030204" pitchFamily="34" charset="0"/>
              </a:rPr>
              <a:t>Bước 3</a:t>
            </a:r>
            <a:r>
              <a:rPr lang="en-US" sz="1600">
                <a:latin typeface="Calibri" panose="020F0502020204030204" pitchFamily="34" charset="0"/>
                <a:cs typeface="Calibri" panose="020F0502020204030204" pitchFamily="34" charset="0"/>
              </a:rPr>
              <a:t>: Hoàn thiện biểu đồ</a:t>
            </a:r>
          </a:p>
          <a:p>
            <a:pPr marL="285750" indent="-285750" algn="l">
              <a:buFontTx/>
              <a:buChar char="-"/>
            </a:pPr>
            <a:r>
              <a:rPr lang="en-US" sz="1600" b="1">
                <a:latin typeface="Calibri" panose="020F0502020204030204" pitchFamily="34" charset="0"/>
                <a:cs typeface="Calibri" panose="020F0502020204030204" pitchFamily="34" charset="0"/>
              </a:rPr>
              <a:t>Thay đổi màu sắc, độ lớn cho đường: </a:t>
            </a:r>
            <a:r>
              <a:rPr lang="en-US" sz="1600">
                <a:latin typeface="Calibri" panose="020F0502020204030204" pitchFamily="34" charset="0"/>
                <a:cs typeface="Calibri" panose="020F0502020204030204" pitchFamily="34" charset="0"/>
              </a:rPr>
              <a:t>Click đúp chuột vào đường (1) để hiện bảng Format Data Series, chọn (2) để hiển thị các lựa chọn cho đường. Chọn (3) để thay đổi màu sắc cho đường, chọn (4) để thay đổi độ dày của đường</a:t>
            </a:r>
          </a:p>
          <a:p>
            <a:pPr marL="285750" indent="-285750" algn="l">
              <a:buFontTx/>
              <a:buChar char="-"/>
            </a:pPr>
            <a:endParaRPr lang="en-US" sz="1600" b="1">
              <a:latin typeface="Calibri" panose="020F0502020204030204" pitchFamily="34" charset="0"/>
              <a:cs typeface="Calibri" panose="020F0502020204030204" pitchFamily="34" charset="0"/>
            </a:endParaRPr>
          </a:p>
          <a:p>
            <a:pPr marL="285750" indent="-285750" algn="l">
              <a:buFontTx/>
              <a:buChar char="-"/>
            </a:pPr>
            <a:endParaRPr lang="en-US" sz="1600">
              <a:latin typeface="Calibri" panose="020F0502020204030204" pitchFamily="34" charset="0"/>
              <a:cs typeface="Calibri" panose="020F0502020204030204" pitchFamily="34" charset="0"/>
            </a:endParaRPr>
          </a:p>
        </p:txBody>
      </p:sp>
      <p:sp>
        <p:nvSpPr>
          <p:cNvPr id="12" name="Oval 11">
            <a:extLst>
              <a:ext uri="{FF2B5EF4-FFF2-40B4-BE49-F238E27FC236}">
                <a16:creationId xmlns:a16="http://schemas.microsoft.com/office/drawing/2014/main" id="{EE39C399-697C-FE44-F510-CB4B7E102188}"/>
              </a:ext>
            </a:extLst>
          </p:cNvPr>
          <p:cNvSpPr/>
          <p:nvPr/>
        </p:nvSpPr>
        <p:spPr>
          <a:xfrm>
            <a:off x="765031" y="3016912"/>
            <a:ext cx="328018" cy="328469"/>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1</a:t>
            </a:r>
          </a:p>
        </p:txBody>
      </p:sp>
      <p:sp>
        <p:nvSpPr>
          <p:cNvPr id="13" name="Oval 12">
            <a:extLst>
              <a:ext uri="{FF2B5EF4-FFF2-40B4-BE49-F238E27FC236}">
                <a16:creationId xmlns:a16="http://schemas.microsoft.com/office/drawing/2014/main" id="{6F93BA1C-6FA9-D5A4-7EFA-CB8DF75B6B37}"/>
              </a:ext>
            </a:extLst>
          </p:cNvPr>
          <p:cNvSpPr/>
          <p:nvPr/>
        </p:nvSpPr>
        <p:spPr>
          <a:xfrm>
            <a:off x="8478783" y="4591813"/>
            <a:ext cx="328018" cy="328469"/>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3</a:t>
            </a:r>
          </a:p>
        </p:txBody>
      </p:sp>
      <p:sp>
        <p:nvSpPr>
          <p:cNvPr id="14" name="Oval 13">
            <a:extLst>
              <a:ext uri="{FF2B5EF4-FFF2-40B4-BE49-F238E27FC236}">
                <a16:creationId xmlns:a16="http://schemas.microsoft.com/office/drawing/2014/main" id="{94B5F51D-9593-7C05-BDAD-36A1FF7D96E1}"/>
              </a:ext>
            </a:extLst>
          </p:cNvPr>
          <p:cNvSpPr/>
          <p:nvPr/>
        </p:nvSpPr>
        <p:spPr>
          <a:xfrm>
            <a:off x="6481516" y="2979215"/>
            <a:ext cx="328018" cy="328469"/>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2</a:t>
            </a:r>
          </a:p>
        </p:txBody>
      </p:sp>
      <p:sp>
        <p:nvSpPr>
          <p:cNvPr id="15" name="Oval 14">
            <a:extLst>
              <a:ext uri="{FF2B5EF4-FFF2-40B4-BE49-F238E27FC236}">
                <a16:creationId xmlns:a16="http://schemas.microsoft.com/office/drawing/2014/main" id="{14ECF481-DFD8-39D9-1203-0C72A3BFD07C}"/>
              </a:ext>
            </a:extLst>
          </p:cNvPr>
          <p:cNvSpPr/>
          <p:nvPr/>
        </p:nvSpPr>
        <p:spPr>
          <a:xfrm>
            <a:off x="7909465" y="5452843"/>
            <a:ext cx="328018" cy="328469"/>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4</a:t>
            </a:r>
          </a:p>
        </p:txBody>
      </p:sp>
    </p:spTree>
    <p:extLst>
      <p:ext uri="{BB962C8B-B14F-4D97-AF65-F5344CB8AC3E}">
        <p14:creationId xmlns:p14="http://schemas.microsoft.com/office/powerpoint/2010/main" val="26660151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084E703-26C5-5E54-EC89-D228F4048224}"/>
              </a:ext>
            </a:extLst>
          </p:cNvPr>
          <p:cNvPicPr>
            <a:picLocks noChangeAspect="1"/>
          </p:cNvPicPr>
          <p:nvPr/>
        </p:nvPicPr>
        <p:blipFill>
          <a:blip r:embed="rId3"/>
          <a:stretch>
            <a:fillRect/>
          </a:stretch>
        </p:blipFill>
        <p:spPr>
          <a:xfrm>
            <a:off x="1682203" y="1802668"/>
            <a:ext cx="5451575" cy="4518423"/>
          </a:xfrm>
          <a:prstGeom prst="rect">
            <a:avLst/>
          </a:prstGeom>
          <a:effectLst>
            <a:glow rad="63500">
              <a:schemeClr val="bg1">
                <a:lumMod val="65000"/>
                <a:alpha val="40000"/>
              </a:schemeClr>
            </a:glow>
          </a:effectLst>
        </p:spPr>
      </p:pic>
      <p:sp>
        <p:nvSpPr>
          <p:cNvPr id="7" name="Slide Number Placeholder 5"/>
          <p:cNvSpPr>
            <a:spLocks noGrp="1"/>
          </p:cNvSpPr>
          <p:nvPr>
            <p:ph type="sldNum" sz="quarter" idx="4"/>
          </p:nvPr>
        </p:nvSpPr>
        <p:spPr>
          <a:prstGeom prst="rect">
            <a:avLst/>
          </a:prstGeom>
        </p:spPr>
        <p:txBody>
          <a:bodyPr vert="horz" lIns="0" tIns="0" rIns="0" bIns="0" rtlCol="0" anchor="ctr" anchorCtr="0"/>
          <a:lstStyle>
            <a:lvl1pPr algn="r">
              <a:defRPr sz="1800">
                <a:solidFill>
                  <a:schemeClr val="tx1"/>
                </a:solidFill>
              </a:defRPr>
            </a:lvl1pPr>
          </a:lstStyle>
          <a:p>
            <a:fld id="{A3381702-59A5-4643-AE93-D7BF7F78153B}" type="slidenum">
              <a:rPr lang="en-GB" smtClean="0"/>
              <a:pPr/>
              <a:t>10</a:t>
            </a:fld>
            <a:endParaRPr lang="en-GB" dirty="0"/>
          </a:p>
        </p:txBody>
      </p:sp>
      <p:sp>
        <p:nvSpPr>
          <p:cNvPr id="8" name="Footer Placeholder 4"/>
          <p:cNvSpPr>
            <a:spLocks noGrp="1"/>
          </p:cNvSpPr>
          <p:nvPr>
            <p:ph type="ftr" sz="quarter" idx="3"/>
          </p:nvPr>
        </p:nvSpPr>
        <p:spPr>
          <a:prstGeom prst="rect">
            <a:avLst/>
          </a:prstGeom>
        </p:spPr>
        <p:txBody>
          <a:bodyPr vert="horz" lIns="0" tIns="0" rIns="0" bIns="0" rtlCol="0" anchor="t" anchorCtr="0"/>
          <a:lstStyle>
            <a:lvl1pPr algn="r">
              <a:defRPr sz="700">
                <a:solidFill>
                  <a:schemeClr val="tx1"/>
                </a:solidFill>
                <a:latin typeface="+mn-lt"/>
              </a:defRPr>
            </a:lvl1pPr>
          </a:lstStyle>
          <a:p>
            <a:r>
              <a:rPr lang="fr-FR" altLang="ja-JP" dirty="0"/>
              <a:t>©20</a:t>
            </a:r>
            <a:r>
              <a:rPr lang="en-US" altLang="ja-JP" dirty="0"/>
              <a:t>23</a:t>
            </a:r>
            <a:r>
              <a:rPr lang="fr-FR" altLang="ja-JP" dirty="0"/>
              <a:t> KYOCERA Document Solutions Inc.</a:t>
            </a:r>
            <a:endParaRPr lang="en-GB" dirty="0"/>
          </a:p>
        </p:txBody>
      </p:sp>
      <p:sp>
        <p:nvSpPr>
          <p:cNvPr id="4" name="Rectangle 3">
            <a:extLst>
              <a:ext uri="{FF2B5EF4-FFF2-40B4-BE49-F238E27FC236}">
                <a16:creationId xmlns:a16="http://schemas.microsoft.com/office/drawing/2014/main" id="{0BAEFD46-8DC5-BB64-F040-FD68EE6A7C2D}"/>
              </a:ext>
            </a:extLst>
          </p:cNvPr>
          <p:cNvSpPr/>
          <p:nvPr/>
        </p:nvSpPr>
        <p:spPr>
          <a:xfrm>
            <a:off x="295745" y="40624"/>
            <a:ext cx="8722810" cy="6207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nSpc>
                <a:spcPct val="107000"/>
              </a:lnSpc>
              <a:spcBef>
                <a:spcPts val="0"/>
              </a:spcBef>
              <a:spcAft>
                <a:spcPts val="800"/>
              </a:spcAft>
              <a:tabLst>
                <a:tab pos="457200" algn="l"/>
              </a:tabLst>
            </a:pPr>
            <a:r>
              <a:rPr lang="en-US" sz="2200" b="1">
                <a:solidFill>
                  <a:schemeClr val="tx1"/>
                </a:solidFill>
                <a:effectLst/>
                <a:latin typeface="Calibri" panose="020F0502020204030204" pitchFamily="34" charset="0"/>
                <a:ea typeface="游明朝" panose="02020400000000000000" pitchFamily="18" charset="-128"/>
                <a:cs typeface="Times New Roman" panose="02020603050405020304" pitchFamily="18" charset="0"/>
              </a:rPr>
              <a:t>1. BIỂU ĐỒ </a:t>
            </a:r>
            <a:r>
              <a:rPr lang="en-US" sz="2200" b="1">
                <a:solidFill>
                  <a:schemeClr val="tx1"/>
                </a:solidFill>
                <a:latin typeface="Calibri" panose="020F0502020204030204" pitchFamily="34" charset="0"/>
                <a:ea typeface="游明朝" panose="02020400000000000000" pitchFamily="18" charset="-128"/>
                <a:cs typeface="Times New Roman" panose="02020603050405020304" pitchFamily="18" charset="0"/>
              </a:rPr>
              <a:t>ĐƯỜNG</a:t>
            </a:r>
            <a:endParaRPr lang="en-US" sz="2200">
              <a:solidFill>
                <a:schemeClr val="tx1"/>
              </a:solidFill>
              <a:effectLst/>
              <a:latin typeface="Calibri" panose="020F0502020204030204" pitchFamily="34" charset="0"/>
              <a:ea typeface="游明朝" panose="02020400000000000000" pitchFamily="18" charset="-128"/>
              <a:cs typeface="Times New Roman" panose="02020603050405020304" pitchFamily="18" charset="0"/>
            </a:endParaRPr>
          </a:p>
        </p:txBody>
      </p:sp>
      <p:sp>
        <p:nvSpPr>
          <p:cNvPr id="6" name="Freeform 34">
            <a:extLst>
              <a:ext uri="{FF2B5EF4-FFF2-40B4-BE49-F238E27FC236}">
                <a16:creationId xmlns:a16="http://schemas.microsoft.com/office/drawing/2014/main" id="{E988D51C-281C-0FC1-508D-073F501DA6DF}"/>
              </a:ext>
            </a:extLst>
          </p:cNvPr>
          <p:cNvSpPr>
            <a:spLocks noChangeAspect="1"/>
          </p:cNvSpPr>
          <p:nvPr/>
        </p:nvSpPr>
        <p:spPr bwMode="auto">
          <a:xfrm rot="10800000" flipV="1">
            <a:off x="509368" y="536909"/>
            <a:ext cx="1655684" cy="47957"/>
          </a:xfrm>
          <a:custGeom>
            <a:avLst/>
            <a:gdLst>
              <a:gd name="T0" fmla="*/ 922 w 990"/>
              <a:gd name="T1" fmla="*/ 0 h 36"/>
              <a:gd name="T2" fmla="*/ 907 w 990"/>
              <a:gd name="T3" fmla="*/ 0 h 36"/>
              <a:gd name="T4" fmla="*/ 880 w 990"/>
              <a:gd name="T5" fmla="*/ 1 h 36"/>
              <a:gd name="T6" fmla="*/ 839 w 990"/>
              <a:gd name="T7" fmla="*/ 3 h 36"/>
              <a:gd name="T8" fmla="*/ 818 w 990"/>
              <a:gd name="T9" fmla="*/ 3 h 36"/>
              <a:gd name="T10" fmla="*/ 798 w 990"/>
              <a:gd name="T11" fmla="*/ 4 h 36"/>
              <a:gd name="T12" fmla="*/ 757 w 990"/>
              <a:gd name="T13" fmla="*/ 5 h 36"/>
              <a:gd name="T14" fmla="*/ 718 w 990"/>
              <a:gd name="T15" fmla="*/ 5 h 36"/>
              <a:gd name="T16" fmla="*/ 662 w 990"/>
              <a:gd name="T17" fmla="*/ 5 h 36"/>
              <a:gd name="T18" fmla="*/ 540 w 990"/>
              <a:gd name="T19" fmla="*/ 4 h 36"/>
              <a:gd name="T20" fmla="*/ 512 w 990"/>
              <a:gd name="T21" fmla="*/ 4 h 36"/>
              <a:gd name="T22" fmla="*/ 511 w 990"/>
              <a:gd name="T23" fmla="*/ 4 h 36"/>
              <a:gd name="T24" fmla="*/ 484 w 990"/>
              <a:gd name="T25" fmla="*/ 5 h 36"/>
              <a:gd name="T26" fmla="*/ 419 w 990"/>
              <a:gd name="T27" fmla="*/ 5 h 36"/>
              <a:gd name="T28" fmla="*/ 353 w 990"/>
              <a:gd name="T29" fmla="*/ 7 h 36"/>
              <a:gd name="T30" fmla="*/ 350 w 990"/>
              <a:gd name="T31" fmla="*/ 7 h 36"/>
              <a:gd name="T32" fmla="*/ 288 w 990"/>
              <a:gd name="T33" fmla="*/ 5 h 36"/>
              <a:gd name="T34" fmla="*/ 265 w 990"/>
              <a:gd name="T35" fmla="*/ 4 h 36"/>
              <a:gd name="T36" fmla="*/ 244 w 990"/>
              <a:gd name="T37" fmla="*/ 4 h 36"/>
              <a:gd name="T38" fmla="*/ 224 w 990"/>
              <a:gd name="T39" fmla="*/ 4 h 36"/>
              <a:gd name="T40" fmla="*/ 223 w 990"/>
              <a:gd name="T41" fmla="*/ 4 h 36"/>
              <a:gd name="T42" fmla="*/ 222 w 990"/>
              <a:gd name="T43" fmla="*/ 4 h 36"/>
              <a:gd name="T44" fmla="*/ 190 w 990"/>
              <a:gd name="T45" fmla="*/ 4 h 36"/>
              <a:gd name="T46" fmla="*/ 158 w 990"/>
              <a:gd name="T47" fmla="*/ 4 h 36"/>
              <a:gd name="T48" fmla="*/ 157 w 990"/>
              <a:gd name="T49" fmla="*/ 4 h 36"/>
              <a:gd name="T50" fmla="*/ 91 w 990"/>
              <a:gd name="T51" fmla="*/ 5 h 36"/>
              <a:gd name="T52" fmla="*/ 58 w 990"/>
              <a:gd name="T53" fmla="*/ 6 h 36"/>
              <a:gd name="T54" fmla="*/ 26 w 990"/>
              <a:gd name="T55" fmla="*/ 8 h 36"/>
              <a:gd name="T56" fmla="*/ 10 w 990"/>
              <a:gd name="T57" fmla="*/ 10 h 36"/>
              <a:gd name="T58" fmla="*/ 6 w 990"/>
              <a:gd name="T59" fmla="*/ 10 h 36"/>
              <a:gd name="T60" fmla="*/ 5 w 990"/>
              <a:gd name="T61" fmla="*/ 10 h 36"/>
              <a:gd name="T62" fmla="*/ 5 w 990"/>
              <a:gd name="T63" fmla="*/ 10 h 36"/>
              <a:gd name="T64" fmla="*/ 4 w 990"/>
              <a:gd name="T65" fmla="*/ 10 h 36"/>
              <a:gd name="T66" fmla="*/ 2 w 990"/>
              <a:gd name="T67" fmla="*/ 10 h 36"/>
              <a:gd name="T68" fmla="*/ 1 w 990"/>
              <a:gd name="T69" fmla="*/ 12 h 36"/>
              <a:gd name="T70" fmla="*/ 4 w 990"/>
              <a:gd name="T71" fmla="*/ 17 h 36"/>
              <a:gd name="T72" fmla="*/ 4 w 990"/>
              <a:gd name="T73" fmla="*/ 17 h 36"/>
              <a:gd name="T74" fmla="*/ 63 w 990"/>
              <a:gd name="T75" fmla="*/ 16 h 36"/>
              <a:gd name="T76" fmla="*/ 70 w 990"/>
              <a:gd name="T77" fmla="*/ 16 h 36"/>
              <a:gd name="T78" fmla="*/ 122 w 990"/>
              <a:gd name="T79" fmla="*/ 17 h 36"/>
              <a:gd name="T80" fmla="*/ 153 w 990"/>
              <a:gd name="T81" fmla="*/ 19 h 36"/>
              <a:gd name="T82" fmla="*/ 183 w 990"/>
              <a:gd name="T83" fmla="*/ 20 h 36"/>
              <a:gd name="T84" fmla="*/ 244 w 990"/>
              <a:gd name="T85" fmla="*/ 22 h 36"/>
              <a:gd name="T86" fmla="*/ 305 w 990"/>
              <a:gd name="T87" fmla="*/ 24 h 36"/>
              <a:gd name="T88" fmla="*/ 336 w 990"/>
              <a:gd name="T89" fmla="*/ 26 h 36"/>
              <a:gd name="T90" fmla="*/ 375 w 990"/>
              <a:gd name="T91" fmla="*/ 28 h 36"/>
              <a:gd name="T92" fmla="*/ 489 w 990"/>
              <a:gd name="T93" fmla="*/ 32 h 36"/>
              <a:gd name="T94" fmla="*/ 612 w 990"/>
              <a:gd name="T95" fmla="*/ 36 h 36"/>
              <a:gd name="T96" fmla="*/ 665 w 990"/>
              <a:gd name="T97" fmla="*/ 36 h 36"/>
              <a:gd name="T98" fmla="*/ 707 w 990"/>
              <a:gd name="T99" fmla="*/ 36 h 36"/>
              <a:gd name="T100" fmla="*/ 750 w 990"/>
              <a:gd name="T101" fmla="*/ 36 h 36"/>
              <a:gd name="T102" fmla="*/ 792 w 990"/>
              <a:gd name="T103" fmla="*/ 35 h 36"/>
              <a:gd name="T104" fmla="*/ 879 w 990"/>
              <a:gd name="T105" fmla="*/ 32 h 36"/>
              <a:gd name="T106" fmla="*/ 921 w 990"/>
              <a:gd name="T107" fmla="*/ 30 h 36"/>
              <a:gd name="T108" fmla="*/ 969 w 990"/>
              <a:gd name="T109" fmla="*/ 27 h 36"/>
              <a:gd name="T110" fmla="*/ 982 w 990"/>
              <a:gd name="T111" fmla="*/ 22 h 36"/>
              <a:gd name="T112" fmla="*/ 987 w 990"/>
              <a:gd name="T113" fmla="*/ 15 h 36"/>
              <a:gd name="T114" fmla="*/ 989 w 990"/>
              <a:gd name="T115" fmla="*/ 8 h 36"/>
              <a:gd name="T116" fmla="*/ 982 w 990"/>
              <a:gd name="T117" fmla="*/ 2 h 36"/>
              <a:gd name="T118" fmla="*/ 962 w 990"/>
              <a:gd name="T119" fmla="*/ 0 h 36"/>
              <a:gd name="T120" fmla="*/ 934 w 990"/>
              <a:gd name="T121" fmla="*/ 0 h 36"/>
              <a:gd name="T122" fmla="*/ 922 w 990"/>
              <a:gd name="T1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0" h="36">
                <a:moveTo>
                  <a:pt x="922" y="0"/>
                </a:moveTo>
                <a:cubicBezTo>
                  <a:pt x="917" y="0"/>
                  <a:pt x="912" y="0"/>
                  <a:pt x="907" y="0"/>
                </a:cubicBezTo>
                <a:cubicBezTo>
                  <a:pt x="898" y="0"/>
                  <a:pt x="889" y="1"/>
                  <a:pt x="880" y="1"/>
                </a:cubicBezTo>
                <a:cubicBezTo>
                  <a:pt x="839" y="3"/>
                  <a:pt x="839" y="3"/>
                  <a:pt x="839" y="3"/>
                </a:cubicBezTo>
                <a:cubicBezTo>
                  <a:pt x="818" y="3"/>
                  <a:pt x="818" y="3"/>
                  <a:pt x="818" y="3"/>
                </a:cubicBezTo>
                <a:cubicBezTo>
                  <a:pt x="798" y="4"/>
                  <a:pt x="798" y="4"/>
                  <a:pt x="798" y="4"/>
                </a:cubicBezTo>
                <a:cubicBezTo>
                  <a:pt x="757" y="5"/>
                  <a:pt x="757" y="5"/>
                  <a:pt x="757" y="5"/>
                </a:cubicBezTo>
                <a:cubicBezTo>
                  <a:pt x="744" y="5"/>
                  <a:pt x="731" y="5"/>
                  <a:pt x="718" y="5"/>
                </a:cubicBezTo>
                <a:cubicBezTo>
                  <a:pt x="699" y="5"/>
                  <a:pt x="681" y="5"/>
                  <a:pt x="662" y="5"/>
                </a:cubicBezTo>
                <a:cubicBezTo>
                  <a:pt x="540" y="4"/>
                  <a:pt x="540" y="4"/>
                  <a:pt x="540" y="4"/>
                </a:cubicBezTo>
                <a:cubicBezTo>
                  <a:pt x="512" y="4"/>
                  <a:pt x="512" y="4"/>
                  <a:pt x="512" y="4"/>
                </a:cubicBezTo>
                <a:cubicBezTo>
                  <a:pt x="512" y="4"/>
                  <a:pt x="511" y="4"/>
                  <a:pt x="511" y="4"/>
                </a:cubicBezTo>
                <a:cubicBezTo>
                  <a:pt x="502" y="4"/>
                  <a:pt x="493" y="4"/>
                  <a:pt x="484" y="5"/>
                </a:cubicBezTo>
                <a:cubicBezTo>
                  <a:pt x="462" y="5"/>
                  <a:pt x="441" y="5"/>
                  <a:pt x="419" y="5"/>
                </a:cubicBezTo>
                <a:cubicBezTo>
                  <a:pt x="397" y="6"/>
                  <a:pt x="375" y="7"/>
                  <a:pt x="353" y="7"/>
                </a:cubicBezTo>
                <a:cubicBezTo>
                  <a:pt x="352" y="7"/>
                  <a:pt x="351" y="7"/>
                  <a:pt x="350" y="7"/>
                </a:cubicBezTo>
                <a:cubicBezTo>
                  <a:pt x="330" y="7"/>
                  <a:pt x="309" y="5"/>
                  <a:pt x="288" y="5"/>
                </a:cubicBezTo>
                <a:cubicBezTo>
                  <a:pt x="280" y="4"/>
                  <a:pt x="272" y="4"/>
                  <a:pt x="265" y="4"/>
                </a:cubicBezTo>
                <a:cubicBezTo>
                  <a:pt x="258" y="4"/>
                  <a:pt x="251" y="4"/>
                  <a:pt x="244" y="4"/>
                </a:cubicBezTo>
                <a:cubicBezTo>
                  <a:pt x="237" y="4"/>
                  <a:pt x="230" y="4"/>
                  <a:pt x="224" y="4"/>
                </a:cubicBezTo>
                <a:cubicBezTo>
                  <a:pt x="223" y="4"/>
                  <a:pt x="223" y="4"/>
                  <a:pt x="223" y="4"/>
                </a:cubicBezTo>
                <a:cubicBezTo>
                  <a:pt x="223" y="4"/>
                  <a:pt x="222" y="4"/>
                  <a:pt x="222" y="4"/>
                </a:cubicBezTo>
                <a:cubicBezTo>
                  <a:pt x="212" y="4"/>
                  <a:pt x="201" y="4"/>
                  <a:pt x="190" y="4"/>
                </a:cubicBezTo>
                <a:cubicBezTo>
                  <a:pt x="180" y="4"/>
                  <a:pt x="169" y="4"/>
                  <a:pt x="158" y="4"/>
                </a:cubicBezTo>
                <a:cubicBezTo>
                  <a:pt x="158" y="4"/>
                  <a:pt x="157" y="4"/>
                  <a:pt x="157" y="4"/>
                </a:cubicBezTo>
                <a:cubicBezTo>
                  <a:pt x="135" y="4"/>
                  <a:pt x="113" y="4"/>
                  <a:pt x="91" y="5"/>
                </a:cubicBezTo>
                <a:cubicBezTo>
                  <a:pt x="80" y="5"/>
                  <a:pt x="69" y="6"/>
                  <a:pt x="58" y="6"/>
                </a:cubicBezTo>
                <a:cubicBezTo>
                  <a:pt x="48" y="6"/>
                  <a:pt x="37" y="7"/>
                  <a:pt x="26" y="8"/>
                </a:cubicBezTo>
                <a:cubicBezTo>
                  <a:pt x="10" y="10"/>
                  <a:pt x="10" y="10"/>
                  <a:pt x="10" y="10"/>
                </a:cubicBezTo>
                <a:cubicBezTo>
                  <a:pt x="6" y="10"/>
                  <a:pt x="6" y="10"/>
                  <a:pt x="6" y="10"/>
                </a:cubicBezTo>
                <a:cubicBezTo>
                  <a:pt x="6" y="10"/>
                  <a:pt x="5" y="10"/>
                  <a:pt x="5" y="10"/>
                </a:cubicBezTo>
                <a:cubicBezTo>
                  <a:pt x="5" y="10"/>
                  <a:pt x="5" y="10"/>
                  <a:pt x="5" y="10"/>
                </a:cubicBezTo>
                <a:cubicBezTo>
                  <a:pt x="4" y="10"/>
                  <a:pt x="4" y="10"/>
                  <a:pt x="4" y="10"/>
                </a:cubicBezTo>
                <a:cubicBezTo>
                  <a:pt x="3" y="10"/>
                  <a:pt x="2" y="10"/>
                  <a:pt x="2" y="10"/>
                </a:cubicBezTo>
                <a:cubicBezTo>
                  <a:pt x="1" y="10"/>
                  <a:pt x="1" y="11"/>
                  <a:pt x="1" y="12"/>
                </a:cubicBezTo>
                <a:cubicBezTo>
                  <a:pt x="0" y="15"/>
                  <a:pt x="2" y="17"/>
                  <a:pt x="4" y="17"/>
                </a:cubicBezTo>
                <a:cubicBezTo>
                  <a:pt x="4" y="17"/>
                  <a:pt x="4" y="17"/>
                  <a:pt x="4" y="17"/>
                </a:cubicBezTo>
                <a:cubicBezTo>
                  <a:pt x="24" y="17"/>
                  <a:pt x="43" y="16"/>
                  <a:pt x="63" y="16"/>
                </a:cubicBezTo>
                <a:cubicBezTo>
                  <a:pt x="65" y="16"/>
                  <a:pt x="67" y="16"/>
                  <a:pt x="70" y="16"/>
                </a:cubicBezTo>
                <a:cubicBezTo>
                  <a:pt x="87" y="16"/>
                  <a:pt x="105" y="16"/>
                  <a:pt x="122" y="17"/>
                </a:cubicBezTo>
                <a:cubicBezTo>
                  <a:pt x="133" y="18"/>
                  <a:pt x="143" y="19"/>
                  <a:pt x="153" y="19"/>
                </a:cubicBezTo>
                <a:cubicBezTo>
                  <a:pt x="183" y="20"/>
                  <a:pt x="183" y="20"/>
                  <a:pt x="183" y="20"/>
                </a:cubicBezTo>
                <a:cubicBezTo>
                  <a:pt x="203" y="20"/>
                  <a:pt x="224" y="21"/>
                  <a:pt x="244" y="22"/>
                </a:cubicBezTo>
                <a:cubicBezTo>
                  <a:pt x="265" y="22"/>
                  <a:pt x="285" y="23"/>
                  <a:pt x="305" y="24"/>
                </a:cubicBezTo>
                <a:cubicBezTo>
                  <a:pt x="336" y="26"/>
                  <a:pt x="336" y="26"/>
                  <a:pt x="336" y="26"/>
                </a:cubicBezTo>
                <a:cubicBezTo>
                  <a:pt x="346" y="26"/>
                  <a:pt x="361" y="28"/>
                  <a:pt x="375" y="28"/>
                </a:cubicBezTo>
                <a:cubicBezTo>
                  <a:pt x="416" y="31"/>
                  <a:pt x="448" y="31"/>
                  <a:pt x="489" y="32"/>
                </a:cubicBezTo>
                <a:cubicBezTo>
                  <a:pt x="530" y="34"/>
                  <a:pt x="571" y="35"/>
                  <a:pt x="612" y="36"/>
                </a:cubicBezTo>
                <a:cubicBezTo>
                  <a:pt x="629" y="36"/>
                  <a:pt x="647" y="36"/>
                  <a:pt x="665" y="36"/>
                </a:cubicBezTo>
                <a:cubicBezTo>
                  <a:pt x="679" y="36"/>
                  <a:pt x="693" y="36"/>
                  <a:pt x="707" y="36"/>
                </a:cubicBezTo>
                <a:cubicBezTo>
                  <a:pt x="750" y="36"/>
                  <a:pt x="750" y="36"/>
                  <a:pt x="750" y="36"/>
                </a:cubicBezTo>
                <a:cubicBezTo>
                  <a:pt x="792" y="35"/>
                  <a:pt x="792" y="35"/>
                  <a:pt x="792" y="35"/>
                </a:cubicBezTo>
                <a:cubicBezTo>
                  <a:pt x="821" y="34"/>
                  <a:pt x="850" y="33"/>
                  <a:pt x="879" y="32"/>
                </a:cubicBezTo>
                <a:cubicBezTo>
                  <a:pt x="921" y="30"/>
                  <a:pt x="921" y="30"/>
                  <a:pt x="921" y="30"/>
                </a:cubicBezTo>
                <a:cubicBezTo>
                  <a:pt x="937" y="30"/>
                  <a:pt x="953" y="29"/>
                  <a:pt x="969" y="27"/>
                </a:cubicBezTo>
                <a:cubicBezTo>
                  <a:pt x="973" y="26"/>
                  <a:pt x="979" y="25"/>
                  <a:pt x="982" y="22"/>
                </a:cubicBezTo>
                <a:cubicBezTo>
                  <a:pt x="984" y="20"/>
                  <a:pt x="986" y="17"/>
                  <a:pt x="987" y="15"/>
                </a:cubicBezTo>
                <a:cubicBezTo>
                  <a:pt x="989" y="13"/>
                  <a:pt x="990" y="10"/>
                  <a:pt x="989" y="8"/>
                </a:cubicBezTo>
                <a:cubicBezTo>
                  <a:pt x="988" y="4"/>
                  <a:pt x="985" y="3"/>
                  <a:pt x="982" y="2"/>
                </a:cubicBezTo>
                <a:cubicBezTo>
                  <a:pt x="975" y="0"/>
                  <a:pt x="968" y="0"/>
                  <a:pt x="962" y="0"/>
                </a:cubicBezTo>
                <a:cubicBezTo>
                  <a:pt x="934" y="0"/>
                  <a:pt x="934" y="0"/>
                  <a:pt x="934" y="0"/>
                </a:cubicBezTo>
                <a:cubicBezTo>
                  <a:pt x="930" y="0"/>
                  <a:pt x="926" y="0"/>
                  <a:pt x="922" y="0"/>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2" name="Content Placeholder 2">
            <a:extLst>
              <a:ext uri="{FF2B5EF4-FFF2-40B4-BE49-F238E27FC236}">
                <a16:creationId xmlns:a16="http://schemas.microsoft.com/office/drawing/2014/main" id="{8A378710-0B40-86B5-B2C6-AF290BD75FB3}"/>
              </a:ext>
            </a:extLst>
          </p:cNvPr>
          <p:cNvSpPr txBox="1">
            <a:spLocks/>
          </p:cNvSpPr>
          <p:nvPr/>
        </p:nvSpPr>
        <p:spPr>
          <a:xfrm>
            <a:off x="401032" y="716399"/>
            <a:ext cx="8510739" cy="1226941"/>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1600" b="1">
                <a:latin typeface="Calibri" panose="020F0502020204030204" pitchFamily="34" charset="0"/>
                <a:cs typeface="Calibri" panose="020F0502020204030204" pitchFamily="34" charset="0"/>
              </a:rPr>
              <a:t>Bước 3</a:t>
            </a:r>
            <a:r>
              <a:rPr lang="en-US" sz="1600">
                <a:latin typeface="Calibri" panose="020F0502020204030204" pitchFamily="34" charset="0"/>
                <a:cs typeface="Calibri" panose="020F0502020204030204" pitchFamily="34" charset="0"/>
              </a:rPr>
              <a:t>: Hoàn thiện biểu đồ</a:t>
            </a:r>
          </a:p>
          <a:p>
            <a:pPr marL="285750" indent="-285750" algn="l">
              <a:buFontTx/>
              <a:buChar char="-"/>
            </a:pPr>
            <a:r>
              <a:rPr lang="en-US" sz="1600" b="1">
                <a:latin typeface="Calibri" panose="020F0502020204030204" pitchFamily="34" charset="0"/>
                <a:cs typeface="Calibri" panose="020F0502020204030204" pitchFamily="34" charset="0"/>
              </a:rPr>
              <a:t>Thêm giá trị cho 1 điểm: </a:t>
            </a:r>
            <a:r>
              <a:rPr lang="en-US" sz="1600">
                <a:latin typeface="Calibri" panose="020F0502020204030204" pitchFamily="34" charset="0"/>
                <a:cs typeface="Calibri" panose="020F0502020204030204" pitchFamily="34" charset="0"/>
              </a:rPr>
              <a:t>Click đúp chuột để chọn điểm đó (1). Nhấn chuột phải chọn Add Data Label(2)/Add Data Label (3)</a:t>
            </a:r>
            <a:endParaRPr lang="en-US" sz="1600" b="1">
              <a:latin typeface="Calibri" panose="020F0502020204030204" pitchFamily="34" charset="0"/>
              <a:cs typeface="Calibri" panose="020F0502020204030204" pitchFamily="34" charset="0"/>
            </a:endParaRPr>
          </a:p>
          <a:p>
            <a:pPr marL="285750" indent="-285750" algn="l">
              <a:buFontTx/>
              <a:buChar char="-"/>
            </a:pPr>
            <a:endParaRPr lang="en-US" sz="1600">
              <a:latin typeface="Calibri" panose="020F0502020204030204" pitchFamily="34" charset="0"/>
              <a:cs typeface="Calibri" panose="020F0502020204030204" pitchFamily="34" charset="0"/>
            </a:endParaRPr>
          </a:p>
        </p:txBody>
      </p:sp>
      <p:sp>
        <p:nvSpPr>
          <p:cNvPr id="12" name="Oval 11">
            <a:extLst>
              <a:ext uri="{FF2B5EF4-FFF2-40B4-BE49-F238E27FC236}">
                <a16:creationId xmlns:a16="http://schemas.microsoft.com/office/drawing/2014/main" id="{EE39C399-697C-FE44-F510-CB4B7E102188}"/>
              </a:ext>
            </a:extLst>
          </p:cNvPr>
          <p:cNvSpPr/>
          <p:nvPr/>
        </p:nvSpPr>
        <p:spPr>
          <a:xfrm>
            <a:off x="2179566" y="2532563"/>
            <a:ext cx="328018" cy="328469"/>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1</a:t>
            </a:r>
          </a:p>
        </p:txBody>
      </p:sp>
      <p:sp>
        <p:nvSpPr>
          <p:cNvPr id="13" name="Oval 12">
            <a:extLst>
              <a:ext uri="{FF2B5EF4-FFF2-40B4-BE49-F238E27FC236}">
                <a16:creationId xmlns:a16="http://schemas.microsoft.com/office/drawing/2014/main" id="{6F93BA1C-6FA9-D5A4-7EFA-CB8DF75B6B37}"/>
              </a:ext>
            </a:extLst>
          </p:cNvPr>
          <p:cNvSpPr/>
          <p:nvPr/>
        </p:nvSpPr>
        <p:spPr>
          <a:xfrm>
            <a:off x="6580783" y="4799637"/>
            <a:ext cx="328018" cy="328469"/>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3</a:t>
            </a:r>
          </a:p>
        </p:txBody>
      </p:sp>
      <p:sp>
        <p:nvSpPr>
          <p:cNvPr id="14" name="Oval 13">
            <a:extLst>
              <a:ext uri="{FF2B5EF4-FFF2-40B4-BE49-F238E27FC236}">
                <a16:creationId xmlns:a16="http://schemas.microsoft.com/office/drawing/2014/main" id="{94B5F51D-9593-7C05-BDAD-36A1FF7D96E1}"/>
              </a:ext>
            </a:extLst>
          </p:cNvPr>
          <p:cNvSpPr/>
          <p:nvPr/>
        </p:nvSpPr>
        <p:spPr>
          <a:xfrm>
            <a:off x="2465989" y="4770609"/>
            <a:ext cx="328018" cy="328469"/>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2</a:t>
            </a:r>
          </a:p>
        </p:txBody>
      </p:sp>
    </p:spTree>
    <p:extLst>
      <p:ext uri="{BB962C8B-B14F-4D97-AF65-F5344CB8AC3E}">
        <p14:creationId xmlns:p14="http://schemas.microsoft.com/office/powerpoint/2010/main" val="2259365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4"/>
          </p:nvPr>
        </p:nvSpPr>
        <p:spPr>
          <a:prstGeom prst="rect">
            <a:avLst/>
          </a:prstGeom>
        </p:spPr>
        <p:txBody>
          <a:bodyPr vert="horz" lIns="0" tIns="0" rIns="0" bIns="0" rtlCol="0" anchor="ctr" anchorCtr="0"/>
          <a:lstStyle>
            <a:lvl1pPr algn="r">
              <a:defRPr sz="1800">
                <a:solidFill>
                  <a:schemeClr val="tx1"/>
                </a:solidFill>
              </a:defRPr>
            </a:lvl1pPr>
          </a:lstStyle>
          <a:p>
            <a:fld id="{A3381702-59A5-4643-AE93-D7BF7F78153B}" type="slidenum">
              <a:rPr lang="en-GB" smtClean="0"/>
              <a:pPr/>
              <a:t>11</a:t>
            </a:fld>
            <a:endParaRPr lang="en-GB" dirty="0"/>
          </a:p>
        </p:txBody>
      </p:sp>
      <p:sp>
        <p:nvSpPr>
          <p:cNvPr id="8" name="Footer Placeholder 4"/>
          <p:cNvSpPr>
            <a:spLocks noGrp="1"/>
          </p:cNvSpPr>
          <p:nvPr>
            <p:ph type="ftr" sz="quarter" idx="3"/>
          </p:nvPr>
        </p:nvSpPr>
        <p:spPr>
          <a:prstGeom prst="rect">
            <a:avLst/>
          </a:prstGeom>
        </p:spPr>
        <p:txBody>
          <a:bodyPr vert="horz" lIns="0" tIns="0" rIns="0" bIns="0" rtlCol="0" anchor="t" anchorCtr="0"/>
          <a:lstStyle>
            <a:lvl1pPr algn="r">
              <a:defRPr sz="700">
                <a:solidFill>
                  <a:schemeClr val="tx1"/>
                </a:solidFill>
                <a:latin typeface="+mn-lt"/>
              </a:defRPr>
            </a:lvl1pPr>
          </a:lstStyle>
          <a:p>
            <a:r>
              <a:rPr lang="fr-FR" altLang="ja-JP" dirty="0"/>
              <a:t>©20</a:t>
            </a:r>
            <a:r>
              <a:rPr lang="en-US" altLang="ja-JP" dirty="0"/>
              <a:t>23</a:t>
            </a:r>
            <a:r>
              <a:rPr lang="fr-FR" altLang="ja-JP" dirty="0"/>
              <a:t> KYOCERA Document Solutions Inc.</a:t>
            </a:r>
            <a:endParaRPr lang="en-GB" dirty="0"/>
          </a:p>
        </p:txBody>
      </p:sp>
      <p:sp>
        <p:nvSpPr>
          <p:cNvPr id="4" name="Rectangle 3">
            <a:extLst>
              <a:ext uri="{FF2B5EF4-FFF2-40B4-BE49-F238E27FC236}">
                <a16:creationId xmlns:a16="http://schemas.microsoft.com/office/drawing/2014/main" id="{0BAEFD46-8DC5-BB64-F040-FD68EE6A7C2D}"/>
              </a:ext>
            </a:extLst>
          </p:cNvPr>
          <p:cNvSpPr/>
          <p:nvPr/>
        </p:nvSpPr>
        <p:spPr>
          <a:xfrm>
            <a:off x="295745" y="40624"/>
            <a:ext cx="8722810" cy="6207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nSpc>
                <a:spcPct val="107000"/>
              </a:lnSpc>
              <a:spcBef>
                <a:spcPts val="0"/>
              </a:spcBef>
              <a:spcAft>
                <a:spcPts val="800"/>
              </a:spcAft>
              <a:tabLst>
                <a:tab pos="457200" algn="l"/>
              </a:tabLst>
            </a:pPr>
            <a:r>
              <a:rPr lang="en-US" sz="2200" b="1">
                <a:solidFill>
                  <a:schemeClr val="tx1"/>
                </a:solidFill>
                <a:effectLst/>
                <a:latin typeface="Calibri" panose="020F0502020204030204" pitchFamily="34" charset="0"/>
                <a:ea typeface="游明朝" panose="02020400000000000000" pitchFamily="18" charset="-128"/>
                <a:cs typeface="Times New Roman" panose="02020603050405020304" pitchFamily="18" charset="0"/>
              </a:rPr>
              <a:t>1. BIỂU ĐỒ </a:t>
            </a:r>
            <a:r>
              <a:rPr lang="en-US" sz="2200" b="1">
                <a:solidFill>
                  <a:schemeClr val="tx1"/>
                </a:solidFill>
                <a:latin typeface="Calibri" panose="020F0502020204030204" pitchFamily="34" charset="0"/>
                <a:ea typeface="游明朝" panose="02020400000000000000" pitchFamily="18" charset="-128"/>
                <a:cs typeface="Times New Roman" panose="02020603050405020304" pitchFamily="18" charset="0"/>
              </a:rPr>
              <a:t>ĐƯỜNG</a:t>
            </a:r>
            <a:endParaRPr lang="en-US" sz="2200">
              <a:solidFill>
                <a:schemeClr val="tx1"/>
              </a:solidFill>
              <a:effectLst/>
              <a:latin typeface="Calibri" panose="020F0502020204030204" pitchFamily="34" charset="0"/>
              <a:ea typeface="游明朝" panose="02020400000000000000" pitchFamily="18" charset="-128"/>
              <a:cs typeface="Times New Roman" panose="02020603050405020304" pitchFamily="18" charset="0"/>
            </a:endParaRPr>
          </a:p>
        </p:txBody>
      </p:sp>
      <p:sp>
        <p:nvSpPr>
          <p:cNvPr id="6" name="Freeform 34">
            <a:extLst>
              <a:ext uri="{FF2B5EF4-FFF2-40B4-BE49-F238E27FC236}">
                <a16:creationId xmlns:a16="http://schemas.microsoft.com/office/drawing/2014/main" id="{E988D51C-281C-0FC1-508D-073F501DA6DF}"/>
              </a:ext>
            </a:extLst>
          </p:cNvPr>
          <p:cNvSpPr>
            <a:spLocks noChangeAspect="1"/>
          </p:cNvSpPr>
          <p:nvPr/>
        </p:nvSpPr>
        <p:spPr bwMode="auto">
          <a:xfrm rot="10800000" flipV="1">
            <a:off x="509368" y="536909"/>
            <a:ext cx="1655684" cy="47957"/>
          </a:xfrm>
          <a:custGeom>
            <a:avLst/>
            <a:gdLst>
              <a:gd name="T0" fmla="*/ 922 w 990"/>
              <a:gd name="T1" fmla="*/ 0 h 36"/>
              <a:gd name="T2" fmla="*/ 907 w 990"/>
              <a:gd name="T3" fmla="*/ 0 h 36"/>
              <a:gd name="T4" fmla="*/ 880 w 990"/>
              <a:gd name="T5" fmla="*/ 1 h 36"/>
              <a:gd name="T6" fmla="*/ 839 w 990"/>
              <a:gd name="T7" fmla="*/ 3 h 36"/>
              <a:gd name="T8" fmla="*/ 818 w 990"/>
              <a:gd name="T9" fmla="*/ 3 h 36"/>
              <a:gd name="T10" fmla="*/ 798 w 990"/>
              <a:gd name="T11" fmla="*/ 4 h 36"/>
              <a:gd name="T12" fmla="*/ 757 w 990"/>
              <a:gd name="T13" fmla="*/ 5 h 36"/>
              <a:gd name="T14" fmla="*/ 718 w 990"/>
              <a:gd name="T15" fmla="*/ 5 h 36"/>
              <a:gd name="T16" fmla="*/ 662 w 990"/>
              <a:gd name="T17" fmla="*/ 5 h 36"/>
              <a:gd name="T18" fmla="*/ 540 w 990"/>
              <a:gd name="T19" fmla="*/ 4 h 36"/>
              <a:gd name="T20" fmla="*/ 512 w 990"/>
              <a:gd name="T21" fmla="*/ 4 h 36"/>
              <a:gd name="T22" fmla="*/ 511 w 990"/>
              <a:gd name="T23" fmla="*/ 4 h 36"/>
              <a:gd name="T24" fmla="*/ 484 w 990"/>
              <a:gd name="T25" fmla="*/ 5 h 36"/>
              <a:gd name="T26" fmla="*/ 419 w 990"/>
              <a:gd name="T27" fmla="*/ 5 h 36"/>
              <a:gd name="T28" fmla="*/ 353 w 990"/>
              <a:gd name="T29" fmla="*/ 7 h 36"/>
              <a:gd name="T30" fmla="*/ 350 w 990"/>
              <a:gd name="T31" fmla="*/ 7 h 36"/>
              <a:gd name="T32" fmla="*/ 288 w 990"/>
              <a:gd name="T33" fmla="*/ 5 h 36"/>
              <a:gd name="T34" fmla="*/ 265 w 990"/>
              <a:gd name="T35" fmla="*/ 4 h 36"/>
              <a:gd name="T36" fmla="*/ 244 w 990"/>
              <a:gd name="T37" fmla="*/ 4 h 36"/>
              <a:gd name="T38" fmla="*/ 224 w 990"/>
              <a:gd name="T39" fmla="*/ 4 h 36"/>
              <a:gd name="T40" fmla="*/ 223 w 990"/>
              <a:gd name="T41" fmla="*/ 4 h 36"/>
              <a:gd name="T42" fmla="*/ 222 w 990"/>
              <a:gd name="T43" fmla="*/ 4 h 36"/>
              <a:gd name="T44" fmla="*/ 190 w 990"/>
              <a:gd name="T45" fmla="*/ 4 h 36"/>
              <a:gd name="T46" fmla="*/ 158 w 990"/>
              <a:gd name="T47" fmla="*/ 4 h 36"/>
              <a:gd name="T48" fmla="*/ 157 w 990"/>
              <a:gd name="T49" fmla="*/ 4 h 36"/>
              <a:gd name="T50" fmla="*/ 91 w 990"/>
              <a:gd name="T51" fmla="*/ 5 h 36"/>
              <a:gd name="T52" fmla="*/ 58 w 990"/>
              <a:gd name="T53" fmla="*/ 6 h 36"/>
              <a:gd name="T54" fmla="*/ 26 w 990"/>
              <a:gd name="T55" fmla="*/ 8 h 36"/>
              <a:gd name="T56" fmla="*/ 10 w 990"/>
              <a:gd name="T57" fmla="*/ 10 h 36"/>
              <a:gd name="T58" fmla="*/ 6 w 990"/>
              <a:gd name="T59" fmla="*/ 10 h 36"/>
              <a:gd name="T60" fmla="*/ 5 w 990"/>
              <a:gd name="T61" fmla="*/ 10 h 36"/>
              <a:gd name="T62" fmla="*/ 5 w 990"/>
              <a:gd name="T63" fmla="*/ 10 h 36"/>
              <a:gd name="T64" fmla="*/ 4 w 990"/>
              <a:gd name="T65" fmla="*/ 10 h 36"/>
              <a:gd name="T66" fmla="*/ 2 w 990"/>
              <a:gd name="T67" fmla="*/ 10 h 36"/>
              <a:gd name="T68" fmla="*/ 1 w 990"/>
              <a:gd name="T69" fmla="*/ 12 h 36"/>
              <a:gd name="T70" fmla="*/ 4 w 990"/>
              <a:gd name="T71" fmla="*/ 17 h 36"/>
              <a:gd name="T72" fmla="*/ 4 w 990"/>
              <a:gd name="T73" fmla="*/ 17 h 36"/>
              <a:gd name="T74" fmla="*/ 63 w 990"/>
              <a:gd name="T75" fmla="*/ 16 h 36"/>
              <a:gd name="T76" fmla="*/ 70 w 990"/>
              <a:gd name="T77" fmla="*/ 16 h 36"/>
              <a:gd name="T78" fmla="*/ 122 w 990"/>
              <a:gd name="T79" fmla="*/ 17 h 36"/>
              <a:gd name="T80" fmla="*/ 153 w 990"/>
              <a:gd name="T81" fmla="*/ 19 h 36"/>
              <a:gd name="T82" fmla="*/ 183 w 990"/>
              <a:gd name="T83" fmla="*/ 20 h 36"/>
              <a:gd name="T84" fmla="*/ 244 w 990"/>
              <a:gd name="T85" fmla="*/ 22 h 36"/>
              <a:gd name="T86" fmla="*/ 305 w 990"/>
              <a:gd name="T87" fmla="*/ 24 h 36"/>
              <a:gd name="T88" fmla="*/ 336 w 990"/>
              <a:gd name="T89" fmla="*/ 26 h 36"/>
              <a:gd name="T90" fmla="*/ 375 w 990"/>
              <a:gd name="T91" fmla="*/ 28 h 36"/>
              <a:gd name="T92" fmla="*/ 489 w 990"/>
              <a:gd name="T93" fmla="*/ 32 h 36"/>
              <a:gd name="T94" fmla="*/ 612 w 990"/>
              <a:gd name="T95" fmla="*/ 36 h 36"/>
              <a:gd name="T96" fmla="*/ 665 w 990"/>
              <a:gd name="T97" fmla="*/ 36 h 36"/>
              <a:gd name="T98" fmla="*/ 707 w 990"/>
              <a:gd name="T99" fmla="*/ 36 h 36"/>
              <a:gd name="T100" fmla="*/ 750 w 990"/>
              <a:gd name="T101" fmla="*/ 36 h 36"/>
              <a:gd name="T102" fmla="*/ 792 w 990"/>
              <a:gd name="T103" fmla="*/ 35 h 36"/>
              <a:gd name="T104" fmla="*/ 879 w 990"/>
              <a:gd name="T105" fmla="*/ 32 h 36"/>
              <a:gd name="T106" fmla="*/ 921 w 990"/>
              <a:gd name="T107" fmla="*/ 30 h 36"/>
              <a:gd name="T108" fmla="*/ 969 w 990"/>
              <a:gd name="T109" fmla="*/ 27 h 36"/>
              <a:gd name="T110" fmla="*/ 982 w 990"/>
              <a:gd name="T111" fmla="*/ 22 h 36"/>
              <a:gd name="T112" fmla="*/ 987 w 990"/>
              <a:gd name="T113" fmla="*/ 15 h 36"/>
              <a:gd name="T114" fmla="*/ 989 w 990"/>
              <a:gd name="T115" fmla="*/ 8 h 36"/>
              <a:gd name="T116" fmla="*/ 982 w 990"/>
              <a:gd name="T117" fmla="*/ 2 h 36"/>
              <a:gd name="T118" fmla="*/ 962 w 990"/>
              <a:gd name="T119" fmla="*/ 0 h 36"/>
              <a:gd name="T120" fmla="*/ 934 w 990"/>
              <a:gd name="T121" fmla="*/ 0 h 36"/>
              <a:gd name="T122" fmla="*/ 922 w 990"/>
              <a:gd name="T1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0" h="36">
                <a:moveTo>
                  <a:pt x="922" y="0"/>
                </a:moveTo>
                <a:cubicBezTo>
                  <a:pt x="917" y="0"/>
                  <a:pt x="912" y="0"/>
                  <a:pt x="907" y="0"/>
                </a:cubicBezTo>
                <a:cubicBezTo>
                  <a:pt x="898" y="0"/>
                  <a:pt x="889" y="1"/>
                  <a:pt x="880" y="1"/>
                </a:cubicBezTo>
                <a:cubicBezTo>
                  <a:pt x="839" y="3"/>
                  <a:pt x="839" y="3"/>
                  <a:pt x="839" y="3"/>
                </a:cubicBezTo>
                <a:cubicBezTo>
                  <a:pt x="818" y="3"/>
                  <a:pt x="818" y="3"/>
                  <a:pt x="818" y="3"/>
                </a:cubicBezTo>
                <a:cubicBezTo>
                  <a:pt x="798" y="4"/>
                  <a:pt x="798" y="4"/>
                  <a:pt x="798" y="4"/>
                </a:cubicBezTo>
                <a:cubicBezTo>
                  <a:pt x="757" y="5"/>
                  <a:pt x="757" y="5"/>
                  <a:pt x="757" y="5"/>
                </a:cubicBezTo>
                <a:cubicBezTo>
                  <a:pt x="744" y="5"/>
                  <a:pt x="731" y="5"/>
                  <a:pt x="718" y="5"/>
                </a:cubicBezTo>
                <a:cubicBezTo>
                  <a:pt x="699" y="5"/>
                  <a:pt x="681" y="5"/>
                  <a:pt x="662" y="5"/>
                </a:cubicBezTo>
                <a:cubicBezTo>
                  <a:pt x="540" y="4"/>
                  <a:pt x="540" y="4"/>
                  <a:pt x="540" y="4"/>
                </a:cubicBezTo>
                <a:cubicBezTo>
                  <a:pt x="512" y="4"/>
                  <a:pt x="512" y="4"/>
                  <a:pt x="512" y="4"/>
                </a:cubicBezTo>
                <a:cubicBezTo>
                  <a:pt x="512" y="4"/>
                  <a:pt x="511" y="4"/>
                  <a:pt x="511" y="4"/>
                </a:cubicBezTo>
                <a:cubicBezTo>
                  <a:pt x="502" y="4"/>
                  <a:pt x="493" y="4"/>
                  <a:pt x="484" y="5"/>
                </a:cubicBezTo>
                <a:cubicBezTo>
                  <a:pt x="462" y="5"/>
                  <a:pt x="441" y="5"/>
                  <a:pt x="419" y="5"/>
                </a:cubicBezTo>
                <a:cubicBezTo>
                  <a:pt x="397" y="6"/>
                  <a:pt x="375" y="7"/>
                  <a:pt x="353" y="7"/>
                </a:cubicBezTo>
                <a:cubicBezTo>
                  <a:pt x="352" y="7"/>
                  <a:pt x="351" y="7"/>
                  <a:pt x="350" y="7"/>
                </a:cubicBezTo>
                <a:cubicBezTo>
                  <a:pt x="330" y="7"/>
                  <a:pt x="309" y="5"/>
                  <a:pt x="288" y="5"/>
                </a:cubicBezTo>
                <a:cubicBezTo>
                  <a:pt x="280" y="4"/>
                  <a:pt x="272" y="4"/>
                  <a:pt x="265" y="4"/>
                </a:cubicBezTo>
                <a:cubicBezTo>
                  <a:pt x="258" y="4"/>
                  <a:pt x="251" y="4"/>
                  <a:pt x="244" y="4"/>
                </a:cubicBezTo>
                <a:cubicBezTo>
                  <a:pt x="237" y="4"/>
                  <a:pt x="230" y="4"/>
                  <a:pt x="224" y="4"/>
                </a:cubicBezTo>
                <a:cubicBezTo>
                  <a:pt x="223" y="4"/>
                  <a:pt x="223" y="4"/>
                  <a:pt x="223" y="4"/>
                </a:cubicBezTo>
                <a:cubicBezTo>
                  <a:pt x="223" y="4"/>
                  <a:pt x="222" y="4"/>
                  <a:pt x="222" y="4"/>
                </a:cubicBezTo>
                <a:cubicBezTo>
                  <a:pt x="212" y="4"/>
                  <a:pt x="201" y="4"/>
                  <a:pt x="190" y="4"/>
                </a:cubicBezTo>
                <a:cubicBezTo>
                  <a:pt x="180" y="4"/>
                  <a:pt x="169" y="4"/>
                  <a:pt x="158" y="4"/>
                </a:cubicBezTo>
                <a:cubicBezTo>
                  <a:pt x="158" y="4"/>
                  <a:pt x="157" y="4"/>
                  <a:pt x="157" y="4"/>
                </a:cubicBezTo>
                <a:cubicBezTo>
                  <a:pt x="135" y="4"/>
                  <a:pt x="113" y="4"/>
                  <a:pt x="91" y="5"/>
                </a:cubicBezTo>
                <a:cubicBezTo>
                  <a:pt x="80" y="5"/>
                  <a:pt x="69" y="6"/>
                  <a:pt x="58" y="6"/>
                </a:cubicBezTo>
                <a:cubicBezTo>
                  <a:pt x="48" y="6"/>
                  <a:pt x="37" y="7"/>
                  <a:pt x="26" y="8"/>
                </a:cubicBezTo>
                <a:cubicBezTo>
                  <a:pt x="10" y="10"/>
                  <a:pt x="10" y="10"/>
                  <a:pt x="10" y="10"/>
                </a:cubicBezTo>
                <a:cubicBezTo>
                  <a:pt x="6" y="10"/>
                  <a:pt x="6" y="10"/>
                  <a:pt x="6" y="10"/>
                </a:cubicBezTo>
                <a:cubicBezTo>
                  <a:pt x="6" y="10"/>
                  <a:pt x="5" y="10"/>
                  <a:pt x="5" y="10"/>
                </a:cubicBezTo>
                <a:cubicBezTo>
                  <a:pt x="5" y="10"/>
                  <a:pt x="5" y="10"/>
                  <a:pt x="5" y="10"/>
                </a:cubicBezTo>
                <a:cubicBezTo>
                  <a:pt x="4" y="10"/>
                  <a:pt x="4" y="10"/>
                  <a:pt x="4" y="10"/>
                </a:cubicBezTo>
                <a:cubicBezTo>
                  <a:pt x="3" y="10"/>
                  <a:pt x="2" y="10"/>
                  <a:pt x="2" y="10"/>
                </a:cubicBezTo>
                <a:cubicBezTo>
                  <a:pt x="1" y="10"/>
                  <a:pt x="1" y="11"/>
                  <a:pt x="1" y="12"/>
                </a:cubicBezTo>
                <a:cubicBezTo>
                  <a:pt x="0" y="15"/>
                  <a:pt x="2" y="17"/>
                  <a:pt x="4" y="17"/>
                </a:cubicBezTo>
                <a:cubicBezTo>
                  <a:pt x="4" y="17"/>
                  <a:pt x="4" y="17"/>
                  <a:pt x="4" y="17"/>
                </a:cubicBezTo>
                <a:cubicBezTo>
                  <a:pt x="24" y="17"/>
                  <a:pt x="43" y="16"/>
                  <a:pt x="63" y="16"/>
                </a:cubicBezTo>
                <a:cubicBezTo>
                  <a:pt x="65" y="16"/>
                  <a:pt x="67" y="16"/>
                  <a:pt x="70" y="16"/>
                </a:cubicBezTo>
                <a:cubicBezTo>
                  <a:pt x="87" y="16"/>
                  <a:pt x="105" y="16"/>
                  <a:pt x="122" y="17"/>
                </a:cubicBezTo>
                <a:cubicBezTo>
                  <a:pt x="133" y="18"/>
                  <a:pt x="143" y="19"/>
                  <a:pt x="153" y="19"/>
                </a:cubicBezTo>
                <a:cubicBezTo>
                  <a:pt x="183" y="20"/>
                  <a:pt x="183" y="20"/>
                  <a:pt x="183" y="20"/>
                </a:cubicBezTo>
                <a:cubicBezTo>
                  <a:pt x="203" y="20"/>
                  <a:pt x="224" y="21"/>
                  <a:pt x="244" y="22"/>
                </a:cubicBezTo>
                <a:cubicBezTo>
                  <a:pt x="265" y="22"/>
                  <a:pt x="285" y="23"/>
                  <a:pt x="305" y="24"/>
                </a:cubicBezTo>
                <a:cubicBezTo>
                  <a:pt x="336" y="26"/>
                  <a:pt x="336" y="26"/>
                  <a:pt x="336" y="26"/>
                </a:cubicBezTo>
                <a:cubicBezTo>
                  <a:pt x="346" y="26"/>
                  <a:pt x="361" y="28"/>
                  <a:pt x="375" y="28"/>
                </a:cubicBezTo>
                <a:cubicBezTo>
                  <a:pt x="416" y="31"/>
                  <a:pt x="448" y="31"/>
                  <a:pt x="489" y="32"/>
                </a:cubicBezTo>
                <a:cubicBezTo>
                  <a:pt x="530" y="34"/>
                  <a:pt x="571" y="35"/>
                  <a:pt x="612" y="36"/>
                </a:cubicBezTo>
                <a:cubicBezTo>
                  <a:pt x="629" y="36"/>
                  <a:pt x="647" y="36"/>
                  <a:pt x="665" y="36"/>
                </a:cubicBezTo>
                <a:cubicBezTo>
                  <a:pt x="679" y="36"/>
                  <a:pt x="693" y="36"/>
                  <a:pt x="707" y="36"/>
                </a:cubicBezTo>
                <a:cubicBezTo>
                  <a:pt x="750" y="36"/>
                  <a:pt x="750" y="36"/>
                  <a:pt x="750" y="36"/>
                </a:cubicBezTo>
                <a:cubicBezTo>
                  <a:pt x="792" y="35"/>
                  <a:pt x="792" y="35"/>
                  <a:pt x="792" y="35"/>
                </a:cubicBezTo>
                <a:cubicBezTo>
                  <a:pt x="821" y="34"/>
                  <a:pt x="850" y="33"/>
                  <a:pt x="879" y="32"/>
                </a:cubicBezTo>
                <a:cubicBezTo>
                  <a:pt x="921" y="30"/>
                  <a:pt x="921" y="30"/>
                  <a:pt x="921" y="30"/>
                </a:cubicBezTo>
                <a:cubicBezTo>
                  <a:pt x="937" y="30"/>
                  <a:pt x="953" y="29"/>
                  <a:pt x="969" y="27"/>
                </a:cubicBezTo>
                <a:cubicBezTo>
                  <a:pt x="973" y="26"/>
                  <a:pt x="979" y="25"/>
                  <a:pt x="982" y="22"/>
                </a:cubicBezTo>
                <a:cubicBezTo>
                  <a:pt x="984" y="20"/>
                  <a:pt x="986" y="17"/>
                  <a:pt x="987" y="15"/>
                </a:cubicBezTo>
                <a:cubicBezTo>
                  <a:pt x="989" y="13"/>
                  <a:pt x="990" y="10"/>
                  <a:pt x="989" y="8"/>
                </a:cubicBezTo>
                <a:cubicBezTo>
                  <a:pt x="988" y="4"/>
                  <a:pt x="985" y="3"/>
                  <a:pt x="982" y="2"/>
                </a:cubicBezTo>
                <a:cubicBezTo>
                  <a:pt x="975" y="0"/>
                  <a:pt x="968" y="0"/>
                  <a:pt x="962" y="0"/>
                </a:cubicBezTo>
                <a:cubicBezTo>
                  <a:pt x="934" y="0"/>
                  <a:pt x="934" y="0"/>
                  <a:pt x="934" y="0"/>
                </a:cubicBezTo>
                <a:cubicBezTo>
                  <a:pt x="930" y="0"/>
                  <a:pt x="926" y="0"/>
                  <a:pt x="922" y="0"/>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2" name="Content Placeholder 2">
            <a:extLst>
              <a:ext uri="{FF2B5EF4-FFF2-40B4-BE49-F238E27FC236}">
                <a16:creationId xmlns:a16="http://schemas.microsoft.com/office/drawing/2014/main" id="{8A378710-0B40-86B5-B2C6-AF290BD75FB3}"/>
              </a:ext>
            </a:extLst>
          </p:cNvPr>
          <p:cNvSpPr txBox="1">
            <a:spLocks/>
          </p:cNvSpPr>
          <p:nvPr/>
        </p:nvSpPr>
        <p:spPr>
          <a:xfrm>
            <a:off x="401032" y="716399"/>
            <a:ext cx="8510739" cy="1226941"/>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1600" b="1">
                <a:latin typeface="Calibri" panose="020F0502020204030204" pitchFamily="34" charset="0"/>
                <a:cs typeface="Calibri" panose="020F0502020204030204" pitchFamily="34" charset="0"/>
              </a:rPr>
              <a:t>c.</a:t>
            </a:r>
            <a:r>
              <a:rPr lang="en-US" sz="1600">
                <a:latin typeface="Calibri" panose="020F0502020204030204" pitchFamily="34" charset="0"/>
                <a:cs typeface="Calibri" panose="020F0502020204030204" pitchFamily="34" charset="0"/>
              </a:rPr>
              <a:t> </a:t>
            </a:r>
            <a:r>
              <a:rPr lang="en-US" sz="1600" b="1">
                <a:latin typeface="Calibri" panose="020F0502020204030204" pitchFamily="34" charset="0"/>
                <a:cs typeface="Calibri" panose="020F0502020204030204" pitchFamily="34" charset="0"/>
              </a:rPr>
              <a:t>Lỗi cần tránh</a:t>
            </a:r>
          </a:p>
        </p:txBody>
      </p:sp>
      <p:sp>
        <p:nvSpPr>
          <p:cNvPr id="15" name="Rectangle 14">
            <a:extLst>
              <a:ext uri="{FF2B5EF4-FFF2-40B4-BE49-F238E27FC236}">
                <a16:creationId xmlns:a16="http://schemas.microsoft.com/office/drawing/2014/main" id="{1E08D1DA-5820-9944-7266-2218896EEDC9}"/>
              </a:ext>
            </a:extLst>
          </p:cNvPr>
          <p:cNvSpPr/>
          <p:nvPr/>
        </p:nvSpPr>
        <p:spPr>
          <a:xfrm>
            <a:off x="2203330" y="1730897"/>
            <a:ext cx="2107092" cy="823125"/>
          </a:xfrm>
          <a:prstGeom prst="rect">
            <a:avLst/>
          </a:prstGeom>
          <a:solidFill>
            <a:srgbClr val="00B050"/>
          </a:solid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bg1"/>
                </a:solidFill>
                <a:latin typeface="Calibri" panose="020F0502020204030204" pitchFamily="34" charset="0"/>
                <a:cs typeface="Calibri" panose="020F0502020204030204" pitchFamily="34" charset="0"/>
              </a:rPr>
              <a:t>Chỉ nên để những thông tin vừa đủ, giúp biểu đồ dễ quan sát</a:t>
            </a:r>
            <a:endParaRPr lang="en-US" sz="1600">
              <a:solidFill>
                <a:schemeClr val="bg1"/>
              </a:solidFill>
            </a:endParaRPr>
          </a:p>
        </p:txBody>
      </p:sp>
      <p:sp>
        <p:nvSpPr>
          <p:cNvPr id="16" name="Rectangle 15">
            <a:extLst>
              <a:ext uri="{FF2B5EF4-FFF2-40B4-BE49-F238E27FC236}">
                <a16:creationId xmlns:a16="http://schemas.microsoft.com/office/drawing/2014/main" id="{CED86361-A7A3-3B4A-6FE5-46C0A190AC4C}"/>
              </a:ext>
            </a:extLst>
          </p:cNvPr>
          <p:cNvSpPr/>
          <p:nvPr/>
        </p:nvSpPr>
        <p:spPr>
          <a:xfrm>
            <a:off x="198781" y="1749283"/>
            <a:ext cx="1868557" cy="804738"/>
          </a:xfrm>
          <a:prstGeom prst="rect">
            <a:avLst/>
          </a:prstGeom>
          <a:solidFill>
            <a:srgbClr val="FF0000"/>
          </a:solid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bg1"/>
                </a:solidFill>
                <a:latin typeface="Calibri" panose="020F0502020204030204" pitchFamily="34" charset="0"/>
                <a:cs typeface="Calibri" panose="020F0502020204030204" pitchFamily="34" charset="0"/>
              </a:rPr>
              <a:t>Quá nhiều số liệu, thông tin trên biểu đồ</a:t>
            </a:r>
          </a:p>
        </p:txBody>
      </p:sp>
      <p:sp>
        <p:nvSpPr>
          <p:cNvPr id="17" name="Rectangle 16">
            <a:extLst>
              <a:ext uri="{FF2B5EF4-FFF2-40B4-BE49-F238E27FC236}">
                <a16:creationId xmlns:a16="http://schemas.microsoft.com/office/drawing/2014/main" id="{4214962E-018D-E8FA-FFAB-2C7690030DAE}"/>
              </a:ext>
            </a:extLst>
          </p:cNvPr>
          <p:cNvSpPr/>
          <p:nvPr/>
        </p:nvSpPr>
        <p:spPr>
          <a:xfrm>
            <a:off x="6940670" y="1730897"/>
            <a:ext cx="2070811" cy="823125"/>
          </a:xfrm>
          <a:prstGeom prst="rect">
            <a:avLst/>
          </a:prstGeom>
          <a:solidFill>
            <a:srgbClr val="00B050"/>
          </a:solid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bg1"/>
                </a:solidFill>
                <a:latin typeface="Calibri" panose="020F0502020204030204" pitchFamily="34" charset="0"/>
                <a:cs typeface="Calibri" panose="020F0502020204030204" pitchFamily="34" charset="0"/>
              </a:rPr>
              <a:t>Chọn màu sắc tương phản làm nổi bật ý nghĩa biểu đồ</a:t>
            </a:r>
            <a:endParaRPr lang="en-US" sz="1600">
              <a:solidFill>
                <a:schemeClr val="bg1"/>
              </a:solidFill>
            </a:endParaRPr>
          </a:p>
        </p:txBody>
      </p:sp>
      <p:sp>
        <p:nvSpPr>
          <p:cNvPr id="18" name="Rectangle 17">
            <a:extLst>
              <a:ext uri="{FF2B5EF4-FFF2-40B4-BE49-F238E27FC236}">
                <a16:creationId xmlns:a16="http://schemas.microsoft.com/office/drawing/2014/main" id="{B6FEFE62-E674-2F0F-5871-629A691C4B89}"/>
              </a:ext>
            </a:extLst>
          </p:cNvPr>
          <p:cNvSpPr/>
          <p:nvPr/>
        </p:nvSpPr>
        <p:spPr>
          <a:xfrm>
            <a:off x="4656401" y="1749283"/>
            <a:ext cx="2107092" cy="804738"/>
          </a:xfrm>
          <a:prstGeom prst="rect">
            <a:avLst/>
          </a:prstGeom>
          <a:solidFill>
            <a:srgbClr val="FF0000"/>
          </a:solid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bg1"/>
                </a:solidFill>
                <a:latin typeface="Calibri" panose="020F0502020204030204" pitchFamily="34" charset="0"/>
                <a:cs typeface="Calibri" panose="020F0502020204030204" pitchFamily="34" charset="0"/>
              </a:rPr>
              <a:t>Các đường có màu giống nhau, khó quan sát</a:t>
            </a:r>
          </a:p>
        </p:txBody>
      </p:sp>
      <p:pic>
        <p:nvPicPr>
          <p:cNvPr id="5" name="Picture 4">
            <a:extLst>
              <a:ext uri="{FF2B5EF4-FFF2-40B4-BE49-F238E27FC236}">
                <a16:creationId xmlns:a16="http://schemas.microsoft.com/office/drawing/2014/main" id="{42ED0369-6A8C-2EC5-603E-3FED32BC4AAD}"/>
              </a:ext>
            </a:extLst>
          </p:cNvPr>
          <p:cNvPicPr>
            <a:picLocks noChangeAspect="1"/>
          </p:cNvPicPr>
          <p:nvPr/>
        </p:nvPicPr>
        <p:blipFill>
          <a:blip r:embed="rId3"/>
          <a:stretch>
            <a:fillRect/>
          </a:stretch>
        </p:blipFill>
        <p:spPr>
          <a:xfrm>
            <a:off x="4687905" y="2719302"/>
            <a:ext cx="4363332" cy="2221864"/>
          </a:xfrm>
          <a:prstGeom prst="rect">
            <a:avLst/>
          </a:prstGeom>
          <a:effectLst>
            <a:glow rad="63500">
              <a:schemeClr val="bg1">
                <a:lumMod val="65000"/>
                <a:alpha val="40000"/>
              </a:schemeClr>
            </a:glow>
          </a:effectLst>
        </p:spPr>
      </p:pic>
      <p:pic>
        <p:nvPicPr>
          <p:cNvPr id="12" name="Picture 11">
            <a:extLst>
              <a:ext uri="{FF2B5EF4-FFF2-40B4-BE49-F238E27FC236}">
                <a16:creationId xmlns:a16="http://schemas.microsoft.com/office/drawing/2014/main" id="{30CAF693-5AC7-5B65-22D2-9D4136A5279D}"/>
              </a:ext>
            </a:extLst>
          </p:cNvPr>
          <p:cNvPicPr>
            <a:picLocks noChangeAspect="1"/>
          </p:cNvPicPr>
          <p:nvPr/>
        </p:nvPicPr>
        <p:blipFill>
          <a:blip r:embed="rId4"/>
          <a:stretch>
            <a:fillRect/>
          </a:stretch>
        </p:blipFill>
        <p:spPr>
          <a:xfrm>
            <a:off x="198781" y="2711184"/>
            <a:ext cx="4096512" cy="2371291"/>
          </a:xfrm>
          <a:prstGeom prst="rect">
            <a:avLst/>
          </a:prstGeom>
          <a:effectLst>
            <a:glow rad="63500">
              <a:schemeClr val="bg1">
                <a:lumMod val="65000"/>
                <a:alpha val="40000"/>
              </a:schemeClr>
            </a:glow>
          </a:effectLst>
        </p:spPr>
      </p:pic>
    </p:spTree>
    <p:extLst>
      <p:ext uri="{BB962C8B-B14F-4D97-AF65-F5344CB8AC3E}">
        <p14:creationId xmlns:p14="http://schemas.microsoft.com/office/powerpoint/2010/main" val="4224493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4"/>
          </p:nvPr>
        </p:nvSpPr>
        <p:spPr>
          <a:prstGeom prst="rect">
            <a:avLst/>
          </a:prstGeom>
        </p:spPr>
        <p:txBody>
          <a:bodyPr vert="horz" lIns="0" tIns="0" rIns="0" bIns="0" rtlCol="0" anchor="ctr" anchorCtr="0"/>
          <a:lstStyle>
            <a:lvl1pPr algn="r">
              <a:defRPr sz="1800">
                <a:solidFill>
                  <a:schemeClr val="tx1"/>
                </a:solidFill>
              </a:defRPr>
            </a:lvl1pPr>
          </a:lstStyle>
          <a:p>
            <a:fld id="{A3381702-59A5-4643-AE93-D7BF7F78153B}" type="slidenum">
              <a:rPr lang="en-GB" smtClean="0"/>
              <a:pPr/>
              <a:t>12</a:t>
            </a:fld>
            <a:endParaRPr lang="en-GB" dirty="0"/>
          </a:p>
        </p:txBody>
      </p:sp>
      <p:sp>
        <p:nvSpPr>
          <p:cNvPr id="8" name="Footer Placeholder 4"/>
          <p:cNvSpPr>
            <a:spLocks noGrp="1"/>
          </p:cNvSpPr>
          <p:nvPr>
            <p:ph type="ftr" sz="quarter" idx="3"/>
          </p:nvPr>
        </p:nvSpPr>
        <p:spPr>
          <a:prstGeom prst="rect">
            <a:avLst/>
          </a:prstGeom>
        </p:spPr>
        <p:txBody>
          <a:bodyPr vert="horz" lIns="0" tIns="0" rIns="0" bIns="0" rtlCol="0" anchor="t" anchorCtr="0"/>
          <a:lstStyle>
            <a:lvl1pPr algn="r">
              <a:defRPr sz="700">
                <a:solidFill>
                  <a:schemeClr val="tx1"/>
                </a:solidFill>
                <a:latin typeface="+mn-lt"/>
              </a:defRPr>
            </a:lvl1pPr>
          </a:lstStyle>
          <a:p>
            <a:r>
              <a:rPr lang="fr-FR" altLang="ja-JP" dirty="0"/>
              <a:t>©20</a:t>
            </a:r>
            <a:r>
              <a:rPr lang="en-US" altLang="ja-JP" dirty="0"/>
              <a:t>23</a:t>
            </a:r>
            <a:r>
              <a:rPr lang="fr-FR" altLang="ja-JP" dirty="0"/>
              <a:t> KYOCERA Document Solutions Inc.</a:t>
            </a:r>
            <a:endParaRPr lang="en-GB" dirty="0"/>
          </a:p>
        </p:txBody>
      </p:sp>
      <p:sp>
        <p:nvSpPr>
          <p:cNvPr id="4" name="Rectangle 3">
            <a:extLst>
              <a:ext uri="{FF2B5EF4-FFF2-40B4-BE49-F238E27FC236}">
                <a16:creationId xmlns:a16="http://schemas.microsoft.com/office/drawing/2014/main" id="{0BAEFD46-8DC5-BB64-F040-FD68EE6A7C2D}"/>
              </a:ext>
            </a:extLst>
          </p:cNvPr>
          <p:cNvSpPr/>
          <p:nvPr/>
        </p:nvSpPr>
        <p:spPr>
          <a:xfrm>
            <a:off x="295745" y="40624"/>
            <a:ext cx="8722810" cy="6207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nSpc>
                <a:spcPct val="107000"/>
              </a:lnSpc>
              <a:spcBef>
                <a:spcPts val="0"/>
              </a:spcBef>
              <a:spcAft>
                <a:spcPts val="800"/>
              </a:spcAft>
              <a:tabLst>
                <a:tab pos="457200" algn="l"/>
              </a:tabLst>
            </a:pPr>
            <a:r>
              <a:rPr lang="en-US" sz="2200" b="1">
                <a:solidFill>
                  <a:schemeClr val="tx1"/>
                </a:solidFill>
                <a:latin typeface="Calibri" panose="020F0502020204030204" pitchFamily="34" charset="0"/>
                <a:ea typeface="游明朝" panose="02020400000000000000" pitchFamily="18" charset="-128"/>
                <a:cs typeface="Times New Roman" panose="02020603050405020304" pitchFamily="18" charset="0"/>
              </a:rPr>
              <a:t>2</a:t>
            </a:r>
            <a:r>
              <a:rPr lang="en-US" sz="2200" b="1">
                <a:solidFill>
                  <a:schemeClr val="tx1"/>
                </a:solidFill>
                <a:effectLst/>
                <a:latin typeface="Calibri" panose="020F0502020204030204" pitchFamily="34" charset="0"/>
                <a:ea typeface="游明朝" panose="02020400000000000000" pitchFamily="18" charset="-128"/>
                <a:cs typeface="Times New Roman" panose="02020603050405020304" pitchFamily="18" charset="0"/>
              </a:rPr>
              <a:t>. BIỂU ĐỒ CỘT</a:t>
            </a:r>
            <a:endParaRPr lang="en-US" sz="2200">
              <a:solidFill>
                <a:schemeClr val="tx1"/>
              </a:solidFill>
              <a:effectLst/>
              <a:latin typeface="Calibri" panose="020F0502020204030204" pitchFamily="34" charset="0"/>
              <a:ea typeface="游明朝" panose="02020400000000000000" pitchFamily="18" charset="-128"/>
              <a:cs typeface="Times New Roman" panose="02020603050405020304" pitchFamily="18" charset="0"/>
            </a:endParaRPr>
          </a:p>
        </p:txBody>
      </p:sp>
      <p:sp>
        <p:nvSpPr>
          <p:cNvPr id="6" name="Freeform 34">
            <a:extLst>
              <a:ext uri="{FF2B5EF4-FFF2-40B4-BE49-F238E27FC236}">
                <a16:creationId xmlns:a16="http://schemas.microsoft.com/office/drawing/2014/main" id="{E988D51C-281C-0FC1-508D-073F501DA6DF}"/>
              </a:ext>
            </a:extLst>
          </p:cNvPr>
          <p:cNvSpPr>
            <a:spLocks noChangeAspect="1"/>
          </p:cNvSpPr>
          <p:nvPr/>
        </p:nvSpPr>
        <p:spPr bwMode="auto">
          <a:xfrm rot="10800000" flipV="1">
            <a:off x="509368" y="536909"/>
            <a:ext cx="1655684" cy="47957"/>
          </a:xfrm>
          <a:custGeom>
            <a:avLst/>
            <a:gdLst>
              <a:gd name="T0" fmla="*/ 922 w 990"/>
              <a:gd name="T1" fmla="*/ 0 h 36"/>
              <a:gd name="T2" fmla="*/ 907 w 990"/>
              <a:gd name="T3" fmla="*/ 0 h 36"/>
              <a:gd name="T4" fmla="*/ 880 w 990"/>
              <a:gd name="T5" fmla="*/ 1 h 36"/>
              <a:gd name="T6" fmla="*/ 839 w 990"/>
              <a:gd name="T7" fmla="*/ 3 h 36"/>
              <a:gd name="T8" fmla="*/ 818 w 990"/>
              <a:gd name="T9" fmla="*/ 3 h 36"/>
              <a:gd name="T10" fmla="*/ 798 w 990"/>
              <a:gd name="T11" fmla="*/ 4 h 36"/>
              <a:gd name="T12" fmla="*/ 757 w 990"/>
              <a:gd name="T13" fmla="*/ 5 h 36"/>
              <a:gd name="T14" fmla="*/ 718 w 990"/>
              <a:gd name="T15" fmla="*/ 5 h 36"/>
              <a:gd name="T16" fmla="*/ 662 w 990"/>
              <a:gd name="T17" fmla="*/ 5 h 36"/>
              <a:gd name="T18" fmla="*/ 540 w 990"/>
              <a:gd name="T19" fmla="*/ 4 h 36"/>
              <a:gd name="T20" fmla="*/ 512 w 990"/>
              <a:gd name="T21" fmla="*/ 4 h 36"/>
              <a:gd name="T22" fmla="*/ 511 w 990"/>
              <a:gd name="T23" fmla="*/ 4 h 36"/>
              <a:gd name="T24" fmla="*/ 484 w 990"/>
              <a:gd name="T25" fmla="*/ 5 h 36"/>
              <a:gd name="T26" fmla="*/ 419 w 990"/>
              <a:gd name="T27" fmla="*/ 5 h 36"/>
              <a:gd name="T28" fmla="*/ 353 w 990"/>
              <a:gd name="T29" fmla="*/ 7 h 36"/>
              <a:gd name="T30" fmla="*/ 350 w 990"/>
              <a:gd name="T31" fmla="*/ 7 h 36"/>
              <a:gd name="T32" fmla="*/ 288 w 990"/>
              <a:gd name="T33" fmla="*/ 5 h 36"/>
              <a:gd name="T34" fmla="*/ 265 w 990"/>
              <a:gd name="T35" fmla="*/ 4 h 36"/>
              <a:gd name="T36" fmla="*/ 244 w 990"/>
              <a:gd name="T37" fmla="*/ 4 h 36"/>
              <a:gd name="T38" fmla="*/ 224 w 990"/>
              <a:gd name="T39" fmla="*/ 4 h 36"/>
              <a:gd name="T40" fmla="*/ 223 w 990"/>
              <a:gd name="T41" fmla="*/ 4 h 36"/>
              <a:gd name="T42" fmla="*/ 222 w 990"/>
              <a:gd name="T43" fmla="*/ 4 h 36"/>
              <a:gd name="T44" fmla="*/ 190 w 990"/>
              <a:gd name="T45" fmla="*/ 4 h 36"/>
              <a:gd name="T46" fmla="*/ 158 w 990"/>
              <a:gd name="T47" fmla="*/ 4 h 36"/>
              <a:gd name="T48" fmla="*/ 157 w 990"/>
              <a:gd name="T49" fmla="*/ 4 h 36"/>
              <a:gd name="T50" fmla="*/ 91 w 990"/>
              <a:gd name="T51" fmla="*/ 5 h 36"/>
              <a:gd name="T52" fmla="*/ 58 w 990"/>
              <a:gd name="T53" fmla="*/ 6 h 36"/>
              <a:gd name="T54" fmla="*/ 26 w 990"/>
              <a:gd name="T55" fmla="*/ 8 h 36"/>
              <a:gd name="T56" fmla="*/ 10 w 990"/>
              <a:gd name="T57" fmla="*/ 10 h 36"/>
              <a:gd name="T58" fmla="*/ 6 w 990"/>
              <a:gd name="T59" fmla="*/ 10 h 36"/>
              <a:gd name="T60" fmla="*/ 5 w 990"/>
              <a:gd name="T61" fmla="*/ 10 h 36"/>
              <a:gd name="T62" fmla="*/ 5 w 990"/>
              <a:gd name="T63" fmla="*/ 10 h 36"/>
              <a:gd name="T64" fmla="*/ 4 w 990"/>
              <a:gd name="T65" fmla="*/ 10 h 36"/>
              <a:gd name="T66" fmla="*/ 2 w 990"/>
              <a:gd name="T67" fmla="*/ 10 h 36"/>
              <a:gd name="T68" fmla="*/ 1 w 990"/>
              <a:gd name="T69" fmla="*/ 12 h 36"/>
              <a:gd name="T70" fmla="*/ 4 w 990"/>
              <a:gd name="T71" fmla="*/ 17 h 36"/>
              <a:gd name="T72" fmla="*/ 4 w 990"/>
              <a:gd name="T73" fmla="*/ 17 h 36"/>
              <a:gd name="T74" fmla="*/ 63 w 990"/>
              <a:gd name="T75" fmla="*/ 16 h 36"/>
              <a:gd name="T76" fmla="*/ 70 w 990"/>
              <a:gd name="T77" fmla="*/ 16 h 36"/>
              <a:gd name="T78" fmla="*/ 122 w 990"/>
              <a:gd name="T79" fmla="*/ 17 h 36"/>
              <a:gd name="T80" fmla="*/ 153 w 990"/>
              <a:gd name="T81" fmla="*/ 19 h 36"/>
              <a:gd name="T82" fmla="*/ 183 w 990"/>
              <a:gd name="T83" fmla="*/ 20 h 36"/>
              <a:gd name="T84" fmla="*/ 244 w 990"/>
              <a:gd name="T85" fmla="*/ 22 h 36"/>
              <a:gd name="T86" fmla="*/ 305 w 990"/>
              <a:gd name="T87" fmla="*/ 24 h 36"/>
              <a:gd name="T88" fmla="*/ 336 w 990"/>
              <a:gd name="T89" fmla="*/ 26 h 36"/>
              <a:gd name="T90" fmla="*/ 375 w 990"/>
              <a:gd name="T91" fmla="*/ 28 h 36"/>
              <a:gd name="T92" fmla="*/ 489 w 990"/>
              <a:gd name="T93" fmla="*/ 32 h 36"/>
              <a:gd name="T94" fmla="*/ 612 w 990"/>
              <a:gd name="T95" fmla="*/ 36 h 36"/>
              <a:gd name="T96" fmla="*/ 665 w 990"/>
              <a:gd name="T97" fmla="*/ 36 h 36"/>
              <a:gd name="T98" fmla="*/ 707 w 990"/>
              <a:gd name="T99" fmla="*/ 36 h 36"/>
              <a:gd name="T100" fmla="*/ 750 w 990"/>
              <a:gd name="T101" fmla="*/ 36 h 36"/>
              <a:gd name="T102" fmla="*/ 792 w 990"/>
              <a:gd name="T103" fmla="*/ 35 h 36"/>
              <a:gd name="T104" fmla="*/ 879 w 990"/>
              <a:gd name="T105" fmla="*/ 32 h 36"/>
              <a:gd name="T106" fmla="*/ 921 w 990"/>
              <a:gd name="T107" fmla="*/ 30 h 36"/>
              <a:gd name="T108" fmla="*/ 969 w 990"/>
              <a:gd name="T109" fmla="*/ 27 h 36"/>
              <a:gd name="T110" fmla="*/ 982 w 990"/>
              <a:gd name="T111" fmla="*/ 22 h 36"/>
              <a:gd name="T112" fmla="*/ 987 w 990"/>
              <a:gd name="T113" fmla="*/ 15 h 36"/>
              <a:gd name="T114" fmla="*/ 989 w 990"/>
              <a:gd name="T115" fmla="*/ 8 h 36"/>
              <a:gd name="T116" fmla="*/ 982 w 990"/>
              <a:gd name="T117" fmla="*/ 2 h 36"/>
              <a:gd name="T118" fmla="*/ 962 w 990"/>
              <a:gd name="T119" fmla="*/ 0 h 36"/>
              <a:gd name="T120" fmla="*/ 934 w 990"/>
              <a:gd name="T121" fmla="*/ 0 h 36"/>
              <a:gd name="T122" fmla="*/ 922 w 990"/>
              <a:gd name="T1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0" h="36">
                <a:moveTo>
                  <a:pt x="922" y="0"/>
                </a:moveTo>
                <a:cubicBezTo>
                  <a:pt x="917" y="0"/>
                  <a:pt x="912" y="0"/>
                  <a:pt x="907" y="0"/>
                </a:cubicBezTo>
                <a:cubicBezTo>
                  <a:pt x="898" y="0"/>
                  <a:pt x="889" y="1"/>
                  <a:pt x="880" y="1"/>
                </a:cubicBezTo>
                <a:cubicBezTo>
                  <a:pt x="839" y="3"/>
                  <a:pt x="839" y="3"/>
                  <a:pt x="839" y="3"/>
                </a:cubicBezTo>
                <a:cubicBezTo>
                  <a:pt x="818" y="3"/>
                  <a:pt x="818" y="3"/>
                  <a:pt x="818" y="3"/>
                </a:cubicBezTo>
                <a:cubicBezTo>
                  <a:pt x="798" y="4"/>
                  <a:pt x="798" y="4"/>
                  <a:pt x="798" y="4"/>
                </a:cubicBezTo>
                <a:cubicBezTo>
                  <a:pt x="757" y="5"/>
                  <a:pt x="757" y="5"/>
                  <a:pt x="757" y="5"/>
                </a:cubicBezTo>
                <a:cubicBezTo>
                  <a:pt x="744" y="5"/>
                  <a:pt x="731" y="5"/>
                  <a:pt x="718" y="5"/>
                </a:cubicBezTo>
                <a:cubicBezTo>
                  <a:pt x="699" y="5"/>
                  <a:pt x="681" y="5"/>
                  <a:pt x="662" y="5"/>
                </a:cubicBezTo>
                <a:cubicBezTo>
                  <a:pt x="540" y="4"/>
                  <a:pt x="540" y="4"/>
                  <a:pt x="540" y="4"/>
                </a:cubicBezTo>
                <a:cubicBezTo>
                  <a:pt x="512" y="4"/>
                  <a:pt x="512" y="4"/>
                  <a:pt x="512" y="4"/>
                </a:cubicBezTo>
                <a:cubicBezTo>
                  <a:pt x="512" y="4"/>
                  <a:pt x="511" y="4"/>
                  <a:pt x="511" y="4"/>
                </a:cubicBezTo>
                <a:cubicBezTo>
                  <a:pt x="502" y="4"/>
                  <a:pt x="493" y="4"/>
                  <a:pt x="484" y="5"/>
                </a:cubicBezTo>
                <a:cubicBezTo>
                  <a:pt x="462" y="5"/>
                  <a:pt x="441" y="5"/>
                  <a:pt x="419" y="5"/>
                </a:cubicBezTo>
                <a:cubicBezTo>
                  <a:pt x="397" y="6"/>
                  <a:pt x="375" y="7"/>
                  <a:pt x="353" y="7"/>
                </a:cubicBezTo>
                <a:cubicBezTo>
                  <a:pt x="352" y="7"/>
                  <a:pt x="351" y="7"/>
                  <a:pt x="350" y="7"/>
                </a:cubicBezTo>
                <a:cubicBezTo>
                  <a:pt x="330" y="7"/>
                  <a:pt x="309" y="5"/>
                  <a:pt x="288" y="5"/>
                </a:cubicBezTo>
                <a:cubicBezTo>
                  <a:pt x="280" y="4"/>
                  <a:pt x="272" y="4"/>
                  <a:pt x="265" y="4"/>
                </a:cubicBezTo>
                <a:cubicBezTo>
                  <a:pt x="258" y="4"/>
                  <a:pt x="251" y="4"/>
                  <a:pt x="244" y="4"/>
                </a:cubicBezTo>
                <a:cubicBezTo>
                  <a:pt x="237" y="4"/>
                  <a:pt x="230" y="4"/>
                  <a:pt x="224" y="4"/>
                </a:cubicBezTo>
                <a:cubicBezTo>
                  <a:pt x="223" y="4"/>
                  <a:pt x="223" y="4"/>
                  <a:pt x="223" y="4"/>
                </a:cubicBezTo>
                <a:cubicBezTo>
                  <a:pt x="223" y="4"/>
                  <a:pt x="222" y="4"/>
                  <a:pt x="222" y="4"/>
                </a:cubicBezTo>
                <a:cubicBezTo>
                  <a:pt x="212" y="4"/>
                  <a:pt x="201" y="4"/>
                  <a:pt x="190" y="4"/>
                </a:cubicBezTo>
                <a:cubicBezTo>
                  <a:pt x="180" y="4"/>
                  <a:pt x="169" y="4"/>
                  <a:pt x="158" y="4"/>
                </a:cubicBezTo>
                <a:cubicBezTo>
                  <a:pt x="158" y="4"/>
                  <a:pt x="157" y="4"/>
                  <a:pt x="157" y="4"/>
                </a:cubicBezTo>
                <a:cubicBezTo>
                  <a:pt x="135" y="4"/>
                  <a:pt x="113" y="4"/>
                  <a:pt x="91" y="5"/>
                </a:cubicBezTo>
                <a:cubicBezTo>
                  <a:pt x="80" y="5"/>
                  <a:pt x="69" y="6"/>
                  <a:pt x="58" y="6"/>
                </a:cubicBezTo>
                <a:cubicBezTo>
                  <a:pt x="48" y="6"/>
                  <a:pt x="37" y="7"/>
                  <a:pt x="26" y="8"/>
                </a:cubicBezTo>
                <a:cubicBezTo>
                  <a:pt x="10" y="10"/>
                  <a:pt x="10" y="10"/>
                  <a:pt x="10" y="10"/>
                </a:cubicBezTo>
                <a:cubicBezTo>
                  <a:pt x="6" y="10"/>
                  <a:pt x="6" y="10"/>
                  <a:pt x="6" y="10"/>
                </a:cubicBezTo>
                <a:cubicBezTo>
                  <a:pt x="6" y="10"/>
                  <a:pt x="5" y="10"/>
                  <a:pt x="5" y="10"/>
                </a:cubicBezTo>
                <a:cubicBezTo>
                  <a:pt x="5" y="10"/>
                  <a:pt x="5" y="10"/>
                  <a:pt x="5" y="10"/>
                </a:cubicBezTo>
                <a:cubicBezTo>
                  <a:pt x="4" y="10"/>
                  <a:pt x="4" y="10"/>
                  <a:pt x="4" y="10"/>
                </a:cubicBezTo>
                <a:cubicBezTo>
                  <a:pt x="3" y="10"/>
                  <a:pt x="2" y="10"/>
                  <a:pt x="2" y="10"/>
                </a:cubicBezTo>
                <a:cubicBezTo>
                  <a:pt x="1" y="10"/>
                  <a:pt x="1" y="11"/>
                  <a:pt x="1" y="12"/>
                </a:cubicBezTo>
                <a:cubicBezTo>
                  <a:pt x="0" y="15"/>
                  <a:pt x="2" y="17"/>
                  <a:pt x="4" y="17"/>
                </a:cubicBezTo>
                <a:cubicBezTo>
                  <a:pt x="4" y="17"/>
                  <a:pt x="4" y="17"/>
                  <a:pt x="4" y="17"/>
                </a:cubicBezTo>
                <a:cubicBezTo>
                  <a:pt x="24" y="17"/>
                  <a:pt x="43" y="16"/>
                  <a:pt x="63" y="16"/>
                </a:cubicBezTo>
                <a:cubicBezTo>
                  <a:pt x="65" y="16"/>
                  <a:pt x="67" y="16"/>
                  <a:pt x="70" y="16"/>
                </a:cubicBezTo>
                <a:cubicBezTo>
                  <a:pt x="87" y="16"/>
                  <a:pt x="105" y="16"/>
                  <a:pt x="122" y="17"/>
                </a:cubicBezTo>
                <a:cubicBezTo>
                  <a:pt x="133" y="18"/>
                  <a:pt x="143" y="19"/>
                  <a:pt x="153" y="19"/>
                </a:cubicBezTo>
                <a:cubicBezTo>
                  <a:pt x="183" y="20"/>
                  <a:pt x="183" y="20"/>
                  <a:pt x="183" y="20"/>
                </a:cubicBezTo>
                <a:cubicBezTo>
                  <a:pt x="203" y="20"/>
                  <a:pt x="224" y="21"/>
                  <a:pt x="244" y="22"/>
                </a:cubicBezTo>
                <a:cubicBezTo>
                  <a:pt x="265" y="22"/>
                  <a:pt x="285" y="23"/>
                  <a:pt x="305" y="24"/>
                </a:cubicBezTo>
                <a:cubicBezTo>
                  <a:pt x="336" y="26"/>
                  <a:pt x="336" y="26"/>
                  <a:pt x="336" y="26"/>
                </a:cubicBezTo>
                <a:cubicBezTo>
                  <a:pt x="346" y="26"/>
                  <a:pt x="361" y="28"/>
                  <a:pt x="375" y="28"/>
                </a:cubicBezTo>
                <a:cubicBezTo>
                  <a:pt x="416" y="31"/>
                  <a:pt x="448" y="31"/>
                  <a:pt x="489" y="32"/>
                </a:cubicBezTo>
                <a:cubicBezTo>
                  <a:pt x="530" y="34"/>
                  <a:pt x="571" y="35"/>
                  <a:pt x="612" y="36"/>
                </a:cubicBezTo>
                <a:cubicBezTo>
                  <a:pt x="629" y="36"/>
                  <a:pt x="647" y="36"/>
                  <a:pt x="665" y="36"/>
                </a:cubicBezTo>
                <a:cubicBezTo>
                  <a:pt x="679" y="36"/>
                  <a:pt x="693" y="36"/>
                  <a:pt x="707" y="36"/>
                </a:cubicBezTo>
                <a:cubicBezTo>
                  <a:pt x="750" y="36"/>
                  <a:pt x="750" y="36"/>
                  <a:pt x="750" y="36"/>
                </a:cubicBezTo>
                <a:cubicBezTo>
                  <a:pt x="792" y="35"/>
                  <a:pt x="792" y="35"/>
                  <a:pt x="792" y="35"/>
                </a:cubicBezTo>
                <a:cubicBezTo>
                  <a:pt x="821" y="34"/>
                  <a:pt x="850" y="33"/>
                  <a:pt x="879" y="32"/>
                </a:cubicBezTo>
                <a:cubicBezTo>
                  <a:pt x="921" y="30"/>
                  <a:pt x="921" y="30"/>
                  <a:pt x="921" y="30"/>
                </a:cubicBezTo>
                <a:cubicBezTo>
                  <a:pt x="937" y="30"/>
                  <a:pt x="953" y="29"/>
                  <a:pt x="969" y="27"/>
                </a:cubicBezTo>
                <a:cubicBezTo>
                  <a:pt x="973" y="26"/>
                  <a:pt x="979" y="25"/>
                  <a:pt x="982" y="22"/>
                </a:cubicBezTo>
                <a:cubicBezTo>
                  <a:pt x="984" y="20"/>
                  <a:pt x="986" y="17"/>
                  <a:pt x="987" y="15"/>
                </a:cubicBezTo>
                <a:cubicBezTo>
                  <a:pt x="989" y="13"/>
                  <a:pt x="990" y="10"/>
                  <a:pt x="989" y="8"/>
                </a:cubicBezTo>
                <a:cubicBezTo>
                  <a:pt x="988" y="4"/>
                  <a:pt x="985" y="3"/>
                  <a:pt x="982" y="2"/>
                </a:cubicBezTo>
                <a:cubicBezTo>
                  <a:pt x="975" y="0"/>
                  <a:pt x="968" y="0"/>
                  <a:pt x="962" y="0"/>
                </a:cubicBezTo>
                <a:cubicBezTo>
                  <a:pt x="934" y="0"/>
                  <a:pt x="934" y="0"/>
                  <a:pt x="934" y="0"/>
                </a:cubicBezTo>
                <a:cubicBezTo>
                  <a:pt x="930" y="0"/>
                  <a:pt x="926" y="0"/>
                  <a:pt x="922" y="0"/>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2" name="Content Placeholder 2">
            <a:extLst>
              <a:ext uri="{FF2B5EF4-FFF2-40B4-BE49-F238E27FC236}">
                <a16:creationId xmlns:a16="http://schemas.microsoft.com/office/drawing/2014/main" id="{8A378710-0B40-86B5-B2C6-AF290BD75FB3}"/>
              </a:ext>
            </a:extLst>
          </p:cNvPr>
          <p:cNvSpPr txBox="1">
            <a:spLocks/>
          </p:cNvSpPr>
          <p:nvPr/>
        </p:nvSpPr>
        <p:spPr>
          <a:xfrm>
            <a:off x="401032" y="716399"/>
            <a:ext cx="8510739" cy="1326843"/>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1600" b="1">
                <a:latin typeface="Calibri" panose="020F0502020204030204" pitchFamily="34" charset="0"/>
                <a:cs typeface="Calibri" panose="020F0502020204030204" pitchFamily="34" charset="0"/>
              </a:rPr>
              <a:t>a. Ý nghĩa: </a:t>
            </a:r>
          </a:p>
          <a:p>
            <a:pPr algn="l"/>
            <a:r>
              <a:rPr lang="en-US" sz="1600">
                <a:latin typeface="Calibri" panose="020F0502020204030204" pitchFamily="34" charset="0"/>
                <a:cs typeface="Calibri" panose="020F0502020204030204" pitchFamily="34" charset="0"/>
              </a:rPr>
              <a:t>- </a:t>
            </a:r>
            <a:r>
              <a:rPr lang="vi-VN" sz="1600">
                <a:latin typeface="Calibri" panose="020F0502020204030204" pitchFamily="34" charset="0"/>
                <a:cs typeface="Calibri" panose="020F0502020204030204" pitchFamily="34" charset="0"/>
              </a:rPr>
              <a:t>So sánh các giá trị dữ liệu giữa các mục khác nhau</a:t>
            </a:r>
          </a:p>
          <a:p>
            <a:pPr algn="l"/>
            <a:r>
              <a:rPr lang="en-US" sz="1600">
                <a:latin typeface="Calibri" panose="020F0502020204030204" pitchFamily="34" charset="0"/>
                <a:cs typeface="Calibri" panose="020F0502020204030204" pitchFamily="34" charset="0"/>
              </a:rPr>
              <a:t>- </a:t>
            </a:r>
            <a:r>
              <a:rPr lang="vi-VN" sz="1600">
                <a:latin typeface="Calibri" panose="020F0502020204030204" pitchFamily="34" charset="0"/>
                <a:cs typeface="Calibri" panose="020F0502020204030204" pitchFamily="34" charset="0"/>
              </a:rPr>
              <a:t>Phân tích xu hướng thay đổi của dữ liệu theo thời gian hoặc các đơn vị khác</a:t>
            </a:r>
            <a:endParaRPr lang="en-US" sz="1600">
              <a:latin typeface="Calibri" panose="020F0502020204030204" pitchFamily="34" charset="0"/>
              <a:cs typeface="Calibri" panose="020F0502020204030204" pitchFamily="34" charset="0"/>
            </a:endParaRPr>
          </a:p>
          <a:p>
            <a:pPr algn="l"/>
            <a:r>
              <a:rPr lang="en-US" sz="1600" baseline="0">
                <a:latin typeface="Calibri" panose="020F0502020204030204" pitchFamily="34" charset="0"/>
                <a:cs typeface="Calibri" panose="020F0502020204030204" pitchFamily="34" charset="0"/>
              </a:rPr>
              <a:t>- Ví dụ dùng biểu đồ cột để so sánh </a:t>
            </a:r>
            <a:r>
              <a:rPr lang="en-US" sz="1600">
                <a:latin typeface="Calibri" panose="020F0502020204030204" pitchFamily="34" charset="0"/>
                <a:cs typeface="Calibri" panose="020F0502020204030204" pitchFamily="34" charset="0"/>
              </a:rPr>
              <a:t>tình trạng Qmlot tồn trong nhà xưởng</a:t>
            </a:r>
          </a:p>
        </p:txBody>
      </p:sp>
      <p:pic>
        <p:nvPicPr>
          <p:cNvPr id="5" name="Picture 4">
            <a:extLst>
              <a:ext uri="{FF2B5EF4-FFF2-40B4-BE49-F238E27FC236}">
                <a16:creationId xmlns:a16="http://schemas.microsoft.com/office/drawing/2014/main" id="{B23FF145-65BF-9360-9848-61214AD8283E}"/>
              </a:ext>
            </a:extLst>
          </p:cNvPr>
          <p:cNvPicPr>
            <a:picLocks noChangeAspect="1"/>
          </p:cNvPicPr>
          <p:nvPr/>
        </p:nvPicPr>
        <p:blipFill>
          <a:blip r:embed="rId3"/>
          <a:stretch>
            <a:fillRect/>
          </a:stretch>
        </p:blipFill>
        <p:spPr>
          <a:xfrm>
            <a:off x="1302819" y="2381425"/>
            <a:ext cx="6538362" cy="3775673"/>
          </a:xfrm>
          <a:prstGeom prst="rect">
            <a:avLst/>
          </a:prstGeom>
        </p:spPr>
      </p:pic>
    </p:spTree>
    <p:extLst>
      <p:ext uri="{BB962C8B-B14F-4D97-AF65-F5344CB8AC3E}">
        <p14:creationId xmlns:p14="http://schemas.microsoft.com/office/powerpoint/2010/main" val="7449121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4"/>
          </p:nvPr>
        </p:nvSpPr>
        <p:spPr>
          <a:prstGeom prst="rect">
            <a:avLst/>
          </a:prstGeom>
        </p:spPr>
        <p:txBody>
          <a:bodyPr vert="horz" lIns="0" tIns="0" rIns="0" bIns="0" rtlCol="0" anchor="ctr" anchorCtr="0"/>
          <a:lstStyle>
            <a:lvl1pPr algn="r">
              <a:defRPr sz="1800">
                <a:solidFill>
                  <a:schemeClr val="tx1"/>
                </a:solidFill>
              </a:defRPr>
            </a:lvl1pPr>
          </a:lstStyle>
          <a:p>
            <a:fld id="{A3381702-59A5-4643-AE93-D7BF7F78153B}" type="slidenum">
              <a:rPr lang="en-GB" smtClean="0"/>
              <a:pPr/>
              <a:t>13</a:t>
            </a:fld>
            <a:endParaRPr lang="en-GB" dirty="0"/>
          </a:p>
        </p:txBody>
      </p:sp>
      <p:sp>
        <p:nvSpPr>
          <p:cNvPr id="8" name="Footer Placeholder 4"/>
          <p:cNvSpPr>
            <a:spLocks noGrp="1"/>
          </p:cNvSpPr>
          <p:nvPr>
            <p:ph type="ftr" sz="quarter" idx="3"/>
          </p:nvPr>
        </p:nvSpPr>
        <p:spPr>
          <a:prstGeom prst="rect">
            <a:avLst/>
          </a:prstGeom>
        </p:spPr>
        <p:txBody>
          <a:bodyPr vert="horz" lIns="0" tIns="0" rIns="0" bIns="0" rtlCol="0" anchor="t" anchorCtr="0"/>
          <a:lstStyle>
            <a:lvl1pPr algn="r">
              <a:defRPr sz="700">
                <a:solidFill>
                  <a:schemeClr val="tx1"/>
                </a:solidFill>
                <a:latin typeface="+mn-lt"/>
              </a:defRPr>
            </a:lvl1pPr>
          </a:lstStyle>
          <a:p>
            <a:r>
              <a:rPr lang="fr-FR" altLang="ja-JP" dirty="0"/>
              <a:t>©20</a:t>
            </a:r>
            <a:r>
              <a:rPr lang="en-US" altLang="ja-JP" dirty="0"/>
              <a:t>23</a:t>
            </a:r>
            <a:r>
              <a:rPr lang="fr-FR" altLang="ja-JP" dirty="0"/>
              <a:t> KYOCERA Document Solutions Inc.</a:t>
            </a:r>
            <a:endParaRPr lang="en-GB" dirty="0"/>
          </a:p>
        </p:txBody>
      </p:sp>
      <p:sp>
        <p:nvSpPr>
          <p:cNvPr id="4" name="Rectangle 3">
            <a:extLst>
              <a:ext uri="{FF2B5EF4-FFF2-40B4-BE49-F238E27FC236}">
                <a16:creationId xmlns:a16="http://schemas.microsoft.com/office/drawing/2014/main" id="{0BAEFD46-8DC5-BB64-F040-FD68EE6A7C2D}"/>
              </a:ext>
            </a:extLst>
          </p:cNvPr>
          <p:cNvSpPr/>
          <p:nvPr/>
        </p:nvSpPr>
        <p:spPr>
          <a:xfrm>
            <a:off x="295745" y="40624"/>
            <a:ext cx="8722810" cy="6207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nSpc>
                <a:spcPct val="107000"/>
              </a:lnSpc>
              <a:spcBef>
                <a:spcPts val="0"/>
              </a:spcBef>
              <a:spcAft>
                <a:spcPts val="800"/>
              </a:spcAft>
              <a:tabLst>
                <a:tab pos="457200" algn="l"/>
              </a:tabLst>
            </a:pPr>
            <a:r>
              <a:rPr lang="en-US" sz="2200" b="1">
                <a:solidFill>
                  <a:schemeClr val="tx1"/>
                </a:solidFill>
                <a:latin typeface="Calibri" panose="020F0502020204030204" pitchFamily="34" charset="0"/>
                <a:ea typeface="游明朝" panose="02020400000000000000" pitchFamily="18" charset="-128"/>
                <a:cs typeface="Times New Roman" panose="02020603050405020304" pitchFamily="18" charset="0"/>
              </a:rPr>
              <a:t>2</a:t>
            </a:r>
            <a:r>
              <a:rPr lang="en-US" sz="2200" b="1">
                <a:solidFill>
                  <a:schemeClr val="tx1"/>
                </a:solidFill>
                <a:effectLst/>
                <a:latin typeface="Calibri" panose="020F0502020204030204" pitchFamily="34" charset="0"/>
                <a:ea typeface="游明朝" panose="02020400000000000000" pitchFamily="18" charset="-128"/>
                <a:cs typeface="Times New Roman" panose="02020603050405020304" pitchFamily="18" charset="0"/>
              </a:rPr>
              <a:t>. BIỂU ĐỒ CỘT</a:t>
            </a:r>
            <a:endParaRPr lang="en-US" sz="2200">
              <a:solidFill>
                <a:schemeClr val="tx1"/>
              </a:solidFill>
              <a:effectLst/>
              <a:latin typeface="Calibri" panose="020F0502020204030204" pitchFamily="34" charset="0"/>
              <a:ea typeface="游明朝" panose="02020400000000000000" pitchFamily="18" charset="-128"/>
              <a:cs typeface="Times New Roman" panose="02020603050405020304" pitchFamily="18" charset="0"/>
            </a:endParaRPr>
          </a:p>
        </p:txBody>
      </p:sp>
      <p:sp>
        <p:nvSpPr>
          <p:cNvPr id="6" name="Freeform 34">
            <a:extLst>
              <a:ext uri="{FF2B5EF4-FFF2-40B4-BE49-F238E27FC236}">
                <a16:creationId xmlns:a16="http://schemas.microsoft.com/office/drawing/2014/main" id="{E988D51C-281C-0FC1-508D-073F501DA6DF}"/>
              </a:ext>
            </a:extLst>
          </p:cNvPr>
          <p:cNvSpPr>
            <a:spLocks noChangeAspect="1"/>
          </p:cNvSpPr>
          <p:nvPr/>
        </p:nvSpPr>
        <p:spPr bwMode="auto">
          <a:xfrm rot="10800000" flipV="1">
            <a:off x="509368" y="536909"/>
            <a:ext cx="1655684" cy="47957"/>
          </a:xfrm>
          <a:custGeom>
            <a:avLst/>
            <a:gdLst>
              <a:gd name="T0" fmla="*/ 922 w 990"/>
              <a:gd name="T1" fmla="*/ 0 h 36"/>
              <a:gd name="T2" fmla="*/ 907 w 990"/>
              <a:gd name="T3" fmla="*/ 0 h 36"/>
              <a:gd name="T4" fmla="*/ 880 w 990"/>
              <a:gd name="T5" fmla="*/ 1 h 36"/>
              <a:gd name="T6" fmla="*/ 839 w 990"/>
              <a:gd name="T7" fmla="*/ 3 h 36"/>
              <a:gd name="T8" fmla="*/ 818 w 990"/>
              <a:gd name="T9" fmla="*/ 3 h 36"/>
              <a:gd name="T10" fmla="*/ 798 w 990"/>
              <a:gd name="T11" fmla="*/ 4 h 36"/>
              <a:gd name="T12" fmla="*/ 757 w 990"/>
              <a:gd name="T13" fmla="*/ 5 h 36"/>
              <a:gd name="T14" fmla="*/ 718 w 990"/>
              <a:gd name="T15" fmla="*/ 5 h 36"/>
              <a:gd name="T16" fmla="*/ 662 w 990"/>
              <a:gd name="T17" fmla="*/ 5 h 36"/>
              <a:gd name="T18" fmla="*/ 540 w 990"/>
              <a:gd name="T19" fmla="*/ 4 h 36"/>
              <a:gd name="T20" fmla="*/ 512 w 990"/>
              <a:gd name="T21" fmla="*/ 4 h 36"/>
              <a:gd name="T22" fmla="*/ 511 w 990"/>
              <a:gd name="T23" fmla="*/ 4 h 36"/>
              <a:gd name="T24" fmla="*/ 484 w 990"/>
              <a:gd name="T25" fmla="*/ 5 h 36"/>
              <a:gd name="T26" fmla="*/ 419 w 990"/>
              <a:gd name="T27" fmla="*/ 5 h 36"/>
              <a:gd name="T28" fmla="*/ 353 w 990"/>
              <a:gd name="T29" fmla="*/ 7 h 36"/>
              <a:gd name="T30" fmla="*/ 350 w 990"/>
              <a:gd name="T31" fmla="*/ 7 h 36"/>
              <a:gd name="T32" fmla="*/ 288 w 990"/>
              <a:gd name="T33" fmla="*/ 5 h 36"/>
              <a:gd name="T34" fmla="*/ 265 w 990"/>
              <a:gd name="T35" fmla="*/ 4 h 36"/>
              <a:gd name="T36" fmla="*/ 244 w 990"/>
              <a:gd name="T37" fmla="*/ 4 h 36"/>
              <a:gd name="T38" fmla="*/ 224 w 990"/>
              <a:gd name="T39" fmla="*/ 4 h 36"/>
              <a:gd name="T40" fmla="*/ 223 w 990"/>
              <a:gd name="T41" fmla="*/ 4 h 36"/>
              <a:gd name="T42" fmla="*/ 222 w 990"/>
              <a:gd name="T43" fmla="*/ 4 h 36"/>
              <a:gd name="T44" fmla="*/ 190 w 990"/>
              <a:gd name="T45" fmla="*/ 4 h 36"/>
              <a:gd name="T46" fmla="*/ 158 w 990"/>
              <a:gd name="T47" fmla="*/ 4 h 36"/>
              <a:gd name="T48" fmla="*/ 157 w 990"/>
              <a:gd name="T49" fmla="*/ 4 h 36"/>
              <a:gd name="T50" fmla="*/ 91 w 990"/>
              <a:gd name="T51" fmla="*/ 5 h 36"/>
              <a:gd name="T52" fmla="*/ 58 w 990"/>
              <a:gd name="T53" fmla="*/ 6 h 36"/>
              <a:gd name="T54" fmla="*/ 26 w 990"/>
              <a:gd name="T55" fmla="*/ 8 h 36"/>
              <a:gd name="T56" fmla="*/ 10 w 990"/>
              <a:gd name="T57" fmla="*/ 10 h 36"/>
              <a:gd name="T58" fmla="*/ 6 w 990"/>
              <a:gd name="T59" fmla="*/ 10 h 36"/>
              <a:gd name="T60" fmla="*/ 5 w 990"/>
              <a:gd name="T61" fmla="*/ 10 h 36"/>
              <a:gd name="T62" fmla="*/ 5 w 990"/>
              <a:gd name="T63" fmla="*/ 10 h 36"/>
              <a:gd name="T64" fmla="*/ 4 w 990"/>
              <a:gd name="T65" fmla="*/ 10 h 36"/>
              <a:gd name="T66" fmla="*/ 2 w 990"/>
              <a:gd name="T67" fmla="*/ 10 h 36"/>
              <a:gd name="T68" fmla="*/ 1 w 990"/>
              <a:gd name="T69" fmla="*/ 12 h 36"/>
              <a:gd name="T70" fmla="*/ 4 w 990"/>
              <a:gd name="T71" fmla="*/ 17 h 36"/>
              <a:gd name="T72" fmla="*/ 4 w 990"/>
              <a:gd name="T73" fmla="*/ 17 h 36"/>
              <a:gd name="T74" fmla="*/ 63 w 990"/>
              <a:gd name="T75" fmla="*/ 16 h 36"/>
              <a:gd name="T76" fmla="*/ 70 w 990"/>
              <a:gd name="T77" fmla="*/ 16 h 36"/>
              <a:gd name="T78" fmla="*/ 122 w 990"/>
              <a:gd name="T79" fmla="*/ 17 h 36"/>
              <a:gd name="T80" fmla="*/ 153 w 990"/>
              <a:gd name="T81" fmla="*/ 19 h 36"/>
              <a:gd name="T82" fmla="*/ 183 w 990"/>
              <a:gd name="T83" fmla="*/ 20 h 36"/>
              <a:gd name="T84" fmla="*/ 244 w 990"/>
              <a:gd name="T85" fmla="*/ 22 h 36"/>
              <a:gd name="T86" fmla="*/ 305 w 990"/>
              <a:gd name="T87" fmla="*/ 24 h 36"/>
              <a:gd name="T88" fmla="*/ 336 w 990"/>
              <a:gd name="T89" fmla="*/ 26 h 36"/>
              <a:gd name="T90" fmla="*/ 375 w 990"/>
              <a:gd name="T91" fmla="*/ 28 h 36"/>
              <a:gd name="T92" fmla="*/ 489 w 990"/>
              <a:gd name="T93" fmla="*/ 32 h 36"/>
              <a:gd name="T94" fmla="*/ 612 w 990"/>
              <a:gd name="T95" fmla="*/ 36 h 36"/>
              <a:gd name="T96" fmla="*/ 665 w 990"/>
              <a:gd name="T97" fmla="*/ 36 h 36"/>
              <a:gd name="T98" fmla="*/ 707 w 990"/>
              <a:gd name="T99" fmla="*/ 36 h 36"/>
              <a:gd name="T100" fmla="*/ 750 w 990"/>
              <a:gd name="T101" fmla="*/ 36 h 36"/>
              <a:gd name="T102" fmla="*/ 792 w 990"/>
              <a:gd name="T103" fmla="*/ 35 h 36"/>
              <a:gd name="T104" fmla="*/ 879 w 990"/>
              <a:gd name="T105" fmla="*/ 32 h 36"/>
              <a:gd name="T106" fmla="*/ 921 w 990"/>
              <a:gd name="T107" fmla="*/ 30 h 36"/>
              <a:gd name="T108" fmla="*/ 969 w 990"/>
              <a:gd name="T109" fmla="*/ 27 h 36"/>
              <a:gd name="T110" fmla="*/ 982 w 990"/>
              <a:gd name="T111" fmla="*/ 22 h 36"/>
              <a:gd name="T112" fmla="*/ 987 w 990"/>
              <a:gd name="T113" fmla="*/ 15 h 36"/>
              <a:gd name="T114" fmla="*/ 989 w 990"/>
              <a:gd name="T115" fmla="*/ 8 h 36"/>
              <a:gd name="T116" fmla="*/ 982 w 990"/>
              <a:gd name="T117" fmla="*/ 2 h 36"/>
              <a:gd name="T118" fmla="*/ 962 w 990"/>
              <a:gd name="T119" fmla="*/ 0 h 36"/>
              <a:gd name="T120" fmla="*/ 934 w 990"/>
              <a:gd name="T121" fmla="*/ 0 h 36"/>
              <a:gd name="T122" fmla="*/ 922 w 990"/>
              <a:gd name="T1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0" h="36">
                <a:moveTo>
                  <a:pt x="922" y="0"/>
                </a:moveTo>
                <a:cubicBezTo>
                  <a:pt x="917" y="0"/>
                  <a:pt x="912" y="0"/>
                  <a:pt x="907" y="0"/>
                </a:cubicBezTo>
                <a:cubicBezTo>
                  <a:pt x="898" y="0"/>
                  <a:pt x="889" y="1"/>
                  <a:pt x="880" y="1"/>
                </a:cubicBezTo>
                <a:cubicBezTo>
                  <a:pt x="839" y="3"/>
                  <a:pt x="839" y="3"/>
                  <a:pt x="839" y="3"/>
                </a:cubicBezTo>
                <a:cubicBezTo>
                  <a:pt x="818" y="3"/>
                  <a:pt x="818" y="3"/>
                  <a:pt x="818" y="3"/>
                </a:cubicBezTo>
                <a:cubicBezTo>
                  <a:pt x="798" y="4"/>
                  <a:pt x="798" y="4"/>
                  <a:pt x="798" y="4"/>
                </a:cubicBezTo>
                <a:cubicBezTo>
                  <a:pt x="757" y="5"/>
                  <a:pt x="757" y="5"/>
                  <a:pt x="757" y="5"/>
                </a:cubicBezTo>
                <a:cubicBezTo>
                  <a:pt x="744" y="5"/>
                  <a:pt x="731" y="5"/>
                  <a:pt x="718" y="5"/>
                </a:cubicBezTo>
                <a:cubicBezTo>
                  <a:pt x="699" y="5"/>
                  <a:pt x="681" y="5"/>
                  <a:pt x="662" y="5"/>
                </a:cubicBezTo>
                <a:cubicBezTo>
                  <a:pt x="540" y="4"/>
                  <a:pt x="540" y="4"/>
                  <a:pt x="540" y="4"/>
                </a:cubicBezTo>
                <a:cubicBezTo>
                  <a:pt x="512" y="4"/>
                  <a:pt x="512" y="4"/>
                  <a:pt x="512" y="4"/>
                </a:cubicBezTo>
                <a:cubicBezTo>
                  <a:pt x="512" y="4"/>
                  <a:pt x="511" y="4"/>
                  <a:pt x="511" y="4"/>
                </a:cubicBezTo>
                <a:cubicBezTo>
                  <a:pt x="502" y="4"/>
                  <a:pt x="493" y="4"/>
                  <a:pt x="484" y="5"/>
                </a:cubicBezTo>
                <a:cubicBezTo>
                  <a:pt x="462" y="5"/>
                  <a:pt x="441" y="5"/>
                  <a:pt x="419" y="5"/>
                </a:cubicBezTo>
                <a:cubicBezTo>
                  <a:pt x="397" y="6"/>
                  <a:pt x="375" y="7"/>
                  <a:pt x="353" y="7"/>
                </a:cubicBezTo>
                <a:cubicBezTo>
                  <a:pt x="352" y="7"/>
                  <a:pt x="351" y="7"/>
                  <a:pt x="350" y="7"/>
                </a:cubicBezTo>
                <a:cubicBezTo>
                  <a:pt x="330" y="7"/>
                  <a:pt x="309" y="5"/>
                  <a:pt x="288" y="5"/>
                </a:cubicBezTo>
                <a:cubicBezTo>
                  <a:pt x="280" y="4"/>
                  <a:pt x="272" y="4"/>
                  <a:pt x="265" y="4"/>
                </a:cubicBezTo>
                <a:cubicBezTo>
                  <a:pt x="258" y="4"/>
                  <a:pt x="251" y="4"/>
                  <a:pt x="244" y="4"/>
                </a:cubicBezTo>
                <a:cubicBezTo>
                  <a:pt x="237" y="4"/>
                  <a:pt x="230" y="4"/>
                  <a:pt x="224" y="4"/>
                </a:cubicBezTo>
                <a:cubicBezTo>
                  <a:pt x="223" y="4"/>
                  <a:pt x="223" y="4"/>
                  <a:pt x="223" y="4"/>
                </a:cubicBezTo>
                <a:cubicBezTo>
                  <a:pt x="223" y="4"/>
                  <a:pt x="222" y="4"/>
                  <a:pt x="222" y="4"/>
                </a:cubicBezTo>
                <a:cubicBezTo>
                  <a:pt x="212" y="4"/>
                  <a:pt x="201" y="4"/>
                  <a:pt x="190" y="4"/>
                </a:cubicBezTo>
                <a:cubicBezTo>
                  <a:pt x="180" y="4"/>
                  <a:pt x="169" y="4"/>
                  <a:pt x="158" y="4"/>
                </a:cubicBezTo>
                <a:cubicBezTo>
                  <a:pt x="158" y="4"/>
                  <a:pt x="157" y="4"/>
                  <a:pt x="157" y="4"/>
                </a:cubicBezTo>
                <a:cubicBezTo>
                  <a:pt x="135" y="4"/>
                  <a:pt x="113" y="4"/>
                  <a:pt x="91" y="5"/>
                </a:cubicBezTo>
                <a:cubicBezTo>
                  <a:pt x="80" y="5"/>
                  <a:pt x="69" y="6"/>
                  <a:pt x="58" y="6"/>
                </a:cubicBezTo>
                <a:cubicBezTo>
                  <a:pt x="48" y="6"/>
                  <a:pt x="37" y="7"/>
                  <a:pt x="26" y="8"/>
                </a:cubicBezTo>
                <a:cubicBezTo>
                  <a:pt x="10" y="10"/>
                  <a:pt x="10" y="10"/>
                  <a:pt x="10" y="10"/>
                </a:cubicBezTo>
                <a:cubicBezTo>
                  <a:pt x="6" y="10"/>
                  <a:pt x="6" y="10"/>
                  <a:pt x="6" y="10"/>
                </a:cubicBezTo>
                <a:cubicBezTo>
                  <a:pt x="6" y="10"/>
                  <a:pt x="5" y="10"/>
                  <a:pt x="5" y="10"/>
                </a:cubicBezTo>
                <a:cubicBezTo>
                  <a:pt x="5" y="10"/>
                  <a:pt x="5" y="10"/>
                  <a:pt x="5" y="10"/>
                </a:cubicBezTo>
                <a:cubicBezTo>
                  <a:pt x="4" y="10"/>
                  <a:pt x="4" y="10"/>
                  <a:pt x="4" y="10"/>
                </a:cubicBezTo>
                <a:cubicBezTo>
                  <a:pt x="3" y="10"/>
                  <a:pt x="2" y="10"/>
                  <a:pt x="2" y="10"/>
                </a:cubicBezTo>
                <a:cubicBezTo>
                  <a:pt x="1" y="10"/>
                  <a:pt x="1" y="11"/>
                  <a:pt x="1" y="12"/>
                </a:cubicBezTo>
                <a:cubicBezTo>
                  <a:pt x="0" y="15"/>
                  <a:pt x="2" y="17"/>
                  <a:pt x="4" y="17"/>
                </a:cubicBezTo>
                <a:cubicBezTo>
                  <a:pt x="4" y="17"/>
                  <a:pt x="4" y="17"/>
                  <a:pt x="4" y="17"/>
                </a:cubicBezTo>
                <a:cubicBezTo>
                  <a:pt x="24" y="17"/>
                  <a:pt x="43" y="16"/>
                  <a:pt x="63" y="16"/>
                </a:cubicBezTo>
                <a:cubicBezTo>
                  <a:pt x="65" y="16"/>
                  <a:pt x="67" y="16"/>
                  <a:pt x="70" y="16"/>
                </a:cubicBezTo>
                <a:cubicBezTo>
                  <a:pt x="87" y="16"/>
                  <a:pt x="105" y="16"/>
                  <a:pt x="122" y="17"/>
                </a:cubicBezTo>
                <a:cubicBezTo>
                  <a:pt x="133" y="18"/>
                  <a:pt x="143" y="19"/>
                  <a:pt x="153" y="19"/>
                </a:cubicBezTo>
                <a:cubicBezTo>
                  <a:pt x="183" y="20"/>
                  <a:pt x="183" y="20"/>
                  <a:pt x="183" y="20"/>
                </a:cubicBezTo>
                <a:cubicBezTo>
                  <a:pt x="203" y="20"/>
                  <a:pt x="224" y="21"/>
                  <a:pt x="244" y="22"/>
                </a:cubicBezTo>
                <a:cubicBezTo>
                  <a:pt x="265" y="22"/>
                  <a:pt x="285" y="23"/>
                  <a:pt x="305" y="24"/>
                </a:cubicBezTo>
                <a:cubicBezTo>
                  <a:pt x="336" y="26"/>
                  <a:pt x="336" y="26"/>
                  <a:pt x="336" y="26"/>
                </a:cubicBezTo>
                <a:cubicBezTo>
                  <a:pt x="346" y="26"/>
                  <a:pt x="361" y="28"/>
                  <a:pt x="375" y="28"/>
                </a:cubicBezTo>
                <a:cubicBezTo>
                  <a:pt x="416" y="31"/>
                  <a:pt x="448" y="31"/>
                  <a:pt x="489" y="32"/>
                </a:cubicBezTo>
                <a:cubicBezTo>
                  <a:pt x="530" y="34"/>
                  <a:pt x="571" y="35"/>
                  <a:pt x="612" y="36"/>
                </a:cubicBezTo>
                <a:cubicBezTo>
                  <a:pt x="629" y="36"/>
                  <a:pt x="647" y="36"/>
                  <a:pt x="665" y="36"/>
                </a:cubicBezTo>
                <a:cubicBezTo>
                  <a:pt x="679" y="36"/>
                  <a:pt x="693" y="36"/>
                  <a:pt x="707" y="36"/>
                </a:cubicBezTo>
                <a:cubicBezTo>
                  <a:pt x="750" y="36"/>
                  <a:pt x="750" y="36"/>
                  <a:pt x="750" y="36"/>
                </a:cubicBezTo>
                <a:cubicBezTo>
                  <a:pt x="792" y="35"/>
                  <a:pt x="792" y="35"/>
                  <a:pt x="792" y="35"/>
                </a:cubicBezTo>
                <a:cubicBezTo>
                  <a:pt x="821" y="34"/>
                  <a:pt x="850" y="33"/>
                  <a:pt x="879" y="32"/>
                </a:cubicBezTo>
                <a:cubicBezTo>
                  <a:pt x="921" y="30"/>
                  <a:pt x="921" y="30"/>
                  <a:pt x="921" y="30"/>
                </a:cubicBezTo>
                <a:cubicBezTo>
                  <a:pt x="937" y="30"/>
                  <a:pt x="953" y="29"/>
                  <a:pt x="969" y="27"/>
                </a:cubicBezTo>
                <a:cubicBezTo>
                  <a:pt x="973" y="26"/>
                  <a:pt x="979" y="25"/>
                  <a:pt x="982" y="22"/>
                </a:cubicBezTo>
                <a:cubicBezTo>
                  <a:pt x="984" y="20"/>
                  <a:pt x="986" y="17"/>
                  <a:pt x="987" y="15"/>
                </a:cubicBezTo>
                <a:cubicBezTo>
                  <a:pt x="989" y="13"/>
                  <a:pt x="990" y="10"/>
                  <a:pt x="989" y="8"/>
                </a:cubicBezTo>
                <a:cubicBezTo>
                  <a:pt x="988" y="4"/>
                  <a:pt x="985" y="3"/>
                  <a:pt x="982" y="2"/>
                </a:cubicBezTo>
                <a:cubicBezTo>
                  <a:pt x="975" y="0"/>
                  <a:pt x="968" y="0"/>
                  <a:pt x="962" y="0"/>
                </a:cubicBezTo>
                <a:cubicBezTo>
                  <a:pt x="934" y="0"/>
                  <a:pt x="934" y="0"/>
                  <a:pt x="934" y="0"/>
                </a:cubicBezTo>
                <a:cubicBezTo>
                  <a:pt x="930" y="0"/>
                  <a:pt x="926" y="0"/>
                  <a:pt x="922" y="0"/>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2" name="Content Placeholder 2">
            <a:extLst>
              <a:ext uri="{FF2B5EF4-FFF2-40B4-BE49-F238E27FC236}">
                <a16:creationId xmlns:a16="http://schemas.microsoft.com/office/drawing/2014/main" id="{8A378710-0B40-86B5-B2C6-AF290BD75FB3}"/>
              </a:ext>
            </a:extLst>
          </p:cNvPr>
          <p:cNvSpPr txBox="1">
            <a:spLocks/>
          </p:cNvSpPr>
          <p:nvPr/>
        </p:nvSpPr>
        <p:spPr>
          <a:xfrm>
            <a:off x="401032" y="716399"/>
            <a:ext cx="8510739" cy="3289234"/>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1600" b="1">
                <a:latin typeface="Calibri" panose="020F0502020204030204" pitchFamily="34" charset="0"/>
                <a:cs typeface="Calibri" panose="020F0502020204030204" pitchFamily="34" charset="0"/>
              </a:rPr>
              <a:t>b. Cách vẽ: </a:t>
            </a:r>
          </a:p>
          <a:p>
            <a:pPr algn="l"/>
            <a:r>
              <a:rPr lang="en-US" sz="1600" b="1">
                <a:latin typeface="Calibri" panose="020F0502020204030204" pitchFamily="34" charset="0"/>
                <a:cs typeface="Calibri" panose="020F0502020204030204" pitchFamily="34" charset="0"/>
              </a:rPr>
              <a:t>Bước 1</a:t>
            </a:r>
            <a:r>
              <a:rPr lang="en-US" sz="1600">
                <a:latin typeface="Calibri" panose="020F0502020204030204" pitchFamily="34" charset="0"/>
                <a:cs typeface="Calibri" panose="020F0502020204030204" pitchFamily="34" charset="0"/>
              </a:rPr>
              <a:t>: Bôi đen vùng dữ liệu cần vẽ biểu đồ</a:t>
            </a:r>
          </a:p>
          <a:p>
            <a:pPr marL="342900" indent="-342900" algn="l">
              <a:buAutoNum type="alphaUcPeriod"/>
            </a:pPr>
            <a:endParaRPr lang="en-US" sz="1600">
              <a:latin typeface="Calibri" panose="020F0502020204030204" pitchFamily="34" charset="0"/>
              <a:cs typeface="Calibri" panose="020F0502020204030204" pitchFamily="34" charset="0"/>
            </a:endParaRPr>
          </a:p>
          <a:p>
            <a:pPr marL="342900" indent="-342900" algn="l">
              <a:buAutoNum type="alphaUcPeriod"/>
            </a:pPr>
            <a:endParaRPr lang="en-US" sz="1600">
              <a:latin typeface="Calibri" panose="020F0502020204030204" pitchFamily="34" charset="0"/>
              <a:cs typeface="Calibri" panose="020F0502020204030204" pitchFamily="34" charset="0"/>
            </a:endParaRPr>
          </a:p>
          <a:p>
            <a:pPr marL="342900" indent="-342900" algn="l">
              <a:buAutoNum type="alphaUcPeriod"/>
            </a:pPr>
            <a:endParaRPr lang="en-US" sz="1600">
              <a:latin typeface="Calibri" panose="020F0502020204030204" pitchFamily="34" charset="0"/>
              <a:cs typeface="Calibri" panose="020F0502020204030204" pitchFamily="34" charset="0"/>
            </a:endParaRPr>
          </a:p>
          <a:p>
            <a:pPr marL="342900" indent="-342900" algn="l">
              <a:buAutoNum type="alphaUcPeriod"/>
            </a:pPr>
            <a:endParaRPr lang="en-US" sz="1600">
              <a:latin typeface="Calibri" panose="020F0502020204030204" pitchFamily="34" charset="0"/>
              <a:cs typeface="Calibri" panose="020F0502020204030204" pitchFamily="34" charset="0"/>
            </a:endParaRPr>
          </a:p>
          <a:p>
            <a:pPr algn="l"/>
            <a:endParaRPr lang="en-US" sz="1600">
              <a:latin typeface="Calibri" panose="020F0502020204030204" pitchFamily="34" charset="0"/>
              <a:cs typeface="Calibri" panose="020F0502020204030204" pitchFamily="34" charset="0"/>
            </a:endParaRPr>
          </a:p>
          <a:p>
            <a:pPr algn="l"/>
            <a:endParaRPr lang="en-US" sz="1600">
              <a:latin typeface="Calibri" panose="020F0502020204030204" pitchFamily="34" charset="0"/>
              <a:cs typeface="Calibri" panose="020F0502020204030204" pitchFamily="34" charset="0"/>
            </a:endParaRPr>
          </a:p>
          <a:p>
            <a:pPr algn="l"/>
            <a:r>
              <a:rPr lang="en-US" sz="1600" b="1">
                <a:latin typeface="Calibri" panose="020F0502020204030204" pitchFamily="34" charset="0"/>
                <a:cs typeface="Calibri" panose="020F0502020204030204" pitchFamily="34" charset="0"/>
              </a:rPr>
              <a:t>Bước 2</a:t>
            </a:r>
            <a:r>
              <a:rPr lang="en-US" sz="1600">
                <a:latin typeface="Calibri" panose="020F0502020204030204" pitchFamily="34" charset="0"/>
                <a:cs typeface="Calibri" panose="020F0502020204030204" pitchFamily="34" charset="0"/>
              </a:rPr>
              <a:t>: </a:t>
            </a:r>
            <a:r>
              <a:rPr lang="vi-VN" sz="1600">
                <a:latin typeface="Calibri" panose="020F0502020204030204" pitchFamily="34" charset="0"/>
                <a:cs typeface="Calibri" panose="020F0502020204030204" pitchFamily="34" charset="0"/>
              </a:rPr>
              <a:t>Chọn thẻ Insert</a:t>
            </a:r>
            <a:r>
              <a:rPr lang="en-US" sz="1600">
                <a:latin typeface="Calibri" panose="020F0502020204030204" pitchFamily="34" charset="0"/>
                <a:cs typeface="Calibri" panose="020F0502020204030204" pitchFamily="34" charset="0"/>
              </a:rPr>
              <a:t> (1)</a:t>
            </a:r>
            <a:r>
              <a:rPr lang="vi-VN" sz="1600">
                <a:latin typeface="Calibri" panose="020F0502020204030204" pitchFamily="34" charset="0"/>
                <a:cs typeface="Calibri" panose="020F0502020204030204" pitchFamily="34" charset="0"/>
              </a:rPr>
              <a:t> trên thanh Ribbon -&gt; </a:t>
            </a:r>
            <a:r>
              <a:rPr lang="en-US" sz="1600">
                <a:latin typeface="Calibri" panose="020F0502020204030204" pitchFamily="34" charset="0"/>
                <a:cs typeface="Calibri" panose="020F0502020204030204" pitchFamily="34" charset="0"/>
              </a:rPr>
              <a:t>Trong mục Charts (2) </a:t>
            </a:r>
            <a:r>
              <a:rPr lang="vi-VN" sz="1600">
                <a:latin typeface="Calibri" panose="020F0502020204030204" pitchFamily="34" charset="0"/>
                <a:cs typeface="Calibri" panose="020F0502020204030204" pitchFamily="34" charset="0"/>
              </a:rPr>
              <a:t>Chọn biểu tượng biểu đồ dạng các thanh cột dọc </a:t>
            </a:r>
            <a:r>
              <a:rPr lang="en-US" sz="1600">
                <a:latin typeface="Calibri" panose="020F0502020204030204" pitchFamily="34" charset="0"/>
                <a:cs typeface="Calibri" panose="020F0502020204030204" pitchFamily="34" charset="0"/>
              </a:rPr>
              <a:t>(3)</a:t>
            </a:r>
          </a:p>
        </p:txBody>
      </p:sp>
      <p:pic>
        <p:nvPicPr>
          <p:cNvPr id="11" name="Picture 10">
            <a:extLst>
              <a:ext uri="{FF2B5EF4-FFF2-40B4-BE49-F238E27FC236}">
                <a16:creationId xmlns:a16="http://schemas.microsoft.com/office/drawing/2014/main" id="{1D9FFFDF-3621-47E5-3A2C-35A9A273CF9E}"/>
              </a:ext>
            </a:extLst>
          </p:cNvPr>
          <p:cNvPicPr>
            <a:picLocks noChangeAspect="1"/>
          </p:cNvPicPr>
          <p:nvPr/>
        </p:nvPicPr>
        <p:blipFill>
          <a:blip r:embed="rId3"/>
          <a:stretch>
            <a:fillRect/>
          </a:stretch>
        </p:blipFill>
        <p:spPr>
          <a:xfrm>
            <a:off x="413732" y="4314579"/>
            <a:ext cx="5572903" cy="1686160"/>
          </a:xfrm>
          <a:prstGeom prst="rect">
            <a:avLst/>
          </a:prstGeom>
          <a:effectLst>
            <a:glow rad="63500">
              <a:schemeClr val="bg1">
                <a:lumMod val="65000"/>
                <a:alpha val="40000"/>
              </a:schemeClr>
            </a:glow>
          </a:effectLst>
        </p:spPr>
      </p:pic>
      <p:sp>
        <p:nvSpPr>
          <p:cNvPr id="12" name="Oval 11">
            <a:extLst>
              <a:ext uri="{FF2B5EF4-FFF2-40B4-BE49-F238E27FC236}">
                <a16:creationId xmlns:a16="http://schemas.microsoft.com/office/drawing/2014/main" id="{478E9BE9-E096-9583-6388-DAC6969FBAAB}"/>
              </a:ext>
            </a:extLst>
          </p:cNvPr>
          <p:cNvSpPr/>
          <p:nvPr/>
        </p:nvSpPr>
        <p:spPr>
          <a:xfrm>
            <a:off x="1639657" y="4005633"/>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1</a:t>
            </a:r>
          </a:p>
        </p:txBody>
      </p:sp>
      <p:sp>
        <p:nvSpPr>
          <p:cNvPr id="13" name="Oval 12">
            <a:extLst>
              <a:ext uri="{FF2B5EF4-FFF2-40B4-BE49-F238E27FC236}">
                <a16:creationId xmlns:a16="http://schemas.microsoft.com/office/drawing/2014/main" id="{FA710147-DA6F-A624-BA44-4B884BEEDE25}"/>
              </a:ext>
            </a:extLst>
          </p:cNvPr>
          <p:cNvSpPr/>
          <p:nvPr/>
        </p:nvSpPr>
        <p:spPr>
          <a:xfrm>
            <a:off x="3023970" y="4253608"/>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2</a:t>
            </a:r>
          </a:p>
        </p:txBody>
      </p:sp>
      <p:sp>
        <p:nvSpPr>
          <p:cNvPr id="14" name="Oval 13">
            <a:extLst>
              <a:ext uri="{FF2B5EF4-FFF2-40B4-BE49-F238E27FC236}">
                <a16:creationId xmlns:a16="http://schemas.microsoft.com/office/drawing/2014/main" id="{49D19BF0-4B5E-F071-AAE9-06BA9969F953}"/>
              </a:ext>
            </a:extLst>
          </p:cNvPr>
          <p:cNvSpPr/>
          <p:nvPr/>
        </p:nvSpPr>
        <p:spPr>
          <a:xfrm>
            <a:off x="3300204" y="5470123"/>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3</a:t>
            </a:r>
          </a:p>
        </p:txBody>
      </p:sp>
      <p:pic>
        <p:nvPicPr>
          <p:cNvPr id="17" name="Picture 16">
            <a:extLst>
              <a:ext uri="{FF2B5EF4-FFF2-40B4-BE49-F238E27FC236}">
                <a16:creationId xmlns:a16="http://schemas.microsoft.com/office/drawing/2014/main" id="{1565C6A8-B453-5BDF-F6EE-0E151A88403E}"/>
              </a:ext>
            </a:extLst>
          </p:cNvPr>
          <p:cNvPicPr>
            <a:picLocks noChangeAspect="1"/>
          </p:cNvPicPr>
          <p:nvPr/>
        </p:nvPicPr>
        <p:blipFill>
          <a:blip r:embed="rId4"/>
          <a:stretch>
            <a:fillRect/>
          </a:stretch>
        </p:blipFill>
        <p:spPr>
          <a:xfrm>
            <a:off x="401032" y="1422316"/>
            <a:ext cx="4558094" cy="1611170"/>
          </a:xfrm>
          <a:prstGeom prst="rect">
            <a:avLst/>
          </a:prstGeom>
          <a:effectLst>
            <a:glow rad="63500">
              <a:schemeClr val="bg1">
                <a:lumMod val="65000"/>
                <a:alpha val="40000"/>
              </a:schemeClr>
            </a:glow>
          </a:effectLst>
        </p:spPr>
      </p:pic>
    </p:spTree>
    <p:extLst>
      <p:ext uri="{BB962C8B-B14F-4D97-AF65-F5344CB8AC3E}">
        <p14:creationId xmlns:p14="http://schemas.microsoft.com/office/powerpoint/2010/main" val="13537516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8A9A1B1B-DC5B-6807-102A-5047FE0F7181}"/>
              </a:ext>
            </a:extLst>
          </p:cNvPr>
          <p:cNvPicPr>
            <a:picLocks noChangeAspect="1"/>
          </p:cNvPicPr>
          <p:nvPr/>
        </p:nvPicPr>
        <p:blipFill>
          <a:blip r:embed="rId3"/>
          <a:stretch>
            <a:fillRect/>
          </a:stretch>
        </p:blipFill>
        <p:spPr>
          <a:xfrm>
            <a:off x="401032" y="1956154"/>
            <a:ext cx="6986739" cy="4203404"/>
          </a:xfrm>
          <a:prstGeom prst="rect">
            <a:avLst/>
          </a:prstGeom>
          <a:effectLst>
            <a:glow rad="63500">
              <a:schemeClr val="bg1">
                <a:lumMod val="65000"/>
                <a:alpha val="40000"/>
              </a:schemeClr>
            </a:glow>
          </a:effectLst>
        </p:spPr>
      </p:pic>
      <p:sp>
        <p:nvSpPr>
          <p:cNvPr id="7" name="Slide Number Placeholder 5"/>
          <p:cNvSpPr>
            <a:spLocks noGrp="1"/>
          </p:cNvSpPr>
          <p:nvPr>
            <p:ph type="sldNum" sz="quarter" idx="4"/>
          </p:nvPr>
        </p:nvSpPr>
        <p:spPr>
          <a:prstGeom prst="rect">
            <a:avLst/>
          </a:prstGeom>
        </p:spPr>
        <p:txBody>
          <a:bodyPr vert="horz" lIns="0" tIns="0" rIns="0" bIns="0" rtlCol="0" anchor="ctr" anchorCtr="0"/>
          <a:lstStyle>
            <a:lvl1pPr algn="r">
              <a:defRPr sz="1800">
                <a:solidFill>
                  <a:schemeClr val="tx1"/>
                </a:solidFill>
              </a:defRPr>
            </a:lvl1pPr>
          </a:lstStyle>
          <a:p>
            <a:fld id="{A3381702-59A5-4643-AE93-D7BF7F78153B}" type="slidenum">
              <a:rPr lang="en-GB" smtClean="0"/>
              <a:pPr/>
              <a:t>14</a:t>
            </a:fld>
            <a:endParaRPr lang="en-GB" dirty="0"/>
          </a:p>
        </p:txBody>
      </p:sp>
      <p:sp>
        <p:nvSpPr>
          <p:cNvPr id="8" name="Footer Placeholder 4"/>
          <p:cNvSpPr>
            <a:spLocks noGrp="1"/>
          </p:cNvSpPr>
          <p:nvPr>
            <p:ph type="ftr" sz="quarter" idx="3"/>
          </p:nvPr>
        </p:nvSpPr>
        <p:spPr>
          <a:prstGeom prst="rect">
            <a:avLst/>
          </a:prstGeom>
        </p:spPr>
        <p:txBody>
          <a:bodyPr vert="horz" lIns="0" tIns="0" rIns="0" bIns="0" rtlCol="0" anchor="t" anchorCtr="0"/>
          <a:lstStyle>
            <a:lvl1pPr algn="r">
              <a:defRPr sz="700">
                <a:solidFill>
                  <a:schemeClr val="tx1"/>
                </a:solidFill>
                <a:latin typeface="+mn-lt"/>
              </a:defRPr>
            </a:lvl1pPr>
          </a:lstStyle>
          <a:p>
            <a:r>
              <a:rPr lang="fr-FR" altLang="ja-JP" dirty="0"/>
              <a:t>©20</a:t>
            </a:r>
            <a:r>
              <a:rPr lang="en-US" altLang="ja-JP" dirty="0"/>
              <a:t>23</a:t>
            </a:r>
            <a:r>
              <a:rPr lang="fr-FR" altLang="ja-JP" dirty="0"/>
              <a:t> KYOCERA Document Solutions Inc.</a:t>
            </a:r>
            <a:endParaRPr lang="en-GB" dirty="0"/>
          </a:p>
        </p:txBody>
      </p:sp>
      <p:sp>
        <p:nvSpPr>
          <p:cNvPr id="4" name="Rectangle 3">
            <a:extLst>
              <a:ext uri="{FF2B5EF4-FFF2-40B4-BE49-F238E27FC236}">
                <a16:creationId xmlns:a16="http://schemas.microsoft.com/office/drawing/2014/main" id="{0BAEFD46-8DC5-BB64-F040-FD68EE6A7C2D}"/>
              </a:ext>
            </a:extLst>
          </p:cNvPr>
          <p:cNvSpPr/>
          <p:nvPr/>
        </p:nvSpPr>
        <p:spPr>
          <a:xfrm>
            <a:off x="295745" y="40624"/>
            <a:ext cx="8722810" cy="6207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nSpc>
                <a:spcPct val="107000"/>
              </a:lnSpc>
              <a:spcBef>
                <a:spcPts val="0"/>
              </a:spcBef>
              <a:spcAft>
                <a:spcPts val="800"/>
              </a:spcAft>
              <a:tabLst>
                <a:tab pos="457200" algn="l"/>
              </a:tabLst>
            </a:pPr>
            <a:r>
              <a:rPr lang="en-US" sz="2200" b="1">
                <a:solidFill>
                  <a:schemeClr val="tx1"/>
                </a:solidFill>
                <a:latin typeface="Calibri" panose="020F0502020204030204" pitchFamily="34" charset="0"/>
                <a:ea typeface="游明朝" panose="02020400000000000000" pitchFamily="18" charset="-128"/>
                <a:cs typeface="Times New Roman" panose="02020603050405020304" pitchFamily="18" charset="0"/>
              </a:rPr>
              <a:t>2</a:t>
            </a:r>
            <a:r>
              <a:rPr lang="en-US" sz="2200" b="1">
                <a:solidFill>
                  <a:schemeClr val="tx1"/>
                </a:solidFill>
                <a:effectLst/>
                <a:latin typeface="Calibri" panose="020F0502020204030204" pitchFamily="34" charset="0"/>
                <a:ea typeface="游明朝" panose="02020400000000000000" pitchFamily="18" charset="-128"/>
                <a:cs typeface="Times New Roman" panose="02020603050405020304" pitchFamily="18" charset="0"/>
              </a:rPr>
              <a:t>. BIỂU ĐỒ CỘT</a:t>
            </a:r>
            <a:endParaRPr lang="en-US" sz="2200">
              <a:solidFill>
                <a:schemeClr val="tx1"/>
              </a:solidFill>
              <a:effectLst/>
              <a:latin typeface="Calibri" panose="020F0502020204030204" pitchFamily="34" charset="0"/>
              <a:ea typeface="游明朝" panose="02020400000000000000" pitchFamily="18" charset="-128"/>
              <a:cs typeface="Times New Roman" panose="02020603050405020304" pitchFamily="18" charset="0"/>
            </a:endParaRPr>
          </a:p>
        </p:txBody>
      </p:sp>
      <p:sp>
        <p:nvSpPr>
          <p:cNvPr id="6" name="Freeform 34">
            <a:extLst>
              <a:ext uri="{FF2B5EF4-FFF2-40B4-BE49-F238E27FC236}">
                <a16:creationId xmlns:a16="http://schemas.microsoft.com/office/drawing/2014/main" id="{E988D51C-281C-0FC1-508D-073F501DA6DF}"/>
              </a:ext>
            </a:extLst>
          </p:cNvPr>
          <p:cNvSpPr>
            <a:spLocks noChangeAspect="1"/>
          </p:cNvSpPr>
          <p:nvPr/>
        </p:nvSpPr>
        <p:spPr bwMode="auto">
          <a:xfrm rot="10800000" flipV="1">
            <a:off x="509368" y="536909"/>
            <a:ext cx="1655684" cy="47957"/>
          </a:xfrm>
          <a:custGeom>
            <a:avLst/>
            <a:gdLst>
              <a:gd name="T0" fmla="*/ 922 w 990"/>
              <a:gd name="T1" fmla="*/ 0 h 36"/>
              <a:gd name="T2" fmla="*/ 907 w 990"/>
              <a:gd name="T3" fmla="*/ 0 h 36"/>
              <a:gd name="T4" fmla="*/ 880 w 990"/>
              <a:gd name="T5" fmla="*/ 1 h 36"/>
              <a:gd name="T6" fmla="*/ 839 w 990"/>
              <a:gd name="T7" fmla="*/ 3 h 36"/>
              <a:gd name="T8" fmla="*/ 818 w 990"/>
              <a:gd name="T9" fmla="*/ 3 h 36"/>
              <a:gd name="T10" fmla="*/ 798 w 990"/>
              <a:gd name="T11" fmla="*/ 4 h 36"/>
              <a:gd name="T12" fmla="*/ 757 w 990"/>
              <a:gd name="T13" fmla="*/ 5 h 36"/>
              <a:gd name="T14" fmla="*/ 718 w 990"/>
              <a:gd name="T15" fmla="*/ 5 h 36"/>
              <a:gd name="T16" fmla="*/ 662 w 990"/>
              <a:gd name="T17" fmla="*/ 5 h 36"/>
              <a:gd name="T18" fmla="*/ 540 w 990"/>
              <a:gd name="T19" fmla="*/ 4 h 36"/>
              <a:gd name="T20" fmla="*/ 512 w 990"/>
              <a:gd name="T21" fmla="*/ 4 h 36"/>
              <a:gd name="T22" fmla="*/ 511 w 990"/>
              <a:gd name="T23" fmla="*/ 4 h 36"/>
              <a:gd name="T24" fmla="*/ 484 w 990"/>
              <a:gd name="T25" fmla="*/ 5 h 36"/>
              <a:gd name="T26" fmla="*/ 419 w 990"/>
              <a:gd name="T27" fmla="*/ 5 h 36"/>
              <a:gd name="T28" fmla="*/ 353 w 990"/>
              <a:gd name="T29" fmla="*/ 7 h 36"/>
              <a:gd name="T30" fmla="*/ 350 w 990"/>
              <a:gd name="T31" fmla="*/ 7 h 36"/>
              <a:gd name="T32" fmla="*/ 288 w 990"/>
              <a:gd name="T33" fmla="*/ 5 h 36"/>
              <a:gd name="T34" fmla="*/ 265 w 990"/>
              <a:gd name="T35" fmla="*/ 4 h 36"/>
              <a:gd name="T36" fmla="*/ 244 w 990"/>
              <a:gd name="T37" fmla="*/ 4 h 36"/>
              <a:gd name="T38" fmla="*/ 224 w 990"/>
              <a:gd name="T39" fmla="*/ 4 h 36"/>
              <a:gd name="T40" fmla="*/ 223 w 990"/>
              <a:gd name="T41" fmla="*/ 4 h 36"/>
              <a:gd name="T42" fmla="*/ 222 w 990"/>
              <a:gd name="T43" fmla="*/ 4 h 36"/>
              <a:gd name="T44" fmla="*/ 190 w 990"/>
              <a:gd name="T45" fmla="*/ 4 h 36"/>
              <a:gd name="T46" fmla="*/ 158 w 990"/>
              <a:gd name="T47" fmla="*/ 4 h 36"/>
              <a:gd name="T48" fmla="*/ 157 w 990"/>
              <a:gd name="T49" fmla="*/ 4 h 36"/>
              <a:gd name="T50" fmla="*/ 91 w 990"/>
              <a:gd name="T51" fmla="*/ 5 h 36"/>
              <a:gd name="T52" fmla="*/ 58 w 990"/>
              <a:gd name="T53" fmla="*/ 6 h 36"/>
              <a:gd name="T54" fmla="*/ 26 w 990"/>
              <a:gd name="T55" fmla="*/ 8 h 36"/>
              <a:gd name="T56" fmla="*/ 10 w 990"/>
              <a:gd name="T57" fmla="*/ 10 h 36"/>
              <a:gd name="T58" fmla="*/ 6 w 990"/>
              <a:gd name="T59" fmla="*/ 10 h 36"/>
              <a:gd name="T60" fmla="*/ 5 w 990"/>
              <a:gd name="T61" fmla="*/ 10 h 36"/>
              <a:gd name="T62" fmla="*/ 5 w 990"/>
              <a:gd name="T63" fmla="*/ 10 h 36"/>
              <a:gd name="T64" fmla="*/ 4 w 990"/>
              <a:gd name="T65" fmla="*/ 10 h 36"/>
              <a:gd name="T66" fmla="*/ 2 w 990"/>
              <a:gd name="T67" fmla="*/ 10 h 36"/>
              <a:gd name="T68" fmla="*/ 1 w 990"/>
              <a:gd name="T69" fmla="*/ 12 h 36"/>
              <a:gd name="T70" fmla="*/ 4 w 990"/>
              <a:gd name="T71" fmla="*/ 17 h 36"/>
              <a:gd name="T72" fmla="*/ 4 w 990"/>
              <a:gd name="T73" fmla="*/ 17 h 36"/>
              <a:gd name="T74" fmla="*/ 63 w 990"/>
              <a:gd name="T75" fmla="*/ 16 h 36"/>
              <a:gd name="T76" fmla="*/ 70 w 990"/>
              <a:gd name="T77" fmla="*/ 16 h 36"/>
              <a:gd name="T78" fmla="*/ 122 w 990"/>
              <a:gd name="T79" fmla="*/ 17 h 36"/>
              <a:gd name="T80" fmla="*/ 153 w 990"/>
              <a:gd name="T81" fmla="*/ 19 h 36"/>
              <a:gd name="T82" fmla="*/ 183 w 990"/>
              <a:gd name="T83" fmla="*/ 20 h 36"/>
              <a:gd name="T84" fmla="*/ 244 w 990"/>
              <a:gd name="T85" fmla="*/ 22 h 36"/>
              <a:gd name="T86" fmla="*/ 305 w 990"/>
              <a:gd name="T87" fmla="*/ 24 h 36"/>
              <a:gd name="T88" fmla="*/ 336 w 990"/>
              <a:gd name="T89" fmla="*/ 26 h 36"/>
              <a:gd name="T90" fmla="*/ 375 w 990"/>
              <a:gd name="T91" fmla="*/ 28 h 36"/>
              <a:gd name="T92" fmla="*/ 489 w 990"/>
              <a:gd name="T93" fmla="*/ 32 h 36"/>
              <a:gd name="T94" fmla="*/ 612 w 990"/>
              <a:gd name="T95" fmla="*/ 36 h 36"/>
              <a:gd name="T96" fmla="*/ 665 w 990"/>
              <a:gd name="T97" fmla="*/ 36 h 36"/>
              <a:gd name="T98" fmla="*/ 707 w 990"/>
              <a:gd name="T99" fmla="*/ 36 h 36"/>
              <a:gd name="T100" fmla="*/ 750 w 990"/>
              <a:gd name="T101" fmla="*/ 36 h 36"/>
              <a:gd name="T102" fmla="*/ 792 w 990"/>
              <a:gd name="T103" fmla="*/ 35 h 36"/>
              <a:gd name="T104" fmla="*/ 879 w 990"/>
              <a:gd name="T105" fmla="*/ 32 h 36"/>
              <a:gd name="T106" fmla="*/ 921 w 990"/>
              <a:gd name="T107" fmla="*/ 30 h 36"/>
              <a:gd name="T108" fmla="*/ 969 w 990"/>
              <a:gd name="T109" fmla="*/ 27 h 36"/>
              <a:gd name="T110" fmla="*/ 982 w 990"/>
              <a:gd name="T111" fmla="*/ 22 h 36"/>
              <a:gd name="T112" fmla="*/ 987 w 990"/>
              <a:gd name="T113" fmla="*/ 15 h 36"/>
              <a:gd name="T114" fmla="*/ 989 w 990"/>
              <a:gd name="T115" fmla="*/ 8 h 36"/>
              <a:gd name="T116" fmla="*/ 982 w 990"/>
              <a:gd name="T117" fmla="*/ 2 h 36"/>
              <a:gd name="T118" fmla="*/ 962 w 990"/>
              <a:gd name="T119" fmla="*/ 0 h 36"/>
              <a:gd name="T120" fmla="*/ 934 w 990"/>
              <a:gd name="T121" fmla="*/ 0 h 36"/>
              <a:gd name="T122" fmla="*/ 922 w 990"/>
              <a:gd name="T1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0" h="36">
                <a:moveTo>
                  <a:pt x="922" y="0"/>
                </a:moveTo>
                <a:cubicBezTo>
                  <a:pt x="917" y="0"/>
                  <a:pt x="912" y="0"/>
                  <a:pt x="907" y="0"/>
                </a:cubicBezTo>
                <a:cubicBezTo>
                  <a:pt x="898" y="0"/>
                  <a:pt x="889" y="1"/>
                  <a:pt x="880" y="1"/>
                </a:cubicBezTo>
                <a:cubicBezTo>
                  <a:pt x="839" y="3"/>
                  <a:pt x="839" y="3"/>
                  <a:pt x="839" y="3"/>
                </a:cubicBezTo>
                <a:cubicBezTo>
                  <a:pt x="818" y="3"/>
                  <a:pt x="818" y="3"/>
                  <a:pt x="818" y="3"/>
                </a:cubicBezTo>
                <a:cubicBezTo>
                  <a:pt x="798" y="4"/>
                  <a:pt x="798" y="4"/>
                  <a:pt x="798" y="4"/>
                </a:cubicBezTo>
                <a:cubicBezTo>
                  <a:pt x="757" y="5"/>
                  <a:pt x="757" y="5"/>
                  <a:pt x="757" y="5"/>
                </a:cubicBezTo>
                <a:cubicBezTo>
                  <a:pt x="744" y="5"/>
                  <a:pt x="731" y="5"/>
                  <a:pt x="718" y="5"/>
                </a:cubicBezTo>
                <a:cubicBezTo>
                  <a:pt x="699" y="5"/>
                  <a:pt x="681" y="5"/>
                  <a:pt x="662" y="5"/>
                </a:cubicBezTo>
                <a:cubicBezTo>
                  <a:pt x="540" y="4"/>
                  <a:pt x="540" y="4"/>
                  <a:pt x="540" y="4"/>
                </a:cubicBezTo>
                <a:cubicBezTo>
                  <a:pt x="512" y="4"/>
                  <a:pt x="512" y="4"/>
                  <a:pt x="512" y="4"/>
                </a:cubicBezTo>
                <a:cubicBezTo>
                  <a:pt x="512" y="4"/>
                  <a:pt x="511" y="4"/>
                  <a:pt x="511" y="4"/>
                </a:cubicBezTo>
                <a:cubicBezTo>
                  <a:pt x="502" y="4"/>
                  <a:pt x="493" y="4"/>
                  <a:pt x="484" y="5"/>
                </a:cubicBezTo>
                <a:cubicBezTo>
                  <a:pt x="462" y="5"/>
                  <a:pt x="441" y="5"/>
                  <a:pt x="419" y="5"/>
                </a:cubicBezTo>
                <a:cubicBezTo>
                  <a:pt x="397" y="6"/>
                  <a:pt x="375" y="7"/>
                  <a:pt x="353" y="7"/>
                </a:cubicBezTo>
                <a:cubicBezTo>
                  <a:pt x="352" y="7"/>
                  <a:pt x="351" y="7"/>
                  <a:pt x="350" y="7"/>
                </a:cubicBezTo>
                <a:cubicBezTo>
                  <a:pt x="330" y="7"/>
                  <a:pt x="309" y="5"/>
                  <a:pt x="288" y="5"/>
                </a:cubicBezTo>
                <a:cubicBezTo>
                  <a:pt x="280" y="4"/>
                  <a:pt x="272" y="4"/>
                  <a:pt x="265" y="4"/>
                </a:cubicBezTo>
                <a:cubicBezTo>
                  <a:pt x="258" y="4"/>
                  <a:pt x="251" y="4"/>
                  <a:pt x="244" y="4"/>
                </a:cubicBezTo>
                <a:cubicBezTo>
                  <a:pt x="237" y="4"/>
                  <a:pt x="230" y="4"/>
                  <a:pt x="224" y="4"/>
                </a:cubicBezTo>
                <a:cubicBezTo>
                  <a:pt x="223" y="4"/>
                  <a:pt x="223" y="4"/>
                  <a:pt x="223" y="4"/>
                </a:cubicBezTo>
                <a:cubicBezTo>
                  <a:pt x="223" y="4"/>
                  <a:pt x="222" y="4"/>
                  <a:pt x="222" y="4"/>
                </a:cubicBezTo>
                <a:cubicBezTo>
                  <a:pt x="212" y="4"/>
                  <a:pt x="201" y="4"/>
                  <a:pt x="190" y="4"/>
                </a:cubicBezTo>
                <a:cubicBezTo>
                  <a:pt x="180" y="4"/>
                  <a:pt x="169" y="4"/>
                  <a:pt x="158" y="4"/>
                </a:cubicBezTo>
                <a:cubicBezTo>
                  <a:pt x="158" y="4"/>
                  <a:pt x="157" y="4"/>
                  <a:pt x="157" y="4"/>
                </a:cubicBezTo>
                <a:cubicBezTo>
                  <a:pt x="135" y="4"/>
                  <a:pt x="113" y="4"/>
                  <a:pt x="91" y="5"/>
                </a:cubicBezTo>
                <a:cubicBezTo>
                  <a:pt x="80" y="5"/>
                  <a:pt x="69" y="6"/>
                  <a:pt x="58" y="6"/>
                </a:cubicBezTo>
                <a:cubicBezTo>
                  <a:pt x="48" y="6"/>
                  <a:pt x="37" y="7"/>
                  <a:pt x="26" y="8"/>
                </a:cubicBezTo>
                <a:cubicBezTo>
                  <a:pt x="10" y="10"/>
                  <a:pt x="10" y="10"/>
                  <a:pt x="10" y="10"/>
                </a:cubicBezTo>
                <a:cubicBezTo>
                  <a:pt x="6" y="10"/>
                  <a:pt x="6" y="10"/>
                  <a:pt x="6" y="10"/>
                </a:cubicBezTo>
                <a:cubicBezTo>
                  <a:pt x="6" y="10"/>
                  <a:pt x="5" y="10"/>
                  <a:pt x="5" y="10"/>
                </a:cubicBezTo>
                <a:cubicBezTo>
                  <a:pt x="5" y="10"/>
                  <a:pt x="5" y="10"/>
                  <a:pt x="5" y="10"/>
                </a:cubicBezTo>
                <a:cubicBezTo>
                  <a:pt x="4" y="10"/>
                  <a:pt x="4" y="10"/>
                  <a:pt x="4" y="10"/>
                </a:cubicBezTo>
                <a:cubicBezTo>
                  <a:pt x="3" y="10"/>
                  <a:pt x="2" y="10"/>
                  <a:pt x="2" y="10"/>
                </a:cubicBezTo>
                <a:cubicBezTo>
                  <a:pt x="1" y="10"/>
                  <a:pt x="1" y="11"/>
                  <a:pt x="1" y="12"/>
                </a:cubicBezTo>
                <a:cubicBezTo>
                  <a:pt x="0" y="15"/>
                  <a:pt x="2" y="17"/>
                  <a:pt x="4" y="17"/>
                </a:cubicBezTo>
                <a:cubicBezTo>
                  <a:pt x="4" y="17"/>
                  <a:pt x="4" y="17"/>
                  <a:pt x="4" y="17"/>
                </a:cubicBezTo>
                <a:cubicBezTo>
                  <a:pt x="24" y="17"/>
                  <a:pt x="43" y="16"/>
                  <a:pt x="63" y="16"/>
                </a:cubicBezTo>
                <a:cubicBezTo>
                  <a:pt x="65" y="16"/>
                  <a:pt x="67" y="16"/>
                  <a:pt x="70" y="16"/>
                </a:cubicBezTo>
                <a:cubicBezTo>
                  <a:pt x="87" y="16"/>
                  <a:pt x="105" y="16"/>
                  <a:pt x="122" y="17"/>
                </a:cubicBezTo>
                <a:cubicBezTo>
                  <a:pt x="133" y="18"/>
                  <a:pt x="143" y="19"/>
                  <a:pt x="153" y="19"/>
                </a:cubicBezTo>
                <a:cubicBezTo>
                  <a:pt x="183" y="20"/>
                  <a:pt x="183" y="20"/>
                  <a:pt x="183" y="20"/>
                </a:cubicBezTo>
                <a:cubicBezTo>
                  <a:pt x="203" y="20"/>
                  <a:pt x="224" y="21"/>
                  <a:pt x="244" y="22"/>
                </a:cubicBezTo>
                <a:cubicBezTo>
                  <a:pt x="265" y="22"/>
                  <a:pt x="285" y="23"/>
                  <a:pt x="305" y="24"/>
                </a:cubicBezTo>
                <a:cubicBezTo>
                  <a:pt x="336" y="26"/>
                  <a:pt x="336" y="26"/>
                  <a:pt x="336" y="26"/>
                </a:cubicBezTo>
                <a:cubicBezTo>
                  <a:pt x="346" y="26"/>
                  <a:pt x="361" y="28"/>
                  <a:pt x="375" y="28"/>
                </a:cubicBezTo>
                <a:cubicBezTo>
                  <a:pt x="416" y="31"/>
                  <a:pt x="448" y="31"/>
                  <a:pt x="489" y="32"/>
                </a:cubicBezTo>
                <a:cubicBezTo>
                  <a:pt x="530" y="34"/>
                  <a:pt x="571" y="35"/>
                  <a:pt x="612" y="36"/>
                </a:cubicBezTo>
                <a:cubicBezTo>
                  <a:pt x="629" y="36"/>
                  <a:pt x="647" y="36"/>
                  <a:pt x="665" y="36"/>
                </a:cubicBezTo>
                <a:cubicBezTo>
                  <a:pt x="679" y="36"/>
                  <a:pt x="693" y="36"/>
                  <a:pt x="707" y="36"/>
                </a:cubicBezTo>
                <a:cubicBezTo>
                  <a:pt x="750" y="36"/>
                  <a:pt x="750" y="36"/>
                  <a:pt x="750" y="36"/>
                </a:cubicBezTo>
                <a:cubicBezTo>
                  <a:pt x="792" y="35"/>
                  <a:pt x="792" y="35"/>
                  <a:pt x="792" y="35"/>
                </a:cubicBezTo>
                <a:cubicBezTo>
                  <a:pt x="821" y="34"/>
                  <a:pt x="850" y="33"/>
                  <a:pt x="879" y="32"/>
                </a:cubicBezTo>
                <a:cubicBezTo>
                  <a:pt x="921" y="30"/>
                  <a:pt x="921" y="30"/>
                  <a:pt x="921" y="30"/>
                </a:cubicBezTo>
                <a:cubicBezTo>
                  <a:pt x="937" y="30"/>
                  <a:pt x="953" y="29"/>
                  <a:pt x="969" y="27"/>
                </a:cubicBezTo>
                <a:cubicBezTo>
                  <a:pt x="973" y="26"/>
                  <a:pt x="979" y="25"/>
                  <a:pt x="982" y="22"/>
                </a:cubicBezTo>
                <a:cubicBezTo>
                  <a:pt x="984" y="20"/>
                  <a:pt x="986" y="17"/>
                  <a:pt x="987" y="15"/>
                </a:cubicBezTo>
                <a:cubicBezTo>
                  <a:pt x="989" y="13"/>
                  <a:pt x="990" y="10"/>
                  <a:pt x="989" y="8"/>
                </a:cubicBezTo>
                <a:cubicBezTo>
                  <a:pt x="988" y="4"/>
                  <a:pt x="985" y="3"/>
                  <a:pt x="982" y="2"/>
                </a:cubicBezTo>
                <a:cubicBezTo>
                  <a:pt x="975" y="0"/>
                  <a:pt x="968" y="0"/>
                  <a:pt x="962" y="0"/>
                </a:cubicBezTo>
                <a:cubicBezTo>
                  <a:pt x="934" y="0"/>
                  <a:pt x="934" y="0"/>
                  <a:pt x="934" y="0"/>
                </a:cubicBezTo>
                <a:cubicBezTo>
                  <a:pt x="930" y="0"/>
                  <a:pt x="926" y="0"/>
                  <a:pt x="922" y="0"/>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2" name="Content Placeholder 2">
            <a:extLst>
              <a:ext uri="{FF2B5EF4-FFF2-40B4-BE49-F238E27FC236}">
                <a16:creationId xmlns:a16="http://schemas.microsoft.com/office/drawing/2014/main" id="{8A378710-0B40-86B5-B2C6-AF290BD75FB3}"/>
              </a:ext>
            </a:extLst>
          </p:cNvPr>
          <p:cNvSpPr txBox="1">
            <a:spLocks/>
          </p:cNvSpPr>
          <p:nvPr/>
        </p:nvSpPr>
        <p:spPr>
          <a:xfrm>
            <a:off x="401032" y="716399"/>
            <a:ext cx="8510739" cy="1326843"/>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1600" b="1">
                <a:latin typeface="Calibri" panose="020F0502020204030204" pitchFamily="34" charset="0"/>
                <a:cs typeface="Calibri" panose="020F0502020204030204" pitchFamily="34" charset="0"/>
              </a:rPr>
              <a:t>b. Cách vẽ: </a:t>
            </a:r>
          </a:p>
          <a:p>
            <a:pPr algn="l"/>
            <a:r>
              <a:rPr lang="en-US" sz="1600" b="1">
                <a:latin typeface="Calibri" panose="020F0502020204030204" pitchFamily="34" charset="0"/>
                <a:cs typeface="Calibri" panose="020F0502020204030204" pitchFamily="34" charset="0"/>
              </a:rPr>
              <a:t>Bước 3</a:t>
            </a:r>
            <a:r>
              <a:rPr lang="en-US" sz="1600">
                <a:latin typeface="Calibri" panose="020F0502020204030204" pitchFamily="34" charset="0"/>
                <a:cs typeface="Calibri" panose="020F0502020204030204" pitchFamily="34" charset="0"/>
              </a:rPr>
              <a:t>: Hoàn thiện biểu đồ</a:t>
            </a:r>
          </a:p>
          <a:p>
            <a:pPr algn="l"/>
            <a:r>
              <a:rPr lang="en-US" sz="1600" b="1">
                <a:latin typeface="Calibri" panose="020F0502020204030204" pitchFamily="34" charset="0"/>
                <a:cs typeface="Calibri" panose="020F0502020204030204" pitchFamily="34" charset="0"/>
              </a:rPr>
              <a:t>- Hiển thị giá trị trên mỗi cột</a:t>
            </a:r>
            <a:r>
              <a:rPr lang="en-US" sz="1600">
                <a:latin typeface="Calibri" panose="020F0502020204030204" pitchFamily="34" charset="0"/>
                <a:cs typeface="Calibri" panose="020F0502020204030204" pitchFamily="34" charset="0"/>
              </a:rPr>
              <a:t>: Chuột phải vào một trong các cột (1) chọn Add Data Labels (2)/Add Data Labels (3)</a:t>
            </a:r>
          </a:p>
        </p:txBody>
      </p:sp>
      <p:sp>
        <p:nvSpPr>
          <p:cNvPr id="10" name="Oval 9">
            <a:extLst>
              <a:ext uri="{FF2B5EF4-FFF2-40B4-BE49-F238E27FC236}">
                <a16:creationId xmlns:a16="http://schemas.microsoft.com/office/drawing/2014/main" id="{56D1053F-CEE6-5763-FE06-2E2F7F48CF19}"/>
              </a:ext>
            </a:extLst>
          </p:cNvPr>
          <p:cNvSpPr/>
          <p:nvPr/>
        </p:nvSpPr>
        <p:spPr>
          <a:xfrm>
            <a:off x="2844502" y="3597898"/>
            <a:ext cx="352425" cy="352425"/>
          </a:xfrm>
          <a:prstGeom prst="ellipse">
            <a:avLst/>
          </a:prstGeom>
          <a:solidFill>
            <a:srgbClr val="00B05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en-US" sz="1400"/>
              <a:t>1</a:t>
            </a:r>
          </a:p>
        </p:txBody>
      </p:sp>
      <p:sp>
        <p:nvSpPr>
          <p:cNvPr id="15" name="Oval 14">
            <a:extLst>
              <a:ext uri="{FF2B5EF4-FFF2-40B4-BE49-F238E27FC236}">
                <a16:creationId xmlns:a16="http://schemas.microsoft.com/office/drawing/2014/main" id="{7F549AAC-5FAD-21B0-B000-74F6CED79130}"/>
              </a:ext>
            </a:extLst>
          </p:cNvPr>
          <p:cNvSpPr/>
          <p:nvPr/>
        </p:nvSpPr>
        <p:spPr>
          <a:xfrm>
            <a:off x="3196927" y="5515671"/>
            <a:ext cx="352425" cy="352425"/>
          </a:xfrm>
          <a:prstGeom prst="ellipse">
            <a:avLst/>
          </a:prstGeom>
          <a:solidFill>
            <a:srgbClr val="00B05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en-US" sz="1400"/>
              <a:t>2</a:t>
            </a:r>
          </a:p>
        </p:txBody>
      </p:sp>
      <p:sp>
        <p:nvSpPr>
          <p:cNvPr id="16" name="Oval 15">
            <a:extLst>
              <a:ext uri="{FF2B5EF4-FFF2-40B4-BE49-F238E27FC236}">
                <a16:creationId xmlns:a16="http://schemas.microsoft.com/office/drawing/2014/main" id="{38F41A22-615F-9C20-DA48-AFD13597848E}"/>
              </a:ext>
            </a:extLst>
          </p:cNvPr>
          <p:cNvSpPr/>
          <p:nvPr/>
        </p:nvSpPr>
        <p:spPr>
          <a:xfrm>
            <a:off x="7035346" y="5405321"/>
            <a:ext cx="352425" cy="352425"/>
          </a:xfrm>
          <a:prstGeom prst="ellipse">
            <a:avLst/>
          </a:prstGeom>
          <a:solidFill>
            <a:srgbClr val="00B05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en-US" sz="1400"/>
              <a:t>3</a:t>
            </a:r>
          </a:p>
        </p:txBody>
      </p:sp>
    </p:spTree>
    <p:extLst>
      <p:ext uri="{BB962C8B-B14F-4D97-AF65-F5344CB8AC3E}">
        <p14:creationId xmlns:p14="http://schemas.microsoft.com/office/powerpoint/2010/main" val="41446720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B7252997-7FE9-D5CB-F48C-0B096C8D476A}"/>
              </a:ext>
            </a:extLst>
          </p:cNvPr>
          <p:cNvPicPr>
            <a:picLocks noChangeAspect="1"/>
          </p:cNvPicPr>
          <p:nvPr/>
        </p:nvPicPr>
        <p:blipFill rotWithShape="1">
          <a:blip r:embed="rId3"/>
          <a:srcRect t="3541" b="14016"/>
          <a:stretch/>
        </p:blipFill>
        <p:spPr>
          <a:xfrm>
            <a:off x="1412560" y="1563419"/>
            <a:ext cx="6275181" cy="2440419"/>
          </a:xfrm>
          <a:prstGeom prst="rect">
            <a:avLst/>
          </a:prstGeom>
        </p:spPr>
      </p:pic>
      <p:sp>
        <p:nvSpPr>
          <p:cNvPr id="7" name="Slide Number Placeholder 5"/>
          <p:cNvSpPr>
            <a:spLocks noGrp="1"/>
          </p:cNvSpPr>
          <p:nvPr>
            <p:ph type="sldNum" sz="quarter" idx="4"/>
          </p:nvPr>
        </p:nvSpPr>
        <p:spPr>
          <a:prstGeom prst="rect">
            <a:avLst/>
          </a:prstGeom>
        </p:spPr>
        <p:txBody>
          <a:bodyPr vert="horz" lIns="0" tIns="0" rIns="0" bIns="0" rtlCol="0" anchor="ctr" anchorCtr="0"/>
          <a:lstStyle>
            <a:lvl1pPr algn="r">
              <a:defRPr sz="1800">
                <a:solidFill>
                  <a:schemeClr val="tx1"/>
                </a:solidFill>
              </a:defRPr>
            </a:lvl1pPr>
          </a:lstStyle>
          <a:p>
            <a:fld id="{A3381702-59A5-4643-AE93-D7BF7F78153B}" type="slidenum">
              <a:rPr lang="en-GB" smtClean="0"/>
              <a:pPr/>
              <a:t>15</a:t>
            </a:fld>
            <a:endParaRPr lang="en-GB" dirty="0"/>
          </a:p>
        </p:txBody>
      </p:sp>
      <p:sp>
        <p:nvSpPr>
          <p:cNvPr id="8" name="Footer Placeholder 4"/>
          <p:cNvSpPr>
            <a:spLocks noGrp="1"/>
          </p:cNvSpPr>
          <p:nvPr>
            <p:ph type="ftr" sz="quarter" idx="3"/>
          </p:nvPr>
        </p:nvSpPr>
        <p:spPr>
          <a:prstGeom prst="rect">
            <a:avLst/>
          </a:prstGeom>
        </p:spPr>
        <p:txBody>
          <a:bodyPr vert="horz" lIns="0" tIns="0" rIns="0" bIns="0" rtlCol="0" anchor="t" anchorCtr="0"/>
          <a:lstStyle>
            <a:lvl1pPr algn="r">
              <a:defRPr sz="700">
                <a:solidFill>
                  <a:schemeClr val="tx1"/>
                </a:solidFill>
                <a:latin typeface="+mn-lt"/>
              </a:defRPr>
            </a:lvl1pPr>
          </a:lstStyle>
          <a:p>
            <a:r>
              <a:rPr lang="fr-FR" altLang="ja-JP" dirty="0"/>
              <a:t>©20</a:t>
            </a:r>
            <a:r>
              <a:rPr lang="en-US" altLang="ja-JP" dirty="0"/>
              <a:t>23</a:t>
            </a:r>
            <a:r>
              <a:rPr lang="fr-FR" altLang="ja-JP" dirty="0"/>
              <a:t> KYOCERA Document Solutions Inc.</a:t>
            </a:r>
            <a:endParaRPr lang="en-GB" dirty="0"/>
          </a:p>
        </p:txBody>
      </p:sp>
      <p:sp>
        <p:nvSpPr>
          <p:cNvPr id="4" name="Rectangle 3">
            <a:extLst>
              <a:ext uri="{FF2B5EF4-FFF2-40B4-BE49-F238E27FC236}">
                <a16:creationId xmlns:a16="http://schemas.microsoft.com/office/drawing/2014/main" id="{0BAEFD46-8DC5-BB64-F040-FD68EE6A7C2D}"/>
              </a:ext>
            </a:extLst>
          </p:cNvPr>
          <p:cNvSpPr/>
          <p:nvPr/>
        </p:nvSpPr>
        <p:spPr>
          <a:xfrm>
            <a:off x="295745" y="40624"/>
            <a:ext cx="8722810" cy="6207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nSpc>
                <a:spcPct val="107000"/>
              </a:lnSpc>
              <a:spcBef>
                <a:spcPts val="0"/>
              </a:spcBef>
              <a:spcAft>
                <a:spcPts val="800"/>
              </a:spcAft>
              <a:tabLst>
                <a:tab pos="457200" algn="l"/>
              </a:tabLst>
            </a:pPr>
            <a:r>
              <a:rPr lang="en-US" sz="2200" b="1">
                <a:solidFill>
                  <a:schemeClr val="tx1"/>
                </a:solidFill>
                <a:latin typeface="Calibri" panose="020F0502020204030204" pitchFamily="34" charset="0"/>
                <a:ea typeface="游明朝" panose="02020400000000000000" pitchFamily="18" charset="-128"/>
                <a:cs typeface="Times New Roman" panose="02020603050405020304" pitchFamily="18" charset="0"/>
              </a:rPr>
              <a:t>2</a:t>
            </a:r>
            <a:r>
              <a:rPr lang="en-US" sz="2200" b="1">
                <a:solidFill>
                  <a:schemeClr val="tx1"/>
                </a:solidFill>
                <a:effectLst/>
                <a:latin typeface="Calibri" panose="020F0502020204030204" pitchFamily="34" charset="0"/>
                <a:ea typeface="游明朝" panose="02020400000000000000" pitchFamily="18" charset="-128"/>
                <a:cs typeface="Times New Roman" panose="02020603050405020304" pitchFamily="18" charset="0"/>
              </a:rPr>
              <a:t>. BIỂU ĐỒ CỘT</a:t>
            </a:r>
            <a:endParaRPr lang="en-US" sz="2200">
              <a:solidFill>
                <a:schemeClr val="tx1"/>
              </a:solidFill>
              <a:effectLst/>
              <a:latin typeface="Calibri" panose="020F0502020204030204" pitchFamily="34" charset="0"/>
              <a:ea typeface="游明朝" panose="02020400000000000000" pitchFamily="18" charset="-128"/>
              <a:cs typeface="Times New Roman" panose="02020603050405020304" pitchFamily="18" charset="0"/>
            </a:endParaRPr>
          </a:p>
        </p:txBody>
      </p:sp>
      <p:sp>
        <p:nvSpPr>
          <p:cNvPr id="6" name="Freeform 34">
            <a:extLst>
              <a:ext uri="{FF2B5EF4-FFF2-40B4-BE49-F238E27FC236}">
                <a16:creationId xmlns:a16="http://schemas.microsoft.com/office/drawing/2014/main" id="{E988D51C-281C-0FC1-508D-073F501DA6DF}"/>
              </a:ext>
            </a:extLst>
          </p:cNvPr>
          <p:cNvSpPr>
            <a:spLocks noChangeAspect="1"/>
          </p:cNvSpPr>
          <p:nvPr/>
        </p:nvSpPr>
        <p:spPr bwMode="auto">
          <a:xfrm rot="10800000" flipV="1">
            <a:off x="429856" y="536909"/>
            <a:ext cx="1655684" cy="47957"/>
          </a:xfrm>
          <a:custGeom>
            <a:avLst/>
            <a:gdLst>
              <a:gd name="T0" fmla="*/ 922 w 990"/>
              <a:gd name="T1" fmla="*/ 0 h 36"/>
              <a:gd name="T2" fmla="*/ 907 w 990"/>
              <a:gd name="T3" fmla="*/ 0 h 36"/>
              <a:gd name="T4" fmla="*/ 880 w 990"/>
              <a:gd name="T5" fmla="*/ 1 h 36"/>
              <a:gd name="T6" fmla="*/ 839 w 990"/>
              <a:gd name="T7" fmla="*/ 3 h 36"/>
              <a:gd name="T8" fmla="*/ 818 w 990"/>
              <a:gd name="T9" fmla="*/ 3 h 36"/>
              <a:gd name="T10" fmla="*/ 798 w 990"/>
              <a:gd name="T11" fmla="*/ 4 h 36"/>
              <a:gd name="T12" fmla="*/ 757 w 990"/>
              <a:gd name="T13" fmla="*/ 5 h 36"/>
              <a:gd name="T14" fmla="*/ 718 w 990"/>
              <a:gd name="T15" fmla="*/ 5 h 36"/>
              <a:gd name="T16" fmla="*/ 662 w 990"/>
              <a:gd name="T17" fmla="*/ 5 h 36"/>
              <a:gd name="T18" fmla="*/ 540 w 990"/>
              <a:gd name="T19" fmla="*/ 4 h 36"/>
              <a:gd name="T20" fmla="*/ 512 w 990"/>
              <a:gd name="T21" fmla="*/ 4 h 36"/>
              <a:gd name="T22" fmla="*/ 511 w 990"/>
              <a:gd name="T23" fmla="*/ 4 h 36"/>
              <a:gd name="T24" fmla="*/ 484 w 990"/>
              <a:gd name="T25" fmla="*/ 5 h 36"/>
              <a:gd name="T26" fmla="*/ 419 w 990"/>
              <a:gd name="T27" fmla="*/ 5 h 36"/>
              <a:gd name="T28" fmla="*/ 353 w 990"/>
              <a:gd name="T29" fmla="*/ 7 h 36"/>
              <a:gd name="T30" fmla="*/ 350 w 990"/>
              <a:gd name="T31" fmla="*/ 7 h 36"/>
              <a:gd name="T32" fmla="*/ 288 w 990"/>
              <a:gd name="T33" fmla="*/ 5 h 36"/>
              <a:gd name="T34" fmla="*/ 265 w 990"/>
              <a:gd name="T35" fmla="*/ 4 h 36"/>
              <a:gd name="T36" fmla="*/ 244 w 990"/>
              <a:gd name="T37" fmla="*/ 4 h 36"/>
              <a:gd name="T38" fmla="*/ 224 w 990"/>
              <a:gd name="T39" fmla="*/ 4 h 36"/>
              <a:gd name="T40" fmla="*/ 223 w 990"/>
              <a:gd name="T41" fmla="*/ 4 h 36"/>
              <a:gd name="T42" fmla="*/ 222 w 990"/>
              <a:gd name="T43" fmla="*/ 4 h 36"/>
              <a:gd name="T44" fmla="*/ 190 w 990"/>
              <a:gd name="T45" fmla="*/ 4 h 36"/>
              <a:gd name="T46" fmla="*/ 158 w 990"/>
              <a:gd name="T47" fmla="*/ 4 h 36"/>
              <a:gd name="T48" fmla="*/ 157 w 990"/>
              <a:gd name="T49" fmla="*/ 4 h 36"/>
              <a:gd name="T50" fmla="*/ 91 w 990"/>
              <a:gd name="T51" fmla="*/ 5 h 36"/>
              <a:gd name="T52" fmla="*/ 58 w 990"/>
              <a:gd name="T53" fmla="*/ 6 h 36"/>
              <a:gd name="T54" fmla="*/ 26 w 990"/>
              <a:gd name="T55" fmla="*/ 8 h 36"/>
              <a:gd name="T56" fmla="*/ 10 w 990"/>
              <a:gd name="T57" fmla="*/ 10 h 36"/>
              <a:gd name="T58" fmla="*/ 6 w 990"/>
              <a:gd name="T59" fmla="*/ 10 h 36"/>
              <a:gd name="T60" fmla="*/ 5 w 990"/>
              <a:gd name="T61" fmla="*/ 10 h 36"/>
              <a:gd name="T62" fmla="*/ 5 w 990"/>
              <a:gd name="T63" fmla="*/ 10 h 36"/>
              <a:gd name="T64" fmla="*/ 4 w 990"/>
              <a:gd name="T65" fmla="*/ 10 h 36"/>
              <a:gd name="T66" fmla="*/ 2 w 990"/>
              <a:gd name="T67" fmla="*/ 10 h 36"/>
              <a:gd name="T68" fmla="*/ 1 w 990"/>
              <a:gd name="T69" fmla="*/ 12 h 36"/>
              <a:gd name="T70" fmla="*/ 4 w 990"/>
              <a:gd name="T71" fmla="*/ 17 h 36"/>
              <a:gd name="T72" fmla="*/ 4 w 990"/>
              <a:gd name="T73" fmla="*/ 17 h 36"/>
              <a:gd name="T74" fmla="*/ 63 w 990"/>
              <a:gd name="T75" fmla="*/ 16 h 36"/>
              <a:gd name="T76" fmla="*/ 70 w 990"/>
              <a:gd name="T77" fmla="*/ 16 h 36"/>
              <a:gd name="T78" fmla="*/ 122 w 990"/>
              <a:gd name="T79" fmla="*/ 17 h 36"/>
              <a:gd name="T80" fmla="*/ 153 w 990"/>
              <a:gd name="T81" fmla="*/ 19 h 36"/>
              <a:gd name="T82" fmla="*/ 183 w 990"/>
              <a:gd name="T83" fmla="*/ 20 h 36"/>
              <a:gd name="T84" fmla="*/ 244 w 990"/>
              <a:gd name="T85" fmla="*/ 22 h 36"/>
              <a:gd name="T86" fmla="*/ 305 w 990"/>
              <a:gd name="T87" fmla="*/ 24 h 36"/>
              <a:gd name="T88" fmla="*/ 336 w 990"/>
              <a:gd name="T89" fmla="*/ 26 h 36"/>
              <a:gd name="T90" fmla="*/ 375 w 990"/>
              <a:gd name="T91" fmla="*/ 28 h 36"/>
              <a:gd name="T92" fmla="*/ 489 w 990"/>
              <a:gd name="T93" fmla="*/ 32 h 36"/>
              <a:gd name="T94" fmla="*/ 612 w 990"/>
              <a:gd name="T95" fmla="*/ 36 h 36"/>
              <a:gd name="T96" fmla="*/ 665 w 990"/>
              <a:gd name="T97" fmla="*/ 36 h 36"/>
              <a:gd name="T98" fmla="*/ 707 w 990"/>
              <a:gd name="T99" fmla="*/ 36 h 36"/>
              <a:gd name="T100" fmla="*/ 750 w 990"/>
              <a:gd name="T101" fmla="*/ 36 h 36"/>
              <a:gd name="T102" fmla="*/ 792 w 990"/>
              <a:gd name="T103" fmla="*/ 35 h 36"/>
              <a:gd name="T104" fmla="*/ 879 w 990"/>
              <a:gd name="T105" fmla="*/ 32 h 36"/>
              <a:gd name="T106" fmla="*/ 921 w 990"/>
              <a:gd name="T107" fmla="*/ 30 h 36"/>
              <a:gd name="T108" fmla="*/ 969 w 990"/>
              <a:gd name="T109" fmla="*/ 27 h 36"/>
              <a:gd name="T110" fmla="*/ 982 w 990"/>
              <a:gd name="T111" fmla="*/ 22 h 36"/>
              <a:gd name="T112" fmla="*/ 987 w 990"/>
              <a:gd name="T113" fmla="*/ 15 h 36"/>
              <a:gd name="T114" fmla="*/ 989 w 990"/>
              <a:gd name="T115" fmla="*/ 8 h 36"/>
              <a:gd name="T116" fmla="*/ 982 w 990"/>
              <a:gd name="T117" fmla="*/ 2 h 36"/>
              <a:gd name="T118" fmla="*/ 962 w 990"/>
              <a:gd name="T119" fmla="*/ 0 h 36"/>
              <a:gd name="T120" fmla="*/ 934 w 990"/>
              <a:gd name="T121" fmla="*/ 0 h 36"/>
              <a:gd name="T122" fmla="*/ 922 w 990"/>
              <a:gd name="T1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0" h="36">
                <a:moveTo>
                  <a:pt x="922" y="0"/>
                </a:moveTo>
                <a:cubicBezTo>
                  <a:pt x="917" y="0"/>
                  <a:pt x="912" y="0"/>
                  <a:pt x="907" y="0"/>
                </a:cubicBezTo>
                <a:cubicBezTo>
                  <a:pt x="898" y="0"/>
                  <a:pt x="889" y="1"/>
                  <a:pt x="880" y="1"/>
                </a:cubicBezTo>
                <a:cubicBezTo>
                  <a:pt x="839" y="3"/>
                  <a:pt x="839" y="3"/>
                  <a:pt x="839" y="3"/>
                </a:cubicBezTo>
                <a:cubicBezTo>
                  <a:pt x="818" y="3"/>
                  <a:pt x="818" y="3"/>
                  <a:pt x="818" y="3"/>
                </a:cubicBezTo>
                <a:cubicBezTo>
                  <a:pt x="798" y="4"/>
                  <a:pt x="798" y="4"/>
                  <a:pt x="798" y="4"/>
                </a:cubicBezTo>
                <a:cubicBezTo>
                  <a:pt x="757" y="5"/>
                  <a:pt x="757" y="5"/>
                  <a:pt x="757" y="5"/>
                </a:cubicBezTo>
                <a:cubicBezTo>
                  <a:pt x="744" y="5"/>
                  <a:pt x="731" y="5"/>
                  <a:pt x="718" y="5"/>
                </a:cubicBezTo>
                <a:cubicBezTo>
                  <a:pt x="699" y="5"/>
                  <a:pt x="681" y="5"/>
                  <a:pt x="662" y="5"/>
                </a:cubicBezTo>
                <a:cubicBezTo>
                  <a:pt x="540" y="4"/>
                  <a:pt x="540" y="4"/>
                  <a:pt x="540" y="4"/>
                </a:cubicBezTo>
                <a:cubicBezTo>
                  <a:pt x="512" y="4"/>
                  <a:pt x="512" y="4"/>
                  <a:pt x="512" y="4"/>
                </a:cubicBezTo>
                <a:cubicBezTo>
                  <a:pt x="512" y="4"/>
                  <a:pt x="511" y="4"/>
                  <a:pt x="511" y="4"/>
                </a:cubicBezTo>
                <a:cubicBezTo>
                  <a:pt x="502" y="4"/>
                  <a:pt x="493" y="4"/>
                  <a:pt x="484" y="5"/>
                </a:cubicBezTo>
                <a:cubicBezTo>
                  <a:pt x="462" y="5"/>
                  <a:pt x="441" y="5"/>
                  <a:pt x="419" y="5"/>
                </a:cubicBezTo>
                <a:cubicBezTo>
                  <a:pt x="397" y="6"/>
                  <a:pt x="375" y="7"/>
                  <a:pt x="353" y="7"/>
                </a:cubicBezTo>
                <a:cubicBezTo>
                  <a:pt x="352" y="7"/>
                  <a:pt x="351" y="7"/>
                  <a:pt x="350" y="7"/>
                </a:cubicBezTo>
                <a:cubicBezTo>
                  <a:pt x="330" y="7"/>
                  <a:pt x="309" y="5"/>
                  <a:pt x="288" y="5"/>
                </a:cubicBezTo>
                <a:cubicBezTo>
                  <a:pt x="280" y="4"/>
                  <a:pt x="272" y="4"/>
                  <a:pt x="265" y="4"/>
                </a:cubicBezTo>
                <a:cubicBezTo>
                  <a:pt x="258" y="4"/>
                  <a:pt x="251" y="4"/>
                  <a:pt x="244" y="4"/>
                </a:cubicBezTo>
                <a:cubicBezTo>
                  <a:pt x="237" y="4"/>
                  <a:pt x="230" y="4"/>
                  <a:pt x="224" y="4"/>
                </a:cubicBezTo>
                <a:cubicBezTo>
                  <a:pt x="223" y="4"/>
                  <a:pt x="223" y="4"/>
                  <a:pt x="223" y="4"/>
                </a:cubicBezTo>
                <a:cubicBezTo>
                  <a:pt x="223" y="4"/>
                  <a:pt x="222" y="4"/>
                  <a:pt x="222" y="4"/>
                </a:cubicBezTo>
                <a:cubicBezTo>
                  <a:pt x="212" y="4"/>
                  <a:pt x="201" y="4"/>
                  <a:pt x="190" y="4"/>
                </a:cubicBezTo>
                <a:cubicBezTo>
                  <a:pt x="180" y="4"/>
                  <a:pt x="169" y="4"/>
                  <a:pt x="158" y="4"/>
                </a:cubicBezTo>
                <a:cubicBezTo>
                  <a:pt x="158" y="4"/>
                  <a:pt x="157" y="4"/>
                  <a:pt x="157" y="4"/>
                </a:cubicBezTo>
                <a:cubicBezTo>
                  <a:pt x="135" y="4"/>
                  <a:pt x="113" y="4"/>
                  <a:pt x="91" y="5"/>
                </a:cubicBezTo>
                <a:cubicBezTo>
                  <a:pt x="80" y="5"/>
                  <a:pt x="69" y="6"/>
                  <a:pt x="58" y="6"/>
                </a:cubicBezTo>
                <a:cubicBezTo>
                  <a:pt x="48" y="6"/>
                  <a:pt x="37" y="7"/>
                  <a:pt x="26" y="8"/>
                </a:cubicBezTo>
                <a:cubicBezTo>
                  <a:pt x="10" y="10"/>
                  <a:pt x="10" y="10"/>
                  <a:pt x="10" y="10"/>
                </a:cubicBezTo>
                <a:cubicBezTo>
                  <a:pt x="6" y="10"/>
                  <a:pt x="6" y="10"/>
                  <a:pt x="6" y="10"/>
                </a:cubicBezTo>
                <a:cubicBezTo>
                  <a:pt x="6" y="10"/>
                  <a:pt x="5" y="10"/>
                  <a:pt x="5" y="10"/>
                </a:cubicBezTo>
                <a:cubicBezTo>
                  <a:pt x="5" y="10"/>
                  <a:pt x="5" y="10"/>
                  <a:pt x="5" y="10"/>
                </a:cubicBezTo>
                <a:cubicBezTo>
                  <a:pt x="4" y="10"/>
                  <a:pt x="4" y="10"/>
                  <a:pt x="4" y="10"/>
                </a:cubicBezTo>
                <a:cubicBezTo>
                  <a:pt x="3" y="10"/>
                  <a:pt x="2" y="10"/>
                  <a:pt x="2" y="10"/>
                </a:cubicBezTo>
                <a:cubicBezTo>
                  <a:pt x="1" y="10"/>
                  <a:pt x="1" y="11"/>
                  <a:pt x="1" y="12"/>
                </a:cubicBezTo>
                <a:cubicBezTo>
                  <a:pt x="0" y="15"/>
                  <a:pt x="2" y="17"/>
                  <a:pt x="4" y="17"/>
                </a:cubicBezTo>
                <a:cubicBezTo>
                  <a:pt x="4" y="17"/>
                  <a:pt x="4" y="17"/>
                  <a:pt x="4" y="17"/>
                </a:cubicBezTo>
                <a:cubicBezTo>
                  <a:pt x="24" y="17"/>
                  <a:pt x="43" y="16"/>
                  <a:pt x="63" y="16"/>
                </a:cubicBezTo>
                <a:cubicBezTo>
                  <a:pt x="65" y="16"/>
                  <a:pt x="67" y="16"/>
                  <a:pt x="70" y="16"/>
                </a:cubicBezTo>
                <a:cubicBezTo>
                  <a:pt x="87" y="16"/>
                  <a:pt x="105" y="16"/>
                  <a:pt x="122" y="17"/>
                </a:cubicBezTo>
                <a:cubicBezTo>
                  <a:pt x="133" y="18"/>
                  <a:pt x="143" y="19"/>
                  <a:pt x="153" y="19"/>
                </a:cubicBezTo>
                <a:cubicBezTo>
                  <a:pt x="183" y="20"/>
                  <a:pt x="183" y="20"/>
                  <a:pt x="183" y="20"/>
                </a:cubicBezTo>
                <a:cubicBezTo>
                  <a:pt x="203" y="20"/>
                  <a:pt x="224" y="21"/>
                  <a:pt x="244" y="22"/>
                </a:cubicBezTo>
                <a:cubicBezTo>
                  <a:pt x="265" y="22"/>
                  <a:pt x="285" y="23"/>
                  <a:pt x="305" y="24"/>
                </a:cubicBezTo>
                <a:cubicBezTo>
                  <a:pt x="336" y="26"/>
                  <a:pt x="336" y="26"/>
                  <a:pt x="336" y="26"/>
                </a:cubicBezTo>
                <a:cubicBezTo>
                  <a:pt x="346" y="26"/>
                  <a:pt x="361" y="28"/>
                  <a:pt x="375" y="28"/>
                </a:cubicBezTo>
                <a:cubicBezTo>
                  <a:pt x="416" y="31"/>
                  <a:pt x="448" y="31"/>
                  <a:pt x="489" y="32"/>
                </a:cubicBezTo>
                <a:cubicBezTo>
                  <a:pt x="530" y="34"/>
                  <a:pt x="571" y="35"/>
                  <a:pt x="612" y="36"/>
                </a:cubicBezTo>
                <a:cubicBezTo>
                  <a:pt x="629" y="36"/>
                  <a:pt x="647" y="36"/>
                  <a:pt x="665" y="36"/>
                </a:cubicBezTo>
                <a:cubicBezTo>
                  <a:pt x="679" y="36"/>
                  <a:pt x="693" y="36"/>
                  <a:pt x="707" y="36"/>
                </a:cubicBezTo>
                <a:cubicBezTo>
                  <a:pt x="750" y="36"/>
                  <a:pt x="750" y="36"/>
                  <a:pt x="750" y="36"/>
                </a:cubicBezTo>
                <a:cubicBezTo>
                  <a:pt x="792" y="35"/>
                  <a:pt x="792" y="35"/>
                  <a:pt x="792" y="35"/>
                </a:cubicBezTo>
                <a:cubicBezTo>
                  <a:pt x="821" y="34"/>
                  <a:pt x="850" y="33"/>
                  <a:pt x="879" y="32"/>
                </a:cubicBezTo>
                <a:cubicBezTo>
                  <a:pt x="921" y="30"/>
                  <a:pt x="921" y="30"/>
                  <a:pt x="921" y="30"/>
                </a:cubicBezTo>
                <a:cubicBezTo>
                  <a:pt x="937" y="30"/>
                  <a:pt x="953" y="29"/>
                  <a:pt x="969" y="27"/>
                </a:cubicBezTo>
                <a:cubicBezTo>
                  <a:pt x="973" y="26"/>
                  <a:pt x="979" y="25"/>
                  <a:pt x="982" y="22"/>
                </a:cubicBezTo>
                <a:cubicBezTo>
                  <a:pt x="984" y="20"/>
                  <a:pt x="986" y="17"/>
                  <a:pt x="987" y="15"/>
                </a:cubicBezTo>
                <a:cubicBezTo>
                  <a:pt x="989" y="13"/>
                  <a:pt x="990" y="10"/>
                  <a:pt x="989" y="8"/>
                </a:cubicBezTo>
                <a:cubicBezTo>
                  <a:pt x="988" y="4"/>
                  <a:pt x="985" y="3"/>
                  <a:pt x="982" y="2"/>
                </a:cubicBezTo>
                <a:cubicBezTo>
                  <a:pt x="975" y="0"/>
                  <a:pt x="968" y="0"/>
                  <a:pt x="962" y="0"/>
                </a:cubicBezTo>
                <a:cubicBezTo>
                  <a:pt x="934" y="0"/>
                  <a:pt x="934" y="0"/>
                  <a:pt x="934" y="0"/>
                </a:cubicBezTo>
                <a:cubicBezTo>
                  <a:pt x="930" y="0"/>
                  <a:pt x="926" y="0"/>
                  <a:pt x="922" y="0"/>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2" name="Content Placeholder 2">
            <a:extLst>
              <a:ext uri="{FF2B5EF4-FFF2-40B4-BE49-F238E27FC236}">
                <a16:creationId xmlns:a16="http://schemas.microsoft.com/office/drawing/2014/main" id="{8A378710-0B40-86B5-B2C6-AF290BD75FB3}"/>
              </a:ext>
            </a:extLst>
          </p:cNvPr>
          <p:cNvSpPr txBox="1">
            <a:spLocks/>
          </p:cNvSpPr>
          <p:nvPr/>
        </p:nvSpPr>
        <p:spPr>
          <a:xfrm>
            <a:off x="401032" y="716399"/>
            <a:ext cx="8510739" cy="881599"/>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1600" b="1">
                <a:latin typeface="Calibri" panose="020F0502020204030204" pitchFamily="34" charset="0"/>
                <a:cs typeface="Calibri" panose="020F0502020204030204" pitchFamily="34" charset="0"/>
              </a:rPr>
              <a:t>Bước 3</a:t>
            </a:r>
            <a:r>
              <a:rPr lang="en-US" sz="1600">
                <a:latin typeface="Calibri" panose="020F0502020204030204" pitchFamily="34" charset="0"/>
                <a:cs typeface="Calibri" panose="020F0502020204030204" pitchFamily="34" charset="0"/>
              </a:rPr>
              <a:t>: Hoàn thiện biểu đồ</a:t>
            </a:r>
          </a:p>
          <a:p>
            <a:pPr marL="285750" indent="-285750" algn="l">
              <a:buFontTx/>
              <a:buChar char="-"/>
            </a:pPr>
            <a:r>
              <a:rPr lang="en-US" sz="1600" b="1">
                <a:latin typeface="Calibri" panose="020F0502020204030204" pitchFamily="34" charset="0"/>
                <a:cs typeface="Calibri" panose="020F0502020204030204" pitchFamily="34" charset="0"/>
              </a:rPr>
              <a:t>Thêm đường trục tung: </a:t>
            </a:r>
            <a:r>
              <a:rPr lang="en-US" sz="1600">
                <a:latin typeface="Calibri" panose="020F0502020204030204" pitchFamily="34" charset="0"/>
                <a:cs typeface="Calibri" panose="020F0502020204030204" pitchFamily="34" charset="0"/>
              </a:rPr>
              <a:t>Click đúp chuột vào trục tung (1) để hiện bảng “Format Axis”, chọn biểu tượng (2), chọn Solid line </a:t>
            </a:r>
          </a:p>
        </p:txBody>
      </p:sp>
      <p:sp>
        <p:nvSpPr>
          <p:cNvPr id="12" name="Oval 11">
            <a:extLst>
              <a:ext uri="{FF2B5EF4-FFF2-40B4-BE49-F238E27FC236}">
                <a16:creationId xmlns:a16="http://schemas.microsoft.com/office/drawing/2014/main" id="{EE39C399-697C-FE44-F510-CB4B7E102188}"/>
              </a:ext>
            </a:extLst>
          </p:cNvPr>
          <p:cNvSpPr/>
          <p:nvPr/>
        </p:nvSpPr>
        <p:spPr>
          <a:xfrm>
            <a:off x="1810530" y="2890868"/>
            <a:ext cx="328018" cy="328469"/>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1</a:t>
            </a:r>
          </a:p>
        </p:txBody>
      </p:sp>
      <p:sp>
        <p:nvSpPr>
          <p:cNvPr id="13" name="Oval 12">
            <a:extLst>
              <a:ext uri="{FF2B5EF4-FFF2-40B4-BE49-F238E27FC236}">
                <a16:creationId xmlns:a16="http://schemas.microsoft.com/office/drawing/2014/main" id="{6F93BA1C-6FA9-D5A4-7EFA-CB8DF75B6B37}"/>
              </a:ext>
            </a:extLst>
          </p:cNvPr>
          <p:cNvSpPr/>
          <p:nvPr/>
        </p:nvSpPr>
        <p:spPr>
          <a:xfrm>
            <a:off x="5385819" y="3683022"/>
            <a:ext cx="328018" cy="328469"/>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3</a:t>
            </a:r>
          </a:p>
        </p:txBody>
      </p:sp>
      <p:sp>
        <p:nvSpPr>
          <p:cNvPr id="14" name="Oval 13">
            <a:extLst>
              <a:ext uri="{FF2B5EF4-FFF2-40B4-BE49-F238E27FC236}">
                <a16:creationId xmlns:a16="http://schemas.microsoft.com/office/drawing/2014/main" id="{94B5F51D-9593-7C05-BDAD-36A1FF7D96E1}"/>
              </a:ext>
            </a:extLst>
          </p:cNvPr>
          <p:cNvSpPr/>
          <p:nvPr/>
        </p:nvSpPr>
        <p:spPr>
          <a:xfrm>
            <a:off x="5309949" y="2179022"/>
            <a:ext cx="328018" cy="328469"/>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2</a:t>
            </a:r>
          </a:p>
        </p:txBody>
      </p:sp>
      <p:sp>
        <p:nvSpPr>
          <p:cNvPr id="9" name="Content Placeholder 2">
            <a:extLst>
              <a:ext uri="{FF2B5EF4-FFF2-40B4-BE49-F238E27FC236}">
                <a16:creationId xmlns:a16="http://schemas.microsoft.com/office/drawing/2014/main" id="{8698B018-37CA-B8DA-5A95-2DC8A3B5DD7C}"/>
              </a:ext>
            </a:extLst>
          </p:cNvPr>
          <p:cNvSpPr txBox="1">
            <a:spLocks/>
          </p:cNvSpPr>
          <p:nvPr/>
        </p:nvSpPr>
        <p:spPr>
          <a:xfrm>
            <a:off x="494587" y="4209107"/>
            <a:ext cx="8510739" cy="881599"/>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marL="285750" indent="-285750" algn="l">
              <a:buFontTx/>
              <a:buChar char="-"/>
            </a:pPr>
            <a:r>
              <a:rPr lang="en-US" sz="1600" b="1">
                <a:latin typeface="Calibri" panose="020F0502020204030204" pitchFamily="34" charset="0"/>
                <a:cs typeface="Calibri" panose="020F0502020204030204" pitchFamily="34" charset="0"/>
              </a:rPr>
              <a:t>Thêm tiêu đề cho trục tung: </a:t>
            </a:r>
            <a:r>
              <a:rPr lang="en-US" sz="1600">
                <a:latin typeface="Calibri" panose="020F0502020204030204" pitchFamily="34" charset="0"/>
                <a:cs typeface="Calibri" panose="020F0502020204030204" pitchFamily="34" charset="0"/>
              </a:rPr>
              <a:t>Chọn Insert/Text (1)/Text Box (2), bôi chọn vị trí muốn đặt tiêu đề (3), gõ tiêu đề phù hơp (4)</a:t>
            </a:r>
          </a:p>
        </p:txBody>
      </p:sp>
      <p:pic>
        <p:nvPicPr>
          <p:cNvPr id="17" name="Picture 16">
            <a:extLst>
              <a:ext uri="{FF2B5EF4-FFF2-40B4-BE49-F238E27FC236}">
                <a16:creationId xmlns:a16="http://schemas.microsoft.com/office/drawing/2014/main" id="{F4690572-B853-17E2-46DE-A1F1D9C4578F}"/>
              </a:ext>
            </a:extLst>
          </p:cNvPr>
          <p:cNvPicPr>
            <a:picLocks noChangeAspect="1"/>
          </p:cNvPicPr>
          <p:nvPr/>
        </p:nvPicPr>
        <p:blipFill>
          <a:blip r:embed="rId4"/>
          <a:stretch>
            <a:fillRect/>
          </a:stretch>
        </p:blipFill>
        <p:spPr>
          <a:xfrm>
            <a:off x="4025956" y="5293609"/>
            <a:ext cx="1448002" cy="562053"/>
          </a:xfrm>
          <a:prstGeom prst="rect">
            <a:avLst/>
          </a:prstGeom>
          <a:effectLst>
            <a:glow rad="63500">
              <a:schemeClr val="bg1">
                <a:lumMod val="65000"/>
                <a:alpha val="40000"/>
              </a:schemeClr>
            </a:glow>
          </a:effectLst>
        </p:spPr>
      </p:pic>
      <p:pic>
        <p:nvPicPr>
          <p:cNvPr id="19" name="Picture 18">
            <a:extLst>
              <a:ext uri="{FF2B5EF4-FFF2-40B4-BE49-F238E27FC236}">
                <a16:creationId xmlns:a16="http://schemas.microsoft.com/office/drawing/2014/main" id="{2A51030F-E179-324F-56B5-8CC70454C989}"/>
              </a:ext>
            </a:extLst>
          </p:cNvPr>
          <p:cNvPicPr>
            <a:picLocks noChangeAspect="1"/>
          </p:cNvPicPr>
          <p:nvPr/>
        </p:nvPicPr>
        <p:blipFill>
          <a:blip r:embed="rId5"/>
          <a:stretch>
            <a:fillRect/>
          </a:stretch>
        </p:blipFill>
        <p:spPr>
          <a:xfrm>
            <a:off x="1831254" y="4834761"/>
            <a:ext cx="1524213" cy="1943371"/>
          </a:xfrm>
          <a:prstGeom prst="rect">
            <a:avLst/>
          </a:prstGeom>
          <a:effectLst>
            <a:glow rad="63500">
              <a:schemeClr val="bg1">
                <a:lumMod val="65000"/>
                <a:alpha val="40000"/>
              </a:schemeClr>
            </a:glow>
          </a:effectLst>
        </p:spPr>
      </p:pic>
      <p:pic>
        <p:nvPicPr>
          <p:cNvPr id="21" name="Picture 20">
            <a:extLst>
              <a:ext uri="{FF2B5EF4-FFF2-40B4-BE49-F238E27FC236}">
                <a16:creationId xmlns:a16="http://schemas.microsoft.com/office/drawing/2014/main" id="{15A5D1FF-692A-13DE-80CF-62F07C1E5EE8}"/>
              </a:ext>
            </a:extLst>
          </p:cNvPr>
          <p:cNvPicPr>
            <a:picLocks noChangeAspect="1"/>
          </p:cNvPicPr>
          <p:nvPr/>
        </p:nvPicPr>
        <p:blipFill>
          <a:blip r:embed="rId6"/>
          <a:stretch>
            <a:fillRect/>
          </a:stretch>
        </p:blipFill>
        <p:spPr>
          <a:xfrm>
            <a:off x="6582687" y="5274555"/>
            <a:ext cx="1105054" cy="600159"/>
          </a:xfrm>
          <a:prstGeom prst="rect">
            <a:avLst/>
          </a:prstGeom>
          <a:effectLst>
            <a:glow rad="63500">
              <a:schemeClr val="bg1">
                <a:lumMod val="65000"/>
                <a:alpha val="40000"/>
              </a:schemeClr>
            </a:glow>
          </a:effectLst>
        </p:spPr>
      </p:pic>
      <p:sp>
        <p:nvSpPr>
          <p:cNvPr id="22" name="Oval 21">
            <a:extLst>
              <a:ext uri="{FF2B5EF4-FFF2-40B4-BE49-F238E27FC236}">
                <a16:creationId xmlns:a16="http://schemas.microsoft.com/office/drawing/2014/main" id="{4AF22AE9-2D55-ACD3-E788-1B8395A85A32}"/>
              </a:ext>
            </a:extLst>
          </p:cNvPr>
          <p:cNvSpPr/>
          <p:nvPr/>
        </p:nvSpPr>
        <p:spPr>
          <a:xfrm>
            <a:off x="2794036" y="5459644"/>
            <a:ext cx="328018" cy="328469"/>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1</a:t>
            </a:r>
          </a:p>
        </p:txBody>
      </p:sp>
      <p:sp>
        <p:nvSpPr>
          <p:cNvPr id="23" name="Oval 22">
            <a:extLst>
              <a:ext uri="{FF2B5EF4-FFF2-40B4-BE49-F238E27FC236}">
                <a16:creationId xmlns:a16="http://schemas.microsoft.com/office/drawing/2014/main" id="{D57DABD6-7D7D-1CCC-BFBB-9849B9F82627}"/>
              </a:ext>
            </a:extLst>
          </p:cNvPr>
          <p:cNvSpPr/>
          <p:nvPr/>
        </p:nvSpPr>
        <p:spPr>
          <a:xfrm>
            <a:off x="2088822" y="6472901"/>
            <a:ext cx="328018" cy="328469"/>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2</a:t>
            </a:r>
          </a:p>
        </p:txBody>
      </p:sp>
      <p:sp>
        <p:nvSpPr>
          <p:cNvPr id="24" name="Arrow: Right 23">
            <a:extLst>
              <a:ext uri="{FF2B5EF4-FFF2-40B4-BE49-F238E27FC236}">
                <a16:creationId xmlns:a16="http://schemas.microsoft.com/office/drawing/2014/main" id="{F0BDE42B-552D-9449-AC2C-672F981AB8D5}"/>
              </a:ext>
            </a:extLst>
          </p:cNvPr>
          <p:cNvSpPr/>
          <p:nvPr/>
        </p:nvSpPr>
        <p:spPr>
          <a:xfrm>
            <a:off x="3538330" y="5428862"/>
            <a:ext cx="254213" cy="281028"/>
          </a:xfrm>
          <a:prstGeom prst="right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Arrow: Right 24">
            <a:extLst>
              <a:ext uri="{FF2B5EF4-FFF2-40B4-BE49-F238E27FC236}">
                <a16:creationId xmlns:a16="http://schemas.microsoft.com/office/drawing/2014/main" id="{D9F0FDA5-21EC-9992-A427-7E1AEE0B163C}"/>
              </a:ext>
            </a:extLst>
          </p:cNvPr>
          <p:cNvSpPr/>
          <p:nvPr/>
        </p:nvSpPr>
        <p:spPr>
          <a:xfrm>
            <a:off x="5901216" y="5434120"/>
            <a:ext cx="254213" cy="281028"/>
          </a:xfrm>
          <a:prstGeom prst="right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1AEC7004-F7E3-743B-F99F-BB997CF19790}"/>
              </a:ext>
            </a:extLst>
          </p:cNvPr>
          <p:cNvSpPr/>
          <p:nvPr/>
        </p:nvSpPr>
        <p:spPr>
          <a:xfrm>
            <a:off x="4572000" y="5932400"/>
            <a:ext cx="328018" cy="328469"/>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3</a:t>
            </a:r>
          </a:p>
        </p:txBody>
      </p:sp>
      <p:sp>
        <p:nvSpPr>
          <p:cNvPr id="27" name="Oval 26">
            <a:extLst>
              <a:ext uri="{FF2B5EF4-FFF2-40B4-BE49-F238E27FC236}">
                <a16:creationId xmlns:a16="http://schemas.microsoft.com/office/drawing/2014/main" id="{EE343BED-384E-5F94-8FF8-0F59E4F23787}"/>
              </a:ext>
            </a:extLst>
          </p:cNvPr>
          <p:cNvSpPr/>
          <p:nvPr/>
        </p:nvSpPr>
        <p:spPr>
          <a:xfrm>
            <a:off x="6939501" y="5939110"/>
            <a:ext cx="328018" cy="328469"/>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4</a:t>
            </a:r>
          </a:p>
        </p:txBody>
      </p:sp>
    </p:spTree>
    <p:extLst>
      <p:ext uri="{BB962C8B-B14F-4D97-AF65-F5344CB8AC3E}">
        <p14:creationId xmlns:p14="http://schemas.microsoft.com/office/powerpoint/2010/main" val="14276359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47001479-87C3-46B4-7423-1F0ACA2BB96F}"/>
              </a:ext>
            </a:extLst>
          </p:cNvPr>
          <p:cNvPicPr>
            <a:picLocks noChangeAspect="1"/>
          </p:cNvPicPr>
          <p:nvPr/>
        </p:nvPicPr>
        <p:blipFill>
          <a:blip r:embed="rId3"/>
          <a:stretch>
            <a:fillRect/>
          </a:stretch>
        </p:blipFill>
        <p:spPr>
          <a:xfrm>
            <a:off x="3825081" y="2368604"/>
            <a:ext cx="1933845" cy="2676899"/>
          </a:xfrm>
          <a:prstGeom prst="rect">
            <a:avLst/>
          </a:prstGeom>
        </p:spPr>
      </p:pic>
      <p:pic>
        <p:nvPicPr>
          <p:cNvPr id="18" name="Picture 17">
            <a:extLst>
              <a:ext uri="{FF2B5EF4-FFF2-40B4-BE49-F238E27FC236}">
                <a16:creationId xmlns:a16="http://schemas.microsoft.com/office/drawing/2014/main" id="{351BD21A-21BF-1C0F-2E69-B630A9DAA02C}"/>
              </a:ext>
            </a:extLst>
          </p:cNvPr>
          <p:cNvPicPr>
            <a:picLocks noChangeAspect="1"/>
          </p:cNvPicPr>
          <p:nvPr/>
        </p:nvPicPr>
        <p:blipFill>
          <a:blip r:embed="rId4"/>
          <a:stretch>
            <a:fillRect/>
          </a:stretch>
        </p:blipFill>
        <p:spPr>
          <a:xfrm>
            <a:off x="6387294" y="2368604"/>
            <a:ext cx="2524477" cy="2734057"/>
          </a:xfrm>
          <a:prstGeom prst="rect">
            <a:avLst/>
          </a:prstGeom>
        </p:spPr>
      </p:pic>
      <p:pic>
        <p:nvPicPr>
          <p:cNvPr id="12" name="Picture 11">
            <a:extLst>
              <a:ext uri="{FF2B5EF4-FFF2-40B4-BE49-F238E27FC236}">
                <a16:creationId xmlns:a16="http://schemas.microsoft.com/office/drawing/2014/main" id="{94F56483-8AF8-1FEF-8EDC-4F78A975D5AA}"/>
              </a:ext>
            </a:extLst>
          </p:cNvPr>
          <p:cNvPicPr>
            <a:picLocks noChangeAspect="1"/>
          </p:cNvPicPr>
          <p:nvPr/>
        </p:nvPicPr>
        <p:blipFill rotWithShape="1">
          <a:blip r:embed="rId5"/>
          <a:srcRect b="10360"/>
          <a:stretch/>
        </p:blipFill>
        <p:spPr>
          <a:xfrm>
            <a:off x="529342" y="2368605"/>
            <a:ext cx="2667372" cy="4004980"/>
          </a:xfrm>
          <a:prstGeom prst="rect">
            <a:avLst/>
          </a:prstGeom>
        </p:spPr>
      </p:pic>
      <p:sp>
        <p:nvSpPr>
          <p:cNvPr id="7" name="Slide Number Placeholder 5"/>
          <p:cNvSpPr>
            <a:spLocks noGrp="1"/>
          </p:cNvSpPr>
          <p:nvPr>
            <p:ph type="sldNum" sz="quarter" idx="4"/>
          </p:nvPr>
        </p:nvSpPr>
        <p:spPr>
          <a:prstGeom prst="rect">
            <a:avLst/>
          </a:prstGeom>
        </p:spPr>
        <p:txBody>
          <a:bodyPr vert="horz" lIns="0" tIns="0" rIns="0" bIns="0" rtlCol="0" anchor="ctr" anchorCtr="0"/>
          <a:lstStyle>
            <a:lvl1pPr algn="r">
              <a:defRPr sz="1800">
                <a:solidFill>
                  <a:schemeClr val="tx1"/>
                </a:solidFill>
              </a:defRPr>
            </a:lvl1pPr>
          </a:lstStyle>
          <a:p>
            <a:fld id="{A3381702-59A5-4643-AE93-D7BF7F78153B}" type="slidenum">
              <a:rPr lang="en-GB" smtClean="0"/>
              <a:pPr/>
              <a:t>16</a:t>
            </a:fld>
            <a:endParaRPr lang="en-GB" dirty="0"/>
          </a:p>
        </p:txBody>
      </p:sp>
      <p:sp>
        <p:nvSpPr>
          <p:cNvPr id="8" name="Footer Placeholder 4"/>
          <p:cNvSpPr>
            <a:spLocks noGrp="1"/>
          </p:cNvSpPr>
          <p:nvPr>
            <p:ph type="ftr" sz="quarter" idx="3"/>
          </p:nvPr>
        </p:nvSpPr>
        <p:spPr>
          <a:prstGeom prst="rect">
            <a:avLst/>
          </a:prstGeom>
        </p:spPr>
        <p:txBody>
          <a:bodyPr vert="horz" lIns="0" tIns="0" rIns="0" bIns="0" rtlCol="0" anchor="t" anchorCtr="0"/>
          <a:lstStyle>
            <a:lvl1pPr algn="r">
              <a:defRPr sz="700">
                <a:solidFill>
                  <a:schemeClr val="tx1"/>
                </a:solidFill>
                <a:latin typeface="+mn-lt"/>
              </a:defRPr>
            </a:lvl1pPr>
          </a:lstStyle>
          <a:p>
            <a:r>
              <a:rPr lang="fr-FR" altLang="ja-JP" dirty="0"/>
              <a:t>©20</a:t>
            </a:r>
            <a:r>
              <a:rPr lang="en-US" altLang="ja-JP" dirty="0"/>
              <a:t>23</a:t>
            </a:r>
            <a:r>
              <a:rPr lang="fr-FR" altLang="ja-JP" dirty="0"/>
              <a:t> KYOCERA Document Solutions Inc.</a:t>
            </a:r>
            <a:endParaRPr lang="en-GB" dirty="0"/>
          </a:p>
        </p:txBody>
      </p:sp>
      <p:sp>
        <p:nvSpPr>
          <p:cNvPr id="4" name="Rectangle 3">
            <a:extLst>
              <a:ext uri="{FF2B5EF4-FFF2-40B4-BE49-F238E27FC236}">
                <a16:creationId xmlns:a16="http://schemas.microsoft.com/office/drawing/2014/main" id="{0BAEFD46-8DC5-BB64-F040-FD68EE6A7C2D}"/>
              </a:ext>
            </a:extLst>
          </p:cNvPr>
          <p:cNvSpPr/>
          <p:nvPr/>
        </p:nvSpPr>
        <p:spPr>
          <a:xfrm>
            <a:off x="295745" y="40624"/>
            <a:ext cx="8722810" cy="6207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nSpc>
                <a:spcPct val="107000"/>
              </a:lnSpc>
              <a:spcBef>
                <a:spcPts val="0"/>
              </a:spcBef>
              <a:spcAft>
                <a:spcPts val="800"/>
              </a:spcAft>
              <a:tabLst>
                <a:tab pos="457200" algn="l"/>
              </a:tabLst>
            </a:pPr>
            <a:r>
              <a:rPr lang="en-US" sz="2200" b="1">
                <a:solidFill>
                  <a:schemeClr val="tx1"/>
                </a:solidFill>
                <a:latin typeface="Calibri" panose="020F0502020204030204" pitchFamily="34" charset="0"/>
                <a:ea typeface="游明朝" panose="02020400000000000000" pitchFamily="18" charset="-128"/>
                <a:cs typeface="Times New Roman" panose="02020603050405020304" pitchFamily="18" charset="0"/>
              </a:rPr>
              <a:t>2</a:t>
            </a:r>
            <a:r>
              <a:rPr lang="en-US" sz="2200" b="1">
                <a:solidFill>
                  <a:schemeClr val="tx1"/>
                </a:solidFill>
                <a:effectLst/>
                <a:latin typeface="Calibri" panose="020F0502020204030204" pitchFamily="34" charset="0"/>
                <a:ea typeface="游明朝" panose="02020400000000000000" pitchFamily="18" charset="-128"/>
                <a:cs typeface="Times New Roman" panose="02020603050405020304" pitchFamily="18" charset="0"/>
              </a:rPr>
              <a:t>. BIỂU ĐỒ CỘT</a:t>
            </a:r>
            <a:endParaRPr lang="en-US" sz="2200">
              <a:solidFill>
                <a:schemeClr val="tx1"/>
              </a:solidFill>
              <a:effectLst/>
              <a:latin typeface="Calibri" panose="020F0502020204030204" pitchFamily="34" charset="0"/>
              <a:ea typeface="游明朝" panose="02020400000000000000" pitchFamily="18" charset="-128"/>
              <a:cs typeface="Times New Roman" panose="02020603050405020304" pitchFamily="18" charset="0"/>
            </a:endParaRPr>
          </a:p>
        </p:txBody>
      </p:sp>
      <p:sp>
        <p:nvSpPr>
          <p:cNvPr id="6" name="Freeform 34">
            <a:extLst>
              <a:ext uri="{FF2B5EF4-FFF2-40B4-BE49-F238E27FC236}">
                <a16:creationId xmlns:a16="http://schemas.microsoft.com/office/drawing/2014/main" id="{E988D51C-281C-0FC1-508D-073F501DA6DF}"/>
              </a:ext>
            </a:extLst>
          </p:cNvPr>
          <p:cNvSpPr>
            <a:spLocks noChangeAspect="1"/>
          </p:cNvSpPr>
          <p:nvPr/>
        </p:nvSpPr>
        <p:spPr bwMode="auto">
          <a:xfrm rot="10800000" flipV="1">
            <a:off x="509368" y="536909"/>
            <a:ext cx="1655684" cy="47957"/>
          </a:xfrm>
          <a:custGeom>
            <a:avLst/>
            <a:gdLst>
              <a:gd name="T0" fmla="*/ 922 w 990"/>
              <a:gd name="T1" fmla="*/ 0 h 36"/>
              <a:gd name="T2" fmla="*/ 907 w 990"/>
              <a:gd name="T3" fmla="*/ 0 h 36"/>
              <a:gd name="T4" fmla="*/ 880 w 990"/>
              <a:gd name="T5" fmla="*/ 1 h 36"/>
              <a:gd name="T6" fmla="*/ 839 w 990"/>
              <a:gd name="T7" fmla="*/ 3 h 36"/>
              <a:gd name="T8" fmla="*/ 818 w 990"/>
              <a:gd name="T9" fmla="*/ 3 h 36"/>
              <a:gd name="T10" fmla="*/ 798 w 990"/>
              <a:gd name="T11" fmla="*/ 4 h 36"/>
              <a:gd name="T12" fmla="*/ 757 w 990"/>
              <a:gd name="T13" fmla="*/ 5 h 36"/>
              <a:gd name="T14" fmla="*/ 718 w 990"/>
              <a:gd name="T15" fmla="*/ 5 h 36"/>
              <a:gd name="T16" fmla="*/ 662 w 990"/>
              <a:gd name="T17" fmla="*/ 5 h 36"/>
              <a:gd name="T18" fmla="*/ 540 w 990"/>
              <a:gd name="T19" fmla="*/ 4 h 36"/>
              <a:gd name="T20" fmla="*/ 512 w 990"/>
              <a:gd name="T21" fmla="*/ 4 h 36"/>
              <a:gd name="T22" fmla="*/ 511 w 990"/>
              <a:gd name="T23" fmla="*/ 4 h 36"/>
              <a:gd name="T24" fmla="*/ 484 w 990"/>
              <a:gd name="T25" fmla="*/ 5 h 36"/>
              <a:gd name="T26" fmla="*/ 419 w 990"/>
              <a:gd name="T27" fmla="*/ 5 h 36"/>
              <a:gd name="T28" fmla="*/ 353 w 990"/>
              <a:gd name="T29" fmla="*/ 7 h 36"/>
              <a:gd name="T30" fmla="*/ 350 w 990"/>
              <a:gd name="T31" fmla="*/ 7 h 36"/>
              <a:gd name="T32" fmla="*/ 288 w 990"/>
              <a:gd name="T33" fmla="*/ 5 h 36"/>
              <a:gd name="T34" fmla="*/ 265 w 990"/>
              <a:gd name="T35" fmla="*/ 4 h 36"/>
              <a:gd name="T36" fmla="*/ 244 w 990"/>
              <a:gd name="T37" fmla="*/ 4 h 36"/>
              <a:gd name="T38" fmla="*/ 224 w 990"/>
              <a:gd name="T39" fmla="*/ 4 h 36"/>
              <a:gd name="T40" fmla="*/ 223 w 990"/>
              <a:gd name="T41" fmla="*/ 4 h 36"/>
              <a:gd name="T42" fmla="*/ 222 w 990"/>
              <a:gd name="T43" fmla="*/ 4 h 36"/>
              <a:gd name="T44" fmla="*/ 190 w 990"/>
              <a:gd name="T45" fmla="*/ 4 h 36"/>
              <a:gd name="T46" fmla="*/ 158 w 990"/>
              <a:gd name="T47" fmla="*/ 4 h 36"/>
              <a:gd name="T48" fmla="*/ 157 w 990"/>
              <a:gd name="T49" fmla="*/ 4 h 36"/>
              <a:gd name="T50" fmla="*/ 91 w 990"/>
              <a:gd name="T51" fmla="*/ 5 h 36"/>
              <a:gd name="T52" fmla="*/ 58 w 990"/>
              <a:gd name="T53" fmla="*/ 6 h 36"/>
              <a:gd name="T54" fmla="*/ 26 w 990"/>
              <a:gd name="T55" fmla="*/ 8 h 36"/>
              <a:gd name="T56" fmla="*/ 10 w 990"/>
              <a:gd name="T57" fmla="*/ 10 h 36"/>
              <a:gd name="T58" fmla="*/ 6 w 990"/>
              <a:gd name="T59" fmla="*/ 10 h 36"/>
              <a:gd name="T60" fmla="*/ 5 w 990"/>
              <a:gd name="T61" fmla="*/ 10 h 36"/>
              <a:gd name="T62" fmla="*/ 5 w 990"/>
              <a:gd name="T63" fmla="*/ 10 h 36"/>
              <a:gd name="T64" fmla="*/ 4 w 990"/>
              <a:gd name="T65" fmla="*/ 10 h 36"/>
              <a:gd name="T66" fmla="*/ 2 w 990"/>
              <a:gd name="T67" fmla="*/ 10 h 36"/>
              <a:gd name="T68" fmla="*/ 1 w 990"/>
              <a:gd name="T69" fmla="*/ 12 h 36"/>
              <a:gd name="T70" fmla="*/ 4 w 990"/>
              <a:gd name="T71" fmla="*/ 17 h 36"/>
              <a:gd name="T72" fmla="*/ 4 w 990"/>
              <a:gd name="T73" fmla="*/ 17 h 36"/>
              <a:gd name="T74" fmla="*/ 63 w 990"/>
              <a:gd name="T75" fmla="*/ 16 h 36"/>
              <a:gd name="T76" fmla="*/ 70 w 990"/>
              <a:gd name="T77" fmla="*/ 16 h 36"/>
              <a:gd name="T78" fmla="*/ 122 w 990"/>
              <a:gd name="T79" fmla="*/ 17 h 36"/>
              <a:gd name="T80" fmla="*/ 153 w 990"/>
              <a:gd name="T81" fmla="*/ 19 h 36"/>
              <a:gd name="T82" fmla="*/ 183 w 990"/>
              <a:gd name="T83" fmla="*/ 20 h 36"/>
              <a:gd name="T84" fmla="*/ 244 w 990"/>
              <a:gd name="T85" fmla="*/ 22 h 36"/>
              <a:gd name="T86" fmla="*/ 305 w 990"/>
              <a:gd name="T87" fmla="*/ 24 h 36"/>
              <a:gd name="T88" fmla="*/ 336 w 990"/>
              <a:gd name="T89" fmla="*/ 26 h 36"/>
              <a:gd name="T90" fmla="*/ 375 w 990"/>
              <a:gd name="T91" fmla="*/ 28 h 36"/>
              <a:gd name="T92" fmla="*/ 489 w 990"/>
              <a:gd name="T93" fmla="*/ 32 h 36"/>
              <a:gd name="T94" fmla="*/ 612 w 990"/>
              <a:gd name="T95" fmla="*/ 36 h 36"/>
              <a:gd name="T96" fmla="*/ 665 w 990"/>
              <a:gd name="T97" fmla="*/ 36 h 36"/>
              <a:gd name="T98" fmla="*/ 707 w 990"/>
              <a:gd name="T99" fmla="*/ 36 h 36"/>
              <a:gd name="T100" fmla="*/ 750 w 990"/>
              <a:gd name="T101" fmla="*/ 36 h 36"/>
              <a:gd name="T102" fmla="*/ 792 w 990"/>
              <a:gd name="T103" fmla="*/ 35 h 36"/>
              <a:gd name="T104" fmla="*/ 879 w 990"/>
              <a:gd name="T105" fmla="*/ 32 h 36"/>
              <a:gd name="T106" fmla="*/ 921 w 990"/>
              <a:gd name="T107" fmla="*/ 30 h 36"/>
              <a:gd name="T108" fmla="*/ 969 w 990"/>
              <a:gd name="T109" fmla="*/ 27 h 36"/>
              <a:gd name="T110" fmla="*/ 982 w 990"/>
              <a:gd name="T111" fmla="*/ 22 h 36"/>
              <a:gd name="T112" fmla="*/ 987 w 990"/>
              <a:gd name="T113" fmla="*/ 15 h 36"/>
              <a:gd name="T114" fmla="*/ 989 w 990"/>
              <a:gd name="T115" fmla="*/ 8 h 36"/>
              <a:gd name="T116" fmla="*/ 982 w 990"/>
              <a:gd name="T117" fmla="*/ 2 h 36"/>
              <a:gd name="T118" fmla="*/ 962 w 990"/>
              <a:gd name="T119" fmla="*/ 0 h 36"/>
              <a:gd name="T120" fmla="*/ 934 w 990"/>
              <a:gd name="T121" fmla="*/ 0 h 36"/>
              <a:gd name="T122" fmla="*/ 922 w 990"/>
              <a:gd name="T1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0" h="36">
                <a:moveTo>
                  <a:pt x="922" y="0"/>
                </a:moveTo>
                <a:cubicBezTo>
                  <a:pt x="917" y="0"/>
                  <a:pt x="912" y="0"/>
                  <a:pt x="907" y="0"/>
                </a:cubicBezTo>
                <a:cubicBezTo>
                  <a:pt x="898" y="0"/>
                  <a:pt x="889" y="1"/>
                  <a:pt x="880" y="1"/>
                </a:cubicBezTo>
                <a:cubicBezTo>
                  <a:pt x="839" y="3"/>
                  <a:pt x="839" y="3"/>
                  <a:pt x="839" y="3"/>
                </a:cubicBezTo>
                <a:cubicBezTo>
                  <a:pt x="818" y="3"/>
                  <a:pt x="818" y="3"/>
                  <a:pt x="818" y="3"/>
                </a:cubicBezTo>
                <a:cubicBezTo>
                  <a:pt x="798" y="4"/>
                  <a:pt x="798" y="4"/>
                  <a:pt x="798" y="4"/>
                </a:cubicBezTo>
                <a:cubicBezTo>
                  <a:pt x="757" y="5"/>
                  <a:pt x="757" y="5"/>
                  <a:pt x="757" y="5"/>
                </a:cubicBezTo>
                <a:cubicBezTo>
                  <a:pt x="744" y="5"/>
                  <a:pt x="731" y="5"/>
                  <a:pt x="718" y="5"/>
                </a:cubicBezTo>
                <a:cubicBezTo>
                  <a:pt x="699" y="5"/>
                  <a:pt x="681" y="5"/>
                  <a:pt x="662" y="5"/>
                </a:cubicBezTo>
                <a:cubicBezTo>
                  <a:pt x="540" y="4"/>
                  <a:pt x="540" y="4"/>
                  <a:pt x="540" y="4"/>
                </a:cubicBezTo>
                <a:cubicBezTo>
                  <a:pt x="512" y="4"/>
                  <a:pt x="512" y="4"/>
                  <a:pt x="512" y="4"/>
                </a:cubicBezTo>
                <a:cubicBezTo>
                  <a:pt x="512" y="4"/>
                  <a:pt x="511" y="4"/>
                  <a:pt x="511" y="4"/>
                </a:cubicBezTo>
                <a:cubicBezTo>
                  <a:pt x="502" y="4"/>
                  <a:pt x="493" y="4"/>
                  <a:pt x="484" y="5"/>
                </a:cubicBezTo>
                <a:cubicBezTo>
                  <a:pt x="462" y="5"/>
                  <a:pt x="441" y="5"/>
                  <a:pt x="419" y="5"/>
                </a:cubicBezTo>
                <a:cubicBezTo>
                  <a:pt x="397" y="6"/>
                  <a:pt x="375" y="7"/>
                  <a:pt x="353" y="7"/>
                </a:cubicBezTo>
                <a:cubicBezTo>
                  <a:pt x="352" y="7"/>
                  <a:pt x="351" y="7"/>
                  <a:pt x="350" y="7"/>
                </a:cubicBezTo>
                <a:cubicBezTo>
                  <a:pt x="330" y="7"/>
                  <a:pt x="309" y="5"/>
                  <a:pt x="288" y="5"/>
                </a:cubicBezTo>
                <a:cubicBezTo>
                  <a:pt x="280" y="4"/>
                  <a:pt x="272" y="4"/>
                  <a:pt x="265" y="4"/>
                </a:cubicBezTo>
                <a:cubicBezTo>
                  <a:pt x="258" y="4"/>
                  <a:pt x="251" y="4"/>
                  <a:pt x="244" y="4"/>
                </a:cubicBezTo>
                <a:cubicBezTo>
                  <a:pt x="237" y="4"/>
                  <a:pt x="230" y="4"/>
                  <a:pt x="224" y="4"/>
                </a:cubicBezTo>
                <a:cubicBezTo>
                  <a:pt x="223" y="4"/>
                  <a:pt x="223" y="4"/>
                  <a:pt x="223" y="4"/>
                </a:cubicBezTo>
                <a:cubicBezTo>
                  <a:pt x="223" y="4"/>
                  <a:pt x="222" y="4"/>
                  <a:pt x="222" y="4"/>
                </a:cubicBezTo>
                <a:cubicBezTo>
                  <a:pt x="212" y="4"/>
                  <a:pt x="201" y="4"/>
                  <a:pt x="190" y="4"/>
                </a:cubicBezTo>
                <a:cubicBezTo>
                  <a:pt x="180" y="4"/>
                  <a:pt x="169" y="4"/>
                  <a:pt x="158" y="4"/>
                </a:cubicBezTo>
                <a:cubicBezTo>
                  <a:pt x="158" y="4"/>
                  <a:pt x="157" y="4"/>
                  <a:pt x="157" y="4"/>
                </a:cubicBezTo>
                <a:cubicBezTo>
                  <a:pt x="135" y="4"/>
                  <a:pt x="113" y="4"/>
                  <a:pt x="91" y="5"/>
                </a:cubicBezTo>
                <a:cubicBezTo>
                  <a:pt x="80" y="5"/>
                  <a:pt x="69" y="6"/>
                  <a:pt x="58" y="6"/>
                </a:cubicBezTo>
                <a:cubicBezTo>
                  <a:pt x="48" y="6"/>
                  <a:pt x="37" y="7"/>
                  <a:pt x="26" y="8"/>
                </a:cubicBezTo>
                <a:cubicBezTo>
                  <a:pt x="10" y="10"/>
                  <a:pt x="10" y="10"/>
                  <a:pt x="10" y="10"/>
                </a:cubicBezTo>
                <a:cubicBezTo>
                  <a:pt x="6" y="10"/>
                  <a:pt x="6" y="10"/>
                  <a:pt x="6" y="10"/>
                </a:cubicBezTo>
                <a:cubicBezTo>
                  <a:pt x="6" y="10"/>
                  <a:pt x="5" y="10"/>
                  <a:pt x="5" y="10"/>
                </a:cubicBezTo>
                <a:cubicBezTo>
                  <a:pt x="5" y="10"/>
                  <a:pt x="5" y="10"/>
                  <a:pt x="5" y="10"/>
                </a:cubicBezTo>
                <a:cubicBezTo>
                  <a:pt x="4" y="10"/>
                  <a:pt x="4" y="10"/>
                  <a:pt x="4" y="10"/>
                </a:cubicBezTo>
                <a:cubicBezTo>
                  <a:pt x="3" y="10"/>
                  <a:pt x="2" y="10"/>
                  <a:pt x="2" y="10"/>
                </a:cubicBezTo>
                <a:cubicBezTo>
                  <a:pt x="1" y="10"/>
                  <a:pt x="1" y="11"/>
                  <a:pt x="1" y="12"/>
                </a:cubicBezTo>
                <a:cubicBezTo>
                  <a:pt x="0" y="15"/>
                  <a:pt x="2" y="17"/>
                  <a:pt x="4" y="17"/>
                </a:cubicBezTo>
                <a:cubicBezTo>
                  <a:pt x="4" y="17"/>
                  <a:pt x="4" y="17"/>
                  <a:pt x="4" y="17"/>
                </a:cubicBezTo>
                <a:cubicBezTo>
                  <a:pt x="24" y="17"/>
                  <a:pt x="43" y="16"/>
                  <a:pt x="63" y="16"/>
                </a:cubicBezTo>
                <a:cubicBezTo>
                  <a:pt x="65" y="16"/>
                  <a:pt x="67" y="16"/>
                  <a:pt x="70" y="16"/>
                </a:cubicBezTo>
                <a:cubicBezTo>
                  <a:pt x="87" y="16"/>
                  <a:pt x="105" y="16"/>
                  <a:pt x="122" y="17"/>
                </a:cubicBezTo>
                <a:cubicBezTo>
                  <a:pt x="133" y="18"/>
                  <a:pt x="143" y="19"/>
                  <a:pt x="153" y="19"/>
                </a:cubicBezTo>
                <a:cubicBezTo>
                  <a:pt x="183" y="20"/>
                  <a:pt x="183" y="20"/>
                  <a:pt x="183" y="20"/>
                </a:cubicBezTo>
                <a:cubicBezTo>
                  <a:pt x="203" y="20"/>
                  <a:pt x="224" y="21"/>
                  <a:pt x="244" y="22"/>
                </a:cubicBezTo>
                <a:cubicBezTo>
                  <a:pt x="265" y="22"/>
                  <a:pt x="285" y="23"/>
                  <a:pt x="305" y="24"/>
                </a:cubicBezTo>
                <a:cubicBezTo>
                  <a:pt x="336" y="26"/>
                  <a:pt x="336" y="26"/>
                  <a:pt x="336" y="26"/>
                </a:cubicBezTo>
                <a:cubicBezTo>
                  <a:pt x="346" y="26"/>
                  <a:pt x="361" y="28"/>
                  <a:pt x="375" y="28"/>
                </a:cubicBezTo>
                <a:cubicBezTo>
                  <a:pt x="416" y="31"/>
                  <a:pt x="448" y="31"/>
                  <a:pt x="489" y="32"/>
                </a:cubicBezTo>
                <a:cubicBezTo>
                  <a:pt x="530" y="34"/>
                  <a:pt x="571" y="35"/>
                  <a:pt x="612" y="36"/>
                </a:cubicBezTo>
                <a:cubicBezTo>
                  <a:pt x="629" y="36"/>
                  <a:pt x="647" y="36"/>
                  <a:pt x="665" y="36"/>
                </a:cubicBezTo>
                <a:cubicBezTo>
                  <a:pt x="679" y="36"/>
                  <a:pt x="693" y="36"/>
                  <a:pt x="707" y="36"/>
                </a:cubicBezTo>
                <a:cubicBezTo>
                  <a:pt x="750" y="36"/>
                  <a:pt x="750" y="36"/>
                  <a:pt x="750" y="36"/>
                </a:cubicBezTo>
                <a:cubicBezTo>
                  <a:pt x="792" y="35"/>
                  <a:pt x="792" y="35"/>
                  <a:pt x="792" y="35"/>
                </a:cubicBezTo>
                <a:cubicBezTo>
                  <a:pt x="821" y="34"/>
                  <a:pt x="850" y="33"/>
                  <a:pt x="879" y="32"/>
                </a:cubicBezTo>
                <a:cubicBezTo>
                  <a:pt x="921" y="30"/>
                  <a:pt x="921" y="30"/>
                  <a:pt x="921" y="30"/>
                </a:cubicBezTo>
                <a:cubicBezTo>
                  <a:pt x="937" y="30"/>
                  <a:pt x="953" y="29"/>
                  <a:pt x="969" y="27"/>
                </a:cubicBezTo>
                <a:cubicBezTo>
                  <a:pt x="973" y="26"/>
                  <a:pt x="979" y="25"/>
                  <a:pt x="982" y="22"/>
                </a:cubicBezTo>
                <a:cubicBezTo>
                  <a:pt x="984" y="20"/>
                  <a:pt x="986" y="17"/>
                  <a:pt x="987" y="15"/>
                </a:cubicBezTo>
                <a:cubicBezTo>
                  <a:pt x="989" y="13"/>
                  <a:pt x="990" y="10"/>
                  <a:pt x="989" y="8"/>
                </a:cubicBezTo>
                <a:cubicBezTo>
                  <a:pt x="988" y="4"/>
                  <a:pt x="985" y="3"/>
                  <a:pt x="982" y="2"/>
                </a:cubicBezTo>
                <a:cubicBezTo>
                  <a:pt x="975" y="0"/>
                  <a:pt x="968" y="0"/>
                  <a:pt x="962" y="0"/>
                </a:cubicBezTo>
                <a:cubicBezTo>
                  <a:pt x="934" y="0"/>
                  <a:pt x="934" y="0"/>
                  <a:pt x="934" y="0"/>
                </a:cubicBezTo>
                <a:cubicBezTo>
                  <a:pt x="930" y="0"/>
                  <a:pt x="926" y="0"/>
                  <a:pt x="922" y="0"/>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2" name="Content Placeholder 2">
            <a:extLst>
              <a:ext uri="{FF2B5EF4-FFF2-40B4-BE49-F238E27FC236}">
                <a16:creationId xmlns:a16="http://schemas.microsoft.com/office/drawing/2014/main" id="{8A378710-0B40-86B5-B2C6-AF290BD75FB3}"/>
              </a:ext>
            </a:extLst>
          </p:cNvPr>
          <p:cNvSpPr txBox="1">
            <a:spLocks/>
          </p:cNvSpPr>
          <p:nvPr/>
        </p:nvSpPr>
        <p:spPr>
          <a:xfrm>
            <a:off x="401032" y="716399"/>
            <a:ext cx="8510739" cy="543449"/>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1600" b="1">
                <a:latin typeface="Calibri" panose="020F0502020204030204" pitchFamily="34" charset="0"/>
                <a:cs typeface="Calibri" panose="020F0502020204030204" pitchFamily="34" charset="0"/>
              </a:rPr>
              <a:t>- Thay đổi các độ rộng cột, màu sắc (nếu cần)</a:t>
            </a:r>
            <a:r>
              <a:rPr lang="en-US" sz="1600">
                <a:latin typeface="Calibri" panose="020F0502020204030204" pitchFamily="34" charset="0"/>
                <a:cs typeface="Calibri" panose="020F0502020204030204" pitchFamily="34" charset="0"/>
              </a:rPr>
              <a:t>: Click đúp chuột vào cột để hiển thị bảng “Format Chart Area”</a:t>
            </a:r>
          </a:p>
        </p:txBody>
      </p:sp>
      <p:sp>
        <p:nvSpPr>
          <p:cNvPr id="10" name="Oval 9">
            <a:extLst>
              <a:ext uri="{FF2B5EF4-FFF2-40B4-BE49-F238E27FC236}">
                <a16:creationId xmlns:a16="http://schemas.microsoft.com/office/drawing/2014/main" id="{56D1053F-CEE6-5763-FE06-2E2F7F48CF19}"/>
              </a:ext>
            </a:extLst>
          </p:cNvPr>
          <p:cNvSpPr/>
          <p:nvPr/>
        </p:nvSpPr>
        <p:spPr>
          <a:xfrm>
            <a:off x="234973" y="3043586"/>
            <a:ext cx="352425" cy="352425"/>
          </a:xfrm>
          <a:prstGeom prst="ellipse">
            <a:avLst/>
          </a:prstGeom>
          <a:solidFill>
            <a:srgbClr val="00B05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en-US" sz="1400"/>
              <a:t>1</a:t>
            </a:r>
          </a:p>
        </p:txBody>
      </p:sp>
      <p:sp>
        <p:nvSpPr>
          <p:cNvPr id="15" name="Oval 14">
            <a:extLst>
              <a:ext uri="{FF2B5EF4-FFF2-40B4-BE49-F238E27FC236}">
                <a16:creationId xmlns:a16="http://schemas.microsoft.com/office/drawing/2014/main" id="{7F549AAC-5FAD-21B0-B000-74F6CED79130}"/>
              </a:ext>
            </a:extLst>
          </p:cNvPr>
          <p:cNvSpPr/>
          <p:nvPr/>
        </p:nvSpPr>
        <p:spPr>
          <a:xfrm>
            <a:off x="4395787" y="3076575"/>
            <a:ext cx="352425" cy="352425"/>
          </a:xfrm>
          <a:prstGeom prst="ellipse">
            <a:avLst/>
          </a:prstGeom>
          <a:solidFill>
            <a:srgbClr val="00B05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en-US" sz="1400"/>
              <a:t>2</a:t>
            </a:r>
          </a:p>
        </p:txBody>
      </p:sp>
      <p:sp>
        <p:nvSpPr>
          <p:cNvPr id="16" name="Oval 15">
            <a:extLst>
              <a:ext uri="{FF2B5EF4-FFF2-40B4-BE49-F238E27FC236}">
                <a16:creationId xmlns:a16="http://schemas.microsoft.com/office/drawing/2014/main" id="{38F41A22-615F-9C20-DA48-AFD13597848E}"/>
              </a:ext>
            </a:extLst>
          </p:cNvPr>
          <p:cNvSpPr/>
          <p:nvPr/>
        </p:nvSpPr>
        <p:spPr>
          <a:xfrm>
            <a:off x="7586367" y="3076575"/>
            <a:ext cx="352425" cy="352425"/>
          </a:xfrm>
          <a:prstGeom prst="ellipse">
            <a:avLst/>
          </a:prstGeom>
          <a:solidFill>
            <a:srgbClr val="00B05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en-US" sz="1400"/>
              <a:t>3</a:t>
            </a:r>
          </a:p>
        </p:txBody>
      </p:sp>
      <p:sp>
        <p:nvSpPr>
          <p:cNvPr id="21" name="TextBox 20">
            <a:extLst>
              <a:ext uri="{FF2B5EF4-FFF2-40B4-BE49-F238E27FC236}">
                <a16:creationId xmlns:a16="http://schemas.microsoft.com/office/drawing/2014/main" id="{F0CC8DB3-BDA3-D93F-62F1-48A0FBA0ABA3}"/>
              </a:ext>
            </a:extLst>
          </p:cNvPr>
          <p:cNvSpPr txBox="1"/>
          <p:nvPr/>
        </p:nvSpPr>
        <p:spPr>
          <a:xfrm>
            <a:off x="3810567" y="1259848"/>
            <a:ext cx="1933845" cy="1040329"/>
          </a:xfrm>
          <a:prstGeom prst="rect">
            <a:avLst/>
          </a:prstGeom>
          <a:solidFill>
            <a:srgbClr val="00B050"/>
          </a:solid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1600">
                <a:solidFill>
                  <a:schemeClr val="lt1"/>
                </a:solidFill>
                <a:latin typeface="Calibri" panose="020F0502020204030204" pitchFamily="34" charset="0"/>
                <a:cs typeface="Calibri" panose="020F050202020403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t>Chọn (2) để thêm đổ bóng cho cột…</a:t>
            </a:r>
          </a:p>
        </p:txBody>
      </p:sp>
      <p:sp>
        <p:nvSpPr>
          <p:cNvPr id="22" name="Rectangle 21">
            <a:extLst>
              <a:ext uri="{FF2B5EF4-FFF2-40B4-BE49-F238E27FC236}">
                <a16:creationId xmlns:a16="http://schemas.microsoft.com/office/drawing/2014/main" id="{4D62792C-913E-B2D5-B04A-C6577F59F416}"/>
              </a:ext>
            </a:extLst>
          </p:cNvPr>
          <p:cNvSpPr/>
          <p:nvPr/>
        </p:nvSpPr>
        <p:spPr>
          <a:xfrm>
            <a:off x="521653" y="1259848"/>
            <a:ext cx="2667372" cy="1040329"/>
          </a:xfrm>
          <a:prstGeom prst="rect">
            <a:avLst/>
          </a:prstGeom>
          <a:solidFill>
            <a:srgbClr val="00B050"/>
          </a:solid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latin typeface="Calibri" panose="020F0502020204030204" pitchFamily="34" charset="0"/>
                <a:cs typeface="Calibri" panose="020F0502020204030204" pitchFamily="34" charset="0"/>
              </a:rPr>
              <a:t>Chọn (1) để thay đổi màu sắc cột, đường viền cột</a:t>
            </a:r>
          </a:p>
        </p:txBody>
      </p:sp>
      <p:sp>
        <p:nvSpPr>
          <p:cNvPr id="23" name="Rectangle 22">
            <a:extLst>
              <a:ext uri="{FF2B5EF4-FFF2-40B4-BE49-F238E27FC236}">
                <a16:creationId xmlns:a16="http://schemas.microsoft.com/office/drawing/2014/main" id="{AA3D0238-B1F3-F4A3-F1B2-317B2DD60DB1}"/>
              </a:ext>
            </a:extLst>
          </p:cNvPr>
          <p:cNvSpPr/>
          <p:nvPr/>
        </p:nvSpPr>
        <p:spPr>
          <a:xfrm>
            <a:off x="6393690" y="1259849"/>
            <a:ext cx="2518081" cy="1031964"/>
          </a:xfrm>
          <a:prstGeom prst="rect">
            <a:avLst/>
          </a:prstGeom>
          <a:solidFill>
            <a:srgbClr val="00B050"/>
          </a:solid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latin typeface="Calibri" panose="020F0502020204030204" pitchFamily="34" charset="0"/>
                <a:cs typeface="Calibri" panose="020F0502020204030204" pitchFamily="34" charset="0"/>
              </a:rPr>
              <a:t>Chọn (3) để thay đổi độ rộng cột và khoảng cách giữa các cột</a:t>
            </a:r>
          </a:p>
        </p:txBody>
      </p:sp>
      <p:sp>
        <p:nvSpPr>
          <p:cNvPr id="3" name="Rectangle 2">
            <a:extLst>
              <a:ext uri="{FF2B5EF4-FFF2-40B4-BE49-F238E27FC236}">
                <a16:creationId xmlns:a16="http://schemas.microsoft.com/office/drawing/2014/main" id="{B02A1ABD-6D4F-A089-BA33-A3587EA4EA0A}"/>
              </a:ext>
            </a:extLst>
          </p:cNvPr>
          <p:cNvSpPr/>
          <p:nvPr/>
        </p:nvSpPr>
        <p:spPr>
          <a:xfrm>
            <a:off x="2263953" y="5539409"/>
            <a:ext cx="742950" cy="473402"/>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7008502-9CF9-9F26-7C29-E08FCAE1C2AF}"/>
              </a:ext>
            </a:extLst>
          </p:cNvPr>
          <p:cNvSpPr/>
          <p:nvPr/>
        </p:nvSpPr>
        <p:spPr>
          <a:xfrm>
            <a:off x="6443041" y="4453352"/>
            <a:ext cx="2375965" cy="539143"/>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839239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4"/>
          </p:nvPr>
        </p:nvSpPr>
        <p:spPr>
          <a:prstGeom prst="rect">
            <a:avLst/>
          </a:prstGeom>
        </p:spPr>
        <p:txBody>
          <a:bodyPr vert="horz" lIns="0" tIns="0" rIns="0" bIns="0" rtlCol="0" anchor="ctr" anchorCtr="0"/>
          <a:lstStyle>
            <a:lvl1pPr algn="r">
              <a:defRPr sz="1800">
                <a:solidFill>
                  <a:schemeClr val="tx1"/>
                </a:solidFill>
              </a:defRPr>
            </a:lvl1pPr>
          </a:lstStyle>
          <a:p>
            <a:fld id="{A3381702-59A5-4643-AE93-D7BF7F78153B}" type="slidenum">
              <a:rPr lang="en-GB" smtClean="0"/>
              <a:pPr/>
              <a:t>17</a:t>
            </a:fld>
            <a:endParaRPr lang="en-GB" dirty="0"/>
          </a:p>
        </p:txBody>
      </p:sp>
      <p:sp>
        <p:nvSpPr>
          <p:cNvPr id="8" name="Footer Placeholder 4"/>
          <p:cNvSpPr>
            <a:spLocks noGrp="1"/>
          </p:cNvSpPr>
          <p:nvPr>
            <p:ph type="ftr" sz="quarter" idx="3"/>
          </p:nvPr>
        </p:nvSpPr>
        <p:spPr>
          <a:prstGeom prst="rect">
            <a:avLst/>
          </a:prstGeom>
        </p:spPr>
        <p:txBody>
          <a:bodyPr vert="horz" lIns="0" tIns="0" rIns="0" bIns="0" rtlCol="0" anchor="t" anchorCtr="0"/>
          <a:lstStyle>
            <a:lvl1pPr algn="r">
              <a:defRPr sz="700">
                <a:solidFill>
                  <a:schemeClr val="tx1"/>
                </a:solidFill>
                <a:latin typeface="+mn-lt"/>
              </a:defRPr>
            </a:lvl1pPr>
          </a:lstStyle>
          <a:p>
            <a:r>
              <a:rPr lang="fr-FR" altLang="ja-JP" dirty="0"/>
              <a:t>©20</a:t>
            </a:r>
            <a:r>
              <a:rPr lang="en-US" altLang="ja-JP" dirty="0"/>
              <a:t>23</a:t>
            </a:r>
            <a:r>
              <a:rPr lang="fr-FR" altLang="ja-JP" dirty="0"/>
              <a:t> KYOCERA Document Solutions Inc.</a:t>
            </a:r>
            <a:endParaRPr lang="en-GB" dirty="0"/>
          </a:p>
        </p:txBody>
      </p:sp>
      <p:sp>
        <p:nvSpPr>
          <p:cNvPr id="4" name="Rectangle 3">
            <a:extLst>
              <a:ext uri="{FF2B5EF4-FFF2-40B4-BE49-F238E27FC236}">
                <a16:creationId xmlns:a16="http://schemas.microsoft.com/office/drawing/2014/main" id="{0BAEFD46-8DC5-BB64-F040-FD68EE6A7C2D}"/>
              </a:ext>
            </a:extLst>
          </p:cNvPr>
          <p:cNvSpPr/>
          <p:nvPr/>
        </p:nvSpPr>
        <p:spPr>
          <a:xfrm>
            <a:off x="295745" y="40624"/>
            <a:ext cx="8722810" cy="6207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nSpc>
                <a:spcPct val="107000"/>
              </a:lnSpc>
              <a:spcBef>
                <a:spcPts val="0"/>
              </a:spcBef>
              <a:spcAft>
                <a:spcPts val="800"/>
              </a:spcAft>
              <a:tabLst>
                <a:tab pos="457200" algn="l"/>
              </a:tabLst>
            </a:pPr>
            <a:r>
              <a:rPr lang="en-US" sz="2200" b="1">
                <a:solidFill>
                  <a:schemeClr val="tx1"/>
                </a:solidFill>
                <a:latin typeface="Calibri" panose="020F0502020204030204" pitchFamily="34" charset="0"/>
                <a:ea typeface="游明朝" panose="02020400000000000000" pitchFamily="18" charset="-128"/>
                <a:cs typeface="Times New Roman" panose="02020603050405020304" pitchFamily="18" charset="0"/>
              </a:rPr>
              <a:t>2</a:t>
            </a:r>
            <a:r>
              <a:rPr lang="en-US" sz="2200" b="1">
                <a:solidFill>
                  <a:schemeClr val="tx1"/>
                </a:solidFill>
                <a:effectLst/>
                <a:latin typeface="Calibri" panose="020F0502020204030204" pitchFamily="34" charset="0"/>
                <a:ea typeface="游明朝" panose="02020400000000000000" pitchFamily="18" charset="-128"/>
                <a:cs typeface="Times New Roman" panose="02020603050405020304" pitchFamily="18" charset="0"/>
              </a:rPr>
              <a:t>. BIỂU ĐỒ CỘT</a:t>
            </a:r>
            <a:endParaRPr lang="en-US" sz="2200">
              <a:solidFill>
                <a:schemeClr val="tx1"/>
              </a:solidFill>
              <a:effectLst/>
              <a:latin typeface="Calibri" panose="020F0502020204030204" pitchFamily="34" charset="0"/>
              <a:ea typeface="游明朝" panose="02020400000000000000" pitchFamily="18" charset="-128"/>
              <a:cs typeface="Times New Roman" panose="02020603050405020304" pitchFamily="18" charset="0"/>
            </a:endParaRPr>
          </a:p>
        </p:txBody>
      </p:sp>
      <p:sp>
        <p:nvSpPr>
          <p:cNvPr id="6" name="Freeform 34">
            <a:extLst>
              <a:ext uri="{FF2B5EF4-FFF2-40B4-BE49-F238E27FC236}">
                <a16:creationId xmlns:a16="http://schemas.microsoft.com/office/drawing/2014/main" id="{E988D51C-281C-0FC1-508D-073F501DA6DF}"/>
              </a:ext>
            </a:extLst>
          </p:cNvPr>
          <p:cNvSpPr>
            <a:spLocks noChangeAspect="1"/>
          </p:cNvSpPr>
          <p:nvPr/>
        </p:nvSpPr>
        <p:spPr bwMode="auto">
          <a:xfrm rot="10800000" flipV="1">
            <a:off x="509368" y="536909"/>
            <a:ext cx="1655684" cy="47957"/>
          </a:xfrm>
          <a:custGeom>
            <a:avLst/>
            <a:gdLst>
              <a:gd name="T0" fmla="*/ 922 w 990"/>
              <a:gd name="T1" fmla="*/ 0 h 36"/>
              <a:gd name="T2" fmla="*/ 907 w 990"/>
              <a:gd name="T3" fmla="*/ 0 h 36"/>
              <a:gd name="T4" fmla="*/ 880 w 990"/>
              <a:gd name="T5" fmla="*/ 1 h 36"/>
              <a:gd name="T6" fmla="*/ 839 w 990"/>
              <a:gd name="T7" fmla="*/ 3 h 36"/>
              <a:gd name="T8" fmla="*/ 818 w 990"/>
              <a:gd name="T9" fmla="*/ 3 h 36"/>
              <a:gd name="T10" fmla="*/ 798 w 990"/>
              <a:gd name="T11" fmla="*/ 4 h 36"/>
              <a:gd name="T12" fmla="*/ 757 w 990"/>
              <a:gd name="T13" fmla="*/ 5 h 36"/>
              <a:gd name="T14" fmla="*/ 718 w 990"/>
              <a:gd name="T15" fmla="*/ 5 h 36"/>
              <a:gd name="T16" fmla="*/ 662 w 990"/>
              <a:gd name="T17" fmla="*/ 5 h 36"/>
              <a:gd name="T18" fmla="*/ 540 w 990"/>
              <a:gd name="T19" fmla="*/ 4 h 36"/>
              <a:gd name="T20" fmla="*/ 512 w 990"/>
              <a:gd name="T21" fmla="*/ 4 h 36"/>
              <a:gd name="T22" fmla="*/ 511 w 990"/>
              <a:gd name="T23" fmla="*/ 4 h 36"/>
              <a:gd name="T24" fmla="*/ 484 w 990"/>
              <a:gd name="T25" fmla="*/ 5 h 36"/>
              <a:gd name="T26" fmla="*/ 419 w 990"/>
              <a:gd name="T27" fmla="*/ 5 h 36"/>
              <a:gd name="T28" fmla="*/ 353 w 990"/>
              <a:gd name="T29" fmla="*/ 7 h 36"/>
              <a:gd name="T30" fmla="*/ 350 w 990"/>
              <a:gd name="T31" fmla="*/ 7 h 36"/>
              <a:gd name="T32" fmla="*/ 288 w 990"/>
              <a:gd name="T33" fmla="*/ 5 h 36"/>
              <a:gd name="T34" fmla="*/ 265 w 990"/>
              <a:gd name="T35" fmla="*/ 4 h 36"/>
              <a:gd name="T36" fmla="*/ 244 w 990"/>
              <a:gd name="T37" fmla="*/ 4 h 36"/>
              <a:gd name="T38" fmla="*/ 224 w 990"/>
              <a:gd name="T39" fmla="*/ 4 h 36"/>
              <a:gd name="T40" fmla="*/ 223 w 990"/>
              <a:gd name="T41" fmla="*/ 4 h 36"/>
              <a:gd name="T42" fmla="*/ 222 w 990"/>
              <a:gd name="T43" fmla="*/ 4 h 36"/>
              <a:gd name="T44" fmla="*/ 190 w 990"/>
              <a:gd name="T45" fmla="*/ 4 h 36"/>
              <a:gd name="T46" fmla="*/ 158 w 990"/>
              <a:gd name="T47" fmla="*/ 4 h 36"/>
              <a:gd name="T48" fmla="*/ 157 w 990"/>
              <a:gd name="T49" fmla="*/ 4 h 36"/>
              <a:gd name="T50" fmla="*/ 91 w 990"/>
              <a:gd name="T51" fmla="*/ 5 h 36"/>
              <a:gd name="T52" fmla="*/ 58 w 990"/>
              <a:gd name="T53" fmla="*/ 6 h 36"/>
              <a:gd name="T54" fmla="*/ 26 w 990"/>
              <a:gd name="T55" fmla="*/ 8 h 36"/>
              <a:gd name="T56" fmla="*/ 10 w 990"/>
              <a:gd name="T57" fmla="*/ 10 h 36"/>
              <a:gd name="T58" fmla="*/ 6 w 990"/>
              <a:gd name="T59" fmla="*/ 10 h 36"/>
              <a:gd name="T60" fmla="*/ 5 w 990"/>
              <a:gd name="T61" fmla="*/ 10 h 36"/>
              <a:gd name="T62" fmla="*/ 5 w 990"/>
              <a:gd name="T63" fmla="*/ 10 h 36"/>
              <a:gd name="T64" fmla="*/ 4 w 990"/>
              <a:gd name="T65" fmla="*/ 10 h 36"/>
              <a:gd name="T66" fmla="*/ 2 w 990"/>
              <a:gd name="T67" fmla="*/ 10 h 36"/>
              <a:gd name="T68" fmla="*/ 1 w 990"/>
              <a:gd name="T69" fmla="*/ 12 h 36"/>
              <a:gd name="T70" fmla="*/ 4 w 990"/>
              <a:gd name="T71" fmla="*/ 17 h 36"/>
              <a:gd name="T72" fmla="*/ 4 w 990"/>
              <a:gd name="T73" fmla="*/ 17 h 36"/>
              <a:gd name="T74" fmla="*/ 63 w 990"/>
              <a:gd name="T75" fmla="*/ 16 h 36"/>
              <a:gd name="T76" fmla="*/ 70 w 990"/>
              <a:gd name="T77" fmla="*/ 16 h 36"/>
              <a:gd name="T78" fmla="*/ 122 w 990"/>
              <a:gd name="T79" fmla="*/ 17 h 36"/>
              <a:gd name="T80" fmla="*/ 153 w 990"/>
              <a:gd name="T81" fmla="*/ 19 h 36"/>
              <a:gd name="T82" fmla="*/ 183 w 990"/>
              <a:gd name="T83" fmla="*/ 20 h 36"/>
              <a:gd name="T84" fmla="*/ 244 w 990"/>
              <a:gd name="T85" fmla="*/ 22 h 36"/>
              <a:gd name="T86" fmla="*/ 305 w 990"/>
              <a:gd name="T87" fmla="*/ 24 h 36"/>
              <a:gd name="T88" fmla="*/ 336 w 990"/>
              <a:gd name="T89" fmla="*/ 26 h 36"/>
              <a:gd name="T90" fmla="*/ 375 w 990"/>
              <a:gd name="T91" fmla="*/ 28 h 36"/>
              <a:gd name="T92" fmla="*/ 489 w 990"/>
              <a:gd name="T93" fmla="*/ 32 h 36"/>
              <a:gd name="T94" fmla="*/ 612 w 990"/>
              <a:gd name="T95" fmla="*/ 36 h 36"/>
              <a:gd name="T96" fmla="*/ 665 w 990"/>
              <a:gd name="T97" fmla="*/ 36 h 36"/>
              <a:gd name="T98" fmla="*/ 707 w 990"/>
              <a:gd name="T99" fmla="*/ 36 h 36"/>
              <a:gd name="T100" fmla="*/ 750 w 990"/>
              <a:gd name="T101" fmla="*/ 36 h 36"/>
              <a:gd name="T102" fmla="*/ 792 w 990"/>
              <a:gd name="T103" fmla="*/ 35 h 36"/>
              <a:gd name="T104" fmla="*/ 879 w 990"/>
              <a:gd name="T105" fmla="*/ 32 h 36"/>
              <a:gd name="T106" fmla="*/ 921 w 990"/>
              <a:gd name="T107" fmla="*/ 30 h 36"/>
              <a:gd name="T108" fmla="*/ 969 w 990"/>
              <a:gd name="T109" fmla="*/ 27 h 36"/>
              <a:gd name="T110" fmla="*/ 982 w 990"/>
              <a:gd name="T111" fmla="*/ 22 h 36"/>
              <a:gd name="T112" fmla="*/ 987 w 990"/>
              <a:gd name="T113" fmla="*/ 15 h 36"/>
              <a:gd name="T114" fmla="*/ 989 w 990"/>
              <a:gd name="T115" fmla="*/ 8 h 36"/>
              <a:gd name="T116" fmla="*/ 982 w 990"/>
              <a:gd name="T117" fmla="*/ 2 h 36"/>
              <a:gd name="T118" fmla="*/ 962 w 990"/>
              <a:gd name="T119" fmla="*/ 0 h 36"/>
              <a:gd name="T120" fmla="*/ 934 w 990"/>
              <a:gd name="T121" fmla="*/ 0 h 36"/>
              <a:gd name="T122" fmla="*/ 922 w 990"/>
              <a:gd name="T1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0" h="36">
                <a:moveTo>
                  <a:pt x="922" y="0"/>
                </a:moveTo>
                <a:cubicBezTo>
                  <a:pt x="917" y="0"/>
                  <a:pt x="912" y="0"/>
                  <a:pt x="907" y="0"/>
                </a:cubicBezTo>
                <a:cubicBezTo>
                  <a:pt x="898" y="0"/>
                  <a:pt x="889" y="1"/>
                  <a:pt x="880" y="1"/>
                </a:cubicBezTo>
                <a:cubicBezTo>
                  <a:pt x="839" y="3"/>
                  <a:pt x="839" y="3"/>
                  <a:pt x="839" y="3"/>
                </a:cubicBezTo>
                <a:cubicBezTo>
                  <a:pt x="818" y="3"/>
                  <a:pt x="818" y="3"/>
                  <a:pt x="818" y="3"/>
                </a:cubicBezTo>
                <a:cubicBezTo>
                  <a:pt x="798" y="4"/>
                  <a:pt x="798" y="4"/>
                  <a:pt x="798" y="4"/>
                </a:cubicBezTo>
                <a:cubicBezTo>
                  <a:pt x="757" y="5"/>
                  <a:pt x="757" y="5"/>
                  <a:pt x="757" y="5"/>
                </a:cubicBezTo>
                <a:cubicBezTo>
                  <a:pt x="744" y="5"/>
                  <a:pt x="731" y="5"/>
                  <a:pt x="718" y="5"/>
                </a:cubicBezTo>
                <a:cubicBezTo>
                  <a:pt x="699" y="5"/>
                  <a:pt x="681" y="5"/>
                  <a:pt x="662" y="5"/>
                </a:cubicBezTo>
                <a:cubicBezTo>
                  <a:pt x="540" y="4"/>
                  <a:pt x="540" y="4"/>
                  <a:pt x="540" y="4"/>
                </a:cubicBezTo>
                <a:cubicBezTo>
                  <a:pt x="512" y="4"/>
                  <a:pt x="512" y="4"/>
                  <a:pt x="512" y="4"/>
                </a:cubicBezTo>
                <a:cubicBezTo>
                  <a:pt x="512" y="4"/>
                  <a:pt x="511" y="4"/>
                  <a:pt x="511" y="4"/>
                </a:cubicBezTo>
                <a:cubicBezTo>
                  <a:pt x="502" y="4"/>
                  <a:pt x="493" y="4"/>
                  <a:pt x="484" y="5"/>
                </a:cubicBezTo>
                <a:cubicBezTo>
                  <a:pt x="462" y="5"/>
                  <a:pt x="441" y="5"/>
                  <a:pt x="419" y="5"/>
                </a:cubicBezTo>
                <a:cubicBezTo>
                  <a:pt x="397" y="6"/>
                  <a:pt x="375" y="7"/>
                  <a:pt x="353" y="7"/>
                </a:cubicBezTo>
                <a:cubicBezTo>
                  <a:pt x="352" y="7"/>
                  <a:pt x="351" y="7"/>
                  <a:pt x="350" y="7"/>
                </a:cubicBezTo>
                <a:cubicBezTo>
                  <a:pt x="330" y="7"/>
                  <a:pt x="309" y="5"/>
                  <a:pt x="288" y="5"/>
                </a:cubicBezTo>
                <a:cubicBezTo>
                  <a:pt x="280" y="4"/>
                  <a:pt x="272" y="4"/>
                  <a:pt x="265" y="4"/>
                </a:cubicBezTo>
                <a:cubicBezTo>
                  <a:pt x="258" y="4"/>
                  <a:pt x="251" y="4"/>
                  <a:pt x="244" y="4"/>
                </a:cubicBezTo>
                <a:cubicBezTo>
                  <a:pt x="237" y="4"/>
                  <a:pt x="230" y="4"/>
                  <a:pt x="224" y="4"/>
                </a:cubicBezTo>
                <a:cubicBezTo>
                  <a:pt x="223" y="4"/>
                  <a:pt x="223" y="4"/>
                  <a:pt x="223" y="4"/>
                </a:cubicBezTo>
                <a:cubicBezTo>
                  <a:pt x="223" y="4"/>
                  <a:pt x="222" y="4"/>
                  <a:pt x="222" y="4"/>
                </a:cubicBezTo>
                <a:cubicBezTo>
                  <a:pt x="212" y="4"/>
                  <a:pt x="201" y="4"/>
                  <a:pt x="190" y="4"/>
                </a:cubicBezTo>
                <a:cubicBezTo>
                  <a:pt x="180" y="4"/>
                  <a:pt x="169" y="4"/>
                  <a:pt x="158" y="4"/>
                </a:cubicBezTo>
                <a:cubicBezTo>
                  <a:pt x="158" y="4"/>
                  <a:pt x="157" y="4"/>
                  <a:pt x="157" y="4"/>
                </a:cubicBezTo>
                <a:cubicBezTo>
                  <a:pt x="135" y="4"/>
                  <a:pt x="113" y="4"/>
                  <a:pt x="91" y="5"/>
                </a:cubicBezTo>
                <a:cubicBezTo>
                  <a:pt x="80" y="5"/>
                  <a:pt x="69" y="6"/>
                  <a:pt x="58" y="6"/>
                </a:cubicBezTo>
                <a:cubicBezTo>
                  <a:pt x="48" y="6"/>
                  <a:pt x="37" y="7"/>
                  <a:pt x="26" y="8"/>
                </a:cubicBezTo>
                <a:cubicBezTo>
                  <a:pt x="10" y="10"/>
                  <a:pt x="10" y="10"/>
                  <a:pt x="10" y="10"/>
                </a:cubicBezTo>
                <a:cubicBezTo>
                  <a:pt x="6" y="10"/>
                  <a:pt x="6" y="10"/>
                  <a:pt x="6" y="10"/>
                </a:cubicBezTo>
                <a:cubicBezTo>
                  <a:pt x="6" y="10"/>
                  <a:pt x="5" y="10"/>
                  <a:pt x="5" y="10"/>
                </a:cubicBezTo>
                <a:cubicBezTo>
                  <a:pt x="5" y="10"/>
                  <a:pt x="5" y="10"/>
                  <a:pt x="5" y="10"/>
                </a:cubicBezTo>
                <a:cubicBezTo>
                  <a:pt x="4" y="10"/>
                  <a:pt x="4" y="10"/>
                  <a:pt x="4" y="10"/>
                </a:cubicBezTo>
                <a:cubicBezTo>
                  <a:pt x="3" y="10"/>
                  <a:pt x="2" y="10"/>
                  <a:pt x="2" y="10"/>
                </a:cubicBezTo>
                <a:cubicBezTo>
                  <a:pt x="1" y="10"/>
                  <a:pt x="1" y="11"/>
                  <a:pt x="1" y="12"/>
                </a:cubicBezTo>
                <a:cubicBezTo>
                  <a:pt x="0" y="15"/>
                  <a:pt x="2" y="17"/>
                  <a:pt x="4" y="17"/>
                </a:cubicBezTo>
                <a:cubicBezTo>
                  <a:pt x="4" y="17"/>
                  <a:pt x="4" y="17"/>
                  <a:pt x="4" y="17"/>
                </a:cubicBezTo>
                <a:cubicBezTo>
                  <a:pt x="24" y="17"/>
                  <a:pt x="43" y="16"/>
                  <a:pt x="63" y="16"/>
                </a:cubicBezTo>
                <a:cubicBezTo>
                  <a:pt x="65" y="16"/>
                  <a:pt x="67" y="16"/>
                  <a:pt x="70" y="16"/>
                </a:cubicBezTo>
                <a:cubicBezTo>
                  <a:pt x="87" y="16"/>
                  <a:pt x="105" y="16"/>
                  <a:pt x="122" y="17"/>
                </a:cubicBezTo>
                <a:cubicBezTo>
                  <a:pt x="133" y="18"/>
                  <a:pt x="143" y="19"/>
                  <a:pt x="153" y="19"/>
                </a:cubicBezTo>
                <a:cubicBezTo>
                  <a:pt x="183" y="20"/>
                  <a:pt x="183" y="20"/>
                  <a:pt x="183" y="20"/>
                </a:cubicBezTo>
                <a:cubicBezTo>
                  <a:pt x="203" y="20"/>
                  <a:pt x="224" y="21"/>
                  <a:pt x="244" y="22"/>
                </a:cubicBezTo>
                <a:cubicBezTo>
                  <a:pt x="265" y="22"/>
                  <a:pt x="285" y="23"/>
                  <a:pt x="305" y="24"/>
                </a:cubicBezTo>
                <a:cubicBezTo>
                  <a:pt x="336" y="26"/>
                  <a:pt x="336" y="26"/>
                  <a:pt x="336" y="26"/>
                </a:cubicBezTo>
                <a:cubicBezTo>
                  <a:pt x="346" y="26"/>
                  <a:pt x="361" y="28"/>
                  <a:pt x="375" y="28"/>
                </a:cubicBezTo>
                <a:cubicBezTo>
                  <a:pt x="416" y="31"/>
                  <a:pt x="448" y="31"/>
                  <a:pt x="489" y="32"/>
                </a:cubicBezTo>
                <a:cubicBezTo>
                  <a:pt x="530" y="34"/>
                  <a:pt x="571" y="35"/>
                  <a:pt x="612" y="36"/>
                </a:cubicBezTo>
                <a:cubicBezTo>
                  <a:pt x="629" y="36"/>
                  <a:pt x="647" y="36"/>
                  <a:pt x="665" y="36"/>
                </a:cubicBezTo>
                <a:cubicBezTo>
                  <a:pt x="679" y="36"/>
                  <a:pt x="693" y="36"/>
                  <a:pt x="707" y="36"/>
                </a:cubicBezTo>
                <a:cubicBezTo>
                  <a:pt x="750" y="36"/>
                  <a:pt x="750" y="36"/>
                  <a:pt x="750" y="36"/>
                </a:cubicBezTo>
                <a:cubicBezTo>
                  <a:pt x="792" y="35"/>
                  <a:pt x="792" y="35"/>
                  <a:pt x="792" y="35"/>
                </a:cubicBezTo>
                <a:cubicBezTo>
                  <a:pt x="821" y="34"/>
                  <a:pt x="850" y="33"/>
                  <a:pt x="879" y="32"/>
                </a:cubicBezTo>
                <a:cubicBezTo>
                  <a:pt x="921" y="30"/>
                  <a:pt x="921" y="30"/>
                  <a:pt x="921" y="30"/>
                </a:cubicBezTo>
                <a:cubicBezTo>
                  <a:pt x="937" y="30"/>
                  <a:pt x="953" y="29"/>
                  <a:pt x="969" y="27"/>
                </a:cubicBezTo>
                <a:cubicBezTo>
                  <a:pt x="973" y="26"/>
                  <a:pt x="979" y="25"/>
                  <a:pt x="982" y="22"/>
                </a:cubicBezTo>
                <a:cubicBezTo>
                  <a:pt x="984" y="20"/>
                  <a:pt x="986" y="17"/>
                  <a:pt x="987" y="15"/>
                </a:cubicBezTo>
                <a:cubicBezTo>
                  <a:pt x="989" y="13"/>
                  <a:pt x="990" y="10"/>
                  <a:pt x="989" y="8"/>
                </a:cubicBezTo>
                <a:cubicBezTo>
                  <a:pt x="988" y="4"/>
                  <a:pt x="985" y="3"/>
                  <a:pt x="982" y="2"/>
                </a:cubicBezTo>
                <a:cubicBezTo>
                  <a:pt x="975" y="0"/>
                  <a:pt x="968" y="0"/>
                  <a:pt x="962" y="0"/>
                </a:cubicBezTo>
                <a:cubicBezTo>
                  <a:pt x="934" y="0"/>
                  <a:pt x="934" y="0"/>
                  <a:pt x="934" y="0"/>
                </a:cubicBezTo>
                <a:cubicBezTo>
                  <a:pt x="930" y="0"/>
                  <a:pt x="926" y="0"/>
                  <a:pt x="922" y="0"/>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2" name="Content Placeholder 2">
            <a:extLst>
              <a:ext uri="{FF2B5EF4-FFF2-40B4-BE49-F238E27FC236}">
                <a16:creationId xmlns:a16="http://schemas.microsoft.com/office/drawing/2014/main" id="{8A378710-0B40-86B5-B2C6-AF290BD75FB3}"/>
              </a:ext>
            </a:extLst>
          </p:cNvPr>
          <p:cNvSpPr txBox="1">
            <a:spLocks/>
          </p:cNvSpPr>
          <p:nvPr/>
        </p:nvSpPr>
        <p:spPr>
          <a:xfrm>
            <a:off x="401032" y="716399"/>
            <a:ext cx="8510739" cy="1226941"/>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1600" b="1">
                <a:latin typeface="Calibri" panose="020F0502020204030204" pitchFamily="34" charset="0"/>
                <a:cs typeface="Calibri" panose="020F0502020204030204" pitchFamily="34" charset="0"/>
              </a:rPr>
              <a:t>c.</a:t>
            </a:r>
            <a:r>
              <a:rPr lang="en-US" sz="1600">
                <a:latin typeface="Calibri" panose="020F0502020204030204" pitchFamily="34" charset="0"/>
                <a:cs typeface="Calibri" panose="020F0502020204030204" pitchFamily="34" charset="0"/>
              </a:rPr>
              <a:t> </a:t>
            </a:r>
            <a:r>
              <a:rPr lang="en-US" sz="1600" b="1">
                <a:latin typeface="Calibri" panose="020F0502020204030204" pitchFamily="34" charset="0"/>
                <a:cs typeface="Calibri" panose="020F0502020204030204" pitchFamily="34" charset="0"/>
              </a:rPr>
              <a:t>Lỗi cần tránh</a:t>
            </a:r>
          </a:p>
        </p:txBody>
      </p:sp>
      <p:sp>
        <p:nvSpPr>
          <p:cNvPr id="15" name="Rectangle 14">
            <a:extLst>
              <a:ext uri="{FF2B5EF4-FFF2-40B4-BE49-F238E27FC236}">
                <a16:creationId xmlns:a16="http://schemas.microsoft.com/office/drawing/2014/main" id="{1E08D1DA-5820-9944-7266-2218896EEDC9}"/>
              </a:ext>
            </a:extLst>
          </p:cNvPr>
          <p:cNvSpPr/>
          <p:nvPr/>
        </p:nvSpPr>
        <p:spPr>
          <a:xfrm>
            <a:off x="2786424" y="1185595"/>
            <a:ext cx="2029188" cy="1121773"/>
          </a:xfrm>
          <a:prstGeom prst="rect">
            <a:avLst/>
          </a:prstGeom>
          <a:solidFill>
            <a:srgbClr val="00B050"/>
          </a:solid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bg1"/>
                </a:solidFill>
                <a:latin typeface="Calibri" panose="020F0502020204030204" pitchFamily="34" charset="0"/>
                <a:cs typeface="Calibri" panose="020F0502020204030204" pitchFamily="34" charset="0"/>
              </a:rPr>
              <a:t>Sử dụng màu sắc nhất quán,  giúp người xem dễ tập trung điểm bất thường</a:t>
            </a:r>
          </a:p>
        </p:txBody>
      </p:sp>
      <p:sp>
        <p:nvSpPr>
          <p:cNvPr id="16" name="Rectangle 15">
            <a:extLst>
              <a:ext uri="{FF2B5EF4-FFF2-40B4-BE49-F238E27FC236}">
                <a16:creationId xmlns:a16="http://schemas.microsoft.com/office/drawing/2014/main" id="{CED86361-A7A3-3B4A-6FE5-46C0A190AC4C}"/>
              </a:ext>
            </a:extLst>
          </p:cNvPr>
          <p:cNvSpPr/>
          <p:nvPr/>
        </p:nvSpPr>
        <p:spPr>
          <a:xfrm>
            <a:off x="198781" y="1192266"/>
            <a:ext cx="2305880" cy="1096715"/>
          </a:xfrm>
          <a:prstGeom prst="rect">
            <a:avLst/>
          </a:prstGeom>
          <a:solidFill>
            <a:srgbClr val="FF0000"/>
          </a:solid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bg1"/>
                </a:solidFill>
                <a:latin typeface="Calibri" panose="020F0502020204030204" pitchFamily="34" charset="0"/>
                <a:cs typeface="Calibri" panose="020F0502020204030204" pitchFamily="34" charset="0"/>
              </a:rPr>
              <a:t>Màu sắc không nhất quán</a:t>
            </a:r>
          </a:p>
        </p:txBody>
      </p:sp>
      <p:sp>
        <p:nvSpPr>
          <p:cNvPr id="17" name="Rectangle 16">
            <a:extLst>
              <a:ext uri="{FF2B5EF4-FFF2-40B4-BE49-F238E27FC236}">
                <a16:creationId xmlns:a16="http://schemas.microsoft.com/office/drawing/2014/main" id="{4214962E-018D-E8FA-FFAB-2C7690030DAE}"/>
              </a:ext>
            </a:extLst>
          </p:cNvPr>
          <p:cNvSpPr/>
          <p:nvPr/>
        </p:nvSpPr>
        <p:spPr>
          <a:xfrm>
            <a:off x="7182680" y="1167209"/>
            <a:ext cx="1868557" cy="1121773"/>
          </a:xfrm>
          <a:prstGeom prst="rect">
            <a:avLst/>
          </a:prstGeom>
          <a:solidFill>
            <a:srgbClr val="00B050"/>
          </a:solid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bg1"/>
                </a:solidFill>
                <a:latin typeface="Calibri" panose="020F0502020204030204" pitchFamily="34" charset="0"/>
                <a:cs typeface="Calibri" panose="020F0502020204030204" pitchFamily="34" charset="0"/>
              </a:rPr>
              <a:t>Nên bố trí để các nội dung dễ đọc, đơn giản</a:t>
            </a:r>
          </a:p>
        </p:txBody>
      </p:sp>
      <p:sp>
        <p:nvSpPr>
          <p:cNvPr id="18" name="Rectangle 17">
            <a:extLst>
              <a:ext uri="{FF2B5EF4-FFF2-40B4-BE49-F238E27FC236}">
                <a16:creationId xmlns:a16="http://schemas.microsoft.com/office/drawing/2014/main" id="{B6FEFE62-E674-2F0F-5871-629A691C4B89}"/>
              </a:ext>
            </a:extLst>
          </p:cNvPr>
          <p:cNvSpPr/>
          <p:nvPr/>
        </p:nvSpPr>
        <p:spPr>
          <a:xfrm>
            <a:off x="5032361" y="1192266"/>
            <a:ext cx="1868557" cy="1096715"/>
          </a:xfrm>
          <a:prstGeom prst="rect">
            <a:avLst/>
          </a:prstGeom>
          <a:solidFill>
            <a:srgbClr val="FF0000"/>
          </a:solid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bg1"/>
                </a:solidFill>
                <a:latin typeface="Calibri" panose="020F0502020204030204" pitchFamily="34" charset="0"/>
                <a:cs typeface="Calibri" panose="020F0502020204030204" pitchFamily="34" charset="0"/>
              </a:rPr>
              <a:t>Chữ khó đọc, các cột sử dụng hình ảnh làm nền</a:t>
            </a:r>
          </a:p>
        </p:txBody>
      </p:sp>
      <p:pic>
        <p:nvPicPr>
          <p:cNvPr id="5" name="Picture 4">
            <a:extLst>
              <a:ext uri="{FF2B5EF4-FFF2-40B4-BE49-F238E27FC236}">
                <a16:creationId xmlns:a16="http://schemas.microsoft.com/office/drawing/2014/main" id="{DAADB37E-6F9D-59D6-8A5C-8737645EA20F}"/>
              </a:ext>
            </a:extLst>
          </p:cNvPr>
          <p:cNvPicPr>
            <a:picLocks noChangeAspect="1"/>
          </p:cNvPicPr>
          <p:nvPr/>
        </p:nvPicPr>
        <p:blipFill>
          <a:blip r:embed="rId3"/>
          <a:stretch>
            <a:fillRect/>
          </a:stretch>
        </p:blipFill>
        <p:spPr>
          <a:xfrm>
            <a:off x="198781" y="2467512"/>
            <a:ext cx="4616830" cy="2030770"/>
          </a:xfrm>
          <a:prstGeom prst="rect">
            <a:avLst/>
          </a:prstGeom>
          <a:effectLst>
            <a:glow rad="63500">
              <a:schemeClr val="bg1">
                <a:lumMod val="65000"/>
                <a:alpha val="40000"/>
              </a:schemeClr>
            </a:glow>
          </a:effectLst>
        </p:spPr>
      </p:pic>
      <p:pic>
        <p:nvPicPr>
          <p:cNvPr id="10" name="Picture 9">
            <a:extLst>
              <a:ext uri="{FF2B5EF4-FFF2-40B4-BE49-F238E27FC236}">
                <a16:creationId xmlns:a16="http://schemas.microsoft.com/office/drawing/2014/main" id="{F5DE536F-0578-168D-40B0-7507A2FEB13B}"/>
              </a:ext>
            </a:extLst>
          </p:cNvPr>
          <p:cNvPicPr>
            <a:picLocks noChangeAspect="1"/>
          </p:cNvPicPr>
          <p:nvPr/>
        </p:nvPicPr>
        <p:blipFill>
          <a:blip r:embed="rId4"/>
          <a:stretch>
            <a:fillRect/>
          </a:stretch>
        </p:blipFill>
        <p:spPr>
          <a:xfrm>
            <a:off x="5042162" y="2467511"/>
            <a:ext cx="4004397" cy="2101507"/>
          </a:xfrm>
          <a:prstGeom prst="rect">
            <a:avLst/>
          </a:prstGeom>
          <a:effectLst>
            <a:glow rad="63500">
              <a:schemeClr val="bg1">
                <a:lumMod val="65000"/>
                <a:alpha val="40000"/>
              </a:schemeClr>
            </a:glow>
          </a:effectLst>
        </p:spPr>
      </p:pic>
    </p:spTree>
    <p:extLst>
      <p:ext uri="{BB962C8B-B14F-4D97-AF65-F5344CB8AC3E}">
        <p14:creationId xmlns:p14="http://schemas.microsoft.com/office/powerpoint/2010/main" val="22888616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4"/>
          </p:nvPr>
        </p:nvSpPr>
        <p:spPr>
          <a:prstGeom prst="rect">
            <a:avLst/>
          </a:prstGeom>
        </p:spPr>
        <p:txBody>
          <a:bodyPr vert="horz" lIns="0" tIns="0" rIns="0" bIns="0" rtlCol="0" anchor="ctr" anchorCtr="0"/>
          <a:lstStyle>
            <a:lvl1pPr algn="r">
              <a:defRPr sz="1800">
                <a:solidFill>
                  <a:schemeClr val="tx1"/>
                </a:solidFill>
              </a:defRPr>
            </a:lvl1pPr>
          </a:lstStyle>
          <a:p>
            <a:fld id="{A3381702-59A5-4643-AE93-D7BF7F78153B}" type="slidenum">
              <a:rPr lang="en-GB" smtClean="0"/>
              <a:pPr/>
              <a:t>18</a:t>
            </a:fld>
            <a:endParaRPr lang="en-GB" dirty="0"/>
          </a:p>
        </p:txBody>
      </p:sp>
      <p:sp>
        <p:nvSpPr>
          <p:cNvPr id="8" name="Footer Placeholder 4"/>
          <p:cNvSpPr>
            <a:spLocks noGrp="1"/>
          </p:cNvSpPr>
          <p:nvPr>
            <p:ph type="ftr" sz="quarter" idx="3"/>
          </p:nvPr>
        </p:nvSpPr>
        <p:spPr>
          <a:prstGeom prst="rect">
            <a:avLst/>
          </a:prstGeom>
        </p:spPr>
        <p:txBody>
          <a:bodyPr vert="horz" lIns="0" tIns="0" rIns="0" bIns="0" rtlCol="0" anchor="t" anchorCtr="0"/>
          <a:lstStyle>
            <a:lvl1pPr algn="r">
              <a:defRPr sz="700">
                <a:solidFill>
                  <a:schemeClr val="tx1"/>
                </a:solidFill>
                <a:latin typeface="+mn-lt"/>
              </a:defRPr>
            </a:lvl1pPr>
          </a:lstStyle>
          <a:p>
            <a:r>
              <a:rPr lang="fr-FR" altLang="ja-JP" dirty="0"/>
              <a:t>©20</a:t>
            </a:r>
            <a:r>
              <a:rPr lang="en-US" altLang="ja-JP" dirty="0"/>
              <a:t>23</a:t>
            </a:r>
            <a:r>
              <a:rPr lang="fr-FR" altLang="ja-JP" dirty="0"/>
              <a:t> KYOCERA Document Solutions Inc.</a:t>
            </a:r>
            <a:endParaRPr lang="en-GB" dirty="0"/>
          </a:p>
        </p:txBody>
      </p:sp>
      <p:sp>
        <p:nvSpPr>
          <p:cNvPr id="4" name="Rectangle 3">
            <a:extLst>
              <a:ext uri="{FF2B5EF4-FFF2-40B4-BE49-F238E27FC236}">
                <a16:creationId xmlns:a16="http://schemas.microsoft.com/office/drawing/2014/main" id="{0BAEFD46-8DC5-BB64-F040-FD68EE6A7C2D}"/>
              </a:ext>
            </a:extLst>
          </p:cNvPr>
          <p:cNvSpPr/>
          <p:nvPr/>
        </p:nvSpPr>
        <p:spPr>
          <a:xfrm>
            <a:off x="295745" y="40624"/>
            <a:ext cx="8722810" cy="6207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nSpc>
                <a:spcPct val="107000"/>
              </a:lnSpc>
              <a:spcBef>
                <a:spcPts val="0"/>
              </a:spcBef>
              <a:spcAft>
                <a:spcPts val="800"/>
              </a:spcAft>
              <a:tabLst>
                <a:tab pos="457200" algn="l"/>
              </a:tabLst>
            </a:pPr>
            <a:r>
              <a:rPr lang="en-US" sz="2200" b="1">
                <a:solidFill>
                  <a:schemeClr val="tx1"/>
                </a:solidFill>
                <a:effectLst/>
                <a:latin typeface="Calibri" panose="020F0502020204030204" pitchFamily="34" charset="0"/>
                <a:ea typeface="游明朝" panose="02020400000000000000" pitchFamily="18" charset="-128"/>
                <a:cs typeface="Times New Roman" panose="02020603050405020304" pitchFamily="18" charset="0"/>
              </a:rPr>
              <a:t>3. BIỂU ĐỒ TRÒN</a:t>
            </a:r>
            <a:endParaRPr lang="en-US" sz="2200">
              <a:solidFill>
                <a:schemeClr val="tx1"/>
              </a:solidFill>
              <a:effectLst/>
              <a:latin typeface="Calibri" panose="020F0502020204030204" pitchFamily="34" charset="0"/>
              <a:ea typeface="游明朝" panose="02020400000000000000" pitchFamily="18" charset="-128"/>
              <a:cs typeface="Times New Roman" panose="02020603050405020304" pitchFamily="18" charset="0"/>
            </a:endParaRPr>
          </a:p>
        </p:txBody>
      </p:sp>
      <p:sp>
        <p:nvSpPr>
          <p:cNvPr id="6" name="Freeform 34">
            <a:extLst>
              <a:ext uri="{FF2B5EF4-FFF2-40B4-BE49-F238E27FC236}">
                <a16:creationId xmlns:a16="http://schemas.microsoft.com/office/drawing/2014/main" id="{E988D51C-281C-0FC1-508D-073F501DA6DF}"/>
              </a:ext>
            </a:extLst>
          </p:cNvPr>
          <p:cNvSpPr>
            <a:spLocks noChangeAspect="1"/>
          </p:cNvSpPr>
          <p:nvPr/>
        </p:nvSpPr>
        <p:spPr bwMode="auto">
          <a:xfrm rot="10800000" flipV="1">
            <a:off x="470646" y="530743"/>
            <a:ext cx="2081464" cy="60288"/>
          </a:xfrm>
          <a:custGeom>
            <a:avLst/>
            <a:gdLst>
              <a:gd name="T0" fmla="*/ 922 w 990"/>
              <a:gd name="T1" fmla="*/ 0 h 36"/>
              <a:gd name="T2" fmla="*/ 907 w 990"/>
              <a:gd name="T3" fmla="*/ 0 h 36"/>
              <a:gd name="T4" fmla="*/ 880 w 990"/>
              <a:gd name="T5" fmla="*/ 1 h 36"/>
              <a:gd name="T6" fmla="*/ 839 w 990"/>
              <a:gd name="T7" fmla="*/ 3 h 36"/>
              <a:gd name="T8" fmla="*/ 818 w 990"/>
              <a:gd name="T9" fmla="*/ 3 h 36"/>
              <a:gd name="T10" fmla="*/ 798 w 990"/>
              <a:gd name="T11" fmla="*/ 4 h 36"/>
              <a:gd name="T12" fmla="*/ 757 w 990"/>
              <a:gd name="T13" fmla="*/ 5 h 36"/>
              <a:gd name="T14" fmla="*/ 718 w 990"/>
              <a:gd name="T15" fmla="*/ 5 h 36"/>
              <a:gd name="T16" fmla="*/ 662 w 990"/>
              <a:gd name="T17" fmla="*/ 5 h 36"/>
              <a:gd name="T18" fmla="*/ 540 w 990"/>
              <a:gd name="T19" fmla="*/ 4 h 36"/>
              <a:gd name="T20" fmla="*/ 512 w 990"/>
              <a:gd name="T21" fmla="*/ 4 h 36"/>
              <a:gd name="T22" fmla="*/ 511 w 990"/>
              <a:gd name="T23" fmla="*/ 4 h 36"/>
              <a:gd name="T24" fmla="*/ 484 w 990"/>
              <a:gd name="T25" fmla="*/ 5 h 36"/>
              <a:gd name="T26" fmla="*/ 419 w 990"/>
              <a:gd name="T27" fmla="*/ 5 h 36"/>
              <a:gd name="T28" fmla="*/ 353 w 990"/>
              <a:gd name="T29" fmla="*/ 7 h 36"/>
              <a:gd name="T30" fmla="*/ 350 w 990"/>
              <a:gd name="T31" fmla="*/ 7 h 36"/>
              <a:gd name="T32" fmla="*/ 288 w 990"/>
              <a:gd name="T33" fmla="*/ 5 h 36"/>
              <a:gd name="T34" fmla="*/ 265 w 990"/>
              <a:gd name="T35" fmla="*/ 4 h 36"/>
              <a:gd name="T36" fmla="*/ 244 w 990"/>
              <a:gd name="T37" fmla="*/ 4 h 36"/>
              <a:gd name="T38" fmla="*/ 224 w 990"/>
              <a:gd name="T39" fmla="*/ 4 h 36"/>
              <a:gd name="T40" fmla="*/ 223 w 990"/>
              <a:gd name="T41" fmla="*/ 4 h 36"/>
              <a:gd name="T42" fmla="*/ 222 w 990"/>
              <a:gd name="T43" fmla="*/ 4 h 36"/>
              <a:gd name="T44" fmla="*/ 190 w 990"/>
              <a:gd name="T45" fmla="*/ 4 h 36"/>
              <a:gd name="T46" fmla="*/ 158 w 990"/>
              <a:gd name="T47" fmla="*/ 4 h 36"/>
              <a:gd name="T48" fmla="*/ 157 w 990"/>
              <a:gd name="T49" fmla="*/ 4 h 36"/>
              <a:gd name="T50" fmla="*/ 91 w 990"/>
              <a:gd name="T51" fmla="*/ 5 h 36"/>
              <a:gd name="T52" fmla="*/ 58 w 990"/>
              <a:gd name="T53" fmla="*/ 6 h 36"/>
              <a:gd name="T54" fmla="*/ 26 w 990"/>
              <a:gd name="T55" fmla="*/ 8 h 36"/>
              <a:gd name="T56" fmla="*/ 10 w 990"/>
              <a:gd name="T57" fmla="*/ 10 h 36"/>
              <a:gd name="T58" fmla="*/ 6 w 990"/>
              <a:gd name="T59" fmla="*/ 10 h 36"/>
              <a:gd name="T60" fmla="*/ 5 w 990"/>
              <a:gd name="T61" fmla="*/ 10 h 36"/>
              <a:gd name="T62" fmla="*/ 5 w 990"/>
              <a:gd name="T63" fmla="*/ 10 h 36"/>
              <a:gd name="T64" fmla="*/ 4 w 990"/>
              <a:gd name="T65" fmla="*/ 10 h 36"/>
              <a:gd name="T66" fmla="*/ 2 w 990"/>
              <a:gd name="T67" fmla="*/ 10 h 36"/>
              <a:gd name="T68" fmla="*/ 1 w 990"/>
              <a:gd name="T69" fmla="*/ 12 h 36"/>
              <a:gd name="T70" fmla="*/ 4 w 990"/>
              <a:gd name="T71" fmla="*/ 17 h 36"/>
              <a:gd name="T72" fmla="*/ 4 w 990"/>
              <a:gd name="T73" fmla="*/ 17 h 36"/>
              <a:gd name="T74" fmla="*/ 63 w 990"/>
              <a:gd name="T75" fmla="*/ 16 h 36"/>
              <a:gd name="T76" fmla="*/ 70 w 990"/>
              <a:gd name="T77" fmla="*/ 16 h 36"/>
              <a:gd name="T78" fmla="*/ 122 w 990"/>
              <a:gd name="T79" fmla="*/ 17 h 36"/>
              <a:gd name="T80" fmla="*/ 153 w 990"/>
              <a:gd name="T81" fmla="*/ 19 h 36"/>
              <a:gd name="T82" fmla="*/ 183 w 990"/>
              <a:gd name="T83" fmla="*/ 20 h 36"/>
              <a:gd name="T84" fmla="*/ 244 w 990"/>
              <a:gd name="T85" fmla="*/ 22 h 36"/>
              <a:gd name="T86" fmla="*/ 305 w 990"/>
              <a:gd name="T87" fmla="*/ 24 h 36"/>
              <a:gd name="T88" fmla="*/ 336 w 990"/>
              <a:gd name="T89" fmla="*/ 26 h 36"/>
              <a:gd name="T90" fmla="*/ 375 w 990"/>
              <a:gd name="T91" fmla="*/ 28 h 36"/>
              <a:gd name="T92" fmla="*/ 489 w 990"/>
              <a:gd name="T93" fmla="*/ 32 h 36"/>
              <a:gd name="T94" fmla="*/ 612 w 990"/>
              <a:gd name="T95" fmla="*/ 36 h 36"/>
              <a:gd name="T96" fmla="*/ 665 w 990"/>
              <a:gd name="T97" fmla="*/ 36 h 36"/>
              <a:gd name="T98" fmla="*/ 707 w 990"/>
              <a:gd name="T99" fmla="*/ 36 h 36"/>
              <a:gd name="T100" fmla="*/ 750 w 990"/>
              <a:gd name="T101" fmla="*/ 36 h 36"/>
              <a:gd name="T102" fmla="*/ 792 w 990"/>
              <a:gd name="T103" fmla="*/ 35 h 36"/>
              <a:gd name="T104" fmla="*/ 879 w 990"/>
              <a:gd name="T105" fmla="*/ 32 h 36"/>
              <a:gd name="T106" fmla="*/ 921 w 990"/>
              <a:gd name="T107" fmla="*/ 30 h 36"/>
              <a:gd name="T108" fmla="*/ 969 w 990"/>
              <a:gd name="T109" fmla="*/ 27 h 36"/>
              <a:gd name="T110" fmla="*/ 982 w 990"/>
              <a:gd name="T111" fmla="*/ 22 h 36"/>
              <a:gd name="T112" fmla="*/ 987 w 990"/>
              <a:gd name="T113" fmla="*/ 15 h 36"/>
              <a:gd name="T114" fmla="*/ 989 w 990"/>
              <a:gd name="T115" fmla="*/ 8 h 36"/>
              <a:gd name="T116" fmla="*/ 982 w 990"/>
              <a:gd name="T117" fmla="*/ 2 h 36"/>
              <a:gd name="T118" fmla="*/ 962 w 990"/>
              <a:gd name="T119" fmla="*/ 0 h 36"/>
              <a:gd name="T120" fmla="*/ 934 w 990"/>
              <a:gd name="T121" fmla="*/ 0 h 36"/>
              <a:gd name="T122" fmla="*/ 922 w 990"/>
              <a:gd name="T1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0" h="36">
                <a:moveTo>
                  <a:pt x="922" y="0"/>
                </a:moveTo>
                <a:cubicBezTo>
                  <a:pt x="917" y="0"/>
                  <a:pt x="912" y="0"/>
                  <a:pt x="907" y="0"/>
                </a:cubicBezTo>
                <a:cubicBezTo>
                  <a:pt x="898" y="0"/>
                  <a:pt x="889" y="1"/>
                  <a:pt x="880" y="1"/>
                </a:cubicBezTo>
                <a:cubicBezTo>
                  <a:pt x="839" y="3"/>
                  <a:pt x="839" y="3"/>
                  <a:pt x="839" y="3"/>
                </a:cubicBezTo>
                <a:cubicBezTo>
                  <a:pt x="818" y="3"/>
                  <a:pt x="818" y="3"/>
                  <a:pt x="818" y="3"/>
                </a:cubicBezTo>
                <a:cubicBezTo>
                  <a:pt x="798" y="4"/>
                  <a:pt x="798" y="4"/>
                  <a:pt x="798" y="4"/>
                </a:cubicBezTo>
                <a:cubicBezTo>
                  <a:pt x="757" y="5"/>
                  <a:pt x="757" y="5"/>
                  <a:pt x="757" y="5"/>
                </a:cubicBezTo>
                <a:cubicBezTo>
                  <a:pt x="744" y="5"/>
                  <a:pt x="731" y="5"/>
                  <a:pt x="718" y="5"/>
                </a:cubicBezTo>
                <a:cubicBezTo>
                  <a:pt x="699" y="5"/>
                  <a:pt x="681" y="5"/>
                  <a:pt x="662" y="5"/>
                </a:cubicBezTo>
                <a:cubicBezTo>
                  <a:pt x="540" y="4"/>
                  <a:pt x="540" y="4"/>
                  <a:pt x="540" y="4"/>
                </a:cubicBezTo>
                <a:cubicBezTo>
                  <a:pt x="512" y="4"/>
                  <a:pt x="512" y="4"/>
                  <a:pt x="512" y="4"/>
                </a:cubicBezTo>
                <a:cubicBezTo>
                  <a:pt x="512" y="4"/>
                  <a:pt x="511" y="4"/>
                  <a:pt x="511" y="4"/>
                </a:cubicBezTo>
                <a:cubicBezTo>
                  <a:pt x="502" y="4"/>
                  <a:pt x="493" y="4"/>
                  <a:pt x="484" y="5"/>
                </a:cubicBezTo>
                <a:cubicBezTo>
                  <a:pt x="462" y="5"/>
                  <a:pt x="441" y="5"/>
                  <a:pt x="419" y="5"/>
                </a:cubicBezTo>
                <a:cubicBezTo>
                  <a:pt x="397" y="6"/>
                  <a:pt x="375" y="7"/>
                  <a:pt x="353" y="7"/>
                </a:cubicBezTo>
                <a:cubicBezTo>
                  <a:pt x="352" y="7"/>
                  <a:pt x="351" y="7"/>
                  <a:pt x="350" y="7"/>
                </a:cubicBezTo>
                <a:cubicBezTo>
                  <a:pt x="330" y="7"/>
                  <a:pt x="309" y="5"/>
                  <a:pt x="288" y="5"/>
                </a:cubicBezTo>
                <a:cubicBezTo>
                  <a:pt x="280" y="4"/>
                  <a:pt x="272" y="4"/>
                  <a:pt x="265" y="4"/>
                </a:cubicBezTo>
                <a:cubicBezTo>
                  <a:pt x="258" y="4"/>
                  <a:pt x="251" y="4"/>
                  <a:pt x="244" y="4"/>
                </a:cubicBezTo>
                <a:cubicBezTo>
                  <a:pt x="237" y="4"/>
                  <a:pt x="230" y="4"/>
                  <a:pt x="224" y="4"/>
                </a:cubicBezTo>
                <a:cubicBezTo>
                  <a:pt x="223" y="4"/>
                  <a:pt x="223" y="4"/>
                  <a:pt x="223" y="4"/>
                </a:cubicBezTo>
                <a:cubicBezTo>
                  <a:pt x="223" y="4"/>
                  <a:pt x="222" y="4"/>
                  <a:pt x="222" y="4"/>
                </a:cubicBezTo>
                <a:cubicBezTo>
                  <a:pt x="212" y="4"/>
                  <a:pt x="201" y="4"/>
                  <a:pt x="190" y="4"/>
                </a:cubicBezTo>
                <a:cubicBezTo>
                  <a:pt x="180" y="4"/>
                  <a:pt x="169" y="4"/>
                  <a:pt x="158" y="4"/>
                </a:cubicBezTo>
                <a:cubicBezTo>
                  <a:pt x="158" y="4"/>
                  <a:pt x="157" y="4"/>
                  <a:pt x="157" y="4"/>
                </a:cubicBezTo>
                <a:cubicBezTo>
                  <a:pt x="135" y="4"/>
                  <a:pt x="113" y="4"/>
                  <a:pt x="91" y="5"/>
                </a:cubicBezTo>
                <a:cubicBezTo>
                  <a:pt x="80" y="5"/>
                  <a:pt x="69" y="6"/>
                  <a:pt x="58" y="6"/>
                </a:cubicBezTo>
                <a:cubicBezTo>
                  <a:pt x="48" y="6"/>
                  <a:pt x="37" y="7"/>
                  <a:pt x="26" y="8"/>
                </a:cubicBezTo>
                <a:cubicBezTo>
                  <a:pt x="10" y="10"/>
                  <a:pt x="10" y="10"/>
                  <a:pt x="10" y="10"/>
                </a:cubicBezTo>
                <a:cubicBezTo>
                  <a:pt x="6" y="10"/>
                  <a:pt x="6" y="10"/>
                  <a:pt x="6" y="10"/>
                </a:cubicBezTo>
                <a:cubicBezTo>
                  <a:pt x="6" y="10"/>
                  <a:pt x="5" y="10"/>
                  <a:pt x="5" y="10"/>
                </a:cubicBezTo>
                <a:cubicBezTo>
                  <a:pt x="5" y="10"/>
                  <a:pt x="5" y="10"/>
                  <a:pt x="5" y="10"/>
                </a:cubicBezTo>
                <a:cubicBezTo>
                  <a:pt x="4" y="10"/>
                  <a:pt x="4" y="10"/>
                  <a:pt x="4" y="10"/>
                </a:cubicBezTo>
                <a:cubicBezTo>
                  <a:pt x="3" y="10"/>
                  <a:pt x="2" y="10"/>
                  <a:pt x="2" y="10"/>
                </a:cubicBezTo>
                <a:cubicBezTo>
                  <a:pt x="1" y="10"/>
                  <a:pt x="1" y="11"/>
                  <a:pt x="1" y="12"/>
                </a:cubicBezTo>
                <a:cubicBezTo>
                  <a:pt x="0" y="15"/>
                  <a:pt x="2" y="17"/>
                  <a:pt x="4" y="17"/>
                </a:cubicBezTo>
                <a:cubicBezTo>
                  <a:pt x="4" y="17"/>
                  <a:pt x="4" y="17"/>
                  <a:pt x="4" y="17"/>
                </a:cubicBezTo>
                <a:cubicBezTo>
                  <a:pt x="24" y="17"/>
                  <a:pt x="43" y="16"/>
                  <a:pt x="63" y="16"/>
                </a:cubicBezTo>
                <a:cubicBezTo>
                  <a:pt x="65" y="16"/>
                  <a:pt x="67" y="16"/>
                  <a:pt x="70" y="16"/>
                </a:cubicBezTo>
                <a:cubicBezTo>
                  <a:pt x="87" y="16"/>
                  <a:pt x="105" y="16"/>
                  <a:pt x="122" y="17"/>
                </a:cubicBezTo>
                <a:cubicBezTo>
                  <a:pt x="133" y="18"/>
                  <a:pt x="143" y="19"/>
                  <a:pt x="153" y="19"/>
                </a:cubicBezTo>
                <a:cubicBezTo>
                  <a:pt x="183" y="20"/>
                  <a:pt x="183" y="20"/>
                  <a:pt x="183" y="20"/>
                </a:cubicBezTo>
                <a:cubicBezTo>
                  <a:pt x="203" y="20"/>
                  <a:pt x="224" y="21"/>
                  <a:pt x="244" y="22"/>
                </a:cubicBezTo>
                <a:cubicBezTo>
                  <a:pt x="265" y="22"/>
                  <a:pt x="285" y="23"/>
                  <a:pt x="305" y="24"/>
                </a:cubicBezTo>
                <a:cubicBezTo>
                  <a:pt x="336" y="26"/>
                  <a:pt x="336" y="26"/>
                  <a:pt x="336" y="26"/>
                </a:cubicBezTo>
                <a:cubicBezTo>
                  <a:pt x="346" y="26"/>
                  <a:pt x="361" y="28"/>
                  <a:pt x="375" y="28"/>
                </a:cubicBezTo>
                <a:cubicBezTo>
                  <a:pt x="416" y="31"/>
                  <a:pt x="448" y="31"/>
                  <a:pt x="489" y="32"/>
                </a:cubicBezTo>
                <a:cubicBezTo>
                  <a:pt x="530" y="34"/>
                  <a:pt x="571" y="35"/>
                  <a:pt x="612" y="36"/>
                </a:cubicBezTo>
                <a:cubicBezTo>
                  <a:pt x="629" y="36"/>
                  <a:pt x="647" y="36"/>
                  <a:pt x="665" y="36"/>
                </a:cubicBezTo>
                <a:cubicBezTo>
                  <a:pt x="679" y="36"/>
                  <a:pt x="693" y="36"/>
                  <a:pt x="707" y="36"/>
                </a:cubicBezTo>
                <a:cubicBezTo>
                  <a:pt x="750" y="36"/>
                  <a:pt x="750" y="36"/>
                  <a:pt x="750" y="36"/>
                </a:cubicBezTo>
                <a:cubicBezTo>
                  <a:pt x="792" y="35"/>
                  <a:pt x="792" y="35"/>
                  <a:pt x="792" y="35"/>
                </a:cubicBezTo>
                <a:cubicBezTo>
                  <a:pt x="821" y="34"/>
                  <a:pt x="850" y="33"/>
                  <a:pt x="879" y="32"/>
                </a:cubicBezTo>
                <a:cubicBezTo>
                  <a:pt x="921" y="30"/>
                  <a:pt x="921" y="30"/>
                  <a:pt x="921" y="30"/>
                </a:cubicBezTo>
                <a:cubicBezTo>
                  <a:pt x="937" y="30"/>
                  <a:pt x="953" y="29"/>
                  <a:pt x="969" y="27"/>
                </a:cubicBezTo>
                <a:cubicBezTo>
                  <a:pt x="973" y="26"/>
                  <a:pt x="979" y="25"/>
                  <a:pt x="982" y="22"/>
                </a:cubicBezTo>
                <a:cubicBezTo>
                  <a:pt x="984" y="20"/>
                  <a:pt x="986" y="17"/>
                  <a:pt x="987" y="15"/>
                </a:cubicBezTo>
                <a:cubicBezTo>
                  <a:pt x="989" y="13"/>
                  <a:pt x="990" y="10"/>
                  <a:pt x="989" y="8"/>
                </a:cubicBezTo>
                <a:cubicBezTo>
                  <a:pt x="988" y="4"/>
                  <a:pt x="985" y="3"/>
                  <a:pt x="982" y="2"/>
                </a:cubicBezTo>
                <a:cubicBezTo>
                  <a:pt x="975" y="0"/>
                  <a:pt x="968" y="0"/>
                  <a:pt x="962" y="0"/>
                </a:cubicBezTo>
                <a:cubicBezTo>
                  <a:pt x="934" y="0"/>
                  <a:pt x="934" y="0"/>
                  <a:pt x="934" y="0"/>
                </a:cubicBezTo>
                <a:cubicBezTo>
                  <a:pt x="930" y="0"/>
                  <a:pt x="926" y="0"/>
                  <a:pt x="922" y="0"/>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2" name="Content Placeholder 2">
            <a:extLst>
              <a:ext uri="{FF2B5EF4-FFF2-40B4-BE49-F238E27FC236}">
                <a16:creationId xmlns:a16="http://schemas.microsoft.com/office/drawing/2014/main" id="{8A378710-0B40-86B5-B2C6-AF290BD75FB3}"/>
              </a:ext>
            </a:extLst>
          </p:cNvPr>
          <p:cNvSpPr txBox="1">
            <a:spLocks/>
          </p:cNvSpPr>
          <p:nvPr/>
        </p:nvSpPr>
        <p:spPr>
          <a:xfrm>
            <a:off x="401032" y="716399"/>
            <a:ext cx="8510739" cy="2207277"/>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1600" b="1">
                <a:latin typeface="Calibri" panose="020F0502020204030204" pitchFamily="34" charset="0"/>
                <a:cs typeface="Calibri" panose="020F0502020204030204" pitchFamily="34" charset="0"/>
              </a:rPr>
              <a:t>a. Ý nghĩa: </a:t>
            </a:r>
          </a:p>
          <a:p>
            <a:pPr marL="285750" indent="-285750" algn="l">
              <a:buFont typeface="Arial" panose="020B0604020202020204" pitchFamily="34" charset="0"/>
              <a:buChar char="•"/>
            </a:pPr>
            <a:r>
              <a:rPr lang="en-US" sz="1600">
                <a:latin typeface="Calibri" panose="020F0502020204030204" pitchFamily="34" charset="0"/>
                <a:cs typeface="Calibri" panose="020F0502020204030204" pitchFamily="34" charset="0"/>
              </a:rPr>
              <a:t>Đ</a:t>
            </a:r>
            <a:r>
              <a:rPr lang="vi-VN" sz="1600">
                <a:latin typeface="Calibri" panose="020F0502020204030204" pitchFamily="34" charset="0"/>
                <a:cs typeface="Calibri" panose="020F0502020204030204" pitchFamily="34" charset="0"/>
              </a:rPr>
              <a:t>ược sử dụng để biểu diễn tỉ lệ phần trăm của các thành phần so với tổng thể.</a:t>
            </a:r>
            <a:endParaRPr lang="en-US" sz="1600">
              <a:latin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US" sz="1600">
                <a:latin typeface="Calibri" panose="020F0502020204030204" pitchFamily="34" charset="0"/>
                <a:cs typeface="Calibri" panose="020F0502020204030204" pitchFamily="34" charset="0"/>
              </a:rPr>
              <a:t>Ví dụ về tỉ lệ lỗi BTCD tuần 4 tháng 6/2023</a:t>
            </a:r>
          </a:p>
        </p:txBody>
      </p:sp>
      <p:pic>
        <p:nvPicPr>
          <p:cNvPr id="15" name="Picture 14">
            <a:extLst>
              <a:ext uri="{FF2B5EF4-FFF2-40B4-BE49-F238E27FC236}">
                <a16:creationId xmlns:a16="http://schemas.microsoft.com/office/drawing/2014/main" id="{B09F1133-AA22-2158-D7EF-7EB12A2CAFB6}"/>
              </a:ext>
            </a:extLst>
          </p:cNvPr>
          <p:cNvPicPr>
            <a:picLocks noChangeAspect="1"/>
          </p:cNvPicPr>
          <p:nvPr/>
        </p:nvPicPr>
        <p:blipFill>
          <a:blip r:embed="rId3"/>
          <a:stretch>
            <a:fillRect/>
          </a:stretch>
        </p:blipFill>
        <p:spPr>
          <a:xfrm>
            <a:off x="1895101" y="2285281"/>
            <a:ext cx="5353797" cy="3105583"/>
          </a:xfrm>
          <a:prstGeom prst="rect">
            <a:avLst/>
          </a:prstGeom>
        </p:spPr>
      </p:pic>
    </p:spTree>
    <p:extLst>
      <p:ext uri="{BB962C8B-B14F-4D97-AF65-F5344CB8AC3E}">
        <p14:creationId xmlns:p14="http://schemas.microsoft.com/office/powerpoint/2010/main" val="13204289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85DC942-B24A-4138-B999-AB7188BC74A4}"/>
              </a:ext>
            </a:extLst>
          </p:cNvPr>
          <p:cNvPicPr>
            <a:picLocks noChangeAspect="1"/>
          </p:cNvPicPr>
          <p:nvPr/>
        </p:nvPicPr>
        <p:blipFill>
          <a:blip r:embed="rId3"/>
          <a:stretch>
            <a:fillRect/>
          </a:stretch>
        </p:blipFill>
        <p:spPr>
          <a:xfrm>
            <a:off x="401031" y="3469200"/>
            <a:ext cx="4779167" cy="2539714"/>
          </a:xfrm>
          <a:prstGeom prst="rect">
            <a:avLst/>
          </a:prstGeom>
          <a:effectLst>
            <a:glow rad="63500">
              <a:schemeClr val="bg1">
                <a:lumMod val="65000"/>
                <a:alpha val="40000"/>
              </a:schemeClr>
            </a:glow>
          </a:effectLst>
        </p:spPr>
      </p:pic>
      <p:sp>
        <p:nvSpPr>
          <p:cNvPr id="7" name="Slide Number Placeholder 5"/>
          <p:cNvSpPr>
            <a:spLocks noGrp="1"/>
          </p:cNvSpPr>
          <p:nvPr>
            <p:ph type="sldNum" sz="quarter" idx="4"/>
          </p:nvPr>
        </p:nvSpPr>
        <p:spPr>
          <a:prstGeom prst="rect">
            <a:avLst/>
          </a:prstGeom>
        </p:spPr>
        <p:txBody>
          <a:bodyPr vert="horz" lIns="0" tIns="0" rIns="0" bIns="0" rtlCol="0" anchor="ctr" anchorCtr="0"/>
          <a:lstStyle>
            <a:lvl1pPr algn="r">
              <a:defRPr sz="1800">
                <a:solidFill>
                  <a:schemeClr val="tx1"/>
                </a:solidFill>
              </a:defRPr>
            </a:lvl1pPr>
          </a:lstStyle>
          <a:p>
            <a:fld id="{A3381702-59A5-4643-AE93-D7BF7F78153B}" type="slidenum">
              <a:rPr lang="en-GB" smtClean="0"/>
              <a:pPr/>
              <a:t>19</a:t>
            </a:fld>
            <a:endParaRPr lang="en-GB" dirty="0"/>
          </a:p>
        </p:txBody>
      </p:sp>
      <p:sp>
        <p:nvSpPr>
          <p:cNvPr id="8" name="Footer Placeholder 4"/>
          <p:cNvSpPr>
            <a:spLocks noGrp="1"/>
          </p:cNvSpPr>
          <p:nvPr>
            <p:ph type="ftr" sz="quarter" idx="3"/>
          </p:nvPr>
        </p:nvSpPr>
        <p:spPr>
          <a:prstGeom prst="rect">
            <a:avLst/>
          </a:prstGeom>
        </p:spPr>
        <p:txBody>
          <a:bodyPr vert="horz" lIns="0" tIns="0" rIns="0" bIns="0" rtlCol="0" anchor="t" anchorCtr="0"/>
          <a:lstStyle>
            <a:lvl1pPr algn="r">
              <a:defRPr sz="700">
                <a:solidFill>
                  <a:schemeClr val="tx1"/>
                </a:solidFill>
                <a:latin typeface="+mn-lt"/>
              </a:defRPr>
            </a:lvl1pPr>
          </a:lstStyle>
          <a:p>
            <a:r>
              <a:rPr lang="fr-FR" altLang="ja-JP" dirty="0"/>
              <a:t>©20</a:t>
            </a:r>
            <a:r>
              <a:rPr lang="en-US" altLang="ja-JP" dirty="0"/>
              <a:t>23</a:t>
            </a:r>
            <a:r>
              <a:rPr lang="fr-FR" altLang="ja-JP" dirty="0"/>
              <a:t> KYOCERA Document Solutions Inc.</a:t>
            </a:r>
            <a:endParaRPr lang="en-GB" dirty="0"/>
          </a:p>
        </p:txBody>
      </p:sp>
      <p:sp>
        <p:nvSpPr>
          <p:cNvPr id="4" name="Rectangle 3">
            <a:extLst>
              <a:ext uri="{FF2B5EF4-FFF2-40B4-BE49-F238E27FC236}">
                <a16:creationId xmlns:a16="http://schemas.microsoft.com/office/drawing/2014/main" id="{0BAEFD46-8DC5-BB64-F040-FD68EE6A7C2D}"/>
              </a:ext>
            </a:extLst>
          </p:cNvPr>
          <p:cNvSpPr/>
          <p:nvPr/>
        </p:nvSpPr>
        <p:spPr>
          <a:xfrm>
            <a:off x="295745" y="40624"/>
            <a:ext cx="8722810" cy="6207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nSpc>
                <a:spcPct val="107000"/>
              </a:lnSpc>
              <a:spcBef>
                <a:spcPts val="0"/>
              </a:spcBef>
              <a:spcAft>
                <a:spcPts val="800"/>
              </a:spcAft>
              <a:tabLst>
                <a:tab pos="457200" algn="l"/>
              </a:tabLst>
            </a:pPr>
            <a:r>
              <a:rPr lang="en-US" sz="2200" b="1">
                <a:solidFill>
                  <a:schemeClr val="tx1"/>
                </a:solidFill>
                <a:effectLst/>
                <a:latin typeface="Calibri" panose="020F0502020204030204" pitchFamily="34" charset="0"/>
                <a:ea typeface="游明朝" panose="02020400000000000000" pitchFamily="18" charset="-128"/>
                <a:cs typeface="Times New Roman" panose="02020603050405020304" pitchFamily="18" charset="0"/>
              </a:rPr>
              <a:t>3. BIỂU ĐỒ TRÒN</a:t>
            </a:r>
            <a:endParaRPr lang="en-US" sz="2200">
              <a:solidFill>
                <a:schemeClr val="tx1"/>
              </a:solidFill>
              <a:effectLst/>
              <a:latin typeface="Calibri" panose="020F0502020204030204" pitchFamily="34" charset="0"/>
              <a:ea typeface="游明朝" panose="02020400000000000000" pitchFamily="18" charset="-128"/>
              <a:cs typeface="Times New Roman" panose="02020603050405020304" pitchFamily="18" charset="0"/>
            </a:endParaRPr>
          </a:p>
        </p:txBody>
      </p:sp>
      <p:sp>
        <p:nvSpPr>
          <p:cNvPr id="6" name="Freeform 34">
            <a:extLst>
              <a:ext uri="{FF2B5EF4-FFF2-40B4-BE49-F238E27FC236}">
                <a16:creationId xmlns:a16="http://schemas.microsoft.com/office/drawing/2014/main" id="{E988D51C-281C-0FC1-508D-073F501DA6DF}"/>
              </a:ext>
            </a:extLst>
          </p:cNvPr>
          <p:cNvSpPr>
            <a:spLocks noChangeAspect="1"/>
          </p:cNvSpPr>
          <p:nvPr/>
        </p:nvSpPr>
        <p:spPr bwMode="auto">
          <a:xfrm rot="10800000" flipV="1">
            <a:off x="509368" y="536909"/>
            <a:ext cx="1655684" cy="47957"/>
          </a:xfrm>
          <a:custGeom>
            <a:avLst/>
            <a:gdLst>
              <a:gd name="T0" fmla="*/ 922 w 990"/>
              <a:gd name="T1" fmla="*/ 0 h 36"/>
              <a:gd name="T2" fmla="*/ 907 w 990"/>
              <a:gd name="T3" fmla="*/ 0 h 36"/>
              <a:gd name="T4" fmla="*/ 880 w 990"/>
              <a:gd name="T5" fmla="*/ 1 h 36"/>
              <a:gd name="T6" fmla="*/ 839 w 990"/>
              <a:gd name="T7" fmla="*/ 3 h 36"/>
              <a:gd name="T8" fmla="*/ 818 w 990"/>
              <a:gd name="T9" fmla="*/ 3 h 36"/>
              <a:gd name="T10" fmla="*/ 798 w 990"/>
              <a:gd name="T11" fmla="*/ 4 h 36"/>
              <a:gd name="T12" fmla="*/ 757 w 990"/>
              <a:gd name="T13" fmla="*/ 5 h 36"/>
              <a:gd name="T14" fmla="*/ 718 w 990"/>
              <a:gd name="T15" fmla="*/ 5 h 36"/>
              <a:gd name="T16" fmla="*/ 662 w 990"/>
              <a:gd name="T17" fmla="*/ 5 h 36"/>
              <a:gd name="T18" fmla="*/ 540 w 990"/>
              <a:gd name="T19" fmla="*/ 4 h 36"/>
              <a:gd name="T20" fmla="*/ 512 w 990"/>
              <a:gd name="T21" fmla="*/ 4 h 36"/>
              <a:gd name="T22" fmla="*/ 511 w 990"/>
              <a:gd name="T23" fmla="*/ 4 h 36"/>
              <a:gd name="T24" fmla="*/ 484 w 990"/>
              <a:gd name="T25" fmla="*/ 5 h 36"/>
              <a:gd name="T26" fmla="*/ 419 w 990"/>
              <a:gd name="T27" fmla="*/ 5 h 36"/>
              <a:gd name="T28" fmla="*/ 353 w 990"/>
              <a:gd name="T29" fmla="*/ 7 h 36"/>
              <a:gd name="T30" fmla="*/ 350 w 990"/>
              <a:gd name="T31" fmla="*/ 7 h 36"/>
              <a:gd name="T32" fmla="*/ 288 w 990"/>
              <a:gd name="T33" fmla="*/ 5 h 36"/>
              <a:gd name="T34" fmla="*/ 265 w 990"/>
              <a:gd name="T35" fmla="*/ 4 h 36"/>
              <a:gd name="T36" fmla="*/ 244 w 990"/>
              <a:gd name="T37" fmla="*/ 4 h 36"/>
              <a:gd name="T38" fmla="*/ 224 w 990"/>
              <a:gd name="T39" fmla="*/ 4 h 36"/>
              <a:gd name="T40" fmla="*/ 223 w 990"/>
              <a:gd name="T41" fmla="*/ 4 h 36"/>
              <a:gd name="T42" fmla="*/ 222 w 990"/>
              <a:gd name="T43" fmla="*/ 4 h 36"/>
              <a:gd name="T44" fmla="*/ 190 w 990"/>
              <a:gd name="T45" fmla="*/ 4 h 36"/>
              <a:gd name="T46" fmla="*/ 158 w 990"/>
              <a:gd name="T47" fmla="*/ 4 h 36"/>
              <a:gd name="T48" fmla="*/ 157 w 990"/>
              <a:gd name="T49" fmla="*/ 4 h 36"/>
              <a:gd name="T50" fmla="*/ 91 w 990"/>
              <a:gd name="T51" fmla="*/ 5 h 36"/>
              <a:gd name="T52" fmla="*/ 58 w 990"/>
              <a:gd name="T53" fmla="*/ 6 h 36"/>
              <a:gd name="T54" fmla="*/ 26 w 990"/>
              <a:gd name="T55" fmla="*/ 8 h 36"/>
              <a:gd name="T56" fmla="*/ 10 w 990"/>
              <a:gd name="T57" fmla="*/ 10 h 36"/>
              <a:gd name="T58" fmla="*/ 6 w 990"/>
              <a:gd name="T59" fmla="*/ 10 h 36"/>
              <a:gd name="T60" fmla="*/ 5 w 990"/>
              <a:gd name="T61" fmla="*/ 10 h 36"/>
              <a:gd name="T62" fmla="*/ 5 w 990"/>
              <a:gd name="T63" fmla="*/ 10 h 36"/>
              <a:gd name="T64" fmla="*/ 4 w 990"/>
              <a:gd name="T65" fmla="*/ 10 h 36"/>
              <a:gd name="T66" fmla="*/ 2 w 990"/>
              <a:gd name="T67" fmla="*/ 10 h 36"/>
              <a:gd name="T68" fmla="*/ 1 w 990"/>
              <a:gd name="T69" fmla="*/ 12 h 36"/>
              <a:gd name="T70" fmla="*/ 4 w 990"/>
              <a:gd name="T71" fmla="*/ 17 h 36"/>
              <a:gd name="T72" fmla="*/ 4 w 990"/>
              <a:gd name="T73" fmla="*/ 17 h 36"/>
              <a:gd name="T74" fmla="*/ 63 w 990"/>
              <a:gd name="T75" fmla="*/ 16 h 36"/>
              <a:gd name="T76" fmla="*/ 70 w 990"/>
              <a:gd name="T77" fmla="*/ 16 h 36"/>
              <a:gd name="T78" fmla="*/ 122 w 990"/>
              <a:gd name="T79" fmla="*/ 17 h 36"/>
              <a:gd name="T80" fmla="*/ 153 w 990"/>
              <a:gd name="T81" fmla="*/ 19 h 36"/>
              <a:gd name="T82" fmla="*/ 183 w 990"/>
              <a:gd name="T83" fmla="*/ 20 h 36"/>
              <a:gd name="T84" fmla="*/ 244 w 990"/>
              <a:gd name="T85" fmla="*/ 22 h 36"/>
              <a:gd name="T86" fmla="*/ 305 w 990"/>
              <a:gd name="T87" fmla="*/ 24 h 36"/>
              <a:gd name="T88" fmla="*/ 336 w 990"/>
              <a:gd name="T89" fmla="*/ 26 h 36"/>
              <a:gd name="T90" fmla="*/ 375 w 990"/>
              <a:gd name="T91" fmla="*/ 28 h 36"/>
              <a:gd name="T92" fmla="*/ 489 w 990"/>
              <a:gd name="T93" fmla="*/ 32 h 36"/>
              <a:gd name="T94" fmla="*/ 612 w 990"/>
              <a:gd name="T95" fmla="*/ 36 h 36"/>
              <a:gd name="T96" fmla="*/ 665 w 990"/>
              <a:gd name="T97" fmla="*/ 36 h 36"/>
              <a:gd name="T98" fmla="*/ 707 w 990"/>
              <a:gd name="T99" fmla="*/ 36 h 36"/>
              <a:gd name="T100" fmla="*/ 750 w 990"/>
              <a:gd name="T101" fmla="*/ 36 h 36"/>
              <a:gd name="T102" fmla="*/ 792 w 990"/>
              <a:gd name="T103" fmla="*/ 35 h 36"/>
              <a:gd name="T104" fmla="*/ 879 w 990"/>
              <a:gd name="T105" fmla="*/ 32 h 36"/>
              <a:gd name="T106" fmla="*/ 921 w 990"/>
              <a:gd name="T107" fmla="*/ 30 h 36"/>
              <a:gd name="T108" fmla="*/ 969 w 990"/>
              <a:gd name="T109" fmla="*/ 27 h 36"/>
              <a:gd name="T110" fmla="*/ 982 w 990"/>
              <a:gd name="T111" fmla="*/ 22 h 36"/>
              <a:gd name="T112" fmla="*/ 987 w 990"/>
              <a:gd name="T113" fmla="*/ 15 h 36"/>
              <a:gd name="T114" fmla="*/ 989 w 990"/>
              <a:gd name="T115" fmla="*/ 8 h 36"/>
              <a:gd name="T116" fmla="*/ 982 w 990"/>
              <a:gd name="T117" fmla="*/ 2 h 36"/>
              <a:gd name="T118" fmla="*/ 962 w 990"/>
              <a:gd name="T119" fmla="*/ 0 h 36"/>
              <a:gd name="T120" fmla="*/ 934 w 990"/>
              <a:gd name="T121" fmla="*/ 0 h 36"/>
              <a:gd name="T122" fmla="*/ 922 w 990"/>
              <a:gd name="T1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0" h="36">
                <a:moveTo>
                  <a:pt x="922" y="0"/>
                </a:moveTo>
                <a:cubicBezTo>
                  <a:pt x="917" y="0"/>
                  <a:pt x="912" y="0"/>
                  <a:pt x="907" y="0"/>
                </a:cubicBezTo>
                <a:cubicBezTo>
                  <a:pt x="898" y="0"/>
                  <a:pt x="889" y="1"/>
                  <a:pt x="880" y="1"/>
                </a:cubicBezTo>
                <a:cubicBezTo>
                  <a:pt x="839" y="3"/>
                  <a:pt x="839" y="3"/>
                  <a:pt x="839" y="3"/>
                </a:cubicBezTo>
                <a:cubicBezTo>
                  <a:pt x="818" y="3"/>
                  <a:pt x="818" y="3"/>
                  <a:pt x="818" y="3"/>
                </a:cubicBezTo>
                <a:cubicBezTo>
                  <a:pt x="798" y="4"/>
                  <a:pt x="798" y="4"/>
                  <a:pt x="798" y="4"/>
                </a:cubicBezTo>
                <a:cubicBezTo>
                  <a:pt x="757" y="5"/>
                  <a:pt x="757" y="5"/>
                  <a:pt x="757" y="5"/>
                </a:cubicBezTo>
                <a:cubicBezTo>
                  <a:pt x="744" y="5"/>
                  <a:pt x="731" y="5"/>
                  <a:pt x="718" y="5"/>
                </a:cubicBezTo>
                <a:cubicBezTo>
                  <a:pt x="699" y="5"/>
                  <a:pt x="681" y="5"/>
                  <a:pt x="662" y="5"/>
                </a:cubicBezTo>
                <a:cubicBezTo>
                  <a:pt x="540" y="4"/>
                  <a:pt x="540" y="4"/>
                  <a:pt x="540" y="4"/>
                </a:cubicBezTo>
                <a:cubicBezTo>
                  <a:pt x="512" y="4"/>
                  <a:pt x="512" y="4"/>
                  <a:pt x="512" y="4"/>
                </a:cubicBezTo>
                <a:cubicBezTo>
                  <a:pt x="512" y="4"/>
                  <a:pt x="511" y="4"/>
                  <a:pt x="511" y="4"/>
                </a:cubicBezTo>
                <a:cubicBezTo>
                  <a:pt x="502" y="4"/>
                  <a:pt x="493" y="4"/>
                  <a:pt x="484" y="5"/>
                </a:cubicBezTo>
                <a:cubicBezTo>
                  <a:pt x="462" y="5"/>
                  <a:pt x="441" y="5"/>
                  <a:pt x="419" y="5"/>
                </a:cubicBezTo>
                <a:cubicBezTo>
                  <a:pt x="397" y="6"/>
                  <a:pt x="375" y="7"/>
                  <a:pt x="353" y="7"/>
                </a:cubicBezTo>
                <a:cubicBezTo>
                  <a:pt x="352" y="7"/>
                  <a:pt x="351" y="7"/>
                  <a:pt x="350" y="7"/>
                </a:cubicBezTo>
                <a:cubicBezTo>
                  <a:pt x="330" y="7"/>
                  <a:pt x="309" y="5"/>
                  <a:pt x="288" y="5"/>
                </a:cubicBezTo>
                <a:cubicBezTo>
                  <a:pt x="280" y="4"/>
                  <a:pt x="272" y="4"/>
                  <a:pt x="265" y="4"/>
                </a:cubicBezTo>
                <a:cubicBezTo>
                  <a:pt x="258" y="4"/>
                  <a:pt x="251" y="4"/>
                  <a:pt x="244" y="4"/>
                </a:cubicBezTo>
                <a:cubicBezTo>
                  <a:pt x="237" y="4"/>
                  <a:pt x="230" y="4"/>
                  <a:pt x="224" y="4"/>
                </a:cubicBezTo>
                <a:cubicBezTo>
                  <a:pt x="223" y="4"/>
                  <a:pt x="223" y="4"/>
                  <a:pt x="223" y="4"/>
                </a:cubicBezTo>
                <a:cubicBezTo>
                  <a:pt x="223" y="4"/>
                  <a:pt x="222" y="4"/>
                  <a:pt x="222" y="4"/>
                </a:cubicBezTo>
                <a:cubicBezTo>
                  <a:pt x="212" y="4"/>
                  <a:pt x="201" y="4"/>
                  <a:pt x="190" y="4"/>
                </a:cubicBezTo>
                <a:cubicBezTo>
                  <a:pt x="180" y="4"/>
                  <a:pt x="169" y="4"/>
                  <a:pt x="158" y="4"/>
                </a:cubicBezTo>
                <a:cubicBezTo>
                  <a:pt x="158" y="4"/>
                  <a:pt x="157" y="4"/>
                  <a:pt x="157" y="4"/>
                </a:cubicBezTo>
                <a:cubicBezTo>
                  <a:pt x="135" y="4"/>
                  <a:pt x="113" y="4"/>
                  <a:pt x="91" y="5"/>
                </a:cubicBezTo>
                <a:cubicBezTo>
                  <a:pt x="80" y="5"/>
                  <a:pt x="69" y="6"/>
                  <a:pt x="58" y="6"/>
                </a:cubicBezTo>
                <a:cubicBezTo>
                  <a:pt x="48" y="6"/>
                  <a:pt x="37" y="7"/>
                  <a:pt x="26" y="8"/>
                </a:cubicBezTo>
                <a:cubicBezTo>
                  <a:pt x="10" y="10"/>
                  <a:pt x="10" y="10"/>
                  <a:pt x="10" y="10"/>
                </a:cubicBezTo>
                <a:cubicBezTo>
                  <a:pt x="6" y="10"/>
                  <a:pt x="6" y="10"/>
                  <a:pt x="6" y="10"/>
                </a:cubicBezTo>
                <a:cubicBezTo>
                  <a:pt x="6" y="10"/>
                  <a:pt x="5" y="10"/>
                  <a:pt x="5" y="10"/>
                </a:cubicBezTo>
                <a:cubicBezTo>
                  <a:pt x="5" y="10"/>
                  <a:pt x="5" y="10"/>
                  <a:pt x="5" y="10"/>
                </a:cubicBezTo>
                <a:cubicBezTo>
                  <a:pt x="4" y="10"/>
                  <a:pt x="4" y="10"/>
                  <a:pt x="4" y="10"/>
                </a:cubicBezTo>
                <a:cubicBezTo>
                  <a:pt x="3" y="10"/>
                  <a:pt x="2" y="10"/>
                  <a:pt x="2" y="10"/>
                </a:cubicBezTo>
                <a:cubicBezTo>
                  <a:pt x="1" y="10"/>
                  <a:pt x="1" y="11"/>
                  <a:pt x="1" y="12"/>
                </a:cubicBezTo>
                <a:cubicBezTo>
                  <a:pt x="0" y="15"/>
                  <a:pt x="2" y="17"/>
                  <a:pt x="4" y="17"/>
                </a:cubicBezTo>
                <a:cubicBezTo>
                  <a:pt x="4" y="17"/>
                  <a:pt x="4" y="17"/>
                  <a:pt x="4" y="17"/>
                </a:cubicBezTo>
                <a:cubicBezTo>
                  <a:pt x="24" y="17"/>
                  <a:pt x="43" y="16"/>
                  <a:pt x="63" y="16"/>
                </a:cubicBezTo>
                <a:cubicBezTo>
                  <a:pt x="65" y="16"/>
                  <a:pt x="67" y="16"/>
                  <a:pt x="70" y="16"/>
                </a:cubicBezTo>
                <a:cubicBezTo>
                  <a:pt x="87" y="16"/>
                  <a:pt x="105" y="16"/>
                  <a:pt x="122" y="17"/>
                </a:cubicBezTo>
                <a:cubicBezTo>
                  <a:pt x="133" y="18"/>
                  <a:pt x="143" y="19"/>
                  <a:pt x="153" y="19"/>
                </a:cubicBezTo>
                <a:cubicBezTo>
                  <a:pt x="183" y="20"/>
                  <a:pt x="183" y="20"/>
                  <a:pt x="183" y="20"/>
                </a:cubicBezTo>
                <a:cubicBezTo>
                  <a:pt x="203" y="20"/>
                  <a:pt x="224" y="21"/>
                  <a:pt x="244" y="22"/>
                </a:cubicBezTo>
                <a:cubicBezTo>
                  <a:pt x="265" y="22"/>
                  <a:pt x="285" y="23"/>
                  <a:pt x="305" y="24"/>
                </a:cubicBezTo>
                <a:cubicBezTo>
                  <a:pt x="336" y="26"/>
                  <a:pt x="336" y="26"/>
                  <a:pt x="336" y="26"/>
                </a:cubicBezTo>
                <a:cubicBezTo>
                  <a:pt x="346" y="26"/>
                  <a:pt x="361" y="28"/>
                  <a:pt x="375" y="28"/>
                </a:cubicBezTo>
                <a:cubicBezTo>
                  <a:pt x="416" y="31"/>
                  <a:pt x="448" y="31"/>
                  <a:pt x="489" y="32"/>
                </a:cubicBezTo>
                <a:cubicBezTo>
                  <a:pt x="530" y="34"/>
                  <a:pt x="571" y="35"/>
                  <a:pt x="612" y="36"/>
                </a:cubicBezTo>
                <a:cubicBezTo>
                  <a:pt x="629" y="36"/>
                  <a:pt x="647" y="36"/>
                  <a:pt x="665" y="36"/>
                </a:cubicBezTo>
                <a:cubicBezTo>
                  <a:pt x="679" y="36"/>
                  <a:pt x="693" y="36"/>
                  <a:pt x="707" y="36"/>
                </a:cubicBezTo>
                <a:cubicBezTo>
                  <a:pt x="750" y="36"/>
                  <a:pt x="750" y="36"/>
                  <a:pt x="750" y="36"/>
                </a:cubicBezTo>
                <a:cubicBezTo>
                  <a:pt x="792" y="35"/>
                  <a:pt x="792" y="35"/>
                  <a:pt x="792" y="35"/>
                </a:cubicBezTo>
                <a:cubicBezTo>
                  <a:pt x="821" y="34"/>
                  <a:pt x="850" y="33"/>
                  <a:pt x="879" y="32"/>
                </a:cubicBezTo>
                <a:cubicBezTo>
                  <a:pt x="921" y="30"/>
                  <a:pt x="921" y="30"/>
                  <a:pt x="921" y="30"/>
                </a:cubicBezTo>
                <a:cubicBezTo>
                  <a:pt x="937" y="30"/>
                  <a:pt x="953" y="29"/>
                  <a:pt x="969" y="27"/>
                </a:cubicBezTo>
                <a:cubicBezTo>
                  <a:pt x="973" y="26"/>
                  <a:pt x="979" y="25"/>
                  <a:pt x="982" y="22"/>
                </a:cubicBezTo>
                <a:cubicBezTo>
                  <a:pt x="984" y="20"/>
                  <a:pt x="986" y="17"/>
                  <a:pt x="987" y="15"/>
                </a:cubicBezTo>
                <a:cubicBezTo>
                  <a:pt x="989" y="13"/>
                  <a:pt x="990" y="10"/>
                  <a:pt x="989" y="8"/>
                </a:cubicBezTo>
                <a:cubicBezTo>
                  <a:pt x="988" y="4"/>
                  <a:pt x="985" y="3"/>
                  <a:pt x="982" y="2"/>
                </a:cubicBezTo>
                <a:cubicBezTo>
                  <a:pt x="975" y="0"/>
                  <a:pt x="968" y="0"/>
                  <a:pt x="962" y="0"/>
                </a:cubicBezTo>
                <a:cubicBezTo>
                  <a:pt x="934" y="0"/>
                  <a:pt x="934" y="0"/>
                  <a:pt x="934" y="0"/>
                </a:cubicBezTo>
                <a:cubicBezTo>
                  <a:pt x="930" y="0"/>
                  <a:pt x="926" y="0"/>
                  <a:pt x="922" y="0"/>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2" name="Content Placeholder 2">
            <a:extLst>
              <a:ext uri="{FF2B5EF4-FFF2-40B4-BE49-F238E27FC236}">
                <a16:creationId xmlns:a16="http://schemas.microsoft.com/office/drawing/2014/main" id="{8A378710-0B40-86B5-B2C6-AF290BD75FB3}"/>
              </a:ext>
            </a:extLst>
          </p:cNvPr>
          <p:cNvSpPr txBox="1">
            <a:spLocks/>
          </p:cNvSpPr>
          <p:nvPr/>
        </p:nvSpPr>
        <p:spPr>
          <a:xfrm>
            <a:off x="401032" y="716399"/>
            <a:ext cx="8510739" cy="3289234"/>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1600" b="1">
                <a:latin typeface="Calibri" panose="020F0502020204030204" pitchFamily="34" charset="0"/>
                <a:cs typeface="Calibri" panose="020F0502020204030204" pitchFamily="34" charset="0"/>
              </a:rPr>
              <a:t>b. Cách vẽ: </a:t>
            </a:r>
          </a:p>
          <a:p>
            <a:pPr algn="l"/>
            <a:r>
              <a:rPr lang="en-US" sz="1600" b="1">
                <a:latin typeface="Calibri" panose="020F0502020204030204" pitchFamily="34" charset="0"/>
                <a:cs typeface="Calibri" panose="020F0502020204030204" pitchFamily="34" charset="0"/>
              </a:rPr>
              <a:t>Bước 1</a:t>
            </a:r>
            <a:r>
              <a:rPr lang="en-US" sz="1600">
                <a:latin typeface="Calibri" panose="020F0502020204030204" pitchFamily="34" charset="0"/>
                <a:cs typeface="Calibri" panose="020F0502020204030204" pitchFamily="34" charset="0"/>
              </a:rPr>
              <a:t>: Bôi đen vùng dữ liệu cần vẽ biểu đồ</a:t>
            </a:r>
          </a:p>
          <a:p>
            <a:pPr marL="342900" indent="-342900" algn="l">
              <a:buAutoNum type="alphaUcPeriod"/>
            </a:pPr>
            <a:endParaRPr lang="en-US" sz="1600">
              <a:latin typeface="Calibri" panose="020F0502020204030204" pitchFamily="34" charset="0"/>
              <a:cs typeface="Calibri" panose="020F0502020204030204" pitchFamily="34" charset="0"/>
            </a:endParaRPr>
          </a:p>
          <a:p>
            <a:pPr marL="342900" indent="-342900" algn="l">
              <a:buAutoNum type="alphaUcPeriod"/>
            </a:pPr>
            <a:endParaRPr lang="en-US" sz="1600">
              <a:latin typeface="Calibri" panose="020F0502020204030204" pitchFamily="34" charset="0"/>
              <a:cs typeface="Calibri" panose="020F0502020204030204" pitchFamily="34" charset="0"/>
            </a:endParaRPr>
          </a:p>
          <a:p>
            <a:pPr marL="342900" indent="-342900" algn="l">
              <a:buAutoNum type="alphaUcPeriod"/>
            </a:pPr>
            <a:endParaRPr lang="en-US" sz="1600">
              <a:latin typeface="Calibri" panose="020F0502020204030204" pitchFamily="34" charset="0"/>
              <a:cs typeface="Calibri" panose="020F0502020204030204" pitchFamily="34" charset="0"/>
            </a:endParaRPr>
          </a:p>
          <a:p>
            <a:pPr algn="l"/>
            <a:endParaRPr lang="en-US" sz="1600">
              <a:latin typeface="Calibri" panose="020F0502020204030204" pitchFamily="34" charset="0"/>
              <a:cs typeface="Calibri" panose="020F0502020204030204" pitchFamily="34" charset="0"/>
            </a:endParaRPr>
          </a:p>
          <a:p>
            <a:pPr algn="l"/>
            <a:r>
              <a:rPr lang="en-US" sz="1600" b="1">
                <a:latin typeface="Calibri" panose="020F0502020204030204" pitchFamily="34" charset="0"/>
                <a:cs typeface="Calibri" panose="020F0502020204030204" pitchFamily="34" charset="0"/>
              </a:rPr>
              <a:t>Bước 2</a:t>
            </a:r>
            <a:r>
              <a:rPr lang="en-US" sz="1600">
                <a:latin typeface="Calibri" panose="020F0502020204030204" pitchFamily="34" charset="0"/>
                <a:cs typeface="Calibri" panose="020F0502020204030204" pitchFamily="34" charset="0"/>
              </a:rPr>
              <a:t>: </a:t>
            </a:r>
            <a:r>
              <a:rPr lang="vi-VN" sz="1600">
                <a:latin typeface="Calibri" panose="020F0502020204030204" pitchFamily="34" charset="0"/>
                <a:cs typeface="Calibri" panose="020F0502020204030204" pitchFamily="34" charset="0"/>
              </a:rPr>
              <a:t>Chọn thẻ Insert</a:t>
            </a:r>
            <a:r>
              <a:rPr lang="en-US" sz="1600">
                <a:latin typeface="Calibri" panose="020F0502020204030204" pitchFamily="34" charset="0"/>
                <a:cs typeface="Calibri" panose="020F0502020204030204" pitchFamily="34" charset="0"/>
              </a:rPr>
              <a:t> (1)</a:t>
            </a:r>
            <a:r>
              <a:rPr lang="vi-VN" sz="1600">
                <a:latin typeface="Calibri" panose="020F0502020204030204" pitchFamily="34" charset="0"/>
                <a:cs typeface="Calibri" panose="020F0502020204030204" pitchFamily="34" charset="0"/>
              </a:rPr>
              <a:t> trên thanh Ribbon -&gt; </a:t>
            </a:r>
            <a:r>
              <a:rPr lang="en-US" sz="1600">
                <a:latin typeface="Calibri" panose="020F0502020204030204" pitchFamily="34" charset="0"/>
                <a:cs typeface="Calibri" panose="020F0502020204030204" pitchFamily="34" charset="0"/>
              </a:rPr>
              <a:t>Chọn biểu đồ tròn (2) </a:t>
            </a:r>
            <a:r>
              <a:rPr lang="vi-VN" sz="1600">
                <a:latin typeface="Calibri" panose="020F0502020204030204" pitchFamily="34" charset="0"/>
                <a:cs typeface="Calibri" panose="020F0502020204030204" pitchFamily="34" charset="0"/>
              </a:rPr>
              <a:t>Chọn biểu tượng biểu đồ dạng </a:t>
            </a:r>
            <a:r>
              <a:rPr lang="en-US" sz="1600">
                <a:latin typeface="Calibri" panose="020F0502020204030204" pitchFamily="34" charset="0"/>
                <a:cs typeface="Calibri" panose="020F0502020204030204" pitchFamily="34" charset="0"/>
              </a:rPr>
              <a:t>tròn 2D (3)</a:t>
            </a:r>
          </a:p>
        </p:txBody>
      </p:sp>
      <p:sp>
        <p:nvSpPr>
          <p:cNvPr id="12" name="Oval 11">
            <a:extLst>
              <a:ext uri="{FF2B5EF4-FFF2-40B4-BE49-F238E27FC236}">
                <a16:creationId xmlns:a16="http://schemas.microsoft.com/office/drawing/2014/main" id="{478E9BE9-E096-9583-6388-DAC6969FBAAB}"/>
              </a:ext>
            </a:extLst>
          </p:cNvPr>
          <p:cNvSpPr/>
          <p:nvPr/>
        </p:nvSpPr>
        <p:spPr>
          <a:xfrm>
            <a:off x="232229" y="3522313"/>
            <a:ext cx="352425" cy="352425"/>
          </a:xfrm>
          <a:prstGeom prst="ellipse">
            <a:avLst/>
          </a:prstGeom>
          <a:solidFill>
            <a:srgbClr val="00B05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1</a:t>
            </a:r>
          </a:p>
        </p:txBody>
      </p:sp>
      <p:sp>
        <p:nvSpPr>
          <p:cNvPr id="13" name="Oval 12">
            <a:extLst>
              <a:ext uri="{FF2B5EF4-FFF2-40B4-BE49-F238E27FC236}">
                <a16:creationId xmlns:a16="http://schemas.microsoft.com/office/drawing/2014/main" id="{FA710147-DA6F-A624-BA44-4B884BEEDE25}"/>
              </a:ext>
            </a:extLst>
          </p:cNvPr>
          <p:cNvSpPr/>
          <p:nvPr/>
        </p:nvSpPr>
        <p:spPr>
          <a:xfrm>
            <a:off x="2614401" y="4427672"/>
            <a:ext cx="352425" cy="352425"/>
          </a:xfrm>
          <a:prstGeom prst="ellipse">
            <a:avLst/>
          </a:prstGeom>
          <a:solidFill>
            <a:srgbClr val="00B05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2</a:t>
            </a:r>
          </a:p>
        </p:txBody>
      </p:sp>
      <p:sp>
        <p:nvSpPr>
          <p:cNvPr id="14" name="Oval 13">
            <a:extLst>
              <a:ext uri="{FF2B5EF4-FFF2-40B4-BE49-F238E27FC236}">
                <a16:creationId xmlns:a16="http://schemas.microsoft.com/office/drawing/2014/main" id="{49D19BF0-4B5E-F071-AAE9-06BA9969F953}"/>
              </a:ext>
            </a:extLst>
          </p:cNvPr>
          <p:cNvSpPr/>
          <p:nvPr/>
        </p:nvSpPr>
        <p:spPr>
          <a:xfrm>
            <a:off x="2966826" y="5694489"/>
            <a:ext cx="352425" cy="352425"/>
          </a:xfrm>
          <a:prstGeom prst="ellipse">
            <a:avLst/>
          </a:prstGeom>
          <a:solidFill>
            <a:srgbClr val="00B05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3</a:t>
            </a:r>
          </a:p>
        </p:txBody>
      </p:sp>
      <p:pic>
        <p:nvPicPr>
          <p:cNvPr id="9" name="Picture 8">
            <a:extLst>
              <a:ext uri="{FF2B5EF4-FFF2-40B4-BE49-F238E27FC236}">
                <a16:creationId xmlns:a16="http://schemas.microsoft.com/office/drawing/2014/main" id="{3450072E-CCD8-42B7-E1BF-135DDB503008}"/>
              </a:ext>
            </a:extLst>
          </p:cNvPr>
          <p:cNvPicPr>
            <a:picLocks noChangeAspect="1"/>
          </p:cNvPicPr>
          <p:nvPr/>
        </p:nvPicPr>
        <p:blipFill>
          <a:blip r:embed="rId4"/>
          <a:stretch>
            <a:fillRect/>
          </a:stretch>
        </p:blipFill>
        <p:spPr>
          <a:xfrm>
            <a:off x="388580" y="1378426"/>
            <a:ext cx="4014730" cy="943860"/>
          </a:xfrm>
          <a:prstGeom prst="rect">
            <a:avLst/>
          </a:prstGeom>
          <a:effectLst>
            <a:glow rad="63500">
              <a:schemeClr val="bg1">
                <a:lumMod val="65000"/>
                <a:alpha val="40000"/>
              </a:schemeClr>
            </a:glow>
          </a:effectLst>
        </p:spPr>
      </p:pic>
    </p:spTree>
    <p:extLst>
      <p:ext uri="{BB962C8B-B14F-4D97-AF65-F5344CB8AC3E}">
        <p14:creationId xmlns:p14="http://schemas.microsoft.com/office/powerpoint/2010/main" val="254601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3C67B55-14E3-4BF1-30D9-9CFAFC290461}"/>
              </a:ext>
            </a:extLst>
          </p:cNvPr>
          <p:cNvPicPr>
            <a:picLocks noChangeAspect="1"/>
          </p:cNvPicPr>
          <p:nvPr/>
        </p:nvPicPr>
        <p:blipFill>
          <a:blip r:embed="rId3"/>
          <a:stretch>
            <a:fillRect/>
          </a:stretch>
        </p:blipFill>
        <p:spPr>
          <a:xfrm>
            <a:off x="1545803" y="2489620"/>
            <a:ext cx="5905630" cy="3664758"/>
          </a:xfrm>
          <a:prstGeom prst="rect">
            <a:avLst/>
          </a:prstGeom>
          <a:effectLst>
            <a:glow rad="63500">
              <a:schemeClr val="bg1">
                <a:lumMod val="65000"/>
                <a:alpha val="40000"/>
              </a:schemeClr>
            </a:glow>
          </a:effectLst>
        </p:spPr>
      </p:pic>
      <p:sp>
        <p:nvSpPr>
          <p:cNvPr id="7" name="Slide Number Placeholder 5"/>
          <p:cNvSpPr>
            <a:spLocks noGrp="1"/>
          </p:cNvSpPr>
          <p:nvPr>
            <p:ph type="sldNum" sz="quarter" idx="4"/>
          </p:nvPr>
        </p:nvSpPr>
        <p:spPr>
          <a:prstGeom prst="rect">
            <a:avLst/>
          </a:prstGeom>
        </p:spPr>
        <p:txBody>
          <a:bodyPr vert="horz" lIns="0" tIns="0" rIns="0" bIns="0" rtlCol="0" anchor="ctr" anchorCtr="0"/>
          <a:lstStyle>
            <a:lvl1pPr algn="r">
              <a:defRPr sz="1800">
                <a:solidFill>
                  <a:schemeClr val="tx1"/>
                </a:solidFill>
              </a:defRPr>
            </a:lvl1pPr>
          </a:lstStyle>
          <a:p>
            <a:fld id="{A3381702-59A5-4643-AE93-D7BF7F78153B}" type="slidenum">
              <a:rPr lang="en-GB" smtClean="0"/>
              <a:pPr/>
              <a:t>20</a:t>
            </a:fld>
            <a:endParaRPr lang="en-GB" dirty="0"/>
          </a:p>
        </p:txBody>
      </p:sp>
      <p:sp>
        <p:nvSpPr>
          <p:cNvPr id="8" name="Footer Placeholder 4"/>
          <p:cNvSpPr>
            <a:spLocks noGrp="1"/>
          </p:cNvSpPr>
          <p:nvPr>
            <p:ph type="ftr" sz="quarter" idx="3"/>
          </p:nvPr>
        </p:nvSpPr>
        <p:spPr>
          <a:prstGeom prst="rect">
            <a:avLst/>
          </a:prstGeom>
        </p:spPr>
        <p:txBody>
          <a:bodyPr vert="horz" lIns="0" tIns="0" rIns="0" bIns="0" rtlCol="0" anchor="t" anchorCtr="0"/>
          <a:lstStyle>
            <a:lvl1pPr algn="r">
              <a:defRPr sz="700">
                <a:solidFill>
                  <a:schemeClr val="tx1"/>
                </a:solidFill>
                <a:latin typeface="+mn-lt"/>
              </a:defRPr>
            </a:lvl1pPr>
          </a:lstStyle>
          <a:p>
            <a:r>
              <a:rPr lang="fr-FR" altLang="ja-JP" dirty="0"/>
              <a:t>©20</a:t>
            </a:r>
            <a:r>
              <a:rPr lang="en-US" altLang="ja-JP" dirty="0"/>
              <a:t>23</a:t>
            </a:r>
            <a:r>
              <a:rPr lang="fr-FR" altLang="ja-JP" dirty="0"/>
              <a:t> KYOCERA Document Solutions Inc.</a:t>
            </a:r>
            <a:endParaRPr lang="en-GB" dirty="0"/>
          </a:p>
        </p:txBody>
      </p:sp>
      <p:sp>
        <p:nvSpPr>
          <p:cNvPr id="4" name="Rectangle 3">
            <a:extLst>
              <a:ext uri="{FF2B5EF4-FFF2-40B4-BE49-F238E27FC236}">
                <a16:creationId xmlns:a16="http://schemas.microsoft.com/office/drawing/2014/main" id="{0BAEFD46-8DC5-BB64-F040-FD68EE6A7C2D}"/>
              </a:ext>
            </a:extLst>
          </p:cNvPr>
          <p:cNvSpPr/>
          <p:nvPr/>
        </p:nvSpPr>
        <p:spPr>
          <a:xfrm>
            <a:off x="295745" y="40624"/>
            <a:ext cx="8722810" cy="6207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nSpc>
                <a:spcPct val="107000"/>
              </a:lnSpc>
              <a:spcBef>
                <a:spcPts val="0"/>
              </a:spcBef>
              <a:spcAft>
                <a:spcPts val="800"/>
              </a:spcAft>
              <a:tabLst>
                <a:tab pos="457200" algn="l"/>
              </a:tabLst>
            </a:pPr>
            <a:r>
              <a:rPr lang="en-US" sz="2200" b="1">
                <a:solidFill>
                  <a:schemeClr val="tx1"/>
                </a:solidFill>
                <a:effectLst/>
                <a:latin typeface="Calibri" panose="020F0502020204030204" pitchFamily="34" charset="0"/>
                <a:ea typeface="游明朝" panose="02020400000000000000" pitchFamily="18" charset="-128"/>
                <a:cs typeface="Times New Roman" panose="02020603050405020304" pitchFamily="18" charset="0"/>
              </a:rPr>
              <a:t>3. BIỂU ĐỒ TRÒN</a:t>
            </a:r>
            <a:endParaRPr lang="en-US" sz="2200">
              <a:solidFill>
                <a:schemeClr val="tx1"/>
              </a:solidFill>
              <a:effectLst/>
              <a:latin typeface="Calibri" panose="020F0502020204030204" pitchFamily="34" charset="0"/>
              <a:ea typeface="游明朝" panose="02020400000000000000" pitchFamily="18" charset="-128"/>
              <a:cs typeface="Times New Roman" panose="02020603050405020304" pitchFamily="18" charset="0"/>
            </a:endParaRPr>
          </a:p>
        </p:txBody>
      </p:sp>
      <p:sp>
        <p:nvSpPr>
          <p:cNvPr id="6" name="Freeform 34">
            <a:extLst>
              <a:ext uri="{FF2B5EF4-FFF2-40B4-BE49-F238E27FC236}">
                <a16:creationId xmlns:a16="http://schemas.microsoft.com/office/drawing/2014/main" id="{E988D51C-281C-0FC1-508D-073F501DA6DF}"/>
              </a:ext>
            </a:extLst>
          </p:cNvPr>
          <p:cNvSpPr>
            <a:spLocks noChangeAspect="1"/>
          </p:cNvSpPr>
          <p:nvPr/>
        </p:nvSpPr>
        <p:spPr bwMode="auto">
          <a:xfrm rot="10800000" flipV="1">
            <a:off x="509368" y="536909"/>
            <a:ext cx="1655684" cy="47957"/>
          </a:xfrm>
          <a:custGeom>
            <a:avLst/>
            <a:gdLst>
              <a:gd name="T0" fmla="*/ 922 w 990"/>
              <a:gd name="T1" fmla="*/ 0 h 36"/>
              <a:gd name="T2" fmla="*/ 907 w 990"/>
              <a:gd name="T3" fmla="*/ 0 h 36"/>
              <a:gd name="T4" fmla="*/ 880 w 990"/>
              <a:gd name="T5" fmla="*/ 1 h 36"/>
              <a:gd name="T6" fmla="*/ 839 w 990"/>
              <a:gd name="T7" fmla="*/ 3 h 36"/>
              <a:gd name="T8" fmla="*/ 818 w 990"/>
              <a:gd name="T9" fmla="*/ 3 h 36"/>
              <a:gd name="T10" fmla="*/ 798 w 990"/>
              <a:gd name="T11" fmla="*/ 4 h 36"/>
              <a:gd name="T12" fmla="*/ 757 w 990"/>
              <a:gd name="T13" fmla="*/ 5 h 36"/>
              <a:gd name="T14" fmla="*/ 718 w 990"/>
              <a:gd name="T15" fmla="*/ 5 h 36"/>
              <a:gd name="T16" fmla="*/ 662 w 990"/>
              <a:gd name="T17" fmla="*/ 5 h 36"/>
              <a:gd name="T18" fmla="*/ 540 w 990"/>
              <a:gd name="T19" fmla="*/ 4 h 36"/>
              <a:gd name="T20" fmla="*/ 512 w 990"/>
              <a:gd name="T21" fmla="*/ 4 h 36"/>
              <a:gd name="T22" fmla="*/ 511 w 990"/>
              <a:gd name="T23" fmla="*/ 4 h 36"/>
              <a:gd name="T24" fmla="*/ 484 w 990"/>
              <a:gd name="T25" fmla="*/ 5 h 36"/>
              <a:gd name="T26" fmla="*/ 419 w 990"/>
              <a:gd name="T27" fmla="*/ 5 h 36"/>
              <a:gd name="T28" fmla="*/ 353 w 990"/>
              <a:gd name="T29" fmla="*/ 7 h 36"/>
              <a:gd name="T30" fmla="*/ 350 w 990"/>
              <a:gd name="T31" fmla="*/ 7 h 36"/>
              <a:gd name="T32" fmla="*/ 288 w 990"/>
              <a:gd name="T33" fmla="*/ 5 h 36"/>
              <a:gd name="T34" fmla="*/ 265 w 990"/>
              <a:gd name="T35" fmla="*/ 4 h 36"/>
              <a:gd name="T36" fmla="*/ 244 w 990"/>
              <a:gd name="T37" fmla="*/ 4 h 36"/>
              <a:gd name="T38" fmla="*/ 224 w 990"/>
              <a:gd name="T39" fmla="*/ 4 h 36"/>
              <a:gd name="T40" fmla="*/ 223 w 990"/>
              <a:gd name="T41" fmla="*/ 4 h 36"/>
              <a:gd name="T42" fmla="*/ 222 w 990"/>
              <a:gd name="T43" fmla="*/ 4 h 36"/>
              <a:gd name="T44" fmla="*/ 190 w 990"/>
              <a:gd name="T45" fmla="*/ 4 h 36"/>
              <a:gd name="T46" fmla="*/ 158 w 990"/>
              <a:gd name="T47" fmla="*/ 4 h 36"/>
              <a:gd name="T48" fmla="*/ 157 w 990"/>
              <a:gd name="T49" fmla="*/ 4 h 36"/>
              <a:gd name="T50" fmla="*/ 91 w 990"/>
              <a:gd name="T51" fmla="*/ 5 h 36"/>
              <a:gd name="T52" fmla="*/ 58 w 990"/>
              <a:gd name="T53" fmla="*/ 6 h 36"/>
              <a:gd name="T54" fmla="*/ 26 w 990"/>
              <a:gd name="T55" fmla="*/ 8 h 36"/>
              <a:gd name="T56" fmla="*/ 10 w 990"/>
              <a:gd name="T57" fmla="*/ 10 h 36"/>
              <a:gd name="T58" fmla="*/ 6 w 990"/>
              <a:gd name="T59" fmla="*/ 10 h 36"/>
              <a:gd name="T60" fmla="*/ 5 w 990"/>
              <a:gd name="T61" fmla="*/ 10 h 36"/>
              <a:gd name="T62" fmla="*/ 5 w 990"/>
              <a:gd name="T63" fmla="*/ 10 h 36"/>
              <a:gd name="T64" fmla="*/ 4 w 990"/>
              <a:gd name="T65" fmla="*/ 10 h 36"/>
              <a:gd name="T66" fmla="*/ 2 w 990"/>
              <a:gd name="T67" fmla="*/ 10 h 36"/>
              <a:gd name="T68" fmla="*/ 1 w 990"/>
              <a:gd name="T69" fmla="*/ 12 h 36"/>
              <a:gd name="T70" fmla="*/ 4 w 990"/>
              <a:gd name="T71" fmla="*/ 17 h 36"/>
              <a:gd name="T72" fmla="*/ 4 w 990"/>
              <a:gd name="T73" fmla="*/ 17 h 36"/>
              <a:gd name="T74" fmla="*/ 63 w 990"/>
              <a:gd name="T75" fmla="*/ 16 h 36"/>
              <a:gd name="T76" fmla="*/ 70 w 990"/>
              <a:gd name="T77" fmla="*/ 16 h 36"/>
              <a:gd name="T78" fmla="*/ 122 w 990"/>
              <a:gd name="T79" fmla="*/ 17 h 36"/>
              <a:gd name="T80" fmla="*/ 153 w 990"/>
              <a:gd name="T81" fmla="*/ 19 h 36"/>
              <a:gd name="T82" fmla="*/ 183 w 990"/>
              <a:gd name="T83" fmla="*/ 20 h 36"/>
              <a:gd name="T84" fmla="*/ 244 w 990"/>
              <a:gd name="T85" fmla="*/ 22 h 36"/>
              <a:gd name="T86" fmla="*/ 305 w 990"/>
              <a:gd name="T87" fmla="*/ 24 h 36"/>
              <a:gd name="T88" fmla="*/ 336 w 990"/>
              <a:gd name="T89" fmla="*/ 26 h 36"/>
              <a:gd name="T90" fmla="*/ 375 w 990"/>
              <a:gd name="T91" fmla="*/ 28 h 36"/>
              <a:gd name="T92" fmla="*/ 489 w 990"/>
              <a:gd name="T93" fmla="*/ 32 h 36"/>
              <a:gd name="T94" fmla="*/ 612 w 990"/>
              <a:gd name="T95" fmla="*/ 36 h 36"/>
              <a:gd name="T96" fmla="*/ 665 w 990"/>
              <a:gd name="T97" fmla="*/ 36 h 36"/>
              <a:gd name="T98" fmla="*/ 707 w 990"/>
              <a:gd name="T99" fmla="*/ 36 h 36"/>
              <a:gd name="T100" fmla="*/ 750 w 990"/>
              <a:gd name="T101" fmla="*/ 36 h 36"/>
              <a:gd name="T102" fmla="*/ 792 w 990"/>
              <a:gd name="T103" fmla="*/ 35 h 36"/>
              <a:gd name="T104" fmla="*/ 879 w 990"/>
              <a:gd name="T105" fmla="*/ 32 h 36"/>
              <a:gd name="T106" fmla="*/ 921 w 990"/>
              <a:gd name="T107" fmla="*/ 30 h 36"/>
              <a:gd name="T108" fmla="*/ 969 w 990"/>
              <a:gd name="T109" fmla="*/ 27 h 36"/>
              <a:gd name="T110" fmla="*/ 982 w 990"/>
              <a:gd name="T111" fmla="*/ 22 h 36"/>
              <a:gd name="T112" fmla="*/ 987 w 990"/>
              <a:gd name="T113" fmla="*/ 15 h 36"/>
              <a:gd name="T114" fmla="*/ 989 w 990"/>
              <a:gd name="T115" fmla="*/ 8 h 36"/>
              <a:gd name="T116" fmla="*/ 982 w 990"/>
              <a:gd name="T117" fmla="*/ 2 h 36"/>
              <a:gd name="T118" fmla="*/ 962 w 990"/>
              <a:gd name="T119" fmla="*/ 0 h 36"/>
              <a:gd name="T120" fmla="*/ 934 w 990"/>
              <a:gd name="T121" fmla="*/ 0 h 36"/>
              <a:gd name="T122" fmla="*/ 922 w 990"/>
              <a:gd name="T1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0" h="36">
                <a:moveTo>
                  <a:pt x="922" y="0"/>
                </a:moveTo>
                <a:cubicBezTo>
                  <a:pt x="917" y="0"/>
                  <a:pt x="912" y="0"/>
                  <a:pt x="907" y="0"/>
                </a:cubicBezTo>
                <a:cubicBezTo>
                  <a:pt x="898" y="0"/>
                  <a:pt x="889" y="1"/>
                  <a:pt x="880" y="1"/>
                </a:cubicBezTo>
                <a:cubicBezTo>
                  <a:pt x="839" y="3"/>
                  <a:pt x="839" y="3"/>
                  <a:pt x="839" y="3"/>
                </a:cubicBezTo>
                <a:cubicBezTo>
                  <a:pt x="818" y="3"/>
                  <a:pt x="818" y="3"/>
                  <a:pt x="818" y="3"/>
                </a:cubicBezTo>
                <a:cubicBezTo>
                  <a:pt x="798" y="4"/>
                  <a:pt x="798" y="4"/>
                  <a:pt x="798" y="4"/>
                </a:cubicBezTo>
                <a:cubicBezTo>
                  <a:pt x="757" y="5"/>
                  <a:pt x="757" y="5"/>
                  <a:pt x="757" y="5"/>
                </a:cubicBezTo>
                <a:cubicBezTo>
                  <a:pt x="744" y="5"/>
                  <a:pt x="731" y="5"/>
                  <a:pt x="718" y="5"/>
                </a:cubicBezTo>
                <a:cubicBezTo>
                  <a:pt x="699" y="5"/>
                  <a:pt x="681" y="5"/>
                  <a:pt x="662" y="5"/>
                </a:cubicBezTo>
                <a:cubicBezTo>
                  <a:pt x="540" y="4"/>
                  <a:pt x="540" y="4"/>
                  <a:pt x="540" y="4"/>
                </a:cubicBezTo>
                <a:cubicBezTo>
                  <a:pt x="512" y="4"/>
                  <a:pt x="512" y="4"/>
                  <a:pt x="512" y="4"/>
                </a:cubicBezTo>
                <a:cubicBezTo>
                  <a:pt x="512" y="4"/>
                  <a:pt x="511" y="4"/>
                  <a:pt x="511" y="4"/>
                </a:cubicBezTo>
                <a:cubicBezTo>
                  <a:pt x="502" y="4"/>
                  <a:pt x="493" y="4"/>
                  <a:pt x="484" y="5"/>
                </a:cubicBezTo>
                <a:cubicBezTo>
                  <a:pt x="462" y="5"/>
                  <a:pt x="441" y="5"/>
                  <a:pt x="419" y="5"/>
                </a:cubicBezTo>
                <a:cubicBezTo>
                  <a:pt x="397" y="6"/>
                  <a:pt x="375" y="7"/>
                  <a:pt x="353" y="7"/>
                </a:cubicBezTo>
                <a:cubicBezTo>
                  <a:pt x="352" y="7"/>
                  <a:pt x="351" y="7"/>
                  <a:pt x="350" y="7"/>
                </a:cubicBezTo>
                <a:cubicBezTo>
                  <a:pt x="330" y="7"/>
                  <a:pt x="309" y="5"/>
                  <a:pt x="288" y="5"/>
                </a:cubicBezTo>
                <a:cubicBezTo>
                  <a:pt x="280" y="4"/>
                  <a:pt x="272" y="4"/>
                  <a:pt x="265" y="4"/>
                </a:cubicBezTo>
                <a:cubicBezTo>
                  <a:pt x="258" y="4"/>
                  <a:pt x="251" y="4"/>
                  <a:pt x="244" y="4"/>
                </a:cubicBezTo>
                <a:cubicBezTo>
                  <a:pt x="237" y="4"/>
                  <a:pt x="230" y="4"/>
                  <a:pt x="224" y="4"/>
                </a:cubicBezTo>
                <a:cubicBezTo>
                  <a:pt x="223" y="4"/>
                  <a:pt x="223" y="4"/>
                  <a:pt x="223" y="4"/>
                </a:cubicBezTo>
                <a:cubicBezTo>
                  <a:pt x="223" y="4"/>
                  <a:pt x="222" y="4"/>
                  <a:pt x="222" y="4"/>
                </a:cubicBezTo>
                <a:cubicBezTo>
                  <a:pt x="212" y="4"/>
                  <a:pt x="201" y="4"/>
                  <a:pt x="190" y="4"/>
                </a:cubicBezTo>
                <a:cubicBezTo>
                  <a:pt x="180" y="4"/>
                  <a:pt x="169" y="4"/>
                  <a:pt x="158" y="4"/>
                </a:cubicBezTo>
                <a:cubicBezTo>
                  <a:pt x="158" y="4"/>
                  <a:pt x="157" y="4"/>
                  <a:pt x="157" y="4"/>
                </a:cubicBezTo>
                <a:cubicBezTo>
                  <a:pt x="135" y="4"/>
                  <a:pt x="113" y="4"/>
                  <a:pt x="91" y="5"/>
                </a:cubicBezTo>
                <a:cubicBezTo>
                  <a:pt x="80" y="5"/>
                  <a:pt x="69" y="6"/>
                  <a:pt x="58" y="6"/>
                </a:cubicBezTo>
                <a:cubicBezTo>
                  <a:pt x="48" y="6"/>
                  <a:pt x="37" y="7"/>
                  <a:pt x="26" y="8"/>
                </a:cubicBezTo>
                <a:cubicBezTo>
                  <a:pt x="10" y="10"/>
                  <a:pt x="10" y="10"/>
                  <a:pt x="10" y="10"/>
                </a:cubicBezTo>
                <a:cubicBezTo>
                  <a:pt x="6" y="10"/>
                  <a:pt x="6" y="10"/>
                  <a:pt x="6" y="10"/>
                </a:cubicBezTo>
                <a:cubicBezTo>
                  <a:pt x="6" y="10"/>
                  <a:pt x="5" y="10"/>
                  <a:pt x="5" y="10"/>
                </a:cubicBezTo>
                <a:cubicBezTo>
                  <a:pt x="5" y="10"/>
                  <a:pt x="5" y="10"/>
                  <a:pt x="5" y="10"/>
                </a:cubicBezTo>
                <a:cubicBezTo>
                  <a:pt x="4" y="10"/>
                  <a:pt x="4" y="10"/>
                  <a:pt x="4" y="10"/>
                </a:cubicBezTo>
                <a:cubicBezTo>
                  <a:pt x="3" y="10"/>
                  <a:pt x="2" y="10"/>
                  <a:pt x="2" y="10"/>
                </a:cubicBezTo>
                <a:cubicBezTo>
                  <a:pt x="1" y="10"/>
                  <a:pt x="1" y="11"/>
                  <a:pt x="1" y="12"/>
                </a:cubicBezTo>
                <a:cubicBezTo>
                  <a:pt x="0" y="15"/>
                  <a:pt x="2" y="17"/>
                  <a:pt x="4" y="17"/>
                </a:cubicBezTo>
                <a:cubicBezTo>
                  <a:pt x="4" y="17"/>
                  <a:pt x="4" y="17"/>
                  <a:pt x="4" y="17"/>
                </a:cubicBezTo>
                <a:cubicBezTo>
                  <a:pt x="24" y="17"/>
                  <a:pt x="43" y="16"/>
                  <a:pt x="63" y="16"/>
                </a:cubicBezTo>
                <a:cubicBezTo>
                  <a:pt x="65" y="16"/>
                  <a:pt x="67" y="16"/>
                  <a:pt x="70" y="16"/>
                </a:cubicBezTo>
                <a:cubicBezTo>
                  <a:pt x="87" y="16"/>
                  <a:pt x="105" y="16"/>
                  <a:pt x="122" y="17"/>
                </a:cubicBezTo>
                <a:cubicBezTo>
                  <a:pt x="133" y="18"/>
                  <a:pt x="143" y="19"/>
                  <a:pt x="153" y="19"/>
                </a:cubicBezTo>
                <a:cubicBezTo>
                  <a:pt x="183" y="20"/>
                  <a:pt x="183" y="20"/>
                  <a:pt x="183" y="20"/>
                </a:cubicBezTo>
                <a:cubicBezTo>
                  <a:pt x="203" y="20"/>
                  <a:pt x="224" y="21"/>
                  <a:pt x="244" y="22"/>
                </a:cubicBezTo>
                <a:cubicBezTo>
                  <a:pt x="265" y="22"/>
                  <a:pt x="285" y="23"/>
                  <a:pt x="305" y="24"/>
                </a:cubicBezTo>
                <a:cubicBezTo>
                  <a:pt x="336" y="26"/>
                  <a:pt x="336" y="26"/>
                  <a:pt x="336" y="26"/>
                </a:cubicBezTo>
                <a:cubicBezTo>
                  <a:pt x="346" y="26"/>
                  <a:pt x="361" y="28"/>
                  <a:pt x="375" y="28"/>
                </a:cubicBezTo>
                <a:cubicBezTo>
                  <a:pt x="416" y="31"/>
                  <a:pt x="448" y="31"/>
                  <a:pt x="489" y="32"/>
                </a:cubicBezTo>
                <a:cubicBezTo>
                  <a:pt x="530" y="34"/>
                  <a:pt x="571" y="35"/>
                  <a:pt x="612" y="36"/>
                </a:cubicBezTo>
                <a:cubicBezTo>
                  <a:pt x="629" y="36"/>
                  <a:pt x="647" y="36"/>
                  <a:pt x="665" y="36"/>
                </a:cubicBezTo>
                <a:cubicBezTo>
                  <a:pt x="679" y="36"/>
                  <a:pt x="693" y="36"/>
                  <a:pt x="707" y="36"/>
                </a:cubicBezTo>
                <a:cubicBezTo>
                  <a:pt x="750" y="36"/>
                  <a:pt x="750" y="36"/>
                  <a:pt x="750" y="36"/>
                </a:cubicBezTo>
                <a:cubicBezTo>
                  <a:pt x="792" y="35"/>
                  <a:pt x="792" y="35"/>
                  <a:pt x="792" y="35"/>
                </a:cubicBezTo>
                <a:cubicBezTo>
                  <a:pt x="821" y="34"/>
                  <a:pt x="850" y="33"/>
                  <a:pt x="879" y="32"/>
                </a:cubicBezTo>
                <a:cubicBezTo>
                  <a:pt x="921" y="30"/>
                  <a:pt x="921" y="30"/>
                  <a:pt x="921" y="30"/>
                </a:cubicBezTo>
                <a:cubicBezTo>
                  <a:pt x="937" y="30"/>
                  <a:pt x="953" y="29"/>
                  <a:pt x="969" y="27"/>
                </a:cubicBezTo>
                <a:cubicBezTo>
                  <a:pt x="973" y="26"/>
                  <a:pt x="979" y="25"/>
                  <a:pt x="982" y="22"/>
                </a:cubicBezTo>
                <a:cubicBezTo>
                  <a:pt x="984" y="20"/>
                  <a:pt x="986" y="17"/>
                  <a:pt x="987" y="15"/>
                </a:cubicBezTo>
                <a:cubicBezTo>
                  <a:pt x="989" y="13"/>
                  <a:pt x="990" y="10"/>
                  <a:pt x="989" y="8"/>
                </a:cubicBezTo>
                <a:cubicBezTo>
                  <a:pt x="988" y="4"/>
                  <a:pt x="985" y="3"/>
                  <a:pt x="982" y="2"/>
                </a:cubicBezTo>
                <a:cubicBezTo>
                  <a:pt x="975" y="0"/>
                  <a:pt x="968" y="0"/>
                  <a:pt x="962" y="0"/>
                </a:cubicBezTo>
                <a:cubicBezTo>
                  <a:pt x="934" y="0"/>
                  <a:pt x="934" y="0"/>
                  <a:pt x="934" y="0"/>
                </a:cubicBezTo>
                <a:cubicBezTo>
                  <a:pt x="930" y="0"/>
                  <a:pt x="926" y="0"/>
                  <a:pt x="922" y="0"/>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2" name="Content Placeholder 2">
            <a:extLst>
              <a:ext uri="{FF2B5EF4-FFF2-40B4-BE49-F238E27FC236}">
                <a16:creationId xmlns:a16="http://schemas.microsoft.com/office/drawing/2014/main" id="{8A378710-0B40-86B5-B2C6-AF290BD75FB3}"/>
              </a:ext>
            </a:extLst>
          </p:cNvPr>
          <p:cNvSpPr txBox="1">
            <a:spLocks/>
          </p:cNvSpPr>
          <p:nvPr/>
        </p:nvSpPr>
        <p:spPr>
          <a:xfrm>
            <a:off x="401032" y="716399"/>
            <a:ext cx="8510739" cy="1326843"/>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1600" b="1">
                <a:latin typeface="Calibri" panose="020F0502020204030204" pitchFamily="34" charset="0"/>
                <a:cs typeface="Calibri" panose="020F0502020204030204" pitchFamily="34" charset="0"/>
              </a:rPr>
              <a:t>b. Cách vẽ: </a:t>
            </a:r>
          </a:p>
          <a:p>
            <a:pPr algn="l"/>
            <a:r>
              <a:rPr lang="en-US" sz="1600" b="1">
                <a:latin typeface="Calibri" panose="020F0502020204030204" pitchFamily="34" charset="0"/>
                <a:cs typeface="Calibri" panose="020F0502020204030204" pitchFamily="34" charset="0"/>
              </a:rPr>
              <a:t>Bước 3</a:t>
            </a:r>
            <a:r>
              <a:rPr lang="en-US" sz="1600">
                <a:latin typeface="Calibri" panose="020F0502020204030204" pitchFamily="34" charset="0"/>
                <a:cs typeface="Calibri" panose="020F0502020204030204" pitchFamily="34" charset="0"/>
              </a:rPr>
              <a:t>: Hoàn thiện biểu đồ</a:t>
            </a:r>
          </a:p>
          <a:p>
            <a:pPr marL="285750" indent="-285750" algn="l">
              <a:buFontTx/>
              <a:buChar char="-"/>
            </a:pPr>
            <a:r>
              <a:rPr lang="en-US" sz="1600" b="1">
                <a:latin typeface="Calibri" panose="020F0502020204030204" pitchFamily="34" charset="0"/>
                <a:cs typeface="Calibri" panose="020F0502020204030204" pitchFamily="34" charset="0"/>
              </a:rPr>
              <a:t>Thay đổi tiêu đề biểu đồ:</a:t>
            </a:r>
            <a:r>
              <a:rPr lang="en-US" sz="1600">
                <a:latin typeface="Calibri" panose="020F0502020204030204" pitchFamily="34" charset="0"/>
                <a:cs typeface="Calibri" panose="020F0502020204030204" pitchFamily="34" charset="0"/>
              </a:rPr>
              <a:t> Click đúp chuột vào tiêu đề (1) để thay đổi tiêu đề</a:t>
            </a:r>
          </a:p>
          <a:p>
            <a:pPr marL="285750" indent="-285750" algn="l">
              <a:buFontTx/>
              <a:buChar char="-"/>
            </a:pPr>
            <a:r>
              <a:rPr lang="en-US" sz="1600" b="1">
                <a:latin typeface="Calibri" panose="020F0502020204030204" pitchFamily="34" charset="0"/>
                <a:cs typeface="Calibri" panose="020F0502020204030204" pitchFamily="34" charset="0"/>
              </a:rPr>
              <a:t>Thay đổi kích thước biểu đồ</a:t>
            </a:r>
            <a:r>
              <a:rPr lang="en-US" sz="1600">
                <a:latin typeface="Calibri" panose="020F0502020204030204" pitchFamily="34" charset="0"/>
                <a:cs typeface="Calibri" panose="020F0502020204030204" pitchFamily="34" charset="0"/>
              </a:rPr>
              <a:t>: di chuột vào các góc (2) để thay đổi kích thước biểu đồ cho phù hợp</a:t>
            </a:r>
          </a:p>
        </p:txBody>
      </p:sp>
      <p:sp>
        <p:nvSpPr>
          <p:cNvPr id="12" name="Oval 11">
            <a:extLst>
              <a:ext uri="{FF2B5EF4-FFF2-40B4-BE49-F238E27FC236}">
                <a16:creationId xmlns:a16="http://schemas.microsoft.com/office/drawing/2014/main" id="{EE39C399-697C-FE44-F510-CB4B7E102188}"/>
              </a:ext>
            </a:extLst>
          </p:cNvPr>
          <p:cNvSpPr/>
          <p:nvPr/>
        </p:nvSpPr>
        <p:spPr>
          <a:xfrm>
            <a:off x="2461825" y="2647046"/>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1</a:t>
            </a:r>
          </a:p>
        </p:txBody>
      </p:sp>
      <p:sp>
        <p:nvSpPr>
          <p:cNvPr id="13" name="Oval 12">
            <a:extLst>
              <a:ext uri="{FF2B5EF4-FFF2-40B4-BE49-F238E27FC236}">
                <a16:creationId xmlns:a16="http://schemas.microsoft.com/office/drawing/2014/main" id="{6F93BA1C-6FA9-D5A4-7EFA-CB8DF75B6B37}"/>
              </a:ext>
            </a:extLst>
          </p:cNvPr>
          <p:cNvSpPr/>
          <p:nvPr/>
        </p:nvSpPr>
        <p:spPr>
          <a:xfrm>
            <a:off x="7421984" y="5960928"/>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2</a:t>
            </a:r>
          </a:p>
        </p:txBody>
      </p:sp>
    </p:spTree>
    <p:extLst>
      <p:ext uri="{BB962C8B-B14F-4D97-AF65-F5344CB8AC3E}">
        <p14:creationId xmlns:p14="http://schemas.microsoft.com/office/powerpoint/2010/main" val="29723726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7FEC5ED-B1F9-1D58-821E-4BF5D70A31F2}"/>
              </a:ext>
            </a:extLst>
          </p:cNvPr>
          <p:cNvPicPr>
            <a:picLocks noChangeAspect="1"/>
          </p:cNvPicPr>
          <p:nvPr/>
        </p:nvPicPr>
        <p:blipFill rotWithShape="1">
          <a:blip r:embed="rId3"/>
          <a:srcRect l="10585"/>
          <a:stretch/>
        </p:blipFill>
        <p:spPr>
          <a:xfrm>
            <a:off x="158260" y="2063558"/>
            <a:ext cx="4122716" cy="2572109"/>
          </a:xfrm>
          <a:prstGeom prst="rect">
            <a:avLst/>
          </a:prstGeom>
          <a:effectLst>
            <a:glow rad="63500">
              <a:schemeClr val="bg1">
                <a:lumMod val="65000"/>
                <a:alpha val="40000"/>
              </a:schemeClr>
            </a:glow>
          </a:effectLst>
        </p:spPr>
      </p:pic>
      <p:pic>
        <p:nvPicPr>
          <p:cNvPr id="11" name="Picture 10">
            <a:extLst>
              <a:ext uri="{FF2B5EF4-FFF2-40B4-BE49-F238E27FC236}">
                <a16:creationId xmlns:a16="http://schemas.microsoft.com/office/drawing/2014/main" id="{283C9532-5F17-5FE4-F4E7-2221B3B5CEC6}"/>
              </a:ext>
            </a:extLst>
          </p:cNvPr>
          <p:cNvPicPr>
            <a:picLocks noChangeAspect="1"/>
          </p:cNvPicPr>
          <p:nvPr/>
        </p:nvPicPr>
        <p:blipFill rotWithShape="1">
          <a:blip r:embed="rId4"/>
          <a:srcRect l="15355"/>
          <a:stretch/>
        </p:blipFill>
        <p:spPr>
          <a:xfrm>
            <a:off x="4352189" y="3174922"/>
            <a:ext cx="4620405" cy="3067478"/>
          </a:xfrm>
          <a:prstGeom prst="rect">
            <a:avLst/>
          </a:prstGeom>
          <a:effectLst>
            <a:glow rad="63500">
              <a:schemeClr val="bg1">
                <a:lumMod val="65000"/>
                <a:alpha val="40000"/>
              </a:schemeClr>
            </a:glow>
          </a:effectLst>
        </p:spPr>
      </p:pic>
      <p:sp>
        <p:nvSpPr>
          <p:cNvPr id="7" name="Slide Number Placeholder 5"/>
          <p:cNvSpPr>
            <a:spLocks noGrp="1"/>
          </p:cNvSpPr>
          <p:nvPr>
            <p:ph type="sldNum" sz="quarter" idx="4"/>
          </p:nvPr>
        </p:nvSpPr>
        <p:spPr>
          <a:prstGeom prst="rect">
            <a:avLst/>
          </a:prstGeom>
        </p:spPr>
        <p:txBody>
          <a:bodyPr vert="horz" lIns="0" tIns="0" rIns="0" bIns="0" rtlCol="0" anchor="ctr" anchorCtr="0"/>
          <a:lstStyle>
            <a:lvl1pPr algn="r">
              <a:defRPr sz="1800">
                <a:solidFill>
                  <a:schemeClr val="tx1"/>
                </a:solidFill>
              </a:defRPr>
            </a:lvl1pPr>
          </a:lstStyle>
          <a:p>
            <a:fld id="{A3381702-59A5-4643-AE93-D7BF7F78153B}" type="slidenum">
              <a:rPr lang="en-GB" smtClean="0"/>
              <a:pPr/>
              <a:t>21</a:t>
            </a:fld>
            <a:endParaRPr lang="en-GB" dirty="0"/>
          </a:p>
        </p:txBody>
      </p:sp>
      <p:sp>
        <p:nvSpPr>
          <p:cNvPr id="8" name="Footer Placeholder 4"/>
          <p:cNvSpPr>
            <a:spLocks noGrp="1"/>
          </p:cNvSpPr>
          <p:nvPr>
            <p:ph type="ftr" sz="quarter" idx="3"/>
          </p:nvPr>
        </p:nvSpPr>
        <p:spPr>
          <a:prstGeom prst="rect">
            <a:avLst/>
          </a:prstGeom>
        </p:spPr>
        <p:txBody>
          <a:bodyPr vert="horz" lIns="0" tIns="0" rIns="0" bIns="0" rtlCol="0" anchor="t" anchorCtr="0"/>
          <a:lstStyle>
            <a:lvl1pPr algn="r">
              <a:defRPr sz="700">
                <a:solidFill>
                  <a:schemeClr val="tx1"/>
                </a:solidFill>
                <a:latin typeface="+mn-lt"/>
              </a:defRPr>
            </a:lvl1pPr>
          </a:lstStyle>
          <a:p>
            <a:r>
              <a:rPr lang="fr-FR" altLang="ja-JP" dirty="0"/>
              <a:t>©20</a:t>
            </a:r>
            <a:r>
              <a:rPr lang="en-US" altLang="ja-JP" dirty="0"/>
              <a:t>23</a:t>
            </a:r>
            <a:r>
              <a:rPr lang="fr-FR" altLang="ja-JP" dirty="0"/>
              <a:t> KYOCERA Document Solutions Inc.</a:t>
            </a:r>
            <a:endParaRPr lang="en-GB" dirty="0"/>
          </a:p>
        </p:txBody>
      </p:sp>
      <p:sp>
        <p:nvSpPr>
          <p:cNvPr id="4" name="Rectangle 3">
            <a:extLst>
              <a:ext uri="{FF2B5EF4-FFF2-40B4-BE49-F238E27FC236}">
                <a16:creationId xmlns:a16="http://schemas.microsoft.com/office/drawing/2014/main" id="{0BAEFD46-8DC5-BB64-F040-FD68EE6A7C2D}"/>
              </a:ext>
            </a:extLst>
          </p:cNvPr>
          <p:cNvSpPr/>
          <p:nvPr/>
        </p:nvSpPr>
        <p:spPr>
          <a:xfrm>
            <a:off x="295745" y="40624"/>
            <a:ext cx="8722810" cy="6207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nSpc>
                <a:spcPct val="107000"/>
              </a:lnSpc>
              <a:spcBef>
                <a:spcPts val="0"/>
              </a:spcBef>
              <a:spcAft>
                <a:spcPts val="800"/>
              </a:spcAft>
              <a:tabLst>
                <a:tab pos="457200" algn="l"/>
              </a:tabLst>
            </a:pPr>
            <a:r>
              <a:rPr lang="en-US" sz="2200" b="1">
                <a:solidFill>
                  <a:schemeClr val="tx1"/>
                </a:solidFill>
                <a:effectLst/>
                <a:latin typeface="Calibri" panose="020F0502020204030204" pitchFamily="34" charset="0"/>
                <a:ea typeface="游明朝" panose="02020400000000000000" pitchFamily="18" charset="-128"/>
                <a:cs typeface="Times New Roman" panose="02020603050405020304" pitchFamily="18" charset="0"/>
              </a:rPr>
              <a:t>3. BIỂU ĐỒ TRÒN</a:t>
            </a:r>
            <a:endParaRPr lang="en-US" sz="2200">
              <a:solidFill>
                <a:schemeClr val="tx1"/>
              </a:solidFill>
              <a:effectLst/>
              <a:latin typeface="Calibri" panose="020F0502020204030204" pitchFamily="34" charset="0"/>
              <a:ea typeface="游明朝" panose="02020400000000000000" pitchFamily="18" charset="-128"/>
              <a:cs typeface="Times New Roman" panose="02020603050405020304" pitchFamily="18" charset="0"/>
            </a:endParaRPr>
          </a:p>
        </p:txBody>
      </p:sp>
      <p:sp>
        <p:nvSpPr>
          <p:cNvPr id="6" name="Freeform 34">
            <a:extLst>
              <a:ext uri="{FF2B5EF4-FFF2-40B4-BE49-F238E27FC236}">
                <a16:creationId xmlns:a16="http://schemas.microsoft.com/office/drawing/2014/main" id="{E988D51C-281C-0FC1-508D-073F501DA6DF}"/>
              </a:ext>
            </a:extLst>
          </p:cNvPr>
          <p:cNvSpPr>
            <a:spLocks noChangeAspect="1"/>
          </p:cNvSpPr>
          <p:nvPr/>
        </p:nvSpPr>
        <p:spPr bwMode="auto">
          <a:xfrm rot="10800000" flipV="1">
            <a:off x="509368" y="536909"/>
            <a:ext cx="1655684" cy="47957"/>
          </a:xfrm>
          <a:custGeom>
            <a:avLst/>
            <a:gdLst>
              <a:gd name="T0" fmla="*/ 922 w 990"/>
              <a:gd name="T1" fmla="*/ 0 h 36"/>
              <a:gd name="T2" fmla="*/ 907 w 990"/>
              <a:gd name="T3" fmla="*/ 0 h 36"/>
              <a:gd name="T4" fmla="*/ 880 w 990"/>
              <a:gd name="T5" fmla="*/ 1 h 36"/>
              <a:gd name="T6" fmla="*/ 839 w 990"/>
              <a:gd name="T7" fmla="*/ 3 h 36"/>
              <a:gd name="T8" fmla="*/ 818 w 990"/>
              <a:gd name="T9" fmla="*/ 3 h 36"/>
              <a:gd name="T10" fmla="*/ 798 w 990"/>
              <a:gd name="T11" fmla="*/ 4 h 36"/>
              <a:gd name="T12" fmla="*/ 757 w 990"/>
              <a:gd name="T13" fmla="*/ 5 h 36"/>
              <a:gd name="T14" fmla="*/ 718 w 990"/>
              <a:gd name="T15" fmla="*/ 5 h 36"/>
              <a:gd name="T16" fmla="*/ 662 w 990"/>
              <a:gd name="T17" fmla="*/ 5 h 36"/>
              <a:gd name="T18" fmla="*/ 540 w 990"/>
              <a:gd name="T19" fmla="*/ 4 h 36"/>
              <a:gd name="T20" fmla="*/ 512 w 990"/>
              <a:gd name="T21" fmla="*/ 4 h 36"/>
              <a:gd name="T22" fmla="*/ 511 w 990"/>
              <a:gd name="T23" fmla="*/ 4 h 36"/>
              <a:gd name="T24" fmla="*/ 484 w 990"/>
              <a:gd name="T25" fmla="*/ 5 h 36"/>
              <a:gd name="T26" fmla="*/ 419 w 990"/>
              <a:gd name="T27" fmla="*/ 5 h 36"/>
              <a:gd name="T28" fmla="*/ 353 w 990"/>
              <a:gd name="T29" fmla="*/ 7 h 36"/>
              <a:gd name="T30" fmla="*/ 350 w 990"/>
              <a:gd name="T31" fmla="*/ 7 h 36"/>
              <a:gd name="T32" fmla="*/ 288 w 990"/>
              <a:gd name="T33" fmla="*/ 5 h 36"/>
              <a:gd name="T34" fmla="*/ 265 w 990"/>
              <a:gd name="T35" fmla="*/ 4 h 36"/>
              <a:gd name="T36" fmla="*/ 244 w 990"/>
              <a:gd name="T37" fmla="*/ 4 h 36"/>
              <a:gd name="T38" fmla="*/ 224 w 990"/>
              <a:gd name="T39" fmla="*/ 4 h 36"/>
              <a:gd name="T40" fmla="*/ 223 w 990"/>
              <a:gd name="T41" fmla="*/ 4 h 36"/>
              <a:gd name="T42" fmla="*/ 222 w 990"/>
              <a:gd name="T43" fmla="*/ 4 h 36"/>
              <a:gd name="T44" fmla="*/ 190 w 990"/>
              <a:gd name="T45" fmla="*/ 4 h 36"/>
              <a:gd name="T46" fmla="*/ 158 w 990"/>
              <a:gd name="T47" fmla="*/ 4 h 36"/>
              <a:gd name="T48" fmla="*/ 157 w 990"/>
              <a:gd name="T49" fmla="*/ 4 h 36"/>
              <a:gd name="T50" fmla="*/ 91 w 990"/>
              <a:gd name="T51" fmla="*/ 5 h 36"/>
              <a:gd name="T52" fmla="*/ 58 w 990"/>
              <a:gd name="T53" fmla="*/ 6 h 36"/>
              <a:gd name="T54" fmla="*/ 26 w 990"/>
              <a:gd name="T55" fmla="*/ 8 h 36"/>
              <a:gd name="T56" fmla="*/ 10 w 990"/>
              <a:gd name="T57" fmla="*/ 10 h 36"/>
              <a:gd name="T58" fmla="*/ 6 w 990"/>
              <a:gd name="T59" fmla="*/ 10 h 36"/>
              <a:gd name="T60" fmla="*/ 5 w 990"/>
              <a:gd name="T61" fmla="*/ 10 h 36"/>
              <a:gd name="T62" fmla="*/ 5 w 990"/>
              <a:gd name="T63" fmla="*/ 10 h 36"/>
              <a:gd name="T64" fmla="*/ 4 w 990"/>
              <a:gd name="T65" fmla="*/ 10 h 36"/>
              <a:gd name="T66" fmla="*/ 2 w 990"/>
              <a:gd name="T67" fmla="*/ 10 h 36"/>
              <a:gd name="T68" fmla="*/ 1 w 990"/>
              <a:gd name="T69" fmla="*/ 12 h 36"/>
              <a:gd name="T70" fmla="*/ 4 w 990"/>
              <a:gd name="T71" fmla="*/ 17 h 36"/>
              <a:gd name="T72" fmla="*/ 4 w 990"/>
              <a:gd name="T73" fmla="*/ 17 h 36"/>
              <a:gd name="T74" fmla="*/ 63 w 990"/>
              <a:gd name="T75" fmla="*/ 16 h 36"/>
              <a:gd name="T76" fmla="*/ 70 w 990"/>
              <a:gd name="T77" fmla="*/ 16 h 36"/>
              <a:gd name="T78" fmla="*/ 122 w 990"/>
              <a:gd name="T79" fmla="*/ 17 h 36"/>
              <a:gd name="T80" fmla="*/ 153 w 990"/>
              <a:gd name="T81" fmla="*/ 19 h 36"/>
              <a:gd name="T82" fmla="*/ 183 w 990"/>
              <a:gd name="T83" fmla="*/ 20 h 36"/>
              <a:gd name="T84" fmla="*/ 244 w 990"/>
              <a:gd name="T85" fmla="*/ 22 h 36"/>
              <a:gd name="T86" fmla="*/ 305 w 990"/>
              <a:gd name="T87" fmla="*/ 24 h 36"/>
              <a:gd name="T88" fmla="*/ 336 w 990"/>
              <a:gd name="T89" fmla="*/ 26 h 36"/>
              <a:gd name="T90" fmla="*/ 375 w 990"/>
              <a:gd name="T91" fmla="*/ 28 h 36"/>
              <a:gd name="T92" fmla="*/ 489 w 990"/>
              <a:gd name="T93" fmla="*/ 32 h 36"/>
              <a:gd name="T94" fmla="*/ 612 w 990"/>
              <a:gd name="T95" fmla="*/ 36 h 36"/>
              <a:gd name="T96" fmla="*/ 665 w 990"/>
              <a:gd name="T97" fmla="*/ 36 h 36"/>
              <a:gd name="T98" fmla="*/ 707 w 990"/>
              <a:gd name="T99" fmla="*/ 36 h 36"/>
              <a:gd name="T100" fmla="*/ 750 w 990"/>
              <a:gd name="T101" fmla="*/ 36 h 36"/>
              <a:gd name="T102" fmla="*/ 792 w 990"/>
              <a:gd name="T103" fmla="*/ 35 h 36"/>
              <a:gd name="T104" fmla="*/ 879 w 990"/>
              <a:gd name="T105" fmla="*/ 32 h 36"/>
              <a:gd name="T106" fmla="*/ 921 w 990"/>
              <a:gd name="T107" fmla="*/ 30 h 36"/>
              <a:gd name="T108" fmla="*/ 969 w 990"/>
              <a:gd name="T109" fmla="*/ 27 h 36"/>
              <a:gd name="T110" fmla="*/ 982 w 990"/>
              <a:gd name="T111" fmla="*/ 22 h 36"/>
              <a:gd name="T112" fmla="*/ 987 w 990"/>
              <a:gd name="T113" fmla="*/ 15 h 36"/>
              <a:gd name="T114" fmla="*/ 989 w 990"/>
              <a:gd name="T115" fmla="*/ 8 h 36"/>
              <a:gd name="T116" fmla="*/ 982 w 990"/>
              <a:gd name="T117" fmla="*/ 2 h 36"/>
              <a:gd name="T118" fmla="*/ 962 w 990"/>
              <a:gd name="T119" fmla="*/ 0 h 36"/>
              <a:gd name="T120" fmla="*/ 934 w 990"/>
              <a:gd name="T121" fmla="*/ 0 h 36"/>
              <a:gd name="T122" fmla="*/ 922 w 990"/>
              <a:gd name="T1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0" h="36">
                <a:moveTo>
                  <a:pt x="922" y="0"/>
                </a:moveTo>
                <a:cubicBezTo>
                  <a:pt x="917" y="0"/>
                  <a:pt x="912" y="0"/>
                  <a:pt x="907" y="0"/>
                </a:cubicBezTo>
                <a:cubicBezTo>
                  <a:pt x="898" y="0"/>
                  <a:pt x="889" y="1"/>
                  <a:pt x="880" y="1"/>
                </a:cubicBezTo>
                <a:cubicBezTo>
                  <a:pt x="839" y="3"/>
                  <a:pt x="839" y="3"/>
                  <a:pt x="839" y="3"/>
                </a:cubicBezTo>
                <a:cubicBezTo>
                  <a:pt x="818" y="3"/>
                  <a:pt x="818" y="3"/>
                  <a:pt x="818" y="3"/>
                </a:cubicBezTo>
                <a:cubicBezTo>
                  <a:pt x="798" y="4"/>
                  <a:pt x="798" y="4"/>
                  <a:pt x="798" y="4"/>
                </a:cubicBezTo>
                <a:cubicBezTo>
                  <a:pt x="757" y="5"/>
                  <a:pt x="757" y="5"/>
                  <a:pt x="757" y="5"/>
                </a:cubicBezTo>
                <a:cubicBezTo>
                  <a:pt x="744" y="5"/>
                  <a:pt x="731" y="5"/>
                  <a:pt x="718" y="5"/>
                </a:cubicBezTo>
                <a:cubicBezTo>
                  <a:pt x="699" y="5"/>
                  <a:pt x="681" y="5"/>
                  <a:pt x="662" y="5"/>
                </a:cubicBezTo>
                <a:cubicBezTo>
                  <a:pt x="540" y="4"/>
                  <a:pt x="540" y="4"/>
                  <a:pt x="540" y="4"/>
                </a:cubicBezTo>
                <a:cubicBezTo>
                  <a:pt x="512" y="4"/>
                  <a:pt x="512" y="4"/>
                  <a:pt x="512" y="4"/>
                </a:cubicBezTo>
                <a:cubicBezTo>
                  <a:pt x="512" y="4"/>
                  <a:pt x="511" y="4"/>
                  <a:pt x="511" y="4"/>
                </a:cubicBezTo>
                <a:cubicBezTo>
                  <a:pt x="502" y="4"/>
                  <a:pt x="493" y="4"/>
                  <a:pt x="484" y="5"/>
                </a:cubicBezTo>
                <a:cubicBezTo>
                  <a:pt x="462" y="5"/>
                  <a:pt x="441" y="5"/>
                  <a:pt x="419" y="5"/>
                </a:cubicBezTo>
                <a:cubicBezTo>
                  <a:pt x="397" y="6"/>
                  <a:pt x="375" y="7"/>
                  <a:pt x="353" y="7"/>
                </a:cubicBezTo>
                <a:cubicBezTo>
                  <a:pt x="352" y="7"/>
                  <a:pt x="351" y="7"/>
                  <a:pt x="350" y="7"/>
                </a:cubicBezTo>
                <a:cubicBezTo>
                  <a:pt x="330" y="7"/>
                  <a:pt x="309" y="5"/>
                  <a:pt x="288" y="5"/>
                </a:cubicBezTo>
                <a:cubicBezTo>
                  <a:pt x="280" y="4"/>
                  <a:pt x="272" y="4"/>
                  <a:pt x="265" y="4"/>
                </a:cubicBezTo>
                <a:cubicBezTo>
                  <a:pt x="258" y="4"/>
                  <a:pt x="251" y="4"/>
                  <a:pt x="244" y="4"/>
                </a:cubicBezTo>
                <a:cubicBezTo>
                  <a:pt x="237" y="4"/>
                  <a:pt x="230" y="4"/>
                  <a:pt x="224" y="4"/>
                </a:cubicBezTo>
                <a:cubicBezTo>
                  <a:pt x="223" y="4"/>
                  <a:pt x="223" y="4"/>
                  <a:pt x="223" y="4"/>
                </a:cubicBezTo>
                <a:cubicBezTo>
                  <a:pt x="223" y="4"/>
                  <a:pt x="222" y="4"/>
                  <a:pt x="222" y="4"/>
                </a:cubicBezTo>
                <a:cubicBezTo>
                  <a:pt x="212" y="4"/>
                  <a:pt x="201" y="4"/>
                  <a:pt x="190" y="4"/>
                </a:cubicBezTo>
                <a:cubicBezTo>
                  <a:pt x="180" y="4"/>
                  <a:pt x="169" y="4"/>
                  <a:pt x="158" y="4"/>
                </a:cubicBezTo>
                <a:cubicBezTo>
                  <a:pt x="158" y="4"/>
                  <a:pt x="157" y="4"/>
                  <a:pt x="157" y="4"/>
                </a:cubicBezTo>
                <a:cubicBezTo>
                  <a:pt x="135" y="4"/>
                  <a:pt x="113" y="4"/>
                  <a:pt x="91" y="5"/>
                </a:cubicBezTo>
                <a:cubicBezTo>
                  <a:pt x="80" y="5"/>
                  <a:pt x="69" y="6"/>
                  <a:pt x="58" y="6"/>
                </a:cubicBezTo>
                <a:cubicBezTo>
                  <a:pt x="48" y="6"/>
                  <a:pt x="37" y="7"/>
                  <a:pt x="26" y="8"/>
                </a:cubicBezTo>
                <a:cubicBezTo>
                  <a:pt x="10" y="10"/>
                  <a:pt x="10" y="10"/>
                  <a:pt x="10" y="10"/>
                </a:cubicBezTo>
                <a:cubicBezTo>
                  <a:pt x="6" y="10"/>
                  <a:pt x="6" y="10"/>
                  <a:pt x="6" y="10"/>
                </a:cubicBezTo>
                <a:cubicBezTo>
                  <a:pt x="6" y="10"/>
                  <a:pt x="5" y="10"/>
                  <a:pt x="5" y="10"/>
                </a:cubicBezTo>
                <a:cubicBezTo>
                  <a:pt x="5" y="10"/>
                  <a:pt x="5" y="10"/>
                  <a:pt x="5" y="10"/>
                </a:cubicBezTo>
                <a:cubicBezTo>
                  <a:pt x="4" y="10"/>
                  <a:pt x="4" y="10"/>
                  <a:pt x="4" y="10"/>
                </a:cubicBezTo>
                <a:cubicBezTo>
                  <a:pt x="3" y="10"/>
                  <a:pt x="2" y="10"/>
                  <a:pt x="2" y="10"/>
                </a:cubicBezTo>
                <a:cubicBezTo>
                  <a:pt x="1" y="10"/>
                  <a:pt x="1" y="11"/>
                  <a:pt x="1" y="12"/>
                </a:cubicBezTo>
                <a:cubicBezTo>
                  <a:pt x="0" y="15"/>
                  <a:pt x="2" y="17"/>
                  <a:pt x="4" y="17"/>
                </a:cubicBezTo>
                <a:cubicBezTo>
                  <a:pt x="4" y="17"/>
                  <a:pt x="4" y="17"/>
                  <a:pt x="4" y="17"/>
                </a:cubicBezTo>
                <a:cubicBezTo>
                  <a:pt x="24" y="17"/>
                  <a:pt x="43" y="16"/>
                  <a:pt x="63" y="16"/>
                </a:cubicBezTo>
                <a:cubicBezTo>
                  <a:pt x="65" y="16"/>
                  <a:pt x="67" y="16"/>
                  <a:pt x="70" y="16"/>
                </a:cubicBezTo>
                <a:cubicBezTo>
                  <a:pt x="87" y="16"/>
                  <a:pt x="105" y="16"/>
                  <a:pt x="122" y="17"/>
                </a:cubicBezTo>
                <a:cubicBezTo>
                  <a:pt x="133" y="18"/>
                  <a:pt x="143" y="19"/>
                  <a:pt x="153" y="19"/>
                </a:cubicBezTo>
                <a:cubicBezTo>
                  <a:pt x="183" y="20"/>
                  <a:pt x="183" y="20"/>
                  <a:pt x="183" y="20"/>
                </a:cubicBezTo>
                <a:cubicBezTo>
                  <a:pt x="203" y="20"/>
                  <a:pt x="224" y="21"/>
                  <a:pt x="244" y="22"/>
                </a:cubicBezTo>
                <a:cubicBezTo>
                  <a:pt x="265" y="22"/>
                  <a:pt x="285" y="23"/>
                  <a:pt x="305" y="24"/>
                </a:cubicBezTo>
                <a:cubicBezTo>
                  <a:pt x="336" y="26"/>
                  <a:pt x="336" y="26"/>
                  <a:pt x="336" y="26"/>
                </a:cubicBezTo>
                <a:cubicBezTo>
                  <a:pt x="346" y="26"/>
                  <a:pt x="361" y="28"/>
                  <a:pt x="375" y="28"/>
                </a:cubicBezTo>
                <a:cubicBezTo>
                  <a:pt x="416" y="31"/>
                  <a:pt x="448" y="31"/>
                  <a:pt x="489" y="32"/>
                </a:cubicBezTo>
                <a:cubicBezTo>
                  <a:pt x="530" y="34"/>
                  <a:pt x="571" y="35"/>
                  <a:pt x="612" y="36"/>
                </a:cubicBezTo>
                <a:cubicBezTo>
                  <a:pt x="629" y="36"/>
                  <a:pt x="647" y="36"/>
                  <a:pt x="665" y="36"/>
                </a:cubicBezTo>
                <a:cubicBezTo>
                  <a:pt x="679" y="36"/>
                  <a:pt x="693" y="36"/>
                  <a:pt x="707" y="36"/>
                </a:cubicBezTo>
                <a:cubicBezTo>
                  <a:pt x="750" y="36"/>
                  <a:pt x="750" y="36"/>
                  <a:pt x="750" y="36"/>
                </a:cubicBezTo>
                <a:cubicBezTo>
                  <a:pt x="792" y="35"/>
                  <a:pt x="792" y="35"/>
                  <a:pt x="792" y="35"/>
                </a:cubicBezTo>
                <a:cubicBezTo>
                  <a:pt x="821" y="34"/>
                  <a:pt x="850" y="33"/>
                  <a:pt x="879" y="32"/>
                </a:cubicBezTo>
                <a:cubicBezTo>
                  <a:pt x="921" y="30"/>
                  <a:pt x="921" y="30"/>
                  <a:pt x="921" y="30"/>
                </a:cubicBezTo>
                <a:cubicBezTo>
                  <a:pt x="937" y="30"/>
                  <a:pt x="953" y="29"/>
                  <a:pt x="969" y="27"/>
                </a:cubicBezTo>
                <a:cubicBezTo>
                  <a:pt x="973" y="26"/>
                  <a:pt x="979" y="25"/>
                  <a:pt x="982" y="22"/>
                </a:cubicBezTo>
                <a:cubicBezTo>
                  <a:pt x="984" y="20"/>
                  <a:pt x="986" y="17"/>
                  <a:pt x="987" y="15"/>
                </a:cubicBezTo>
                <a:cubicBezTo>
                  <a:pt x="989" y="13"/>
                  <a:pt x="990" y="10"/>
                  <a:pt x="989" y="8"/>
                </a:cubicBezTo>
                <a:cubicBezTo>
                  <a:pt x="988" y="4"/>
                  <a:pt x="985" y="3"/>
                  <a:pt x="982" y="2"/>
                </a:cubicBezTo>
                <a:cubicBezTo>
                  <a:pt x="975" y="0"/>
                  <a:pt x="968" y="0"/>
                  <a:pt x="962" y="0"/>
                </a:cubicBezTo>
                <a:cubicBezTo>
                  <a:pt x="934" y="0"/>
                  <a:pt x="934" y="0"/>
                  <a:pt x="934" y="0"/>
                </a:cubicBezTo>
                <a:cubicBezTo>
                  <a:pt x="930" y="0"/>
                  <a:pt x="926" y="0"/>
                  <a:pt x="922" y="0"/>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2" name="Content Placeholder 2">
            <a:extLst>
              <a:ext uri="{FF2B5EF4-FFF2-40B4-BE49-F238E27FC236}">
                <a16:creationId xmlns:a16="http://schemas.microsoft.com/office/drawing/2014/main" id="{8A378710-0B40-86B5-B2C6-AF290BD75FB3}"/>
              </a:ext>
            </a:extLst>
          </p:cNvPr>
          <p:cNvSpPr txBox="1">
            <a:spLocks/>
          </p:cNvSpPr>
          <p:nvPr/>
        </p:nvSpPr>
        <p:spPr>
          <a:xfrm>
            <a:off x="401032" y="716399"/>
            <a:ext cx="8510739" cy="1226941"/>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1600" b="1">
                <a:latin typeface="Calibri" panose="020F0502020204030204" pitchFamily="34" charset="0"/>
                <a:cs typeface="Calibri" panose="020F0502020204030204" pitchFamily="34" charset="0"/>
              </a:rPr>
              <a:t>Bước 3</a:t>
            </a:r>
            <a:r>
              <a:rPr lang="en-US" sz="1600">
                <a:latin typeface="Calibri" panose="020F0502020204030204" pitchFamily="34" charset="0"/>
                <a:cs typeface="Calibri" panose="020F0502020204030204" pitchFamily="34" charset="0"/>
              </a:rPr>
              <a:t>: Hoàn thiện biểu đồ</a:t>
            </a:r>
          </a:p>
          <a:p>
            <a:pPr marL="285750" indent="-285750" algn="l">
              <a:buFontTx/>
              <a:buChar char="-"/>
            </a:pPr>
            <a:r>
              <a:rPr lang="en-US" sz="1600" b="1">
                <a:latin typeface="Calibri" panose="020F0502020204030204" pitchFamily="34" charset="0"/>
                <a:cs typeface="Calibri" panose="020F0502020204030204" pitchFamily="34" charset="0"/>
              </a:rPr>
              <a:t>Thêm giá trị %: </a:t>
            </a:r>
            <a:r>
              <a:rPr lang="en-US" sz="1600">
                <a:latin typeface="Calibri" panose="020F0502020204030204" pitchFamily="34" charset="0"/>
                <a:cs typeface="Calibri" panose="020F0502020204030204" pitchFamily="34" charset="0"/>
              </a:rPr>
              <a:t>Click chuột phải vào 1 vùng bất kỳ trên biểu đồ tròn (1) chọn Add Data Labels (2) / Add Data Labels (3). Click chuột phải vào giá trị vừa xuất hiện (4) chọn hình biểu đồ (5), tick chọn “Category Name” (6) và chọn “Percentage” (7) , bỏ tick chọn “Value”.</a:t>
            </a:r>
          </a:p>
          <a:p>
            <a:pPr marL="285750" indent="-285750" algn="l">
              <a:buFontTx/>
              <a:buChar char="-"/>
            </a:pPr>
            <a:endParaRPr lang="en-US" sz="1600">
              <a:latin typeface="Calibri" panose="020F0502020204030204" pitchFamily="34" charset="0"/>
              <a:cs typeface="Calibri" panose="020F0502020204030204" pitchFamily="34" charset="0"/>
            </a:endParaRPr>
          </a:p>
        </p:txBody>
      </p:sp>
      <p:sp>
        <p:nvSpPr>
          <p:cNvPr id="12" name="Oval 11">
            <a:extLst>
              <a:ext uri="{FF2B5EF4-FFF2-40B4-BE49-F238E27FC236}">
                <a16:creationId xmlns:a16="http://schemas.microsoft.com/office/drawing/2014/main" id="{EE39C399-697C-FE44-F510-CB4B7E102188}"/>
              </a:ext>
            </a:extLst>
          </p:cNvPr>
          <p:cNvSpPr/>
          <p:nvPr/>
        </p:nvSpPr>
        <p:spPr>
          <a:xfrm>
            <a:off x="491415" y="2624366"/>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1</a:t>
            </a:r>
          </a:p>
        </p:txBody>
      </p:sp>
      <p:sp>
        <p:nvSpPr>
          <p:cNvPr id="13" name="Oval 12">
            <a:extLst>
              <a:ext uri="{FF2B5EF4-FFF2-40B4-BE49-F238E27FC236}">
                <a16:creationId xmlns:a16="http://schemas.microsoft.com/office/drawing/2014/main" id="{6F93BA1C-6FA9-D5A4-7EFA-CB8DF75B6B37}"/>
              </a:ext>
            </a:extLst>
          </p:cNvPr>
          <p:cNvSpPr/>
          <p:nvPr/>
        </p:nvSpPr>
        <p:spPr>
          <a:xfrm>
            <a:off x="3370611" y="4562236"/>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3</a:t>
            </a:r>
          </a:p>
        </p:txBody>
      </p:sp>
      <p:sp>
        <p:nvSpPr>
          <p:cNvPr id="14" name="Oval 13">
            <a:extLst>
              <a:ext uri="{FF2B5EF4-FFF2-40B4-BE49-F238E27FC236}">
                <a16:creationId xmlns:a16="http://schemas.microsoft.com/office/drawing/2014/main" id="{94B5F51D-9593-7C05-BDAD-36A1FF7D96E1}"/>
              </a:ext>
            </a:extLst>
          </p:cNvPr>
          <p:cNvSpPr/>
          <p:nvPr/>
        </p:nvSpPr>
        <p:spPr>
          <a:xfrm>
            <a:off x="945673" y="4263262"/>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2</a:t>
            </a:r>
          </a:p>
        </p:txBody>
      </p:sp>
      <p:sp>
        <p:nvSpPr>
          <p:cNvPr id="15" name="Oval 14">
            <a:extLst>
              <a:ext uri="{FF2B5EF4-FFF2-40B4-BE49-F238E27FC236}">
                <a16:creationId xmlns:a16="http://schemas.microsoft.com/office/drawing/2014/main" id="{14ECF481-DFD8-39D9-1203-0C72A3BFD07C}"/>
              </a:ext>
            </a:extLst>
          </p:cNvPr>
          <p:cNvSpPr/>
          <p:nvPr/>
        </p:nvSpPr>
        <p:spPr>
          <a:xfrm>
            <a:off x="8342635" y="5653847"/>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7</a:t>
            </a:r>
          </a:p>
        </p:txBody>
      </p:sp>
      <p:sp>
        <p:nvSpPr>
          <p:cNvPr id="16" name="Oval 15">
            <a:extLst>
              <a:ext uri="{FF2B5EF4-FFF2-40B4-BE49-F238E27FC236}">
                <a16:creationId xmlns:a16="http://schemas.microsoft.com/office/drawing/2014/main" id="{016C2F0A-8ABB-7316-F42D-42955D9E8CBA}"/>
              </a:ext>
            </a:extLst>
          </p:cNvPr>
          <p:cNvSpPr/>
          <p:nvPr/>
        </p:nvSpPr>
        <p:spPr>
          <a:xfrm>
            <a:off x="4656401" y="5653848"/>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4</a:t>
            </a:r>
          </a:p>
        </p:txBody>
      </p:sp>
      <p:sp>
        <p:nvSpPr>
          <p:cNvPr id="17" name="Oval 16">
            <a:extLst>
              <a:ext uri="{FF2B5EF4-FFF2-40B4-BE49-F238E27FC236}">
                <a16:creationId xmlns:a16="http://schemas.microsoft.com/office/drawing/2014/main" id="{960033B1-B97C-6D6D-1F5E-EDED68DEE638}"/>
              </a:ext>
            </a:extLst>
          </p:cNvPr>
          <p:cNvSpPr/>
          <p:nvPr/>
        </p:nvSpPr>
        <p:spPr>
          <a:xfrm>
            <a:off x="8735558" y="4089985"/>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5</a:t>
            </a:r>
          </a:p>
        </p:txBody>
      </p:sp>
      <p:sp>
        <p:nvSpPr>
          <p:cNvPr id="18" name="Oval 17">
            <a:extLst>
              <a:ext uri="{FF2B5EF4-FFF2-40B4-BE49-F238E27FC236}">
                <a16:creationId xmlns:a16="http://schemas.microsoft.com/office/drawing/2014/main" id="{29B71E82-9ADA-3AAE-D0AF-C2D42045A8F4}"/>
              </a:ext>
            </a:extLst>
          </p:cNvPr>
          <p:cNvSpPr/>
          <p:nvPr/>
        </p:nvSpPr>
        <p:spPr>
          <a:xfrm>
            <a:off x="7103086" y="5297084"/>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6</a:t>
            </a:r>
          </a:p>
        </p:txBody>
      </p:sp>
    </p:spTree>
    <p:extLst>
      <p:ext uri="{BB962C8B-B14F-4D97-AF65-F5344CB8AC3E}">
        <p14:creationId xmlns:p14="http://schemas.microsoft.com/office/powerpoint/2010/main" val="17291199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31D6E0A-7DA1-ECC0-F525-28C6702375A8}"/>
              </a:ext>
            </a:extLst>
          </p:cNvPr>
          <p:cNvPicPr>
            <a:picLocks noChangeAspect="1"/>
          </p:cNvPicPr>
          <p:nvPr/>
        </p:nvPicPr>
        <p:blipFill>
          <a:blip r:embed="rId3"/>
          <a:stretch>
            <a:fillRect/>
          </a:stretch>
        </p:blipFill>
        <p:spPr>
          <a:xfrm>
            <a:off x="509368" y="2033058"/>
            <a:ext cx="4648040" cy="3531070"/>
          </a:xfrm>
          <a:prstGeom prst="rect">
            <a:avLst/>
          </a:prstGeom>
          <a:effectLst>
            <a:glow rad="63500">
              <a:schemeClr val="bg1">
                <a:lumMod val="65000"/>
                <a:alpha val="40000"/>
              </a:schemeClr>
            </a:glow>
          </a:effectLst>
        </p:spPr>
      </p:pic>
      <p:sp>
        <p:nvSpPr>
          <p:cNvPr id="7" name="Slide Number Placeholder 5"/>
          <p:cNvSpPr>
            <a:spLocks noGrp="1"/>
          </p:cNvSpPr>
          <p:nvPr>
            <p:ph type="sldNum" sz="quarter" idx="4"/>
          </p:nvPr>
        </p:nvSpPr>
        <p:spPr>
          <a:prstGeom prst="rect">
            <a:avLst/>
          </a:prstGeom>
        </p:spPr>
        <p:txBody>
          <a:bodyPr vert="horz" lIns="0" tIns="0" rIns="0" bIns="0" rtlCol="0" anchor="ctr" anchorCtr="0"/>
          <a:lstStyle>
            <a:lvl1pPr algn="r">
              <a:defRPr sz="1800">
                <a:solidFill>
                  <a:schemeClr val="tx1"/>
                </a:solidFill>
              </a:defRPr>
            </a:lvl1pPr>
          </a:lstStyle>
          <a:p>
            <a:fld id="{A3381702-59A5-4643-AE93-D7BF7F78153B}" type="slidenum">
              <a:rPr lang="en-GB" smtClean="0"/>
              <a:pPr/>
              <a:t>22</a:t>
            </a:fld>
            <a:endParaRPr lang="en-GB" dirty="0"/>
          </a:p>
        </p:txBody>
      </p:sp>
      <p:sp>
        <p:nvSpPr>
          <p:cNvPr id="8" name="Footer Placeholder 4"/>
          <p:cNvSpPr>
            <a:spLocks noGrp="1"/>
          </p:cNvSpPr>
          <p:nvPr>
            <p:ph type="ftr" sz="quarter" idx="3"/>
          </p:nvPr>
        </p:nvSpPr>
        <p:spPr>
          <a:prstGeom prst="rect">
            <a:avLst/>
          </a:prstGeom>
        </p:spPr>
        <p:txBody>
          <a:bodyPr vert="horz" lIns="0" tIns="0" rIns="0" bIns="0" rtlCol="0" anchor="t" anchorCtr="0"/>
          <a:lstStyle>
            <a:lvl1pPr algn="r">
              <a:defRPr sz="700">
                <a:solidFill>
                  <a:schemeClr val="tx1"/>
                </a:solidFill>
                <a:latin typeface="+mn-lt"/>
              </a:defRPr>
            </a:lvl1pPr>
          </a:lstStyle>
          <a:p>
            <a:r>
              <a:rPr lang="fr-FR" altLang="ja-JP" dirty="0"/>
              <a:t>©20</a:t>
            </a:r>
            <a:r>
              <a:rPr lang="en-US" altLang="ja-JP" dirty="0"/>
              <a:t>23</a:t>
            </a:r>
            <a:r>
              <a:rPr lang="fr-FR" altLang="ja-JP" dirty="0"/>
              <a:t> KYOCERA Document Solutions Inc.</a:t>
            </a:r>
            <a:endParaRPr lang="en-GB" dirty="0"/>
          </a:p>
        </p:txBody>
      </p:sp>
      <p:sp>
        <p:nvSpPr>
          <p:cNvPr id="4" name="Rectangle 3">
            <a:extLst>
              <a:ext uri="{FF2B5EF4-FFF2-40B4-BE49-F238E27FC236}">
                <a16:creationId xmlns:a16="http://schemas.microsoft.com/office/drawing/2014/main" id="{0BAEFD46-8DC5-BB64-F040-FD68EE6A7C2D}"/>
              </a:ext>
            </a:extLst>
          </p:cNvPr>
          <p:cNvSpPr/>
          <p:nvPr/>
        </p:nvSpPr>
        <p:spPr>
          <a:xfrm>
            <a:off x="295745" y="40624"/>
            <a:ext cx="8722810" cy="6207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nSpc>
                <a:spcPct val="107000"/>
              </a:lnSpc>
              <a:spcBef>
                <a:spcPts val="0"/>
              </a:spcBef>
              <a:spcAft>
                <a:spcPts val="800"/>
              </a:spcAft>
              <a:tabLst>
                <a:tab pos="457200" algn="l"/>
              </a:tabLst>
            </a:pPr>
            <a:r>
              <a:rPr lang="en-US" sz="2200" b="1">
                <a:solidFill>
                  <a:schemeClr val="tx1"/>
                </a:solidFill>
                <a:effectLst/>
                <a:latin typeface="Calibri" panose="020F0502020204030204" pitchFamily="34" charset="0"/>
                <a:ea typeface="游明朝" panose="02020400000000000000" pitchFamily="18" charset="-128"/>
                <a:cs typeface="Times New Roman" panose="02020603050405020304" pitchFamily="18" charset="0"/>
              </a:rPr>
              <a:t>3. BIỂU ĐỒ TRÒN</a:t>
            </a:r>
            <a:endParaRPr lang="en-US" sz="2200">
              <a:solidFill>
                <a:schemeClr val="tx1"/>
              </a:solidFill>
              <a:effectLst/>
              <a:latin typeface="Calibri" panose="020F0502020204030204" pitchFamily="34" charset="0"/>
              <a:ea typeface="游明朝" panose="02020400000000000000" pitchFamily="18" charset="-128"/>
              <a:cs typeface="Times New Roman" panose="02020603050405020304" pitchFamily="18" charset="0"/>
            </a:endParaRPr>
          </a:p>
        </p:txBody>
      </p:sp>
      <p:sp>
        <p:nvSpPr>
          <p:cNvPr id="6" name="Freeform 34">
            <a:extLst>
              <a:ext uri="{FF2B5EF4-FFF2-40B4-BE49-F238E27FC236}">
                <a16:creationId xmlns:a16="http://schemas.microsoft.com/office/drawing/2014/main" id="{E988D51C-281C-0FC1-508D-073F501DA6DF}"/>
              </a:ext>
            </a:extLst>
          </p:cNvPr>
          <p:cNvSpPr>
            <a:spLocks noChangeAspect="1"/>
          </p:cNvSpPr>
          <p:nvPr/>
        </p:nvSpPr>
        <p:spPr bwMode="auto">
          <a:xfrm rot="10800000" flipV="1">
            <a:off x="509368" y="536909"/>
            <a:ext cx="1655684" cy="47957"/>
          </a:xfrm>
          <a:custGeom>
            <a:avLst/>
            <a:gdLst>
              <a:gd name="T0" fmla="*/ 922 w 990"/>
              <a:gd name="T1" fmla="*/ 0 h 36"/>
              <a:gd name="T2" fmla="*/ 907 w 990"/>
              <a:gd name="T3" fmla="*/ 0 h 36"/>
              <a:gd name="T4" fmla="*/ 880 w 990"/>
              <a:gd name="T5" fmla="*/ 1 h 36"/>
              <a:gd name="T6" fmla="*/ 839 w 990"/>
              <a:gd name="T7" fmla="*/ 3 h 36"/>
              <a:gd name="T8" fmla="*/ 818 w 990"/>
              <a:gd name="T9" fmla="*/ 3 h 36"/>
              <a:gd name="T10" fmla="*/ 798 w 990"/>
              <a:gd name="T11" fmla="*/ 4 h 36"/>
              <a:gd name="T12" fmla="*/ 757 w 990"/>
              <a:gd name="T13" fmla="*/ 5 h 36"/>
              <a:gd name="T14" fmla="*/ 718 w 990"/>
              <a:gd name="T15" fmla="*/ 5 h 36"/>
              <a:gd name="T16" fmla="*/ 662 w 990"/>
              <a:gd name="T17" fmla="*/ 5 h 36"/>
              <a:gd name="T18" fmla="*/ 540 w 990"/>
              <a:gd name="T19" fmla="*/ 4 h 36"/>
              <a:gd name="T20" fmla="*/ 512 w 990"/>
              <a:gd name="T21" fmla="*/ 4 h 36"/>
              <a:gd name="T22" fmla="*/ 511 w 990"/>
              <a:gd name="T23" fmla="*/ 4 h 36"/>
              <a:gd name="T24" fmla="*/ 484 w 990"/>
              <a:gd name="T25" fmla="*/ 5 h 36"/>
              <a:gd name="T26" fmla="*/ 419 w 990"/>
              <a:gd name="T27" fmla="*/ 5 h 36"/>
              <a:gd name="T28" fmla="*/ 353 w 990"/>
              <a:gd name="T29" fmla="*/ 7 h 36"/>
              <a:gd name="T30" fmla="*/ 350 w 990"/>
              <a:gd name="T31" fmla="*/ 7 h 36"/>
              <a:gd name="T32" fmla="*/ 288 w 990"/>
              <a:gd name="T33" fmla="*/ 5 h 36"/>
              <a:gd name="T34" fmla="*/ 265 w 990"/>
              <a:gd name="T35" fmla="*/ 4 h 36"/>
              <a:gd name="T36" fmla="*/ 244 w 990"/>
              <a:gd name="T37" fmla="*/ 4 h 36"/>
              <a:gd name="T38" fmla="*/ 224 w 990"/>
              <a:gd name="T39" fmla="*/ 4 h 36"/>
              <a:gd name="T40" fmla="*/ 223 w 990"/>
              <a:gd name="T41" fmla="*/ 4 h 36"/>
              <a:gd name="T42" fmla="*/ 222 w 990"/>
              <a:gd name="T43" fmla="*/ 4 h 36"/>
              <a:gd name="T44" fmla="*/ 190 w 990"/>
              <a:gd name="T45" fmla="*/ 4 h 36"/>
              <a:gd name="T46" fmla="*/ 158 w 990"/>
              <a:gd name="T47" fmla="*/ 4 h 36"/>
              <a:gd name="T48" fmla="*/ 157 w 990"/>
              <a:gd name="T49" fmla="*/ 4 h 36"/>
              <a:gd name="T50" fmla="*/ 91 w 990"/>
              <a:gd name="T51" fmla="*/ 5 h 36"/>
              <a:gd name="T52" fmla="*/ 58 w 990"/>
              <a:gd name="T53" fmla="*/ 6 h 36"/>
              <a:gd name="T54" fmla="*/ 26 w 990"/>
              <a:gd name="T55" fmla="*/ 8 h 36"/>
              <a:gd name="T56" fmla="*/ 10 w 990"/>
              <a:gd name="T57" fmla="*/ 10 h 36"/>
              <a:gd name="T58" fmla="*/ 6 w 990"/>
              <a:gd name="T59" fmla="*/ 10 h 36"/>
              <a:gd name="T60" fmla="*/ 5 w 990"/>
              <a:gd name="T61" fmla="*/ 10 h 36"/>
              <a:gd name="T62" fmla="*/ 5 w 990"/>
              <a:gd name="T63" fmla="*/ 10 h 36"/>
              <a:gd name="T64" fmla="*/ 4 w 990"/>
              <a:gd name="T65" fmla="*/ 10 h 36"/>
              <a:gd name="T66" fmla="*/ 2 w 990"/>
              <a:gd name="T67" fmla="*/ 10 h 36"/>
              <a:gd name="T68" fmla="*/ 1 w 990"/>
              <a:gd name="T69" fmla="*/ 12 h 36"/>
              <a:gd name="T70" fmla="*/ 4 w 990"/>
              <a:gd name="T71" fmla="*/ 17 h 36"/>
              <a:gd name="T72" fmla="*/ 4 w 990"/>
              <a:gd name="T73" fmla="*/ 17 h 36"/>
              <a:gd name="T74" fmla="*/ 63 w 990"/>
              <a:gd name="T75" fmla="*/ 16 h 36"/>
              <a:gd name="T76" fmla="*/ 70 w 990"/>
              <a:gd name="T77" fmla="*/ 16 h 36"/>
              <a:gd name="T78" fmla="*/ 122 w 990"/>
              <a:gd name="T79" fmla="*/ 17 h 36"/>
              <a:gd name="T80" fmla="*/ 153 w 990"/>
              <a:gd name="T81" fmla="*/ 19 h 36"/>
              <a:gd name="T82" fmla="*/ 183 w 990"/>
              <a:gd name="T83" fmla="*/ 20 h 36"/>
              <a:gd name="T84" fmla="*/ 244 w 990"/>
              <a:gd name="T85" fmla="*/ 22 h 36"/>
              <a:gd name="T86" fmla="*/ 305 w 990"/>
              <a:gd name="T87" fmla="*/ 24 h 36"/>
              <a:gd name="T88" fmla="*/ 336 w 990"/>
              <a:gd name="T89" fmla="*/ 26 h 36"/>
              <a:gd name="T90" fmla="*/ 375 w 990"/>
              <a:gd name="T91" fmla="*/ 28 h 36"/>
              <a:gd name="T92" fmla="*/ 489 w 990"/>
              <a:gd name="T93" fmla="*/ 32 h 36"/>
              <a:gd name="T94" fmla="*/ 612 w 990"/>
              <a:gd name="T95" fmla="*/ 36 h 36"/>
              <a:gd name="T96" fmla="*/ 665 w 990"/>
              <a:gd name="T97" fmla="*/ 36 h 36"/>
              <a:gd name="T98" fmla="*/ 707 w 990"/>
              <a:gd name="T99" fmla="*/ 36 h 36"/>
              <a:gd name="T100" fmla="*/ 750 w 990"/>
              <a:gd name="T101" fmla="*/ 36 h 36"/>
              <a:gd name="T102" fmla="*/ 792 w 990"/>
              <a:gd name="T103" fmla="*/ 35 h 36"/>
              <a:gd name="T104" fmla="*/ 879 w 990"/>
              <a:gd name="T105" fmla="*/ 32 h 36"/>
              <a:gd name="T106" fmla="*/ 921 w 990"/>
              <a:gd name="T107" fmla="*/ 30 h 36"/>
              <a:gd name="T108" fmla="*/ 969 w 990"/>
              <a:gd name="T109" fmla="*/ 27 h 36"/>
              <a:gd name="T110" fmla="*/ 982 w 990"/>
              <a:gd name="T111" fmla="*/ 22 h 36"/>
              <a:gd name="T112" fmla="*/ 987 w 990"/>
              <a:gd name="T113" fmla="*/ 15 h 36"/>
              <a:gd name="T114" fmla="*/ 989 w 990"/>
              <a:gd name="T115" fmla="*/ 8 h 36"/>
              <a:gd name="T116" fmla="*/ 982 w 990"/>
              <a:gd name="T117" fmla="*/ 2 h 36"/>
              <a:gd name="T118" fmla="*/ 962 w 990"/>
              <a:gd name="T119" fmla="*/ 0 h 36"/>
              <a:gd name="T120" fmla="*/ 934 w 990"/>
              <a:gd name="T121" fmla="*/ 0 h 36"/>
              <a:gd name="T122" fmla="*/ 922 w 990"/>
              <a:gd name="T1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0" h="36">
                <a:moveTo>
                  <a:pt x="922" y="0"/>
                </a:moveTo>
                <a:cubicBezTo>
                  <a:pt x="917" y="0"/>
                  <a:pt x="912" y="0"/>
                  <a:pt x="907" y="0"/>
                </a:cubicBezTo>
                <a:cubicBezTo>
                  <a:pt x="898" y="0"/>
                  <a:pt x="889" y="1"/>
                  <a:pt x="880" y="1"/>
                </a:cubicBezTo>
                <a:cubicBezTo>
                  <a:pt x="839" y="3"/>
                  <a:pt x="839" y="3"/>
                  <a:pt x="839" y="3"/>
                </a:cubicBezTo>
                <a:cubicBezTo>
                  <a:pt x="818" y="3"/>
                  <a:pt x="818" y="3"/>
                  <a:pt x="818" y="3"/>
                </a:cubicBezTo>
                <a:cubicBezTo>
                  <a:pt x="798" y="4"/>
                  <a:pt x="798" y="4"/>
                  <a:pt x="798" y="4"/>
                </a:cubicBezTo>
                <a:cubicBezTo>
                  <a:pt x="757" y="5"/>
                  <a:pt x="757" y="5"/>
                  <a:pt x="757" y="5"/>
                </a:cubicBezTo>
                <a:cubicBezTo>
                  <a:pt x="744" y="5"/>
                  <a:pt x="731" y="5"/>
                  <a:pt x="718" y="5"/>
                </a:cubicBezTo>
                <a:cubicBezTo>
                  <a:pt x="699" y="5"/>
                  <a:pt x="681" y="5"/>
                  <a:pt x="662" y="5"/>
                </a:cubicBezTo>
                <a:cubicBezTo>
                  <a:pt x="540" y="4"/>
                  <a:pt x="540" y="4"/>
                  <a:pt x="540" y="4"/>
                </a:cubicBezTo>
                <a:cubicBezTo>
                  <a:pt x="512" y="4"/>
                  <a:pt x="512" y="4"/>
                  <a:pt x="512" y="4"/>
                </a:cubicBezTo>
                <a:cubicBezTo>
                  <a:pt x="512" y="4"/>
                  <a:pt x="511" y="4"/>
                  <a:pt x="511" y="4"/>
                </a:cubicBezTo>
                <a:cubicBezTo>
                  <a:pt x="502" y="4"/>
                  <a:pt x="493" y="4"/>
                  <a:pt x="484" y="5"/>
                </a:cubicBezTo>
                <a:cubicBezTo>
                  <a:pt x="462" y="5"/>
                  <a:pt x="441" y="5"/>
                  <a:pt x="419" y="5"/>
                </a:cubicBezTo>
                <a:cubicBezTo>
                  <a:pt x="397" y="6"/>
                  <a:pt x="375" y="7"/>
                  <a:pt x="353" y="7"/>
                </a:cubicBezTo>
                <a:cubicBezTo>
                  <a:pt x="352" y="7"/>
                  <a:pt x="351" y="7"/>
                  <a:pt x="350" y="7"/>
                </a:cubicBezTo>
                <a:cubicBezTo>
                  <a:pt x="330" y="7"/>
                  <a:pt x="309" y="5"/>
                  <a:pt x="288" y="5"/>
                </a:cubicBezTo>
                <a:cubicBezTo>
                  <a:pt x="280" y="4"/>
                  <a:pt x="272" y="4"/>
                  <a:pt x="265" y="4"/>
                </a:cubicBezTo>
                <a:cubicBezTo>
                  <a:pt x="258" y="4"/>
                  <a:pt x="251" y="4"/>
                  <a:pt x="244" y="4"/>
                </a:cubicBezTo>
                <a:cubicBezTo>
                  <a:pt x="237" y="4"/>
                  <a:pt x="230" y="4"/>
                  <a:pt x="224" y="4"/>
                </a:cubicBezTo>
                <a:cubicBezTo>
                  <a:pt x="223" y="4"/>
                  <a:pt x="223" y="4"/>
                  <a:pt x="223" y="4"/>
                </a:cubicBezTo>
                <a:cubicBezTo>
                  <a:pt x="223" y="4"/>
                  <a:pt x="222" y="4"/>
                  <a:pt x="222" y="4"/>
                </a:cubicBezTo>
                <a:cubicBezTo>
                  <a:pt x="212" y="4"/>
                  <a:pt x="201" y="4"/>
                  <a:pt x="190" y="4"/>
                </a:cubicBezTo>
                <a:cubicBezTo>
                  <a:pt x="180" y="4"/>
                  <a:pt x="169" y="4"/>
                  <a:pt x="158" y="4"/>
                </a:cubicBezTo>
                <a:cubicBezTo>
                  <a:pt x="158" y="4"/>
                  <a:pt x="157" y="4"/>
                  <a:pt x="157" y="4"/>
                </a:cubicBezTo>
                <a:cubicBezTo>
                  <a:pt x="135" y="4"/>
                  <a:pt x="113" y="4"/>
                  <a:pt x="91" y="5"/>
                </a:cubicBezTo>
                <a:cubicBezTo>
                  <a:pt x="80" y="5"/>
                  <a:pt x="69" y="6"/>
                  <a:pt x="58" y="6"/>
                </a:cubicBezTo>
                <a:cubicBezTo>
                  <a:pt x="48" y="6"/>
                  <a:pt x="37" y="7"/>
                  <a:pt x="26" y="8"/>
                </a:cubicBezTo>
                <a:cubicBezTo>
                  <a:pt x="10" y="10"/>
                  <a:pt x="10" y="10"/>
                  <a:pt x="10" y="10"/>
                </a:cubicBezTo>
                <a:cubicBezTo>
                  <a:pt x="6" y="10"/>
                  <a:pt x="6" y="10"/>
                  <a:pt x="6" y="10"/>
                </a:cubicBezTo>
                <a:cubicBezTo>
                  <a:pt x="6" y="10"/>
                  <a:pt x="5" y="10"/>
                  <a:pt x="5" y="10"/>
                </a:cubicBezTo>
                <a:cubicBezTo>
                  <a:pt x="5" y="10"/>
                  <a:pt x="5" y="10"/>
                  <a:pt x="5" y="10"/>
                </a:cubicBezTo>
                <a:cubicBezTo>
                  <a:pt x="4" y="10"/>
                  <a:pt x="4" y="10"/>
                  <a:pt x="4" y="10"/>
                </a:cubicBezTo>
                <a:cubicBezTo>
                  <a:pt x="3" y="10"/>
                  <a:pt x="2" y="10"/>
                  <a:pt x="2" y="10"/>
                </a:cubicBezTo>
                <a:cubicBezTo>
                  <a:pt x="1" y="10"/>
                  <a:pt x="1" y="11"/>
                  <a:pt x="1" y="12"/>
                </a:cubicBezTo>
                <a:cubicBezTo>
                  <a:pt x="0" y="15"/>
                  <a:pt x="2" y="17"/>
                  <a:pt x="4" y="17"/>
                </a:cubicBezTo>
                <a:cubicBezTo>
                  <a:pt x="4" y="17"/>
                  <a:pt x="4" y="17"/>
                  <a:pt x="4" y="17"/>
                </a:cubicBezTo>
                <a:cubicBezTo>
                  <a:pt x="24" y="17"/>
                  <a:pt x="43" y="16"/>
                  <a:pt x="63" y="16"/>
                </a:cubicBezTo>
                <a:cubicBezTo>
                  <a:pt x="65" y="16"/>
                  <a:pt x="67" y="16"/>
                  <a:pt x="70" y="16"/>
                </a:cubicBezTo>
                <a:cubicBezTo>
                  <a:pt x="87" y="16"/>
                  <a:pt x="105" y="16"/>
                  <a:pt x="122" y="17"/>
                </a:cubicBezTo>
                <a:cubicBezTo>
                  <a:pt x="133" y="18"/>
                  <a:pt x="143" y="19"/>
                  <a:pt x="153" y="19"/>
                </a:cubicBezTo>
                <a:cubicBezTo>
                  <a:pt x="183" y="20"/>
                  <a:pt x="183" y="20"/>
                  <a:pt x="183" y="20"/>
                </a:cubicBezTo>
                <a:cubicBezTo>
                  <a:pt x="203" y="20"/>
                  <a:pt x="224" y="21"/>
                  <a:pt x="244" y="22"/>
                </a:cubicBezTo>
                <a:cubicBezTo>
                  <a:pt x="265" y="22"/>
                  <a:pt x="285" y="23"/>
                  <a:pt x="305" y="24"/>
                </a:cubicBezTo>
                <a:cubicBezTo>
                  <a:pt x="336" y="26"/>
                  <a:pt x="336" y="26"/>
                  <a:pt x="336" y="26"/>
                </a:cubicBezTo>
                <a:cubicBezTo>
                  <a:pt x="346" y="26"/>
                  <a:pt x="361" y="28"/>
                  <a:pt x="375" y="28"/>
                </a:cubicBezTo>
                <a:cubicBezTo>
                  <a:pt x="416" y="31"/>
                  <a:pt x="448" y="31"/>
                  <a:pt x="489" y="32"/>
                </a:cubicBezTo>
                <a:cubicBezTo>
                  <a:pt x="530" y="34"/>
                  <a:pt x="571" y="35"/>
                  <a:pt x="612" y="36"/>
                </a:cubicBezTo>
                <a:cubicBezTo>
                  <a:pt x="629" y="36"/>
                  <a:pt x="647" y="36"/>
                  <a:pt x="665" y="36"/>
                </a:cubicBezTo>
                <a:cubicBezTo>
                  <a:pt x="679" y="36"/>
                  <a:pt x="693" y="36"/>
                  <a:pt x="707" y="36"/>
                </a:cubicBezTo>
                <a:cubicBezTo>
                  <a:pt x="750" y="36"/>
                  <a:pt x="750" y="36"/>
                  <a:pt x="750" y="36"/>
                </a:cubicBezTo>
                <a:cubicBezTo>
                  <a:pt x="792" y="35"/>
                  <a:pt x="792" y="35"/>
                  <a:pt x="792" y="35"/>
                </a:cubicBezTo>
                <a:cubicBezTo>
                  <a:pt x="821" y="34"/>
                  <a:pt x="850" y="33"/>
                  <a:pt x="879" y="32"/>
                </a:cubicBezTo>
                <a:cubicBezTo>
                  <a:pt x="921" y="30"/>
                  <a:pt x="921" y="30"/>
                  <a:pt x="921" y="30"/>
                </a:cubicBezTo>
                <a:cubicBezTo>
                  <a:pt x="937" y="30"/>
                  <a:pt x="953" y="29"/>
                  <a:pt x="969" y="27"/>
                </a:cubicBezTo>
                <a:cubicBezTo>
                  <a:pt x="973" y="26"/>
                  <a:pt x="979" y="25"/>
                  <a:pt x="982" y="22"/>
                </a:cubicBezTo>
                <a:cubicBezTo>
                  <a:pt x="984" y="20"/>
                  <a:pt x="986" y="17"/>
                  <a:pt x="987" y="15"/>
                </a:cubicBezTo>
                <a:cubicBezTo>
                  <a:pt x="989" y="13"/>
                  <a:pt x="990" y="10"/>
                  <a:pt x="989" y="8"/>
                </a:cubicBezTo>
                <a:cubicBezTo>
                  <a:pt x="988" y="4"/>
                  <a:pt x="985" y="3"/>
                  <a:pt x="982" y="2"/>
                </a:cubicBezTo>
                <a:cubicBezTo>
                  <a:pt x="975" y="0"/>
                  <a:pt x="968" y="0"/>
                  <a:pt x="962" y="0"/>
                </a:cubicBezTo>
                <a:cubicBezTo>
                  <a:pt x="934" y="0"/>
                  <a:pt x="934" y="0"/>
                  <a:pt x="934" y="0"/>
                </a:cubicBezTo>
                <a:cubicBezTo>
                  <a:pt x="930" y="0"/>
                  <a:pt x="926" y="0"/>
                  <a:pt x="922" y="0"/>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2" name="Content Placeholder 2">
            <a:extLst>
              <a:ext uri="{FF2B5EF4-FFF2-40B4-BE49-F238E27FC236}">
                <a16:creationId xmlns:a16="http://schemas.microsoft.com/office/drawing/2014/main" id="{8A378710-0B40-86B5-B2C6-AF290BD75FB3}"/>
              </a:ext>
            </a:extLst>
          </p:cNvPr>
          <p:cNvSpPr txBox="1">
            <a:spLocks/>
          </p:cNvSpPr>
          <p:nvPr/>
        </p:nvSpPr>
        <p:spPr>
          <a:xfrm>
            <a:off x="401032" y="716399"/>
            <a:ext cx="8510739" cy="1226941"/>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1600" b="1">
                <a:latin typeface="Calibri" panose="020F0502020204030204" pitchFamily="34" charset="0"/>
                <a:cs typeface="Calibri" panose="020F0502020204030204" pitchFamily="34" charset="0"/>
              </a:rPr>
              <a:t>Bước 3</a:t>
            </a:r>
            <a:r>
              <a:rPr lang="en-US" sz="1600">
                <a:latin typeface="Calibri" panose="020F0502020204030204" pitchFamily="34" charset="0"/>
                <a:cs typeface="Calibri" panose="020F0502020204030204" pitchFamily="34" charset="0"/>
              </a:rPr>
              <a:t>: Hoàn thiện biểu đồ</a:t>
            </a:r>
          </a:p>
          <a:p>
            <a:pPr marL="285750" indent="-285750" algn="l">
              <a:buFontTx/>
              <a:buChar char="-"/>
            </a:pPr>
            <a:r>
              <a:rPr lang="en-US" sz="1600" b="1">
                <a:latin typeface="Calibri" panose="020F0502020204030204" pitchFamily="34" charset="0"/>
                <a:cs typeface="Calibri" panose="020F0502020204030204" pitchFamily="34" charset="0"/>
              </a:rPr>
              <a:t>Thay đổi màu sắc cho biểu đồ (Nếu cần): </a:t>
            </a:r>
            <a:r>
              <a:rPr lang="en-US" sz="1600">
                <a:latin typeface="Calibri" panose="020F0502020204030204" pitchFamily="34" charset="0"/>
                <a:cs typeface="Calibri" panose="020F0502020204030204" pitchFamily="34" charset="0"/>
              </a:rPr>
              <a:t>Click chuột phải vào 1 vùng bất kỳ trên biểu đồ tròn (1) Chọn (2), chọn màu sắc phù hợp (3)</a:t>
            </a:r>
          </a:p>
          <a:p>
            <a:pPr marL="285750" indent="-285750" algn="l">
              <a:buFontTx/>
              <a:buChar char="-"/>
            </a:pPr>
            <a:endParaRPr lang="en-US" sz="1600">
              <a:latin typeface="Calibri" panose="020F0502020204030204" pitchFamily="34" charset="0"/>
              <a:cs typeface="Calibri" panose="020F0502020204030204" pitchFamily="34" charset="0"/>
            </a:endParaRPr>
          </a:p>
        </p:txBody>
      </p:sp>
      <p:sp>
        <p:nvSpPr>
          <p:cNvPr id="12" name="Oval 11">
            <a:extLst>
              <a:ext uri="{FF2B5EF4-FFF2-40B4-BE49-F238E27FC236}">
                <a16:creationId xmlns:a16="http://schemas.microsoft.com/office/drawing/2014/main" id="{EE39C399-697C-FE44-F510-CB4B7E102188}"/>
              </a:ext>
            </a:extLst>
          </p:cNvPr>
          <p:cNvSpPr/>
          <p:nvPr/>
        </p:nvSpPr>
        <p:spPr>
          <a:xfrm>
            <a:off x="2305701" y="4203621"/>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1</a:t>
            </a:r>
          </a:p>
        </p:txBody>
      </p:sp>
      <p:sp>
        <p:nvSpPr>
          <p:cNvPr id="13" name="Oval 12">
            <a:extLst>
              <a:ext uri="{FF2B5EF4-FFF2-40B4-BE49-F238E27FC236}">
                <a16:creationId xmlns:a16="http://schemas.microsoft.com/office/drawing/2014/main" id="{6F93BA1C-6FA9-D5A4-7EFA-CB8DF75B6B37}"/>
              </a:ext>
            </a:extLst>
          </p:cNvPr>
          <p:cNvSpPr/>
          <p:nvPr/>
        </p:nvSpPr>
        <p:spPr>
          <a:xfrm>
            <a:off x="3298040" y="2834540"/>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3</a:t>
            </a:r>
          </a:p>
        </p:txBody>
      </p:sp>
      <p:sp>
        <p:nvSpPr>
          <p:cNvPr id="14" name="Oval 13">
            <a:extLst>
              <a:ext uri="{FF2B5EF4-FFF2-40B4-BE49-F238E27FC236}">
                <a16:creationId xmlns:a16="http://schemas.microsoft.com/office/drawing/2014/main" id="{94B5F51D-9593-7C05-BDAD-36A1FF7D96E1}"/>
              </a:ext>
            </a:extLst>
          </p:cNvPr>
          <p:cNvSpPr/>
          <p:nvPr/>
        </p:nvSpPr>
        <p:spPr>
          <a:xfrm>
            <a:off x="2932596" y="5080351"/>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2</a:t>
            </a:r>
          </a:p>
        </p:txBody>
      </p:sp>
    </p:spTree>
    <p:extLst>
      <p:ext uri="{BB962C8B-B14F-4D97-AF65-F5344CB8AC3E}">
        <p14:creationId xmlns:p14="http://schemas.microsoft.com/office/powerpoint/2010/main" val="11112684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4"/>
          </p:nvPr>
        </p:nvSpPr>
        <p:spPr>
          <a:prstGeom prst="rect">
            <a:avLst/>
          </a:prstGeom>
        </p:spPr>
        <p:txBody>
          <a:bodyPr vert="horz" lIns="0" tIns="0" rIns="0" bIns="0" rtlCol="0" anchor="ctr" anchorCtr="0"/>
          <a:lstStyle>
            <a:lvl1pPr algn="r">
              <a:defRPr sz="1800">
                <a:solidFill>
                  <a:schemeClr val="tx1"/>
                </a:solidFill>
              </a:defRPr>
            </a:lvl1pPr>
          </a:lstStyle>
          <a:p>
            <a:fld id="{A3381702-59A5-4643-AE93-D7BF7F78153B}" type="slidenum">
              <a:rPr lang="en-GB" smtClean="0"/>
              <a:pPr/>
              <a:t>23</a:t>
            </a:fld>
            <a:endParaRPr lang="en-GB" dirty="0"/>
          </a:p>
        </p:txBody>
      </p:sp>
      <p:sp>
        <p:nvSpPr>
          <p:cNvPr id="8" name="Footer Placeholder 4"/>
          <p:cNvSpPr>
            <a:spLocks noGrp="1"/>
          </p:cNvSpPr>
          <p:nvPr>
            <p:ph type="ftr" sz="quarter" idx="3"/>
          </p:nvPr>
        </p:nvSpPr>
        <p:spPr>
          <a:prstGeom prst="rect">
            <a:avLst/>
          </a:prstGeom>
        </p:spPr>
        <p:txBody>
          <a:bodyPr vert="horz" lIns="0" tIns="0" rIns="0" bIns="0" rtlCol="0" anchor="t" anchorCtr="0"/>
          <a:lstStyle>
            <a:lvl1pPr algn="r">
              <a:defRPr sz="700">
                <a:solidFill>
                  <a:schemeClr val="tx1"/>
                </a:solidFill>
                <a:latin typeface="+mn-lt"/>
              </a:defRPr>
            </a:lvl1pPr>
          </a:lstStyle>
          <a:p>
            <a:r>
              <a:rPr lang="fr-FR" altLang="ja-JP" dirty="0"/>
              <a:t>©20</a:t>
            </a:r>
            <a:r>
              <a:rPr lang="en-US" altLang="ja-JP" dirty="0"/>
              <a:t>23</a:t>
            </a:r>
            <a:r>
              <a:rPr lang="fr-FR" altLang="ja-JP" dirty="0"/>
              <a:t> KYOCERA Document Solutions Inc.</a:t>
            </a:r>
            <a:endParaRPr lang="en-GB" dirty="0"/>
          </a:p>
        </p:txBody>
      </p:sp>
      <p:sp>
        <p:nvSpPr>
          <p:cNvPr id="4" name="Rectangle 3">
            <a:extLst>
              <a:ext uri="{FF2B5EF4-FFF2-40B4-BE49-F238E27FC236}">
                <a16:creationId xmlns:a16="http://schemas.microsoft.com/office/drawing/2014/main" id="{0BAEFD46-8DC5-BB64-F040-FD68EE6A7C2D}"/>
              </a:ext>
            </a:extLst>
          </p:cNvPr>
          <p:cNvSpPr/>
          <p:nvPr/>
        </p:nvSpPr>
        <p:spPr>
          <a:xfrm>
            <a:off x="295745" y="40624"/>
            <a:ext cx="8722810" cy="6207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nSpc>
                <a:spcPct val="107000"/>
              </a:lnSpc>
              <a:spcBef>
                <a:spcPts val="0"/>
              </a:spcBef>
              <a:spcAft>
                <a:spcPts val="800"/>
              </a:spcAft>
              <a:tabLst>
                <a:tab pos="457200" algn="l"/>
              </a:tabLst>
            </a:pPr>
            <a:r>
              <a:rPr lang="en-US" sz="2200" b="1">
                <a:solidFill>
                  <a:schemeClr val="tx1"/>
                </a:solidFill>
                <a:effectLst/>
                <a:latin typeface="Calibri" panose="020F0502020204030204" pitchFamily="34" charset="0"/>
                <a:ea typeface="游明朝" panose="02020400000000000000" pitchFamily="18" charset="-128"/>
                <a:cs typeface="Times New Roman" panose="02020603050405020304" pitchFamily="18" charset="0"/>
              </a:rPr>
              <a:t>3. BIỂU ĐỒ TRÒN</a:t>
            </a:r>
            <a:endParaRPr lang="en-US" sz="2200">
              <a:solidFill>
                <a:schemeClr val="tx1"/>
              </a:solidFill>
              <a:effectLst/>
              <a:latin typeface="Calibri" panose="020F0502020204030204" pitchFamily="34" charset="0"/>
              <a:ea typeface="游明朝" panose="02020400000000000000" pitchFamily="18" charset="-128"/>
              <a:cs typeface="Times New Roman" panose="02020603050405020304" pitchFamily="18" charset="0"/>
            </a:endParaRPr>
          </a:p>
        </p:txBody>
      </p:sp>
      <p:sp>
        <p:nvSpPr>
          <p:cNvPr id="6" name="Freeform 34">
            <a:extLst>
              <a:ext uri="{FF2B5EF4-FFF2-40B4-BE49-F238E27FC236}">
                <a16:creationId xmlns:a16="http://schemas.microsoft.com/office/drawing/2014/main" id="{E988D51C-281C-0FC1-508D-073F501DA6DF}"/>
              </a:ext>
            </a:extLst>
          </p:cNvPr>
          <p:cNvSpPr>
            <a:spLocks noChangeAspect="1"/>
          </p:cNvSpPr>
          <p:nvPr/>
        </p:nvSpPr>
        <p:spPr bwMode="auto">
          <a:xfrm rot="10800000" flipV="1">
            <a:off x="509368" y="536909"/>
            <a:ext cx="1655684" cy="47957"/>
          </a:xfrm>
          <a:custGeom>
            <a:avLst/>
            <a:gdLst>
              <a:gd name="T0" fmla="*/ 922 w 990"/>
              <a:gd name="T1" fmla="*/ 0 h 36"/>
              <a:gd name="T2" fmla="*/ 907 w 990"/>
              <a:gd name="T3" fmla="*/ 0 h 36"/>
              <a:gd name="T4" fmla="*/ 880 w 990"/>
              <a:gd name="T5" fmla="*/ 1 h 36"/>
              <a:gd name="T6" fmla="*/ 839 w 990"/>
              <a:gd name="T7" fmla="*/ 3 h 36"/>
              <a:gd name="T8" fmla="*/ 818 w 990"/>
              <a:gd name="T9" fmla="*/ 3 h 36"/>
              <a:gd name="T10" fmla="*/ 798 w 990"/>
              <a:gd name="T11" fmla="*/ 4 h 36"/>
              <a:gd name="T12" fmla="*/ 757 w 990"/>
              <a:gd name="T13" fmla="*/ 5 h 36"/>
              <a:gd name="T14" fmla="*/ 718 w 990"/>
              <a:gd name="T15" fmla="*/ 5 h 36"/>
              <a:gd name="T16" fmla="*/ 662 w 990"/>
              <a:gd name="T17" fmla="*/ 5 h 36"/>
              <a:gd name="T18" fmla="*/ 540 w 990"/>
              <a:gd name="T19" fmla="*/ 4 h 36"/>
              <a:gd name="T20" fmla="*/ 512 w 990"/>
              <a:gd name="T21" fmla="*/ 4 h 36"/>
              <a:gd name="T22" fmla="*/ 511 w 990"/>
              <a:gd name="T23" fmla="*/ 4 h 36"/>
              <a:gd name="T24" fmla="*/ 484 w 990"/>
              <a:gd name="T25" fmla="*/ 5 h 36"/>
              <a:gd name="T26" fmla="*/ 419 w 990"/>
              <a:gd name="T27" fmla="*/ 5 h 36"/>
              <a:gd name="T28" fmla="*/ 353 w 990"/>
              <a:gd name="T29" fmla="*/ 7 h 36"/>
              <a:gd name="T30" fmla="*/ 350 w 990"/>
              <a:gd name="T31" fmla="*/ 7 h 36"/>
              <a:gd name="T32" fmla="*/ 288 w 990"/>
              <a:gd name="T33" fmla="*/ 5 h 36"/>
              <a:gd name="T34" fmla="*/ 265 w 990"/>
              <a:gd name="T35" fmla="*/ 4 h 36"/>
              <a:gd name="T36" fmla="*/ 244 w 990"/>
              <a:gd name="T37" fmla="*/ 4 h 36"/>
              <a:gd name="T38" fmla="*/ 224 w 990"/>
              <a:gd name="T39" fmla="*/ 4 h 36"/>
              <a:gd name="T40" fmla="*/ 223 w 990"/>
              <a:gd name="T41" fmla="*/ 4 h 36"/>
              <a:gd name="T42" fmla="*/ 222 w 990"/>
              <a:gd name="T43" fmla="*/ 4 h 36"/>
              <a:gd name="T44" fmla="*/ 190 w 990"/>
              <a:gd name="T45" fmla="*/ 4 h 36"/>
              <a:gd name="T46" fmla="*/ 158 w 990"/>
              <a:gd name="T47" fmla="*/ 4 h 36"/>
              <a:gd name="T48" fmla="*/ 157 w 990"/>
              <a:gd name="T49" fmla="*/ 4 h 36"/>
              <a:gd name="T50" fmla="*/ 91 w 990"/>
              <a:gd name="T51" fmla="*/ 5 h 36"/>
              <a:gd name="T52" fmla="*/ 58 w 990"/>
              <a:gd name="T53" fmla="*/ 6 h 36"/>
              <a:gd name="T54" fmla="*/ 26 w 990"/>
              <a:gd name="T55" fmla="*/ 8 h 36"/>
              <a:gd name="T56" fmla="*/ 10 w 990"/>
              <a:gd name="T57" fmla="*/ 10 h 36"/>
              <a:gd name="T58" fmla="*/ 6 w 990"/>
              <a:gd name="T59" fmla="*/ 10 h 36"/>
              <a:gd name="T60" fmla="*/ 5 w 990"/>
              <a:gd name="T61" fmla="*/ 10 h 36"/>
              <a:gd name="T62" fmla="*/ 5 w 990"/>
              <a:gd name="T63" fmla="*/ 10 h 36"/>
              <a:gd name="T64" fmla="*/ 4 w 990"/>
              <a:gd name="T65" fmla="*/ 10 h 36"/>
              <a:gd name="T66" fmla="*/ 2 w 990"/>
              <a:gd name="T67" fmla="*/ 10 h 36"/>
              <a:gd name="T68" fmla="*/ 1 w 990"/>
              <a:gd name="T69" fmla="*/ 12 h 36"/>
              <a:gd name="T70" fmla="*/ 4 w 990"/>
              <a:gd name="T71" fmla="*/ 17 h 36"/>
              <a:gd name="T72" fmla="*/ 4 w 990"/>
              <a:gd name="T73" fmla="*/ 17 h 36"/>
              <a:gd name="T74" fmla="*/ 63 w 990"/>
              <a:gd name="T75" fmla="*/ 16 h 36"/>
              <a:gd name="T76" fmla="*/ 70 w 990"/>
              <a:gd name="T77" fmla="*/ 16 h 36"/>
              <a:gd name="T78" fmla="*/ 122 w 990"/>
              <a:gd name="T79" fmla="*/ 17 h 36"/>
              <a:gd name="T80" fmla="*/ 153 w 990"/>
              <a:gd name="T81" fmla="*/ 19 h 36"/>
              <a:gd name="T82" fmla="*/ 183 w 990"/>
              <a:gd name="T83" fmla="*/ 20 h 36"/>
              <a:gd name="T84" fmla="*/ 244 w 990"/>
              <a:gd name="T85" fmla="*/ 22 h 36"/>
              <a:gd name="T86" fmla="*/ 305 w 990"/>
              <a:gd name="T87" fmla="*/ 24 h 36"/>
              <a:gd name="T88" fmla="*/ 336 w 990"/>
              <a:gd name="T89" fmla="*/ 26 h 36"/>
              <a:gd name="T90" fmla="*/ 375 w 990"/>
              <a:gd name="T91" fmla="*/ 28 h 36"/>
              <a:gd name="T92" fmla="*/ 489 w 990"/>
              <a:gd name="T93" fmla="*/ 32 h 36"/>
              <a:gd name="T94" fmla="*/ 612 w 990"/>
              <a:gd name="T95" fmla="*/ 36 h 36"/>
              <a:gd name="T96" fmla="*/ 665 w 990"/>
              <a:gd name="T97" fmla="*/ 36 h 36"/>
              <a:gd name="T98" fmla="*/ 707 w 990"/>
              <a:gd name="T99" fmla="*/ 36 h 36"/>
              <a:gd name="T100" fmla="*/ 750 w 990"/>
              <a:gd name="T101" fmla="*/ 36 h 36"/>
              <a:gd name="T102" fmla="*/ 792 w 990"/>
              <a:gd name="T103" fmla="*/ 35 h 36"/>
              <a:gd name="T104" fmla="*/ 879 w 990"/>
              <a:gd name="T105" fmla="*/ 32 h 36"/>
              <a:gd name="T106" fmla="*/ 921 w 990"/>
              <a:gd name="T107" fmla="*/ 30 h 36"/>
              <a:gd name="T108" fmla="*/ 969 w 990"/>
              <a:gd name="T109" fmla="*/ 27 h 36"/>
              <a:gd name="T110" fmla="*/ 982 w 990"/>
              <a:gd name="T111" fmla="*/ 22 h 36"/>
              <a:gd name="T112" fmla="*/ 987 w 990"/>
              <a:gd name="T113" fmla="*/ 15 h 36"/>
              <a:gd name="T114" fmla="*/ 989 w 990"/>
              <a:gd name="T115" fmla="*/ 8 h 36"/>
              <a:gd name="T116" fmla="*/ 982 w 990"/>
              <a:gd name="T117" fmla="*/ 2 h 36"/>
              <a:gd name="T118" fmla="*/ 962 w 990"/>
              <a:gd name="T119" fmla="*/ 0 h 36"/>
              <a:gd name="T120" fmla="*/ 934 w 990"/>
              <a:gd name="T121" fmla="*/ 0 h 36"/>
              <a:gd name="T122" fmla="*/ 922 w 990"/>
              <a:gd name="T1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0" h="36">
                <a:moveTo>
                  <a:pt x="922" y="0"/>
                </a:moveTo>
                <a:cubicBezTo>
                  <a:pt x="917" y="0"/>
                  <a:pt x="912" y="0"/>
                  <a:pt x="907" y="0"/>
                </a:cubicBezTo>
                <a:cubicBezTo>
                  <a:pt x="898" y="0"/>
                  <a:pt x="889" y="1"/>
                  <a:pt x="880" y="1"/>
                </a:cubicBezTo>
                <a:cubicBezTo>
                  <a:pt x="839" y="3"/>
                  <a:pt x="839" y="3"/>
                  <a:pt x="839" y="3"/>
                </a:cubicBezTo>
                <a:cubicBezTo>
                  <a:pt x="818" y="3"/>
                  <a:pt x="818" y="3"/>
                  <a:pt x="818" y="3"/>
                </a:cubicBezTo>
                <a:cubicBezTo>
                  <a:pt x="798" y="4"/>
                  <a:pt x="798" y="4"/>
                  <a:pt x="798" y="4"/>
                </a:cubicBezTo>
                <a:cubicBezTo>
                  <a:pt x="757" y="5"/>
                  <a:pt x="757" y="5"/>
                  <a:pt x="757" y="5"/>
                </a:cubicBezTo>
                <a:cubicBezTo>
                  <a:pt x="744" y="5"/>
                  <a:pt x="731" y="5"/>
                  <a:pt x="718" y="5"/>
                </a:cubicBezTo>
                <a:cubicBezTo>
                  <a:pt x="699" y="5"/>
                  <a:pt x="681" y="5"/>
                  <a:pt x="662" y="5"/>
                </a:cubicBezTo>
                <a:cubicBezTo>
                  <a:pt x="540" y="4"/>
                  <a:pt x="540" y="4"/>
                  <a:pt x="540" y="4"/>
                </a:cubicBezTo>
                <a:cubicBezTo>
                  <a:pt x="512" y="4"/>
                  <a:pt x="512" y="4"/>
                  <a:pt x="512" y="4"/>
                </a:cubicBezTo>
                <a:cubicBezTo>
                  <a:pt x="512" y="4"/>
                  <a:pt x="511" y="4"/>
                  <a:pt x="511" y="4"/>
                </a:cubicBezTo>
                <a:cubicBezTo>
                  <a:pt x="502" y="4"/>
                  <a:pt x="493" y="4"/>
                  <a:pt x="484" y="5"/>
                </a:cubicBezTo>
                <a:cubicBezTo>
                  <a:pt x="462" y="5"/>
                  <a:pt x="441" y="5"/>
                  <a:pt x="419" y="5"/>
                </a:cubicBezTo>
                <a:cubicBezTo>
                  <a:pt x="397" y="6"/>
                  <a:pt x="375" y="7"/>
                  <a:pt x="353" y="7"/>
                </a:cubicBezTo>
                <a:cubicBezTo>
                  <a:pt x="352" y="7"/>
                  <a:pt x="351" y="7"/>
                  <a:pt x="350" y="7"/>
                </a:cubicBezTo>
                <a:cubicBezTo>
                  <a:pt x="330" y="7"/>
                  <a:pt x="309" y="5"/>
                  <a:pt x="288" y="5"/>
                </a:cubicBezTo>
                <a:cubicBezTo>
                  <a:pt x="280" y="4"/>
                  <a:pt x="272" y="4"/>
                  <a:pt x="265" y="4"/>
                </a:cubicBezTo>
                <a:cubicBezTo>
                  <a:pt x="258" y="4"/>
                  <a:pt x="251" y="4"/>
                  <a:pt x="244" y="4"/>
                </a:cubicBezTo>
                <a:cubicBezTo>
                  <a:pt x="237" y="4"/>
                  <a:pt x="230" y="4"/>
                  <a:pt x="224" y="4"/>
                </a:cubicBezTo>
                <a:cubicBezTo>
                  <a:pt x="223" y="4"/>
                  <a:pt x="223" y="4"/>
                  <a:pt x="223" y="4"/>
                </a:cubicBezTo>
                <a:cubicBezTo>
                  <a:pt x="223" y="4"/>
                  <a:pt x="222" y="4"/>
                  <a:pt x="222" y="4"/>
                </a:cubicBezTo>
                <a:cubicBezTo>
                  <a:pt x="212" y="4"/>
                  <a:pt x="201" y="4"/>
                  <a:pt x="190" y="4"/>
                </a:cubicBezTo>
                <a:cubicBezTo>
                  <a:pt x="180" y="4"/>
                  <a:pt x="169" y="4"/>
                  <a:pt x="158" y="4"/>
                </a:cubicBezTo>
                <a:cubicBezTo>
                  <a:pt x="158" y="4"/>
                  <a:pt x="157" y="4"/>
                  <a:pt x="157" y="4"/>
                </a:cubicBezTo>
                <a:cubicBezTo>
                  <a:pt x="135" y="4"/>
                  <a:pt x="113" y="4"/>
                  <a:pt x="91" y="5"/>
                </a:cubicBezTo>
                <a:cubicBezTo>
                  <a:pt x="80" y="5"/>
                  <a:pt x="69" y="6"/>
                  <a:pt x="58" y="6"/>
                </a:cubicBezTo>
                <a:cubicBezTo>
                  <a:pt x="48" y="6"/>
                  <a:pt x="37" y="7"/>
                  <a:pt x="26" y="8"/>
                </a:cubicBezTo>
                <a:cubicBezTo>
                  <a:pt x="10" y="10"/>
                  <a:pt x="10" y="10"/>
                  <a:pt x="10" y="10"/>
                </a:cubicBezTo>
                <a:cubicBezTo>
                  <a:pt x="6" y="10"/>
                  <a:pt x="6" y="10"/>
                  <a:pt x="6" y="10"/>
                </a:cubicBezTo>
                <a:cubicBezTo>
                  <a:pt x="6" y="10"/>
                  <a:pt x="5" y="10"/>
                  <a:pt x="5" y="10"/>
                </a:cubicBezTo>
                <a:cubicBezTo>
                  <a:pt x="5" y="10"/>
                  <a:pt x="5" y="10"/>
                  <a:pt x="5" y="10"/>
                </a:cubicBezTo>
                <a:cubicBezTo>
                  <a:pt x="4" y="10"/>
                  <a:pt x="4" y="10"/>
                  <a:pt x="4" y="10"/>
                </a:cubicBezTo>
                <a:cubicBezTo>
                  <a:pt x="3" y="10"/>
                  <a:pt x="2" y="10"/>
                  <a:pt x="2" y="10"/>
                </a:cubicBezTo>
                <a:cubicBezTo>
                  <a:pt x="1" y="10"/>
                  <a:pt x="1" y="11"/>
                  <a:pt x="1" y="12"/>
                </a:cubicBezTo>
                <a:cubicBezTo>
                  <a:pt x="0" y="15"/>
                  <a:pt x="2" y="17"/>
                  <a:pt x="4" y="17"/>
                </a:cubicBezTo>
                <a:cubicBezTo>
                  <a:pt x="4" y="17"/>
                  <a:pt x="4" y="17"/>
                  <a:pt x="4" y="17"/>
                </a:cubicBezTo>
                <a:cubicBezTo>
                  <a:pt x="24" y="17"/>
                  <a:pt x="43" y="16"/>
                  <a:pt x="63" y="16"/>
                </a:cubicBezTo>
                <a:cubicBezTo>
                  <a:pt x="65" y="16"/>
                  <a:pt x="67" y="16"/>
                  <a:pt x="70" y="16"/>
                </a:cubicBezTo>
                <a:cubicBezTo>
                  <a:pt x="87" y="16"/>
                  <a:pt x="105" y="16"/>
                  <a:pt x="122" y="17"/>
                </a:cubicBezTo>
                <a:cubicBezTo>
                  <a:pt x="133" y="18"/>
                  <a:pt x="143" y="19"/>
                  <a:pt x="153" y="19"/>
                </a:cubicBezTo>
                <a:cubicBezTo>
                  <a:pt x="183" y="20"/>
                  <a:pt x="183" y="20"/>
                  <a:pt x="183" y="20"/>
                </a:cubicBezTo>
                <a:cubicBezTo>
                  <a:pt x="203" y="20"/>
                  <a:pt x="224" y="21"/>
                  <a:pt x="244" y="22"/>
                </a:cubicBezTo>
                <a:cubicBezTo>
                  <a:pt x="265" y="22"/>
                  <a:pt x="285" y="23"/>
                  <a:pt x="305" y="24"/>
                </a:cubicBezTo>
                <a:cubicBezTo>
                  <a:pt x="336" y="26"/>
                  <a:pt x="336" y="26"/>
                  <a:pt x="336" y="26"/>
                </a:cubicBezTo>
                <a:cubicBezTo>
                  <a:pt x="346" y="26"/>
                  <a:pt x="361" y="28"/>
                  <a:pt x="375" y="28"/>
                </a:cubicBezTo>
                <a:cubicBezTo>
                  <a:pt x="416" y="31"/>
                  <a:pt x="448" y="31"/>
                  <a:pt x="489" y="32"/>
                </a:cubicBezTo>
                <a:cubicBezTo>
                  <a:pt x="530" y="34"/>
                  <a:pt x="571" y="35"/>
                  <a:pt x="612" y="36"/>
                </a:cubicBezTo>
                <a:cubicBezTo>
                  <a:pt x="629" y="36"/>
                  <a:pt x="647" y="36"/>
                  <a:pt x="665" y="36"/>
                </a:cubicBezTo>
                <a:cubicBezTo>
                  <a:pt x="679" y="36"/>
                  <a:pt x="693" y="36"/>
                  <a:pt x="707" y="36"/>
                </a:cubicBezTo>
                <a:cubicBezTo>
                  <a:pt x="750" y="36"/>
                  <a:pt x="750" y="36"/>
                  <a:pt x="750" y="36"/>
                </a:cubicBezTo>
                <a:cubicBezTo>
                  <a:pt x="792" y="35"/>
                  <a:pt x="792" y="35"/>
                  <a:pt x="792" y="35"/>
                </a:cubicBezTo>
                <a:cubicBezTo>
                  <a:pt x="821" y="34"/>
                  <a:pt x="850" y="33"/>
                  <a:pt x="879" y="32"/>
                </a:cubicBezTo>
                <a:cubicBezTo>
                  <a:pt x="921" y="30"/>
                  <a:pt x="921" y="30"/>
                  <a:pt x="921" y="30"/>
                </a:cubicBezTo>
                <a:cubicBezTo>
                  <a:pt x="937" y="30"/>
                  <a:pt x="953" y="29"/>
                  <a:pt x="969" y="27"/>
                </a:cubicBezTo>
                <a:cubicBezTo>
                  <a:pt x="973" y="26"/>
                  <a:pt x="979" y="25"/>
                  <a:pt x="982" y="22"/>
                </a:cubicBezTo>
                <a:cubicBezTo>
                  <a:pt x="984" y="20"/>
                  <a:pt x="986" y="17"/>
                  <a:pt x="987" y="15"/>
                </a:cubicBezTo>
                <a:cubicBezTo>
                  <a:pt x="989" y="13"/>
                  <a:pt x="990" y="10"/>
                  <a:pt x="989" y="8"/>
                </a:cubicBezTo>
                <a:cubicBezTo>
                  <a:pt x="988" y="4"/>
                  <a:pt x="985" y="3"/>
                  <a:pt x="982" y="2"/>
                </a:cubicBezTo>
                <a:cubicBezTo>
                  <a:pt x="975" y="0"/>
                  <a:pt x="968" y="0"/>
                  <a:pt x="962" y="0"/>
                </a:cubicBezTo>
                <a:cubicBezTo>
                  <a:pt x="934" y="0"/>
                  <a:pt x="934" y="0"/>
                  <a:pt x="934" y="0"/>
                </a:cubicBezTo>
                <a:cubicBezTo>
                  <a:pt x="930" y="0"/>
                  <a:pt x="926" y="0"/>
                  <a:pt x="922" y="0"/>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2" name="Content Placeholder 2">
            <a:extLst>
              <a:ext uri="{FF2B5EF4-FFF2-40B4-BE49-F238E27FC236}">
                <a16:creationId xmlns:a16="http://schemas.microsoft.com/office/drawing/2014/main" id="{8A378710-0B40-86B5-B2C6-AF290BD75FB3}"/>
              </a:ext>
            </a:extLst>
          </p:cNvPr>
          <p:cNvSpPr txBox="1">
            <a:spLocks/>
          </p:cNvSpPr>
          <p:nvPr/>
        </p:nvSpPr>
        <p:spPr>
          <a:xfrm>
            <a:off x="401032" y="716399"/>
            <a:ext cx="8510739" cy="1226941"/>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1600" b="1">
                <a:latin typeface="Calibri" panose="020F0502020204030204" pitchFamily="34" charset="0"/>
                <a:cs typeface="Calibri" panose="020F0502020204030204" pitchFamily="34" charset="0"/>
              </a:rPr>
              <a:t>c.</a:t>
            </a:r>
            <a:r>
              <a:rPr lang="en-US" sz="1600">
                <a:latin typeface="Calibri" panose="020F0502020204030204" pitchFamily="34" charset="0"/>
                <a:cs typeface="Calibri" panose="020F0502020204030204" pitchFamily="34" charset="0"/>
              </a:rPr>
              <a:t> </a:t>
            </a:r>
            <a:r>
              <a:rPr lang="en-US" sz="1600" b="1">
                <a:latin typeface="Calibri" panose="020F0502020204030204" pitchFamily="34" charset="0"/>
                <a:cs typeface="Calibri" panose="020F0502020204030204" pitchFamily="34" charset="0"/>
              </a:rPr>
              <a:t>Lỗi cần tránh</a:t>
            </a:r>
          </a:p>
        </p:txBody>
      </p:sp>
      <p:pic>
        <p:nvPicPr>
          <p:cNvPr id="9" name="Picture 8">
            <a:extLst>
              <a:ext uri="{FF2B5EF4-FFF2-40B4-BE49-F238E27FC236}">
                <a16:creationId xmlns:a16="http://schemas.microsoft.com/office/drawing/2014/main" id="{C07EC475-6A52-583B-BF81-7F7A89C2C2EB}"/>
              </a:ext>
            </a:extLst>
          </p:cNvPr>
          <p:cNvPicPr>
            <a:picLocks noChangeAspect="1"/>
          </p:cNvPicPr>
          <p:nvPr/>
        </p:nvPicPr>
        <p:blipFill>
          <a:blip r:embed="rId3"/>
          <a:stretch>
            <a:fillRect/>
          </a:stretch>
        </p:blipFill>
        <p:spPr>
          <a:xfrm>
            <a:off x="232228" y="2413777"/>
            <a:ext cx="4245905" cy="2155241"/>
          </a:xfrm>
          <a:prstGeom prst="rect">
            <a:avLst/>
          </a:prstGeom>
        </p:spPr>
      </p:pic>
      <p:pic>
        <p:nvPicPr>
          <p:cNvPr id="11" name="Picture 10">
            <a:extLst>
              <a:ext uri="{FF2B5EF4-FFF2-40B4-BE49-F238E27FC236}">
                <a16:creationId xmlns:a16="http://schemas.microsoft.com/office/drawing/2014/main" id="{9E39A62A-6BBA-DE64-2CD6-4053920A1225}"/>
              </a:ext>
            </a:extLst>
          </p:cNvPr>
          <p:cNvPicPr>
            <a:picLocks noChangeAspect="1"/>
          </p:cNvPicPr>
          <p:nvPr/>
        </p:nvPicPr>
        <p:blipFill>
          <a:blip r:embed="rId4"/>
          <a:stretch>
            <a:fillRect/>
          </a:stretch>
        </p:blipFill>
        <p:spPr>
          <a:xfrm>
            <a:off x="5280676" y="2413778"/>
            <a:ext cx="3631095" cy="2049452"/>
          </a:xfrm>
          <a:prstGeom prst="rect">
            <a:avLst/>
          </a:prstGeom>
        </p:spPr>
      </p:pic>
      <p:sp>
        <p:nvSpPr>
          <p:cNvPr id="15" name="Rectangle 14">
            <a:extLst>
              <a:ext uri="{FF2B5EF4-FFF2-40B4-BE49-F238E27FC236}">
                <a16:creationId xmlns:a16="http://schemas.microsoft.com/office/drawing/2014/main" id="{1E08D1DA-5820-9944-7266-2218896EEDC9}"/>
              </a:ext>
            </a:extLst>
          </p:cNvPr>
          <p:cNvSpPr/>
          <p:nvPr/>
        </p:nvSpPr>
        <p:spPr>
          <a:xfrm>
            <a:off x="2508124" y="1465857"/>
            <a:ext cx="1868557" cy="823125"/>
          </a:xfrm>
          <a:prstGeom prst="rect">
            <a:avLst/>
          </a:prstGeom>
          <a:solidFill>
            <a:srgbClr val="00B050"/>
          </a:solid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bg1"/>
                </a:solidFill>
                <a:latin typeface="Calibri" panose="020F0502020204030204" pitchFamily="34" charset="0"/>
                <a:cs typeface="Calibri" panose="020F0502020204030204" pitchFamily="34" charset="0"/>
              </a:rPr>
              <a:t>Chỉ nên sử dụng từ 2-6 thành phần</a:t>
            </a:r>
            <a:endParaRPr lang="en-US" sz="1600">
              <a:solidFill>
                <a:schemeClr val="bg1"/>
              </a:solidFill>
            </a:endParaRPr>
          </a:p>
        </p:txBody>
      </p:sp>
      <p:sp>
        <p:nvSpPr>
          <p:cNvPr id="16" name="Rectangle 15">
            <a:extLst>
              <a:ext uri="{FF2B5EF4-FFF2-40B4-BE49-F238E27FC236}">
                <a16:creationId xmlns:a16="http://schemas.microsoft.com/office/drawing/2014/main" id="{CED86361-A7A3-3B4A-6FE5-46C0A190AC4C}"/>
              </a:ext>
            </a:extLst>
          </p:cNvPr>
          <p:cNvSpPr/>
          <p:nvPr/>
        </p:nvSpPr>
        <p:spPr>
          <a:xfrm>
            <a:off x="198781" y="1484243"/>
            <a:ext cx="1868557" cy="804738"/>
          </a:xfrm>
          <a:prstGeom prst="rect">
            <a:avLst/>
          </a:prstGeom>
          <a:solidFill>
            <a:srgbClr val="FF0000"/>
          </a:solid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bg1"/>
                </a:solidFill>
                <a:latin typeface="Calibri" panose="020F0502020204030204" pitchFamily="34" charset="0"/>
                <a:cs typeface="Calibri" panose="020F0502020204030204" pitchFamily="34" charset="0"/>
              </a:rPr>
              <a:t>Quá nhiều thành phần trong biểu đồ tròn</a:t>
            </a:r>
          </a:p>
        </p:txBody>
      </p:sp>
      <p:sp>
        <p:nvSpPr>
          <p:cNvPr id="17" name="Rectangle 16">
            <a:extLst>
              <a:ext uri="{FF2B5EF4-FFF2-40B4-BE49-F238E27FC236}">
                <a16:creationId xmlns:a16="http://schemas.microsoft.com/office/drawing/2014/main" id="{4214962E-018D-E8FA-FFAB-2C7690030DAE}"/>
              </a:ext>
            </a:extLst>
          </p:cNvPr>
          <p:cNvSpPr/>
          <p:nvPr/>
        </p:nvSpPr>
        <p:spPr>
          <a:xfrm>
            <a:off x="7182680" y="1465857"/>
            <a:ext cx="1868557" cy="823125"/>
          </a:xfrm>
          <a:prstGeom prst="rect">
            <a:avLst/>
          </a:prstGeom>
          <a:solidFill>
            <a:srgbClr val="00B050"/>
          </a:solid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bg1"/>
                </a:solidFill>
                <a:latin typeface="Calibri" panose="020F0502020204030204" pitchFamily="34" charset="0"/>
                <a:cs typeface="Calibri" panose="020F0502020204030204" pitchFamily="34" charset="0"/>
              </a:rPr>
              <a:t>Chọn màu sắc tương phản làm nổi bật ý nghĩa biểu đồ</a:t>
            </a:r>
            <a:endParaRPr lang="en-US" sz="1600">
              <a:solidFill>
                <a:schemeClr val="bg1"/>
              </a:solidFill>
            </a:endParaRPr>
          </a:p>
        </p:txBody>
      </p:sp>
      <p:sp>
        <p:nvSpPr>
          <p:cNvPr id="18" name="Rectangle 17">
            <a:extLst>
              <a:ext uri="{FF2B5EF4-FFF2-40B4-BE49-F238E27FC236}">
                <a16:creationId xmlns:a16="http://schemas.microsoft.com/office/drawing/2014/main" id="{B6FEFE62-E674-2F0F-5871-629A691C4B89}"/>
              </a:ext>
            </a:extLst>
          </p:cNvPr>
          <p:cNvSpPr/>
          <p:nvPr/>
        </p:nvSpPr>
        <p:spPr>
          <a:xfrm>
            <a:off x="5032361" y="1484243"/>
            <a:ext cx="1868557" cy="804738"/>
          </a:xfrm>
          <a:prstGeom prst="rect">
            <a:avLst/>
          </a:prstGeom>
          <a:solidFill>
            <a:srgbClr val="FF0000"/>
          </a:solid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bg1"/>
                </a:solidFill>
                <a:latin typeface="Calibri" panose="020F0502020204030204" pitchFamily="34" charset="0"/>
                <a:cs typeface="Calibri" panose="020F0502020204030204" pitchFamily="34" charset="0"/>
              </a:rPr>
              <a:t>Các thành phần có màu giống nhau, khó quan sát</a:t>
            </a:r>
          </a:p>
        </p:txBody>
      </p:sp>
    </p:spTree>
    <p:extLst>
      <p:ext uri="{BB962C8B-B14F-4D97-AF65-F5344CB8AC3E}">
        <p14:creationId xmlns:p14="http://schemas.microsoft.com/office/powerpoint/2010/main" val="20599931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4"/>
          </p:nvPr>
        </p:nvSpPr>
        <p:spPr>
          <a:prstGeom prst="rect">
            <a:avLst/>
          </a:prstGeom>
        </p:spPr>
        <p:txBody>
          <a:bodyPr vert="horz" lIns="0" tIns="0" rIns="0" bIns="0" rtlCol="0" anchor="ctr" anchorCtr="0"/>
          <a:lstStyle>
            <a:lvl1pPr algn="r">
              <a:defRPr sz="1800">
                <a:solidFill>
                  <a:schemeClr val="tx1"/>
                </a:solidFill>
              </a:defRPr>
            </a:lvl1pPr>
          </a:lstStyle>
          <a:p>
            <a:fld id="{A3381702-59A5-4643-AE93-D7BF7F78153B}" type="slidenum">
              <a:rPr lang="en-GB" smtClean="0"/>
              <a:pPr/>
              <a:t>24</a:t>
            </a:fld>
            <a:endParaRPr lang="en-GB" dirty="0"/>
          </a:p>
        </p:txBody>
      </p:sp>
      <p:sp>
        <p:nvSpPr>
          <p:cNvPr id="8" name="Footer Placeholder 4"/>
          <p:cNvSpPr>
            <a:spLocks noGrp="1"/>
          </p:cNvSpPr>
          <p:nvPr>
            <p:ph type="ftr" sz="quarter" idx="3"/>
          </p:nvPr>
        </p:nvSpPr>
        <p:spPr>
          <a:prstGeom prst="rect">
            <a:avLst/>
          </a:prstGeom>
        </p:spPr>
        <p:txBody>
          <a:bodyPr vert="horz" lIns="0" tIns="0" rIns="0" bIns="0" rtlCol="0" anchor="t" anchorCtr="0"/>
          <a:lstStyle>
            <a:lvl1pPr algn="r">
              <a:defRPr sz="700">
                <a:solidFill>
                  <a:schemeClr val="tx1"/>
                </a:solidFill>
                <a:latin typeface="+mn-lt"/>
              </a:defRPr>
            </a:lvl1pPr>
          </a:lstStyle>
          <a:p>
            <a:r>
              <a:rPr lang="fr-FR" altLang="ja-JP" dirty="0"/>
              <a:t>©20</a:t>
            </a:r>
            <a:r>
              <a:rPr lang="en-US" altLang="ja-JP" dirty="0"/>
              <a:t>23</a:t>
            </a:r>
            <a:r>
              <a:rPr lang="fr-FR" altLang="ja-JP" dirty="0"/>
              <a:t> KYOCERA Document Solutions Inc.</a:t>
            </a:r>
            <a:endParaRPr lang="en-GB" dirty="0"/>
          </a:p>
        </p:txBody>
      </p:sp>
      <p:sp>
        <p:nvSpPr>
          <p:cNvPr id="4" name="Rectangle 3">
            <a:extLst>
              <a:ext uri="{FF2B5EF4-FFF2-40B4-BE49-F238E27FC236}">
                <a16:creationId xmlns:a16="http://schemas.microsoft.com/office/drawing/2014/main" id="{0BAEFD46-8DC5-BB64-F040-FD68EE6A7C2D}"/>
              </a:ext>
            </a:extLst>
          </p:cNvPr>
          <p:cNvSpPr/>
          <p:nvPr/>
        </p:nvSpPr>
        <p:spPr>
          <a:xfrm>
            <a:off x="295745" y="40624"/>
            <a:ext cx="8722810" cy="6207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nSpc>
                <a:spcPct val="107000"/>
              </a:lnSpc>
              <a:spcBef>
                <a:spcPts val="0"/>
              </a:spcBef>
              <a:spcAft>
                <a:spcPts val="800"/>
              </a:spcAft>
              <a:tabLst>
                <a:tab pos="457200" algn="l"/>
              </a:tabLst>
            </a:pPr>
            <a:r>
              <a:rPr lang="en-US" sz="2200" b="1">
                <a:solidFill>
                  <a:schemeClr val="tx1"/>
                </a:solidFill>
                <a:latin typeface="Calibri" panose="020F0502020204030204" pitchFamily="34" charset="0"/>
                <a:ea typeface="游明朝" panose="02020400000000000000" pitchFamily="18" charset="-128"/>
                <a:cs typeface="Times New Roman" panose="02020603050405020304" pitchFamily="18" charset="0"/>
              </a:rPr>
              <a:t>4</a:t>
            </a:r>
            <a:r>
              <a:rPr lang="en-US" sz="2200" b="1">
                <a:solidFill>
                  <a:schemeClr val="tx1"/>
                </a:solidFill>
                <a:effectLst/>
                <a:latin typeface="Calibri" panose="020F0502020204030204" pitchFamily="34" charset="0"/>
                <a:ea typeface="游明朝" panose="02020400000000000000" pitchFamily="18" charset="-128"/>
                <a:cs typeface="Times New Roman" panose="02020603050405020304" pitchFamily="18" charset="0"/>
              </a:rPr>
              <a:t>. BIỂU ĐỒ KẾT HỢP</a:t>
            </a:r>
            <a:endParaRPr lang="en-US" sz="2200">
              <a:solidFill>
                <a:schemeClr val="tx1"/>
              </a:solidFill>
              <a:effectLst/>
              <a:latin typeface="Calibri" panose="020F0502020204030204" pitchFamily="34" charset="0"/>
              <a:ea typeface="游明朝" panose="02020400000000000000" pitchFamily="18" charset="-128"/>
              <a:cs typeface="Times New Roman" panose="02020603050405020304" pitchFamily="18" charset="0"/>
            </a:endParaRPr>
          </a:p>
        </p:txBody>
      </p:sp>
      <p:sp>
        <p:nvSpPr>
          <p:cNvPr id="6" name="Freeform 34">
            <a:extLst>
              <a:ext uri="{FF2B5EF4-FFF2-40B4-BE49-F238E27FC236}">
                <a16:creationId xmlns:a16="http://schemas.microsoft.com/office/drawing/2014/main" id="{E988D51C-281C-0FC1-508D-073F501DA6DF}"/>
              </a:ext>
            </a:extLst>
          </p:cNvPr>
          <p:cNvSpPr>
            <a:spLocks noChangeAspect="1"/>
          </p:cNvSpPr>
          <p:nvPr/>
        </p:nvSpPr>
        <p:spPr bwMode="auto">
          <a:xfrm rot="10800000" flipV="1">
            <a:off x="470646" y="530743"/>
            <a:ext cx="2081464" cy="60288"/>
          </a:xfrm>
          <a:custGeom>
            <a:avLst/>
            <a:gdLst>
              <a:gd name="T0" fmla="*/ 922 w 990"/>
              <a:gd name="T1" fmla="*/ 0 h 36"/>
              <a:gd name="T2" fmla="*/ 907 w 990"/>
              <a:gd name="T3" fmla="*/ 0 h 36"/>
              <a:gd name="T4" fmla="*/ 880 w 990"/>
              <a:gd name="T5" fmla="*/ 1 h 36"/>
              <a:gd name="T6" fmla="*/ 839 w 990"/>
              <a:gd name="T7" fmla="*/ 3 h 36"/>
              <a:gd name="T8" fmla="*/ 818 w 990"/>
              <a:gd name="T9" fmla="*/ 3 h 36"/>
              <a:gd name="T10" fmla="*/ 798 w 990"/>
              <a:gd name="T11" fmla="*/ 4 h 36"/>
              <a:gd name="T12" fmla="*/ 757 w 990"/>
              <a:gd name="T13" fmla="*/ 5 h 36"/>
              <a:gd name="T14" fmla="*/ 718 w 990"/>
              <a:gd name="T15" fmla="*/ 5 h 36"/>
              <a:gd name="T16" fmla="*/ 662 w 990"/>
              <a:gd name="T17" fmla="*/ 5 h 36"/>
              <a:gd name="T18" fmla="*/ 540 w 990"/>
              <a:gd name="T19" fmla="*/ 4 h 36"/>
              <a:gd name="T20" fmla="*/ 512 w 990"/>
              <a:gd name="T21" fmla="*/ 4 h 36"/>
              <a:gd name="T22" fmla="*/ 511 w 990"/>
              <a:gd name="T23" fmla="*/ 4 h 36"/>
              <a:gd name="T24" fmla="*/ 484 w 990"/>
              <a:gd name="T25" fmla="*/ 5 h 36"/>
              <a:gd name="T26" fmla="*/ 419 w 990"/>
              <a:gd name="T27" fmla="*/ 5 h 36"/>
              <a:gd name="T28" fmla="*/ 353 w 990"/>
              <a:gd name="T29" fmla="*/ 7 h 36"/>
              <a:gd name="T30" fmla="*/ 350 w 990"/>
              <a:gd name="T31" fmla="*/ 7 h 36"/>
              <a:gd name="T32" fmla="*/ 288 w 990"/>
              <a:gd name="T33" fmla="*/ 5 h 36"/>
              <a:gd name="T34" fmla="*/ 265 w 990"/>
              <a:gd name="T35" fmla="*/ 4 h 36"/>
              <a:gd name="T36" fmla="*/ 244 w 990"/>
              <a:gd name="T37" fmla="*/ 4 h 36"/>
              <a:gd name="T38" fmla="*/ 224 w 990"/>
              <a:gd name="T39" fmla="*/ 4 h 36"/>
              <a:gd name="T40" fmla="*/ 223 w 990"/>
              <a:gd name="T41" fmla="*/ 4 h 36"/>
              <a:gd name="T42" fmla="*/ 222 w 990"/>
              <a:gd name="T43" fmla="*/ 4 h 36"/>
              <a:gd name="T44" fmla="*/ 190 w 990"/>
              <a:gd name="T45" fmla="*/ 4 h 36"/>
              <a:gd name="T46" fmla="*/ 158 w 990"/>
              <a:gd name="T47" fmla="*/ 4 h 36"/>
              <a:gd name="T48" fmla="*/ 157 w 990"/>
              <a:gd name="T49" fmla="*/ 4 h 36"/>
              <a:gd name="T50" fmla="*/ 91 w 990"/>
              <a:gd name="T51" fmla="*/ 5 h 36"/>
              <a:gd name="T52" fmla="*/ 58 w 990"/>
              <a:gd name="T53" fmla="*/ 6 h 36"/>
              <a:gd name="T54" fmla="*/ 26 w 990"/>
              <a:gd name="T55" fmla="*/ 8 h 36"/>
              <a:gd name="T56" fmla="*/ 10 w 990"/>
              <a:gd name="T57" fmla="*/ 10 h 36"/>
              <a:gd name="T58" fmla="*/ 6 w 990"/>
              <a:gd name="T59" fmla="*/ 10 h 36"/>
              <a:gd name="T60" fmla="*/ 5 w 990"/>
              <a:gd name="T61" fmla="*/ 10 h 36"/>
              <a:gd name="T62" fmla="*/ 5 w 990"/>
              <a:gd name="T63" fmla="*/ 10 h 36"/>
              <a:gd name="T64" fmla="*/ 4 w 990"/>
              <a:gd name="T65" fmla="*/ 10 h 36"/>
              <a:gd name="T66" fmla="*/ 2 w 990"/>
              <a:gd name="T67" fmla="*/ 10 h 36"/>
              <a:gd name="T68" fmla="*/ 1 w 990"/>
              <a:gd name="T69" fmla="*/ 12 h 36"/>
              <a:gd name="T70" fmla="*/ 4 w 990"/>
              <a:gd name="T71" fmla="*/ 17 h 36"/>
              <a:gd name="T72" fmla="*/ 4 w 990"/>
              <a:gd name="T73" fmla="*/ 17 h 36"/>
              <a:gd name="T74" fmla="*/ 63 w 990"/>
              <a:gd name="T75" fmla="*/ 16 h 36"/>
              <a:gd name="T76" fmla="*/ 70 w 990"/>
              <a:gd name="T77" fmla="*/ 16 h 36"/>
              <a:gd name="T78" fmla="*/ 122 w 990"/>
              <a:gd name="T79" fmla="*/ 17 h 36"/>
              <a:gd name="T80" fmla="*/ 153 w 990"/>
              <a:gd name="T81" fmla="*/ 19 h 36"/>
              <a:gd name="T82" fmla="*/ 183 w 990"/>
              <a:gd name="T83" fmla="*/ 20 h 36"/>
              <a:gd name="T84" fmla="*/ 244 w 990"/>
              <a:gd name="T85" fmla="*/ 22 h 36"/>
              <a:gd name="T86" fmla="*/ 305 w 990"/>
              <a:gd name="T87" fmla="*/ 24 h 36"/>
              <a:gd name="T88" fmla="*/ 336 w 990"/>
              <a:gd name="T89" fmla="*/ 26 h 36"/>
              <a:gd name="T90" fmla="*/ 375 w 990"/>
              <a:gd name="T91" fmla="*/ 28 h 36"/>
              <a:gd name="T92" fmla="*/ 489 w 990"/>
              <a:gd name="T93" fmla="*/ 32 h 36"/>
              <a:gd name="T94" fmla="*/ 612 w 990"/>
              <a:gd name="T95" fmla="*/ 36 h 36"/>
              <a:gd name="T96" fmla="*/ 665 w 990"/>
              <a:gd name="T97" fmla="*/ 36 h 36"/>
              <a:gd name="T98" fmla="*/ 707 w 990"/>
              <a:gd name="T99" fmla="*/ 36 h 36"/>
              <a:gd name="T100" fmla="*/ 750 w 990"/>
              <a:gd name="T101" fmla="*/ 36 h 36"/>
              <a:gd name="T102" fmla="*/ 792 w 990"/>
              <a:gd name="T103" fmla="*/ 35 h 36"/>
              <a:gd name="T104" fmla="*/ 879 w 990"/>
              <a:gd name="T105" fmla="*/ 32 h 36"/>
              <a:gd name="T106" fmla="*/ 921 w 990"/>
              <a:gd name="T107" fmla="*/ 30 h 36"/>
              <a:gd name="T108" fmla="*/ 969 w 990"/>
              <a:gd name="T109" fmla="*/ 27 h 36"/>
              <a:gd name="T110" fmla="*/ 982 w 990"/>
              <a:gd name="T111" fmla="*/ 22 h 36"/>
              <a:gd name="T112" fmla="*/ 987 w 990"/>
              <a:gd name="T113" fmla="*/ 15 h 36"/>
              <a:gd name="T114" fmla="*/ 989 w 990"/>
              <a:gd name="T115" fmla="*/ 8 h 36"/>
              <a:gd name="T116" fmla="*/ 982 w 990"/>
              <a:gd name="T117" fmla="*/ 2 h 36"/>
              <a:gd name="T118" fmla="*/ 962 w 990"/>
              <a:gd name="T119" fmla="*/ 0 h 36"/>
              <a:gd name="T120" fmla="*/ 934 w 990"/>
              <a:gd name="T121" fmla="*/ 0 h 36"/>
              <a:gd name="T122" fmla="*/ 922 w 990"/>
              <a:gd name="T1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0" h="36">
                <a:moveTo>
                  <a:pt x="922" y="0"/>
                </a:moveTo>
                <a:cubicBezTo>
                  <a:pt x="917" y="0"/>
                  <a:pt x="912" y="0"/>
                  <a:pt x="907" y="0"/>
                </a:cubicBezTo>
                <a:cubicBezTo>
                  <a:pt x="898" y="0"/>
                  <a:pt x="889" y="1"/>
                  <a:pt x="880" y="1"/>
                </a:cubicBezTo>
                <a:cubicBezTo>
                  <a:pt x="839" y="3"/>
                  <a:pt x="839" y="3"/>
                  <a:pt x="839" y="3"/>
                </a:cubicBezTo>
                <a:cubicBezTo>
                  <a:pt x="818" y="3"/>
                  <a:pt x="818" y="3"/>
                  <a:pt x="818" y="3"/>
                </a:cubicBezTo>
                <a:cubicBezTo>
                  <a:pt x="798" y="4"/>
                  <a:pt x="798" y="4"/>
                  <a:pt x="798" y="4"/>
                </a:cubicBezTo>
                <a:cubicBezTo>
                  <a:pt x="757" y="5"/>
                  <a:pt x="757" y="5"/>
                  <a:pt x="757" y="5"/>
                </a:cubicBezTo>
                <a:cubicBezTo>
                  <a:pt x="744" y="5"/>
                  <a:pt x="731" y="5"/>
                  <a:pt x="718" y="5"/>
                </a:cubicBezTo>
                <a:cubicBezTo>
                  <a:pt x="699" y="5"/>
                  <a:pt x="681" y="5"/>
                  <a:pt x="662" y="5"/>
                </a:cubicBezTo>
                <a:cubicBezTo>
                  <a:pt x="540" y="4"/>
                  <a:pt x="540" y="4"/>
                  <a:pt x="540" y="4"/>
                </a:cubicBezTo>
                <a:cubicBezTo>
                  <a:pt x="512" y="4"/>
                  <a:pt x="512" y="4"/>
                  <a:pt x="512" y="4"/>
                </a:cubicBezTo>
                <a:cubicBezTo>
                  <a:pt x="512" y="4"/>
                  <a:pt x="511" y="4"/>
                  <a:pt x="511" y="4"/>
                </a:cubicBezTo>
                <a:cubicBezTo>
                  <a:pt x="502" y="4"/>
                  <a:pt x="493" y="4"/>
                  <a:pt x="484" y="5"/>
                </a:cubicBezTo>
                <a:cubicBezTo>
                  <a:pt x="462" y="5"/>
                  <a:pt x="441" y="5"/>
                  <a:pt x="419" y="5"/>
                </a:cubicBezTo>
                <a:cubicBezTo>
                  <a:pt x="397" y="6"/>
                  <a:pt x="375" y="7"/>
                  <a:pt x="353" y="7"/>
                </a:cubicBezTo>
                <a:cubicBezTo>
                  <a:pt x="352" y="7"/>
                  <a:pt x="351" y="7"/>
                  <a:pt x="350" y="7"/>
                </a:cubicBezTo>
                <a:cubicBezTo>
                  <a:pt x="330" y="7"/>
                  <a:pt x="309" y="5"/>
                  <a:pt x="288" y="5"/>
                </a:cubicBezTo>
                <a:cubicBezTo>
                  <a:pt x="280" y="4"/>
                  <a:pt x="272" y="4"/>
                  <a:pt x="265" y="4"/>
                </a:cubicBezTo>
                <a:cubicBezTo>
                  <a:pt x="258" y="4"/>
                  <a:pt x="251" y="4"/>
                  <a:pt x="244" y="4"/>
                </a:cubicBezTo>
                <a:cubicBezTo>
                  <a:pt x="237" y="4"/>
                  <a:pt x="230" y="4"/>
                  <a:pt x="224" y="4"/>
                </a:cubicBezTo>
                <a:cubicBezTo>
                  <a:pt x="223" y="4"/>
                  <a:pt x="223" y="4"/>
                  <a:pt x="223" y="4"/>
                </a:cubicBezTo>
                <a:cubicBezTo>
                  <a:pt x="223" y="4"/>
                  <a:pt x="222" y="4"/>
                  <a:pt x="222" y="4"/>
                </a:cubicBezTo>
                <a:cubicBezTo>
                  <a:pt x="212" y="4"/>
                  <a:pt x="201" y="4"/>
                  <a:pt x="190" y="4"/>
                </a:cubicBezTo>
                <a:cubicBezTo>
                  <a:pt x="180" y="4"/>
                  <a:pt x="169" y="4"/>
                  <a:pt x="158" y="4"/>
                </a:cubicBezTo>
                <a:cubicBezTo>
                  <a:pt x="158" y="4"/>
                  <a:pt x="157" y="4"/>
                  <a:pt x="157" y="4"/>
                </a:cubicBezTo>
                <a:cubicBezTo>
                  <a:pt x="135" y="4"/>
                  <a:pt x="113" y="4"/>
                  <a:pt x="91" y="5"/>
                </a:cubicBezTo>
                <a:cubicBezTo>
                  <a:pt x="80" y="5"/>
                  <a:pt x="69" y="6"/>
                  <a:pt x="58" y="6"/>
                </a:cubicBezTo>
                <a:cubicBezTo>
                  <a:pt x="48" y="6"/>
                  <a:pt x="37" y="7"/>
                  <a:pt x="26" y="8"/>
                </a:cubicBezTo>
                <a:cubicBezTo>
                  <a:pt x="10" y="10"/>
                  <a:pt x="10" y="10"/>
                  <a:pt x="10" y="10"/>
                </a:cubicBezTo>
                <a:cubicBezTo>
                  <a:pt x="6" y="10"/>
                  <a:pt x="6" y="10"/>
                  <a:pt x="6" y="10"/>
                </a:cubicBezTo>
                <a:cubicBezTo>
                  <a:pt x="6" y="10"/>
                  <a:pt x="5" y="10"/>
                  <a:pt x="5" y="10"/>
                </a:cubicBezTo>
                <a:cubicBezTo>
                  <a:pt x="5" y="10"/>
                  <a:pt x="5" y="10"/>
                  <a:pt x="5" y="10"/>
                </a:cubicBezTo>
                <a:cubicBezTo>
                  <a:pt x="4" y="10"/>
                  <a:pt x="4" y="10"/>
                  <a:pt x="4" y="10"/>
                </a:cubicBezTo>
                <a:cubicBezTo>
                  <a:pt x="3" y="10"/>
                  <a:pt x="2" y="10"/>
                  <a:pt x="2" y="10"/>
                </a:cubicBezTo>
                <a:cubicBezTo>
                  <a:pt x="1" y="10"/>
                  <a:pt x="1" y="11"/>
                  <a:pt x="1" y="12"/>
                </a:cubicBezTo>
                <a:cubicBezTo>
                  <a:pt x="0" y="15"/>
                  <a:pt x="2" y="17"/>
                  <a:pt x="4" y="17"/>
                </a:cubicBezTo>
                <a:cubicBezTo>
                  <a:pt x="4" y="17"/>
                  <a:pt x="4" y="17"/>
                  <a:pt x="4" y="17"/>
                </a:cubicBezTo>
                <a:cubicBezTo>
                  <a:pt x="24" y="17"/>
                  <a:pt x="43" y="16"/>
                  <a:pt x="63" y="16"/>
                </a:cubicBezTo>
                <a:cubicBezTo>
                  <a:pt x="65" y="16"/>
                  <a:pt x="67" y="16"/>
                  <a:pt x="70" y="16"/>
                </a:cubicBezTo>
                <a:cubicBezTo>
                  <a:pt x="87" y="16"/>
                  <a:pt x="105" y="16"/>
                  <a:pt x="122" y="17"/>
                </a:cubicBezTo>
                <a:cubicBezTo>
                  <a:pt x="133" y="18"/>
                  <a:pt x="143" y="19"/>
                  <a:pt x="153" y="19"/>
                </a:cubicBezTo>
                <a:cubicBezTo>
                  <a:pt x="183" y="20"/>
                  <a:pt x="183" y="20"/>
                  <a:pt x="183" y="20"/>
                </a:cubicBezTo>
                <a:cubicBezTo>
                  <a:pt x="203" y="20"/>
                  <a:pt x="224" y="21"/>
                  <a:pt x="244" y="22"/>
                </a:cubicBezTo>
                <a:cubicBezTo>
                  <a:pt x="265" y="22"/>
                  <a:pt x="285" y="23"/>
                  <a:pt x="305" y="24"/>
                </a:cubicBezTo>
                <a:cubicBezTo>
                  <a:pt x="336" y="26"/>
                  <a:pt x="336" y="26"/>
                  <a:pt x="336" y="26"/>
                </a:cubicBezTo>
                <a:cubicBezTo>
                  <a:pt x="346" y="26"/>
                  <a:pt x="361" y="28"/>
                  <a:pt x="375" y="28"/>
                </a:cubicBezTo>
                <a:cubicBezTo>
                  <a:pt x="416" y="31"/>
                  <a:pt x="448" y="31"/>
                  <a:pt x="489" y="32"/>
                </a:cubicBezTo>
                <a:cubicBezTo>
                  <a:pt x="530" y="34"/>
                  <a:pt x="571" y="35"/>
                  <a:pt x="612" y="36"/>
                </a:cubicBezTo>
                <a:cubicBezTo>
                  <a:pt x="629" y="36"/>
                  <a:pt x="647" y="36"/>
                  <a:pt x="665" y="36"/>
                </a:cubicBezTo>
                <a:cubicBezTo>
                  <a:pt x="679" y="36"/>
                  <a:pt x="693" y="36"/>
                  <a:pt x="707" y="36"/>
                </a:cubicBezTo>
                <a:cubicBezTo>
                  <a:pt x="750" y="36"/>
                  <a:pt x="750" y="36"/>
                  <a:pt x="750" y="36"/>
                </a:cubicBezTo>
                <a:cubicBezTo>
                  <a:pt x="792" y="35"/>
                  <a:pt x="792" y="35"/>
                  <a:pt x="792" y="35"/>
                </a:cubicBezTo>
                <a:cubicBezTo>
                  <a:pt x="821" y="34"/>
                  <a:pt x="850" y="33"/>
                  <a:pt x="879" y="32"/>
                </a:cubicBezTo>
                <a:cubicBezTo>
                  <a:pt x="921" y="30"/>
                  <a:pt x="921" y="30"/>
                  <a:pt x="921" y="30"/>
                </a:cubicBezTo>
                <a:cubicBezTo>
                  <a:pt x="937" y="30"/>
                  <a:pt x="953" y="29"/>
                  <a:pt x="969" y="27"/>
                </a:cubicBezTo>
                <a:cubicBezTo>
                  <a:pt x="973" y="26"/>
                  <a:pt x="979" y="25"/>
                  <a:pt x="982" y="22"/>
                </a:cubicBezTo>
                <a:cubicBezTo>
                  <a:pt x="984" y="20"/>
                  <a:pt x="986" y="17"/>
                  <a:pt x="987" y="15"/>
                </a:cubicBezTo>
                <a:cubicBezTo>
                  <a:pt x="989" y="13"/>
                  <a:pt x="990" y="10"/>
                  <a:pt x="989" y="8"/>
                </a:cubicBezTo>
                <a:cubicBezTo>
                  <a:pt x="988" y="4"/>
                  <a:pt x="985" y="3"/>
                  <a:pt x="982" y="2"/>
                </a:cubicBezTo>
                <a:cubicBezTo>
                  <a:pt x="975" y="0"/>
                  <a:pt x="968" y="0"/>
                  <a:pt x="962" y="0"/>
                </a:cubicBezTo>
                <a:cubicBezTo>
                  <a:pt x="934" y="0"/>
                  <a:pt x="934" y="0"/>
                  <a:pt x="934" y="0"/>
                </a:cubicBezTo>
                <a:cubicBezTo>
                  <a:pt x="930" y="0"/>
                  <a:pt x="926" y="0"/>
                  <a:pt x="922" y="0"/>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2" name="Content Placeholder 2">
            <a:extLst>
              <a:ext uri="{FF2B5EF4-FFF2-40B4-BE49-F238E27FC236}">
                <a16:creationId xmlns:a16="http://schemas.microsoft.com/office/drawing/2014/main" id="{8A378710-0B40-86B5-B2C6-AF290BD75FB3}"/>
              </a:ext>
            </a:extLst>
          </p:cNvPr>
          <p:cNvSpPr txBox="1">
            <a:spLocks/>
          </p:cNvSpPr>
          <p:nvPr/>
        </p:nvSpPr>
        <p:spPr>
          <a:xfrm>
            <a:off x="401032" y="716400"/>
            <a:ext cx="8510739" cy="1254422"/>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1600" b="1">
                <a:latin typeface="Calibri" panose="020F0502020204030204" pitchFamily="34" charset="0"/>
                <a:cs typeface="Calibri" panose="020F0502020204030204" pitchFamily="34" charset="0"/>
              </a:rPr>
              <a:t>a. Ý nghĩa: </a:t>
            </a:r>
          </a:p>
          <a:p>
            <a:pPr marL="285750" indent="-285750" algn="l">
              <a:buFont typeface="Arial" panose="020B0604020202020204" pitchFamily="34" charset="0"/>
              <a:buChar char="•"/>
            </a:pPr>
            <a:r>
              <a:rPr lang="en-US" sz="1600">
                <a:latin typeface="Calibri" panose="020F0502020204030204" pitchFamily="34" charset="0"/>
                <a:cs typeface="Calibri" panose="020F0502020204030204" pitchFamily="34" charset="0"/>
              </a:rPr>
              <a:t>T</a:t>
            </a:r>
            <a:r>
              <a:rPr lang="vi-VN" sz="1600">
                <a:latin typeface="Calibri" panose="020F0502020204030204" pitchFamily="34" charset="0"/>
                <a:cs typeface="Calibri" panose="020F0502020204030204" pitchFamily="34" charset="0"/>
              </a:rPr>
              <a:t>hể hiện các đối tượng khác nhau về đơn vị nhưng có mối quan hệ với nhau.</a:t>
            </a:r>
            <a:endParaRPr lang="en-US" sz="1600">
              <a:latin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en-US" sz="1600">
                <a:latin typeface="Calibri" panose="020F0502020204030204" pitchFamily="34" charset="0"/>
                <a:cs typeface="Calibri" panose="020F0502020204030204" pitchFamily="34" charset="0"/>
              </a:rPr>
              <a:t>Ví dụ về biểu đồ quản lý tiến độ QMlot</a:t>
            </a:r>
          </a:p>
        </p:txBody>
      </p:sp>
      <p:pic>
        <p:nvPicPr>
          <p:cNvPr id="11" name="Picture 10">
            <a:extLst>
              <a:ext uri="{FF2B5EF4-FFF2-40B4-BE49-F238E27FC236}">
                <a16:creationId xmlns:a16="http://schemas.microsoft.com/office/drawing/2014/main" id="{B8245FE0-D594-48D0-7955-B194711B7F30}"/>
              </a:ext>
            </a:extLst>
          </p:cNvPr>
          <p:cNvPicPr>
            <a:picLocks noChangeAspect="1"/>
          </p:cNvPicPr>
          <p:nvPr/>
        </p:nvPicPr>
        <p:blipFill>
          <a:blip r:embed="rId3"/>
          <a:stretch>
            <a:fillRect/>
          </a:stretch>
        </p:blipFill>
        <p:spPr>
          <a:xfrm>
            <a:off x="232229" y="1866444"/>
            <a:ext cx="8697396" cy="3752478"/>
          </a:xfrm>
          <a:prstGeom prst="rect">
            <a:avLst/>
          </a:prstGeom>
        </p:spPr>
      </p:pic>
    </p:spTree>
    <p:extLst>
      <p:ext uri="{BB962C8B-B14F-4D97-AF65-F5344CB8AC3E}">
        <p14:creationId xmlns:p14="http://schemas.microsoft.com/office/powerpoint/2010/main" val="36966595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4"/>
          </p:nvPr>
        </p:nvSpPr>
        <p:spPr>
          <a:prstGeom prst="rect">
            <a:avLst/>
          </a:prstGeom>
        </p:spPr>
        <p:txBody>
          <a:bodyPr vert="horz" lIns="0" tIns="0" rIns="0" bIns="0" rtlCol="0" anchor="ctr" anchorCtr="0"/>
          <a:lstStyle>
            <a:lvl1pPr algn="r">
              <a:defRPr sz="1800">
                <a:solidFill>
                  <a:schemeClr val="tx1"/>
                </a:solidFill>
              </a:defRPr>
            </a:lvl1pPr>
          </a:lstStyle>
          <a:p>
            <a:fld id="{A3381702-59A5-4643-AE93-D7BF7F78153B}" type="slidenum">
              <a:rPr lang="en-GB" smtClean="0"/>
              <a:pPr/>
              <a:t>25</a:t>
            </a:fld>
            <a:endParaRPr lang="en-GB" dirty="0"/>
          </a:p>
        </p:txBody>
      </p:sp>
      <p:sp>
        <p:nvSpPr>
          <p:cNvPr id="8" name="Footer Placeholder 4"/>
          <p:cNvSpPr>
            <a:spLocks noGrp="1"/>
          </p:cNvSpPr>
          <p:nvPr>
            <p:ph type="ftr" sz="quarter" idx="3"/>
          </p:nvPr>
        </p:nvSpPr>
        <p:spPr>
          <a:prstGeom prst="rect">
            <a:avLst/>
          </a:prstGeom>
        </p:spPr>
        <p:txBody>
          <a:bodyPr vert="horz" lIns="0" tIns="0" rIns="0" bIns="0" rtlCol="0" anchor="t" anchorCtr="0"/>
          <a:lstStyle>
            <a:lvl1pPr algn="r">
              <a:defRPr sz="700">
                <a:solidFill>
                  <a:schemeClr val="tx1"/>
                </a:solidFill>
                <a:latin typeface="+mn-lt"/>
              </a:defRPr>
            </a:lvl1pPr>
          </a:lstStyle>
          <a:p>
            <a:r>
              <a:rPr lang="fr-FR" altLang="ja-JP" dirty="0"/>
              <a:t>©20</a:t>
            </a:r>
            <a:r>
              <a:rPr lang="en-US" altLang="ja-JP" dirty="0"/>
              <a:t>23</a:t>
            </a:r>
            <a:r>
              <a:rPr lang="fr-FR" altLang="ja-JP" dirty="0"/>
              <a:t> KYOCERA Document Solutions Inc.</a:t>
            </a:r>
            <a:endParaRPr lang="en-GB" dirty="0"/>
          </a:p>
        </p:txBody>
      </p:sp>
      <p:sp>
        <p:nvSpPr>
          <p:cNvPr id="4" name="Rectangle 3">
            <a:extLst>
              <a:ext uri="{FF2B5EF4-FFF2-40B4-BE49-F238E27FC236}">
                <a16:creationId xmlns:a16="http://schemas.microsoft.com/office/drawing/2014/main" id="{0BAEFD46-8DC5-BB64-F040-FD68EE6A7C2D}"/>
              </a:ext>
            </a:extLst>
          </p:cNvPr>
          <p:cNvSpPr/>
          <p:nvPr/>
        </p:nvSpPr>
        <p:spPr>
          <a:xfrm>
            <a:off x="295745" y="40624"/>
            <a:ext cx="8722810" cy="6207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nSpc>
                <a:spcPct val="107000"/>
              </a:lnSpc>
              <a:spcBef>
                <a:spcPts val="0"/>
              </a:spcBef>
              <a:spcAft>
                <a:spcPts val="800"/>
              </a:spcAft>
              <a:tabLst>
                <a:tab pos="457200" algn="l"/>
              </a:tabLst>
            </a:pPr>
            <a:r>
              <a:rPr lang="en-US" sz="2200" b="1">
                <a:solidFill>
                  <a:schemeClr val="tx1"/>
                </a:solidFill>
                <a:latin typeface="Calibri" panose="020F0502020204030204" pitchFamily="34" charset="0"/>
                <a:ea typeface="游明朝" panose="02020400000000000000" pitchFamily="18" charset="-128"/>
                <a:cs typeface="Times New Roman" panose="02020603050405020304" pitchFamily="18" charset="0"/>
              </a:rPr>
              <a:t>4</a:t>
            </a:r>
            <a:r>
              <a:rPr lang="en-US" sz="2200" b="1">
                <a:solidFill>
                  <a:schemeClr val="tx1"/>
                </a:solidFill>
                <a:effectLst/>
                <a:latin typeface="Calibri" panose="020F0502020204030204" pitchFamily="34" charset="0"/>
                <a:ea typeface="游明朝" panose="02020400000000000000" pitchFamily="18" charset="-128"/>
                <a:cs typeface="Times New Roman" panose="02020603050405020304" pitchFamily="18" charset="0"/>
              </a:rPr>
              <a:t>. BIỂU ĐỒ KẾT HỢP</a:t>
            </a:r>
            <a:endParaRPr lang="en-US" sz="2200">
              <a:solidFill>
                <a:schemeClr val="tx1"/>
              </a:solidFill>
              <a:effectLst/>
              <a:latin typeface="Calibri" panose="020F0502020204030204" pitchFamily="34" charset="0"/>
              <a:ea typeface="游明朝" panose="02020400000000000000" pitchFamily="18" charset="-128"/>
              <a:cs typeface="Times New Roman" panose="02020603050405020304" pitchFamily="18" charset="0"/>
            </a:endParaRPr>
          </a:p>
        </p:txBody>
      </p:sp>
      <p:sp>
        <p:nvSpPr>
          <p:cNvPr id="6" name="Freeform 34">
            <a:extLst>
              <a:ext uri="{FF2B5EF4-FFF2-40B4-BE49-F238E27FC236}">
                <a16:creationId xmlns:a16="http://schemas.microsoft.com/office/drawing/2014/main" id="{E988D51C-281C-0FC1-508D-073F501DA6DF}"/>
              </a:ext>
            </a:extLst>
          </p:cNvPr>
          <p:cNvSpPr>
            <a:spLocks noChangeAspect="1"/>
          </p:cNvSpPr>
          <p:nvPr/>
        </p:nvSpPr>
        <p:spPr bwMode="auto">
          <a:xfrm rot="10800000" flipV="1">
            <a:off x="509368" y="536909"/>
            <a:ext cx="1655684" cy="47957"/>
          </a:xfrm>
          <a:custGeom>
            <a:avLst/>
            <a:gdLst>
              <a:gd name="T0" fmla="*/ 922 w 990"/>
              <a:gd name="T1" fmla="*/ 0 h 36"/>
              <a:gd name="T2" fmla="*/ 907 w 990"/>
              <a:gd name="T3" fmla="*/ 0 h 36"/>
              <a:gd name="T4" fmla="*/ 880 w 990"/>
              <a:gd name="T5" fmla="*/ 1 h 36"/>
              <a:gd name="T6" fmla="*/ 839 w 990"/>
              <a:gd name="T7" fmla="*/ 3 h 36"/>
              <a:gd name="T8" fmla="*/ 818 w 990"/>
              <a:gd name="T9" fmla="*/ 3 h 36"/>
              <a:gd name="T10" fmla="*/ 798 w 990"/>
              <a:gd name="T11" fmla="*/ 4 h 36"/>
              <a:gd name="T12" fmla="*/ 757 w 990"/>
              <a:gd name="T13" fmla="*/ 5 h 36"/>
              <a:gd name="T14" fmla="*/ 718 w 990"/>
              <a:gd name="T15" fmla="*/ 5 h 36"/>
              <a:gd name="T16" fmla="*/ 662 w 990"/>
              <a:gd name="T17" fmla="*/ 5 h 36"/>
              <a:gd name="T18" fmla="*/ 540 w 990"/>
              <a:gd name="T19" fmla="*/ 4 h 36"/>
              <a:gd name="T20" fmla="*/ 512 w 990"/>
              <a:gd name="T21" fmla="*/ 4 h 36"/>
              <a:gd name="T22" fmla="*/ 511 w 990"/>
              <a:gd name="T23" fmla="*/ 4 h 36"/>
              <a:gd name="T24" fmla="*/ 484 w 990"/>
              <a:gd name="T25" fmla="*/ 5 h 36"/>
              <a:gd name="T26" fmla="*/ 419 w 990"/>
              <a:gd name="T27" fmla="*/ 5 h 36"/>
              <a:gd name="T28" fmla="*/ 353 w 990"/>
              <a:gd name="T29" fmla="*/ 7 h 36"/>
              <a:gd name="T30" fmla="*/ 350 w 990"/>
              <a:gd name="T31" fmla="*/ 7 h 36"/>
              <a:gd name="T32" fmla="*/ 288 w 990"/>
              <a:gd name="T33" fmla="*/ 5 h 36"/>
              <a:gd name="T34" fmla="*/ 265 w 990"/>
              <a:gd name="T35" fmla="*/ 4 h 36"/>
              <a:gd name="T36" fmla="*/ 244 w 990"/>
              <a:gd name="T37" fmla="*/ 4 h 36"/>
              <a:gd name="T38" fmla="*/ 224 w 990"/>
              <a:gd name="T39" fmla="*/ 4 h 36"/>
              <a:gd name="T40" fmla="*/ 223 w 990"/>
              <a:gd name="T41" fmla="*/ 4 h 36"/>
              <a:gd name="T42" fmla="*/ 222 w 990"/>
              <a:gd name="T43" fmla="*/ 4 h 36"/>
              <a:gd name="T44" fmla="*/ 190 w 990"/>
              <a:gd name="T45" fmla="*/ 4 h 36"/>
              <a:gd name="T46" fmla="*/ 158 w 990"/>
              <a:gd name="T47" fmla="*/ 4 h 36"/>
              <a:gd name="T48" fmla="*/ 157 w 990"/>
              <a:gd name="T49" fmla="*/ 4 h 36"/>
              <a:gd name="T50" fmla="*/ 91 w 990"/>
              <a:gd name="T51" fmla="*/ 5 h 36"/>
              <a:gd name="T52" fmla="*/ 58 w 990"/>
              <a:gd name="T53" fmla="*/ 6 h 36"/>
              <a:gd name="T54" fmla="*/ 26 w 990"/>
              <a:gd name="T55" fmla="*/ 8 h 36"/>
              <a:gd name="T56" fmla="*/ 10 w 990"/>
              <a:gd name="T57" fmla="*/ 10 h 36"/>
              <a:gd name="T58" fmla="*/ 6 w 990"/>
              <a:gd name="T59" fmla="*/ 10 h 36"/>
              <a:gd name="T60" fmla="*/ 5 w 990"/>
              <a:gd name="T61" fmla="*/ 10 h 36"/>
              <a:gd name="T62" fmla="*/ 5 w 990"/>
              <a:gd name="T63" fmla="*/ 10 h 36"/>
              <a:gd name="T64" fmla="*/ 4 w 990"/>
              <a:gd name="T65" fmla="*/ 10 h 36"/>
              <a:gd name="T66" fmla="*/ 2 w 990"/>
              <a:gd name="T67" fmla="*/ 10 h 36"/>
              <a:gd name="T68" fmla="*/ 1 w 990"/>
              <a:gd name="T69" fmla="*/ 12 h 36"/>
              <a:gd name="T70" fmla="*/ 4 w 990"/>
              <a:gd name="T71" fmla="*/ 17 h 36"/>
              <a:gd name="T72" fmla="*/ 4 w 990"/>
              <a:gd name="T73" fmla="*/ 17 h 36"/>
              <a:gd name="T74" fmla="*/ 63 w 990"/>
              <a:gd name="T75" fmla="*/ 16 h 36"/>
              <a:gd name="T76" fmla="*/ 70 w 990"/>
              <a:gd name="T77" fmla="*/ 16 h 36"/>
              <a:gd name="T78" fmla="*/ 122 w 990"/>
              <a:gd name="T79" fmla="*/ 17 h 36"/>
              <a:gd name="T80" fmla="*/ 153 w 990"/>
              <a:gd name="T81" fmla="*/ 19 h 36"/>
              <a:gd name="T82" fmla="*/ 183 w 990"/>
              <a:gd name="T83" fmla="*/ 20 h 36"/>
              <a:gd name="T84" fmla="*/ 244 w 990"/>
              <a:gd name="T85" fmla="*/ 22 h 36"/>
              <a:gd name="T86" fmla="*/ 305 w 990"/>
              <a:gd name="T87" fmla="*/ 24 h 36"/>
              <a:gd name="T88" fmla="*/ 336 w 990"/>
              <a:gd name="T89" fmla="*/ 26 h 36"/>
              <a:gd name="T90" fmla="*/ 375 w 990"/>
              <a:gd name="T91" fmla="*/ 28 h 36"/>
              <a:gd name="T92" fmla="*/ 489 w 990"/>
              <a:gd name="T93" fmla="*/ 32 h 36"/>
              <a:gd name="T94" fmla="*/ 612 w 990"/>
              <a:gd name="T95" fmla="*/ 36 h 36"/>
              <a:gd name="T96" fmla="*/ 665 w 990"/>
              <a:gd name="T97" fmla="*/ 36 h 36"/>
              <a:gd name="T98" fmla="*/ 707 w 990"/>
              <a:gd name="T99" fmla="*/ 36 h 36"/>
              <a:gd name="T100" fmla="*/ 750 w 990"/>
              <a:gd name="T101" fmla="*/ 36 h 36"/>
              <a:gd name="T102" fmla="*/ 792 w 990"/>
              <a:gd name="T103" fmla="*/ 35 h 36"/>
              <a:gd name="T104" fmla="*/ 879 w 990"/>
              <a:gd name="T105" fmla="*/ 32 h 36"/>
              <a:gd name="T106" fmla="*/ 921 w 990"/>
              <a:gd name="T107" fmla="*/ 30 h 36"/>
              <a:gd name="T108" fmla="*/ 969 w 990"/>
              <a:gd name="T109" fmla="*/ 27 h 36"/>
              <a:gd name="T110" fmla="*/ 982 w 990"/>
              <a:gd name="T111" fmla="*/ 22 h 36"/>
              <a:gd name="T112" fmla="*/ 987 w 990"/>
              <a:gd name="T113" fmla="*/ 15 h 36"/>
              <a:gd name="T114" fmla="*/ 989 w 990"/>
              <a:gd name="T115" fmla="*/ 8 h 36"/>
              <a:gd name="T116" fmla="*/ 982 w 990"/>
              <a:gd name="T117" fmla="*/ 2 h 36"/>
              <a:gd name="T118" fmla="*/ 962 w 990"/>
              <a:gd name="T119" fmla="*/ 0 h 36"/>
              <a:gd name="T120" fmla="*/ 934 w 990"/>
              <a:gd name="T121" fmla="*/ 0 h 36"/>
              <a:gd name="T122" fmla="*/ 922 w 990"/>
              <a:gd name="T1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0" h="36">
                <a:moveTo>
                  <a:pt x="922" y="0"/>
                </a:moveTo>
                <a:cubicBezTo>
                  <a:pt x="917" y="0"/>
                  <a:pt x="912" y="0"/>
                  <a:pt x="907" y="0"/>
                </a:cubicBezTo>
                <a:cubicBezTo>
                  <a:pt x="898" y="0"/>
                  <a:pt x="889" y="1"/>
                  <a:pt x="880" y="1"/>
                </a:cubicBezTo>
                <a:cubicBezTo>
                  <a:pt x="839" y="3"/>
                  <a:pt x="839" y="3"/>
                  <a:pt x="839" y="3"/>
                </a:cubicBezTo>
                <a:cubicBezTo>
                  <a:pt x="818" y="3"/>
                  <a:pt x="818" y="3"/>
                  <a:pt x="818" y="3"/>
                </a:cubicBezTo>
                <a:cubicBezTo>
                  <a:pt x="798" y="4"/>
                  <a:pt x="798" y="4"/>
                  <a:pt x="798" y="4"/>
                </a:cubicBezTo>
                <a:cubicBezTo>
                  <a:pt x="757" y="5"/>
                  <a:pt x="757" y="5"/>
                  <a:pt x="757" y="5"/>
                </a:cubicBezTo>
                <a:cubicBezTo>
                  <a:pt x="744" y="5"/>
                  <a:pt x="731" y="5"/>
                  <a:pt x="718" y="5"/>
                </a:cubicBezTo>
                <a:cubicBezTo>
                  <a:pt x="699" y="5"/>
                  <a:pt x="681" y="5"/>
                  <a:pt x="662" y="5"/>
                </a:cubicBezTo>
                <a:cubicBezTo>
                  <a:pt x="540" y="4"/>
                  <a:pt x="540" y="4"/>
                  <a:pt x="540" y="4"/>
                </a:cubicBezTo>
                <a:cubicBezTo>
                  <a:pt x="512" y="4"/>
                  <a:pt x="512" y="4"/>
                  <a:pt x="512" y="4"/>
                </a:cubicBezTo>
                <a:cubicBezTo>
                  <a:pt x="512" y="4"/>
                  <a:pt x="511" y="4"/>
                  <a:pt x="511" y="4"/>
                </a:cubicBezTo>
                <a:cubicBezTo>
                  <a:pt x="502" y="4"/>
                  <a:pt x="493" y="4"/>
                  <a:pt x="484" y="5"/>
                </a:cubicBezTo>
                <a:cubicBezTo>
                  <a:pt x="462" y="5"/>
                  <a:pt x="441" y="5"/>
                  <a:pt x="419" y="5"/>
                </a:cubicBezTo>
                <a:cubicBezTo>
                  <a:pt x="397" y="6"/>
                  <a:pt x="375" y="7"/>
                  <a:pt x="353" y="7"/>
                </a:cubicBezTo>
                <a:cubicBezTo>
                  <a:pt x="352" y="7"/>
                  <a:pt x="351" y="7"/>
                  <a:pt x="350" y="7"/>
                </a:cubicBezTo>
                <a:cubicBezTo>
                  <a:pt x="330" y="7"/>
                  <a:pt x="309" y="5"/>
                  <a:pt x="288" y="5"/>
                </a:cubicBezTo>
                <a:cubicBezTo>
                  <a:pt x="280" y="4"/>
                  <a:pt x="272" y="4"/>
                  <a:pt x="265" y="4"/>
                </a:cubicBezTo>
                <a:cubicBezTo>
                  <a:pt x="258" y="4"/>
                  <a:pt x="251" y="4"/>
                  <a:pt x="244" y="4"/>
                </a:cubicBezTo>
                <a:cubicBezTo>
                  <a:pt x="237" y="4"/>
                  <a:pt x="230" y="4"/>
                  <a:pt x="224" y="4"/>
                </a:cubicBezTo>
                <a:cubicBezTo>
                  <a:pt x="223" y="4"/>
                  <a:pt x="223" y="4"/>
                  <a:pt x="223" y="4"/>
                </a:cubicBezTo>
                <a:cubicBezTo>
                  <a:pt x="223" y="4"/>
                  <a:pt x="222" y="4"/>
                  <a:pt x="222" y="4"/>
                </a:cubicBezTo>
                <a:cubicBezTo>
                  <a:pt x="212" y="4"/>
                  <a:pt x="201" y="4"/>
                  <a:pt x="190" y="4"/>
                </a:cubicBezTo>
                <a:cubicBezTo>
                  <a:pt x="180" y="4"/>
                  <a:pt x="169" y="4"/>
                  <a:pt x="158" y="4"/>
                </a:cubicBezTo>
                <a:cubicBezTo>
                  <a:pt x="158" y="4"/>
                  <a:pt x="157" y="4"/>
                  <a:pt x="157" y="4"/>
                </a:cubicBezTo>
                <a:cubicBezTo>
                  <a:pt x="135" y="4"/>
                  <a:pt x="113" y="4"/>
                  <a:pt x="91" y="5"/>
                </a:cubicBezTo>
                <a:cubicBezTo>
                  <a:pt x="80" y="5"/>
                  <a:pt x="69" y="6"/>
                  <a:pt x="58" y="6"/>
                </a:cubicBezTo>
                <a:cubicBezTo>
                  <a:pt x="48" y="6"/>
                  <a:pt x="37" y="7"/>
                  <a:pt x="26" y="8"/>
                </a:cubicBezTo>
                <a:cubicBezTo>
                  <a:pt x="10" y="10"/>
                  <a:pt x="10" y="10"/>
                  <a:pt x="10" y="10"/>
                </a:cubicBezTo>
                <a:cubicBezTo>
                  <a:pt x="6" y="10"/>
                  <a:pt x="6" y="10"/>
                  <a:pt x="6" y="10"/>
                </a:cubicBezTo>
                <a:cubicBezTo>
                  <a:pt x="6" y="10"/>
                  <a:pt x="5" y="10"/>
                  <a:pt x="5" y="10"/>
                </a:cubicBezTo>
                <a:cubicBezTo>
                  <a:pt x="5" y="10"/>
                  <a:pt x="5" y="10"/>
                  <a:pt x="5" y="10"/>
                </a:cubicBezTo>
                <a:cubicBezTo>
                  <a:pt x="4" y="10"/>
                  <a:pt x="4" y="10"/>
                  <a:pt x="4" y="10"/>
                </a:cubicBezTo>
                <a:cubicBezTo>
                  <a:pt x="3" y="10"/>
                  <a:pt x="2" y="10"/>
                  <a:pt x="2" y="10"/>
                </a:cubicBezTo>
                <a:cubicBezTo>
                  <a:pt x="1" y="10"/>
                  <a:pt x="1" y="11"/>
                  <a:pt x="1" y="12"/>
                </a:cubicBezTo>
                <a:cubicBezTo>
                  <a:pt x="0" y="15"/>
                  <a:pt x="2" y="17"/>
                  <a:pt x="4" y="17"/>
                </a:cubicBezTo>
                <a:cubicBezTo>
                  <a:pt x="4" y="17"/>
                  <a:pt x="4" y="17"/>
                  <a:pt x="4" y="17"/>
                </a:cubicBezTo>
                <a:cubicBezTo>
                  <a:pt x="24" y="17"/>
                  <a:pt x="43" y="16"/>
                  <a:pt x="63" y="16"/>
                </a:cubicBezTo>
                <a:cubicBezTo>
                  <a:pt x="65" y="16"/>
                  <a:pt x="67" y="16"/>
                  <a:pt x="70" y="16"/>
                </a:cubicBezTo>
                <a:cubicBezTo>
                  <a:pt x="87" y="16"/>
                  <a:pt x="105" y="16"/>
                  <a:pt x="122" y="17"/>
                </a:cubicBezTo>
                <a:cubicBezTo>
                  <a:pt x="133" y="18"/>
                  <a:pt x="143" y="19"/>
                  <a:pt x="153" y="19"/>
                </a:cubicBezTo>
                <a:cubicBezTo>
                  <a:pt x="183" y="20"/>
                  <a:pt x="183" y="20"/>
                  <a:pt x="183" y="20"/>
                </a:cubicBezTo>
                <a:cubicBezTo>
                  <a:pt x="203" y="20"/>
                  <a:pt x="224" y="21"/>
                  <a:pt x="244" y="22"/>
                </a:cubicBezTo>
                <a:cubicBezTo>
                  <a:pt x="265" y="22"/>
                  <a:pt x="285" y="23"/>
                  <a:pt x="305" y="24"/>
                </a:cubicBezTo>
                <a:cubicBezTo>
                  <a:pt x="336" y="26"/>
                  <a:pt x="336" y="26"/>
                  <a:pt x="336" y="26"/>
                </a:cubicBezTo>
                <a:cubicBezTo>
                  <a:pt x="346" y="26"/>
                  <a:pt x="361" y="28"/>
                  <a:pt x="375" y="28"/>
                </a:cubicBezTo>
                <a:cubicBezTo>
                  <a:pt x="416" y="31"/>
                  <a:pt x="448" y="31"/>
                  <a:pt x="489" y="32"/>
                </a:cubicBezTo>
                <a:cubicBezTo>
                  <a:pt x="530" y="34"/>
                  <a:pt x="571" y="35"/>
                  <a:pt x="612" y="36"/>
                </a:cubicBezTo>
                <a:cubicBezTo>
                  <a:pt x="629" y="36"/>
                  <a:pt x="647" y="36"/>
                  <a:pt x="665" y="36"/>
                </a:cubicBezTo>
                <a:cubicBezTo>
                  <a:pt x="679" y="36"/>
                  <a:pt x="693" y="36"/>
                  <a:pt x="707" y="36"/>
                </a:cubicBezTo>
                <a:cubicBezTo>
                  <a:pt x="750" y="36"/>
                  <a:pt x="750" y="36"/>
                  <a:pt x="750" y="36"/>
                </a:cubicBezTo>
                <a:cubicBezTo>
                  <a:pt x="792" y="35"/>
                  <a:pt x="792" y="35"/>
                  <a:pt x="792" y="35"/>
                </a:cubicBezTo>
                <a:cubicBezTo>
                  <a:pt x="821" y="34"/>
                  <a:pt x="850" y="33"/>
                  <a:pt x="879" y="32"/>
                </a:cubicBezTo>
                <a:cubicBezTo>
                  <a:pt x="921" y="30"/>
                  <a:pt x="921" y="30"/>
                  <a:pt x="921" y="30"/>
                </a:cubicBezTo>
                <a:cubicBezTo>
                  <a:pt x="937" y="30"/>
                  <a:pt x="953" y="29"/>
                  <a:pt x="969" y="27"/>
                </a:cubicBezTo>
                <a:cubicBezTo>
                  <a:pt x="973" y="26"/>
                  <a:pt x="979" y="25"/>
                  <a:pt x="982" y="22"/>
                </a:cubicBezTo>
                <a:cubicBezTo>
                  <a:pt x="984" y="20"/>
                  <a:pt x="986" y="17"/>
                  <a:pt x="987" y="15"/>
                </a:cubicBezTo>
                <a:cubicBezTo>
                  <a:pt x="989" y="13"/>
                  <a:pt x="990" y="10"/>
                  <a:pt x="989" y="8"/>
                </a:cubicBezTo>
                <a:cubicBezTo>
                  <a:pt x="988" y="4"/>
                  <a:pt x="985" y="3"/>
                  <a:pt x="982" y="2"/>
                </a:cubicBezTo>
                <a:cubicBezTo>
                  <a:pt x="975" y="0"/>
                  <a:pt x="968" y="0"/>
                  <a:pt x="962" y="0"/>
                </a:cubicBezTo>
                <a:cubicBezTo>
                  <a:pt x="934" y="0"/>
                  <a:pt x="934" y="0"/>
                  <a:pt x="934" y="0"/>
                </a:cubicBezTo>
                <a:cubicBezTo>
                  <a:pt x="930" y="0"/>
                  <a:pt x="926" y="0"/>
                  <a:pt x="922" y="0"/>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2" name="Content Placeholder 2">
            <a:extLst>
              <a:ext uri="{FF2B5EF4-FFF2-40B4-BE49-F238E27FC236}">
                <a16:creationId xmlns:a16="http://schemas.microsoft.com/office/drawing/2014/main" id="{8A378710-0B40-86B5-B2C6-AF290BD75FB3}"/>
              </a:ext>
            </a:extLst>
          </p:cNvPr>
          <p:cNvSpPr txBox="1">
            <a:spLocks/>
          </p:cNvSpPr>
          <p:nvPr/>
        </p:nvSpPr>
        <p:spPr>
          <a:xfrm>
            <a:off x="401032" y="716399"/>
            <a:ext cx="8510739" cy="620799"/>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1600" b="1">
                <a:latin typeface="Calibri" panose="020F0502020204030204" pitchFamily="34" charset="0"/>
                <a:cs typeface="Calibri" panose="020F0502020204030204" pitchFamily="34" charset="0"/>
              </a:rPr>
              <a:t>b. Cách vẽ: </a:t>
            </a:r>
          </a:p>
          <a:p>
            <a:pPr algn="l"/>
            <a:r>
              <a:rPr lang="en-US" sz="1600" b="1">
                <a:latin typeface="Calibri" panose="020F0502020204030204" pitchFamily="34" charset="0"/>
                <a:cs typeface="Calibri" panose="020F0502020204030204" pitchFamily="34" charset="0"/>
              </a:rPr>
              <a:t>Bước 1</a:t>
            </a:r>
            <a:r>
              <a:rPr lang="en-US" sz="1600">
                <a:latin typeface="Calibri" panose="020F0502020204030204" pitchFamily="34" charset="0"/>
                <a:cs typeface="Calibri" panose="020F0502020204030204" pitchFamily="34" charset="0"/>
              </a:rPr>
              <a:t>: Bôi đen vùng dữ liệu cần vẽ biểu đồ</a:t>
            </a:r>
          </a:p>
          <a:p>
            <a:pPr marL="342900" indent="-342900" algn="l">
              <a:buAutoNum type="alphaUcPeriod"/>
            </a:pPr>
            <a:endParaRPr lang="en-US" sz="1600">
              <a:latin typeface="Calibri" panose="020F0502020204030204" pitchFamily="34" charset="0"/>
              <a:cs typeface="Calibri" panose="020F0502020204030204" pitchFamily="34" charset="0"/>
            </a:endParaRPr>
          </a:p>
          <a:p>
            <a:pPr marL="342900" indent="-342900" algn="l">
              <a:buAutoNum type="alphaUcPeriod"/>
            </a:pPr>
            <a:endParaRPr lang="en-US" sz="1600">
              <a:latin typeface="Calibri" panose="020F0502020204030204" pitchFamily="34" charset="0"/>
              <a:cs typeface="Calibri" panose="020F0502020204030204" pitchFamily="34" charset="0"/>
            </a:endParaRPr>
          </a:p>
          <a:p>
            <a:pPr marL="342900" indent="-342900" algn="l">
              <a:buAutoNum type="alphaUcPeriod"/>
            </a:pPr>
            <a:endParaRPr lang="en-US" sz="1600">
              <a:latin typeface="Calibri" panose="020F0502020204030204" pitchFamily="34" charset="0"/>
              <a:cs typeface="Calibri" panose="020F0502020204030204" pitchFamily="34" charset="0"/>
            </a:endParaRPr>
          </a:p>
        </p:txBody>
      </p:sp>
      <p:pic>
        <p:nvPicPr>
          <p:cNvPr id="10" name="Picture 9">
            <a:extLst>
              <a:ext uri="{FF2B5EF4-FFF2-40B4-BE49-F238E27FC236}">
                <a16:creationId xmlns:a16="http://schemas.microsoft.com/office/drawing/2014/main" id="{3B5F9925-F618-A40C-9454-6563B0B3F5D2}"/>
              </a:ext>
            </a:extLst>
          </p:cNvPr>
          <p:cNvPicPr>
            <a:picLocks noChangeAspect="1"/>
          </p:cNvPicPr>
          <p:nvPr/>
        </p:nvPicPr>
        <p:blipFill>
          <a:blip r:embed="rId3"/>
          <a:stretch>
            <a:fillRect/>
          </a:stretch>
        </p:blipFill>
        <p:spPr>
          <a:xfrm>
            <a:off x="520300" y="1776807"/>
            <a:ext cx="8117816" cy="1848252"/>
          </a:xfrm>
          <a:prstGeom prst="rect">
            <a:avLst/>
          </a:prstGeom>
          <a:effectLst>
            <a:glow rad="63500">
              <a:schemeClr val="bg1">
                <a:lumMod val="65000"/>
                <a:alpha val="40000"/>
              </a:schemeClr>
            </a:glow>
          </a:effectLst>
        </p:spPr>
      </p:pic>
    </p:spTree>
    <p:extLst>
      <p:ext uri="{BB962C8B-B14F-4D97-AF65-F5344CB8AC3E}">
        <p14:creationId xmlns:p14="http://schemas.microsoft.com/office/powerpoint/2010/main" val="18779001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3633EBA2-0088-705C-510E-35285074BA4D}"/>
              </a:ext>
            </a:extLst>
          </p:cNvPr>
          <p:cNvPicPr>
            <a:picLocks noChangeAspect="1"/>
          </p:cNvPicPr>
          <p:nvPr/>
        </p:nvPicPr>
        <p:blipFill>
          <a:blip r:embed="rId3"/>
          <a:stretch>
            <a:fillRect/>
          </a:stretch>
        </p:blipFill>
        <p:spPr>
          <a:xfrm>
            <a:off x="2279374" y="1380913"/>
            <a:ext cx="6683112" cy="5016303"/>
          </a:xfrm>
          <a:prstGeom prst="rect">
            <a:avLst/>
          </a:prstGeom>
          <a:effectLst>
            <a:glow rad="63500">
              <a:schemeClr val="bg1">
                <a:lumMod val="65000"/>
                <a:alpha val="40000"/>
              </a:schemeClr>
            </a:glow>
          </a:effectLst>
        </p:spPr>
      </p:pic>
      <p:sp>
        <p:nvSpPr>
          <p:cNvPr id="7" name="Slide Number Placeholder 5"/>
          <p:cNvSpPr>
            <a:spLocks noGrp="1"/>
          </p:cNvSpPr>
          <p:nvPr>
            <p:ph type="sldNum" sz="quarter" idx="4"/>
          </p:nvPr>
        </p:nvSpPr>
        <p:spPr>
          <a:prstGeom prst="rect">
            <a:avLst/>
          </a:prstGeom>
        </p:spPr>
        <p:txBody>
          <a:bodyPr vert="horz" lIns="0" tIns="0" rIns="0" bIns="0" rtlCol="0" anchor="ctr" anchorCtr="0"/>
          <a:lstStyle>
            <a:lvl1pPr algn="r">
              <a:defRPr sz="1800">
                <a:solidFill>
                  <a:schemeClr val="tx1"/>
                </a:solidFill>
              </a:defRPr>
            </a:lvl1pPr>
          </a:lstStyle>
          <a:p>
            <a:fld id="{A3381702-59A5-4643-AE93-D7BF7F78153B}" type="slidenum">
              <a:rPr lang="en-GB" smtClean="0"/>
              <a:pPr/>
              <a:t>26</a:t>
            </a:fld>
            <a:endParaRPr lang="en-GB" dirty="0"/>
          </a:p>
        </p:txBody>
      </p:sp>
      <p:sp>
        <p:nvSpPr>
          <p:cNvPr id="8" name="Footer Placeholder 4"/>
          <p:cNvSpPr>
            <a:spLocks noGrp="1"/>
          </p:cNvSpPr>
          <p:nvPr>
            <p:ph type="ftr" sz="quarter" idx="3"/>
          </p:nvPr>
        </p:nvSpPr>
        <p:spPr>
          <a:prstGeom prst="rect">
            <a:avLst/>
          </a:prstGeom>
        </p:spPr>
        <p:txBody>
          <a:bodyPr vert="horz" lIns="0" tIns="0" rIns="0" bIns="0" rtlCol="0" anchor="t" anchorCtr="0"/>
          <a:lstStyle>
            <a:lvl1pPr algn="r">
              <a:defRPr sz="700">
                <a:solidFill>
                  <a:schemeClr val="tx1"/>
                </a:solidFill>
                <a:latin typeface="+mn-lt"/>
              </a:defRPr>
            </a:lvl1pPr>
          </a:lstStyle>
          <a:p>
            <a:r>
              <a:rPr lang="fr-FR" altLang="ja-JP" dirty="0"/>
              <a:t>©20</a:t>
            </a:r>
            <a:r>
              <a:rPr lang="en-US" altLang="ja-JP" dirty="0"/>
              <a:t>23</a:t>
            </a:r>
            <a:r>
              <a:rPr lang="fr-FR" altLang="ja-JP" dirty="0"/>
              <a:t> KYOCERA Document Solutions Inc.</a:t>
            </a:r>
            <a:endParaRPr lang="en-GB" dirty="0"/>
          </a:p>
        </p:txBody>
      </p:sp>
      <p:sp>
        <p:nvSpPr>
          <p:cNvPr id="4" name="Rectangle 3">
            <a:extLst>
              <a:ext uri="{FF2B5EF4-FFF2-40B4-BE49-F238E27FC236}">
                <a16:creationId xmlns:a16="http://schemas.microsoft.com/office/drawing/2014/main" id="{0BAEFD46-8DC5-BB64-F040-FD68EE6A7C2D}"/>
              </a:ext>
            </a:extLst>
          </p:cNvPr>
          <p:cNvSpPr/>
          <p:nvPr/>
        </p:nvSpPr>
        <p:spPr>
          <a:xfrm>
            <a:off x="295745" y="40624"/>
            <a:ext cx="8722810" cy="6207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nSpc>
                <a:spcPct val="107000"/>
              </a:lnSpc>
              <a:spcBef>
                <a:spcPts val="0"/>
              </a:spcBef>
              <a:spcAft>
                <a:spcPts val="800"/>
              </a:spcAft>
              <a:tabLst>
                <a:tab pos="457200" algn="l"/>
              </a:tabLst>
            </a:pPr>
            <a:r>
              <a:rPr lang="en-US" sz="2200" b="1">
                <a:solidFill>
                  <a:schemeClr val="tx1"/>
                </a:solidFill>
                <a:latin typeface="Calibri" panose="020F0502020204030204" pitchFamily="34" charset="0"/>
                <a:ea typeface="游明朝" panose="02020400000000000000" pitchFamily="18" charset="-128"/>
                <a:cs typeface="Times New Roman" panose="02020603050405020304" pitchFamily="18" charset="0"/>
              </a:rPr>
              <a:t>4</a:t>
            </a:r>
            <a:r>
              <a:rPr lang="en-US" sz="2200" b="1">
                <a:solidFill>
                  <a:schemeClr val="tx1"/>
                </a:solidFill>
                <a:effectLst/>
                <a:latin typeface="Calibri" panose="020F0502020204030204" pitchFamily="34" charset="0"/>
                <a:ea typeface="游明朝" panose="02020400000000000000" pitchFamily="18" charset="-128"/>
                <a:cs typeface="Times New Roman" panose="02020603050405020304" pitchFamily="18" charset="0"/>
              </a:rPr>
              <a:t>. BIỂU ĐỒ KẾT HỢP</a:t>
            </a:r>
            <a:endParaRPr lang="en-US" sz="2200">
              <a:solidFill>
                <a:schemeClr val="tx1"/>
              </a:solidFill>
              <a:effectLst/>
              <a:latin typeface="Calibri" panose="020F0502020204030204" pitchFamily="34" charset="0"/>
              <a:ea typeface="游明朝" panose="02020400000000000000" pitchFamily="18" charset="-128"/>
              <a:cs typeface="Times New Roman" panose="02020603050405020304" pitchFamily="18" charset="0"/>
            </a:endParaRPr>
          </a:p>
        </p:txBody>
      </p:sp>
      <p:sp>
        <p:nvSpPr>
          <p:cNvPr id="6" name="Freeform 34">
            <a:extLst>
              <a:ext uri="{FF2B5EF4-FFF2-40B4-BE49-F238E27FC236}">
                <a16:creationId xmlns:a16="http://schemas.microsoft.com/office/drawing/2014/main" id="{E988D51C-281C-0FC1-508D-073F501DA6DF}"/>
              </a:ext>
            </a:extLst>
          </p:cNvPr>
          <p:cNvSpPr>
            <a:spLocks noChangeAspect="1"/>
          </p:cNvSpPr>
          <p:nvPr/>
        </p:nvSpPr>
        <p:spPr bwMode="auto">
          <a:xfrm rot="10800000" flipV="1">
            <a:off x="509368" y="536909"/>
            <a:ext cx="1655684" cy="47957"/>
          </a:xfrm>
          <a:custGeom>
            <a:avLst/>
            <a:gdLst>
              <a:gd name="T0" fmla="*/ 922 w 990"/>
              <a:gd name="T1" fmla="*/ 0 h 36"/>
              <a:gd name="T2" fmla="*/ 907 w 990"/>
              <a:gd name="T3" fmla="*/ 0 h 36"/>
              <a:gd name="T4" fmla="*/ 880 w 990"/>
              <a:gd name="T5" fmla="*/ 1 h 36"/>
              <a:gd name="T6" fmla="*/ 839 w 990"/>
              <a:gd name="T7" fmla="*/ 3 h 36"/>
              <a:gd name="T8" fmla="*/ 818 w 990"/>
              <a:gd name="T9" fmla="*/ 3 h 36"/>
              <a:gd name="T10" fmla="*/ 798 w 990"/>
              <a:gd name="T11" fmla="*/ 4 h 36"/>
              <a:gd name="T12" fmla="*/ 757 w 990"/>
              <a:gd name="T13" fmla="*/ 5 h 36"/>
              <a:gd name="T14" fmla="*/ 718 w 990"/>
              <a:gd name="T15" fmla="*/ 5 h 36"/>
              <a:gd name="T16" fmla="*/ 662 w 990"/>
              <a:gd name="T17" fmla="*/ 5 h 36"/>
              <a:gd name="T18" fmla="*/ 540 w 990"/>
              <a:gd name="T19" fmla="*/ 4 h 36"/>
              <a:gd name="T20" fmla="*/ 512 w 990"/>
              <a:gd name="T21" fmla="*/ 4 h 36"/>
              <a:gd name="T22" fmla="*/ 511 w 990"/>
              <a:gd name="T23" fmla="*/ 4 h 36"/>
              <a:gd name="T24" fmla="*/ 484 w 990"/>
              <a:gd name="T25" fmla="*/ 5 h 36"/>
              <a:gd name="T26" fmla="*/ 419 w 990"/>
              <a:gd name="T27" fmla="*/ 5 h 36"/>
              <a:gd name="T28" fmla="*/ 353 w 990"/>
              <a:gd name="T29" fmla="*/ 7 h 36"/>
              <a:gd name="T30" fmla="*/ 350 w 990"/>
              <a:gd name="T31" fmla="*/ 7 h 36"/>
              <a:gd name="T32" fmla="*/ 288 w 990"/>
              <a:gd name="T33" fmla="*/ 5 h 36"/>
              <a:gd name="T34" fmla="*/ 265 w 990"/>
              <a:gd name="T35" fmla="*/ 4 h 36"/>
              <a:gd name="T36" fmla="*/ 244 w 990"/>
              <a:gd name="T37" fmla="*/ 4 h 36"/>
              <a:gd name="T38" fmla="*/ 224 w 990"/>
              <a:gd name="T39" fmla="*/ 4 h 36"/>
              <a:gd name="T40" fmla="*/ 223 w 990"/>
              <a:gd name="T41" fmla="*/ 4 h 36"/>
              <a:gd name="T42" fmla="*/ 222 w 990"/>
              <a:gd name="T43" fmla="*/ 4 h 36"/>
              <a:gd name="T44" fmla="*/ 190 w 990"/>
              <a:gd name="T45" fmla="*/ 4 h 36"/>
              <a:gd name="T46" fmla="*/ 158 w 990"/>
              <a:gd name="T47" fmla="*/ 4 h 36"/>
              <a:gd name="T48" fmla="*/ 157 w 990"/>
              <a:gd name="T49" fmla="*/ 4 h 36"/>
              <a:gd name="T50" fmla="*/ 91 w 990"/>
              <a:gd name="T51" fmla="*/ 5 h 36"/>
              <a:gd name="T52" fmla="*/ 58 w 990"/>
              <a:gd name="T53" fmla="*/ 6 h 36"/>
              <a:gd name="T54" fmla="*/ 26 w 990"/>
              <a:gd name="T55" fmla="*/ 8 h 36"/>
              <a:gd name="T56" fmla="*/ 10 w 990"/>
              <a:gd name="T57" fmla="*/ 10 h 36"/>
              <a:gd name="T58" fmla="*/ 6 w 990"/>
              <a:gd name="T59" fmla="*/ 10 h 36"/>
              <a:gd name="T60" fmla="*/ 5 w 990"/>
              <a:gd name="T61" fmla="*/ 10 h 36"/>
              <a:gd name="T62" fmla="*/ 5 w 990"/>
              <a:gd name="T63" fmla="*/ 10 h 36"/>
              <a:gd name="T64" fmla="*/ 4 w 990"/>
              <a:gd name="T65" fmla="*/ 10 h 36"/>
              <a:gd name="T66" fmla="*/ 2 w 990"/>
              <a:gd name="T67" fmla="*/ 10 h 36"/>
              <a:gd name="T68" fmla="*/ 1 w 990"/>
              <a:gd name="T69" fmla="*/ 12 h 36"/>
              <a:gd name="T70" fmla="*/ 4 w 990"/>
              <a:gd name="T71" fmla="*/ 17 h 36"/>
              <a:gd name="T72" fmla="*/ 4 w 990"/>
              <a:gd name="T73" fmla="*/ 17 h 36"/>
              <a:gd name="T74" fmla="*/ 63 w 990"/>
              <a:gd name="T75" fmla="*/ 16 h 36"/>
              <a:gd name="T76" fmla="*/ 70 w 990"/>
              <a:gd name="T77" fmla="*/ 16 h 36"/>
              <a:gd name="T78" fmla="*/ 122 w 990"/>
              <a:gd name="T79" fmla="*/ 17 h 36"/>
              <a:gd name="T80" fmla="*/ 153 w 990"/>
              <a:gd name="T81" fmla="*/ 19 h 36"/>
              <a:gd name="T82" fmla="*/ 183 w 990"/>
              <a:gd name="T83" fmla="*/ 20 h 36"/>
              <a:gd name="T84" fmla="*/ 244 w 990"/>
              <a:gd name="T85" fmla="*/ 22 h 36"/>
              <a:gd name="T86" fmla="*/ 305 w 990"/>
              <a:gd name="T87" fmla="*/ 24 h 36"/>
              <a:gd name="T88" fmla="*/ 336 w 990"/>
              <a:gd name="T89" fmla="*/ 26 h 36"/>
              <a:gd name="T90" fmla="*/ 375 w 990"/>
              <a:gd name="T91" fmla="*/ 28 h 36"/>
              <a:gd name="T92" fmla="*/ 489 w 990"/>
              <a:gd name="T93" fmla="*/ 32 h 36"/>
              <a:gd name="T94" fmla="*/ 612 w 990"/>
              <a:gd name="T95" fmla="*/ 36 h 36"/>
              <a:gd name="T96" fmla="*/ 665 w 990"/>
              <a:gd name="T97" fmla="*/ 36 h 36"/>
              <a:gd name="T98" fmla="*/ 707 w 990"/>
              <a:gd name="T99" fmla="*/ 36 h 36"/>
              <a:gd name="T100" fmla="*/ 750 w 990"/>
              <a:gd name="T101" fmla="*/ 36 h 36"/>
              <a:gd name="T102" fmla="*/ 792 w 990"/>
              <a:gd name="T103" fmla="*/ 35 h 36"/>
              <a:gd name="T104" fmla="*/ 879 w 990"/>
              <a:gd name="T105" fmla="*/ 32 h 36"/>
              <a:gd name="T106" fmla="*/ 921 w 990"/>
              <a:gd name="T107" fmla="*/ 30 h 36"/>
              <a:gd name="T108" fmla="*/ 969 w 990"/>
              <a:gd name="T109" fmla="*/ 27 h 36"/>
              <a:gd name="T110" fmla="*/ 982 w 990"/>
              <a:gd name="T111" fmla="*/ 22 h 36"/>
              <a:gd name="T112" fmla="*/ 987 w 990"/>
              <a:gd name="T113" fmla="*/ 15 h 36"/>
              <a:gd name="T114" fmla="*/ 989 w 990"/>
              <a:gd name="T115" fmla="*/ 8 h 36"/>
              <a:gd name="T116" fmla="*/ 982 w 990"/>
              <a:gd name="T117" fmla="*/ 2 h 36"/>
              <a:gd name="T118" fmla="*/ 962 w 990"/>
              <a:gd name="T119" fmla="*/ 0 h 36"/>
              <a:gd name="T120" fmla="*/ 934 w 990"/>
              <a:gd name="T121" fmla="*/ 0 h 36"/>
              <a:gd name="T122" fmla="*/ 922 w 990"/>
              <a:gd name="T1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0" h="36">
                <a:moveTo>
                  <a:pt x="922" y="0"/>
                </a:moveTo>
                <a:cubicBezTo>
                  <a:pt x="917" y="0"/>
                  <a:pt x="912" y="0"/>
                  <a:pt x="907" y="0"/>
                </a:cubicBezTo>
                <a:cubicBezTo>
                  <a:pt x="898" y="0"/>
                  <a:pt x="889" y="1"/>
                  <a:pt x="880" y="1"/>
                </a:cubicBezTo>
                <a:cubicBezTo>
                  <a:pt x="839" y="3"/>
                  <a:pt x="839" y="3"/>
                  <a:pt x="839" y="3"/>
                </a:cubicBezTo>
                <a:cubicBezTo>
                  <a:pt x="818" y="3"/>
                  <a:pt x="818" y="3"/>
                  <a:pt x="818" y="3"/>
                </a:cubicBezTo>
                <a:cubicBezTo>
                  <a:pt x="798" y="4"/>
                  <a:pt x="798" y="4"/>
                  <a:pt x="798" y="4"/>
                </a:cubicBezTo>
                <a:cubicBezTo>
                  <a:pt x="757" y="5"/>
                  <a:pt x="757" y="5"/>
                  <a:pt x="757" y="5"/>
                </a:cubicBezTo>
                <a:cubicBezTo>
                  <a:pt x="744" y="5"/>
                  <a:pt x="731" y="5"/>
                  <a:pt x="718" y="5"/>
                </a:cubicBezTo>
                <a:cubicBezTo>
                  <a:pt x="699" y="5"/>
                  <a:pt x="681" y="5"/>
                  <a:pt x="662" y="5"/>
                </a:cubicBezTo>
                <a:cubicBezTo>
                  <a:pt x="540" y="4"/>
                  <a:pt x="540" y="4"/>
                  <a:pt x="540" y="4"/>
                </a:cubicBezTo>
                <a:cubicBezTo>
                  <a:pt x="512" y="4"/>
                  <a:pt x="512" y="4"/>
                  <a:pt x="512" y="4"/>
                </a:cubicBezTo>
                <a:cubicBezTo>
                  <a:pt x="512" y="4"/>
                  <a:pt x="511" y="4"/>
                  <a:pt x="511" y="4"/>
                </a:cubicBezTo>
                <a:cubicBezTo>
                  <a:pt x="502" y="4"/>
                  <a:pt x="493" y="4"/>
                  <a:pt x="484" y="5"/>
                </a:cubicBezTo>
                <a:cubicBezTo>
                  <a:pt x="462" y="5"/>
                  <a:pt x="441" y="5"/>
                  <a:pt x="419" y="5"/>
                </a:cubicBezTo>
                <a:cubicBezTo>
                  <a:pt x="397" y="6"/>
                  <a:pt x="375" y="7"/>
                  <a:pt x="353" y="7"/>
                </a:cubicBezTo>
                <a:cubicBezTo>
                  <a:pt x="352" y="7"/>
                  <a:pt x="351" y="7"/>
                  <a:pt x="350" y="7"/>
                </a:cubicBezTo>
                <a:cubicBezTo>
                  <a:pt x="330" y="7"/>
                  <a:pt x="309" y="5"/>
                  <a:pt x="288" y="5"/>
                </a:cubicBezTo>
                <a:cubicBezTo>
                  <a:pt x="280" y="4"/>
                  <a:pt x="272" y="4"/>
                  <a:pt x="265" y="4"/>
                </a:cubicBezTo>
                <a:cubicBezTo>
                  <a:pt x="258" y="4"/>
                  <a:pt x="251" y="4"/>
                  <a:pt x="244" y="4"/>
                </a:cubicBezTo>
                <a:cubicBezTo>
                  <a:pt x="237" y="4"/>
                  <a:pt x="230" y="4"/>
                  <a:pt x="224" y="4"/>
                </a:cubicBezTo>
                <a:cubicBezTo>
                  <a:pt x="223" y="4"/>
                  <a:pt x="223" y="4"/>
                  <a:pt x="223" y="4"/>
                </a:cubicBezTo>
                <a:cubicBezTo>
                  <a:pt x="223" y="4"/>
                  <a:pt x="222" y="4"/>
                  <a:pt x="222" y="4"/>
                </a:cubicBezTo>
                <a:cubicBezTo>
                  <a:pt x="212" y="4"/>
                  <a:pt x="201" y="4"/>
                  <a:pt x="190" y="4"/>
                </a:cubicBezTo>
                <a:cubicBezTo>
                  <a:pt x="180" y="4"/>
                  <a:pt x="169" y="4"/>
                  <a:pt x="158" y="4"/>
                </a:cubicBezTo>
                <a:cubicBezTo>
                  <a:pt x="158" y="4"/>
                  <a:pt x="157" y="4"/>
                  <a:pt x="157" y="4"/>
                </a:cubicBezTo>
                <a:cubicBezTo>
                  <a:pt x="135" y="4"/>
                  <a:pt x="113" y="4"/>
                  <a:pt x="91" y="5"/>
                </a:cubicBezTo>
                <a:cubicBezTo>
                  <a:pt x="80" y="5"/>
                  <a:pt x="69" y="6"/>
                  <a:pt x="58" y="6"/>
                </a:cubicBezTo>
                <a:cubicBezTo>
                  <a:pt x="48" y="6"/>
                  <a:pt x="37" y="7"/>
                  <a:pt x="26" y="8"/>
                </a:cubicBezTo>
                <a:cubicBezTo>
                  <a:pt x="10" y="10"/>
                  <a:pt x="10" y="10"/>
                  <a:pt x="10" y="10"/>
                </a:cubicBezTo>
                <a:cubicBezTo>
                  <a:pt x="6" y="10"/>
                  <a:pt x="6" y="10"/>
                  <a:pt x="6" y="10"/>
                </a:cubicBezTo>
                <a:cubicBezTo>
                  <a:pt x="6" y="10"/>
                  <a:pt x="5" y="10"/>
                  <a:pt x="5" y="10"/>
                </a:cubicBezTo>
                <a:cubicBezTo>
                  <a:pt x="5" y="10"/>
                  <a:pt x="5" y="10"/>
                  <a:pt x="5" y="10"/>
                </a:cubicBezTo>
                <a:cubicBezTo>
                  <a:pt x="4" y="10"/>
                  <a:pt x="4" y="10"/>
                  <a:pt x="4" y="10"/>
                </a:cubicBezTo>
                <a:cubicBezTo>
                  <a:pt x="3" y="10"/>
                  <a:pt x="2" y="10"/>
                  <a:pt x="2" y="10"/>
                </a:cubicBezTo>
                <a:cubicBezTo>
                  <a:pt x="1" y="10"/>
                  <a:pt x="1" y="11"/>
                  <a:pt x="1" y="12"/>
                </a:cubicBezTo>
                <a:cubicBezTo>
                  <a:pt x="0" y="15"/>
                  <a:pt x="2" y="17"/>
                  <a:pt x="4" y="17"/>
                </a:cubicBezTo>
                <a:cubicBezTo>
                  <a:pt x="4" y="17"/>
                  <a:pt x="4" y="17"/>
                  <a:pt x="4" y="17"/>
                </a:cubicBezTo>
                <a:cubicBezTo>
                  <a:pt x="24" y="17"/>
                  <a:pt x="43" y="16"/>
                  <a:pt x="63" y="16"/>
                </a:cubicBezTo>
                <a:cubicBezTo>
                  <a:pt x="65" y="16"/>
                  <a:pt x="67" y="16"/>
                  <a:pt x="70" y="16"/>
                </a:cubicBezTo>
                <a:cubicBezTo>
                  <a:pt x="87" y="16"/>
                  <a:pt x="105" y="16"/>
                  <a:pt x="122" y="17"/>
                </a:cubicBezTo>
                <a:cubicBezTo>
                  <a:pt x="133" y="18"/>
                  <a:pt x="143" y="19"/>
                  <a:pt x="153" y="19"/>
                </a:cubicBezTo>
                <a:cubicBezTo>
                  <a:pt x="183" y="20"/>
                  <a:pt x="183" y="20"/>
                  <a:pt x="183" y="20"/>
                </a:cubicBezTo>
                <a:cubicBezTo>
                  <a:pt x="203" y="20"/>
                  <a:pt x="224" y="21"/>
                  <a:pt x="244" y="22"/>
                </a:cubicBezTo>
                <a:cubicBezTo>
                  <a:pt x="265" y="22"/>
                  <a:pt x="285" y="23"/>
                  <a:pt x="305" y="24"/>
                </a:cubicBezTo>
                <a:cubicBezTo>
                  <a:pt x="336" y="26"/>
                  <a:pt x="336" y="26"/>
                  <a:pt x="336" y="26"/>
                </a:cubicBezTo>
                <a:cubicBezTo>
                  <a:pt x="346" y="26"/>
                  <a:pt x="361" y="28"/>
                  <a:pt x="375" y="28"/>
                </a:cubicBezTo>
                <a:cubicBezTo>
                  <a:pt x="416" y="31"/>
                  <a:pt x="448" y="31"/>
                  <a:pt x="489" y="32"/>
                </a:cubicBezTo>
                <a:cubicBezTo>
                  <a:pt x="530" y="34"/>
                  <a:pt x="571" y="35"/>
                  <a:pt x="612" y="36"/>
                </a:cubicBezTo>
                <a:cubicBezTo>
                  <a:pt x="629" y="36"/>
                  <a:pt x="647" y="36"/>
                  <a:pt x="665" y="36"/>
                </a:cubicBezTo>
                <a:cubicBezTo>
                  <a:pt x="679" y="36"/>
                  <a:pt x="693" y="36"/>
                  <a:pt x="707" y="36"/>
                </a:cubicBezTo>
                <a:cubicBezTo>
                  <a:pt x="750" y="36"/>
                  <a:pt x="750" y="36"/>
                  <a:pt x="750" y="36"/>
                </a:cubicBezTo>
                <a:cubicBezTo>
                  <a:pt x="792" y="35"/>
                  <a:pt x="792" y="35"/>
                  <a:pt x="792" y="35"/>
                </a:cubicBezTo>
                <a:cubicBezTo>
                  <a:pt x="821" y="34"/>
                  <a:pt x="850" y="33"/>
                  <a:pt x="879" y="32"/>
                </a:cubicBezTo>
                <a:cubicBezTo>
                  <a:pt x="921" y="30"/>
                  <a:pt x="921" y="30"/>
                  <a:pt x="921" y="30"/>
                </a:cubicBezTo>
                <a:cubicBezTo>
                  <a:pt x="937" y="30"/>
                  <a:pt x="953" y="29"/>
                  <a:pt x="969" y="27"/>
                </a:cubicBezTo>
                <a:cubicBezTo>
                  <a:pt x="973" y="26"/>
                  <a:pt x="979" y="25"/>
                  <a:pt x="982" y="22"/>
                </a:cubicBezTo>
                <a:cubicBezTo>
                  <a:pt x="984" y="20"/>
                  <a:pt x="986" y="17"/>
                  <a:pt x="987" y="15"/>
                </a:cubicBezTo>
                <a:cubicBezTo>
                  <a:pt x="989" y="13"/>
                  <a:pt x="990" y="10"/>
                  <a:pt x="989" y="8"/>
                </a:cubicBezTo>
                <a:cubicBezTo>
                  <a:pt x="988" y="4"/>
                  <a:pt x="985" y="3"/>
                  <a:pt x="982" y="2"/>
                </a:cubicBezTo>
                <a:cubicBezTo>
                  <a:pt x="975" y="0"/>
                  <a:pt x="968" y="0"/>
                  <a:pt x="962" y="0"/>
                </a:cubicBezTo>
                <a:cubicBezTo>
                  <a:pt x="934" y="0"/>
                  <a:pt x="934" y="0"/>
                  <a:pt x="934" y="0"/>
                </a:cubicBezTo>
                <a:cubicBezTo>
                  <a:pt x="930" y="0"/>
                  <a:pt x="926" y="0"/>
                  <a:pt x="922" y="0"/>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2" name="Content Placeholder 2">
            <a:extLst>
              <a:ext uri="{FF2B5EF4-FFF2-40B4-BE49-F238E27FC236}">
                <a16:creationId xmlns:a16="http://schemas.microsoft.com/office/drawing/2014/main" id="{8A378710-0B40-86B5-B2C6-AF290BD75FB3}"/>
              </a:ext>
            </a:extLst>
          </p:cNvPr>
          <p:cNvSpPr txBox="1">
            <a:spLocks/>
          </p:cNvSpPr>
          <p:nvPr/>
        </p:nvSpPr>
        <p:spPr>
          <a:xfrm>
            <a:off x="401032" y="716399"/>
            <a:ext cx="8510739" cy="938230"/>
          </a:xfrm>
          <a:prstGeom prst="rect">
            <a:avLst/>
          </a:prstGeom>
          <a:effectLst>
            <a:glow rad="63500">
              <a:schemeClr val="bg1">
                <a:lumMod val="65000"/>
                <a:alpha val="40000"/>
              </a:schemeClr>
            </a:glow>
          </a:effectLst>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1600" b="1">
                <a:latin typeface="Calibri" panose="020F0502020204030204" pitchFamily="34" charset="0"/>
                <a:cs typeface="Calibri" panose="020F0502020204030204" pitchFamily="34" charset="0"/>
              </a:rPr>
              <a:t>b. Cách vẽ: </a:t>
            </a:r>
          </a:p>
          <a:p>
            <a:pPr algn="l"/>
            <a:r>
              <a:rPr lang="en-US" sz="1600" b="1">
                <a:latin typeface="Calibri" panose="020F0502020204030204" pitchFamily="34" charset="0"/>
                <a:cs typeface="Calibri" panose="020F0502020204030204" pitchFamily="34" charset="0"/>
              </a:rPr>
              <a:t>Bước 2</a:t>
            </a:r>
            <a:r>
              <a:rPr lang="en-US" sz="1600">
                <a:latin typeface="Calibri" panose="020F0502020204030204" pitchFamily="34" charset="0"/>
                <a:cs typeface="Calibri" panose="020F0502020204030204" pitchFamily="34" charset="0"/>
              </a:rPr>
              <a:t>: </a:t>
            </a:r>
            <a:r>
              <a:rPr lang="vi-VN" sz="1600">
                <a:latin typeface="Calibri" panose="020F0502020204030204" pitchFamily="34" charset="0"/>
                <a:cs typeface="Calibri" panose="020F0502020204030204" pitchFamily="34" charset="0"/>
              </a:rPr>
              <a:t>Chọn thẻ Insert</a:t>
            </a:r>
            <a:r>
              <a:rPr lang="en-US" sz="1600">
                <a:latin typeface="Calibri" panose="020F0502020204030204" pitchFamily="34" charset="0"/>
                <a:cs typeface="Calibri" panose="020F0502020204030204" pitchFamily="34" charset="0"/>
              </a:rPr>
              <a:t> (1)</a:t>
            </a:r>
            <a:r>
              <a:rPr lang="vi-VN" sz="1600">
                <a:latin typeface="Calibri" panose="020F0502020204030204" pitchFamily="34" charset="0"/>
                <a:cs typeface="Calibri" panose="020F0502020204030204" pitchFamily="34" charset="0"/>
              </a:rPr>
              <a:t> trên thanh Ribbon -&gt;</a:t>
            </a:r>
            <a:r>
              <a:rPr lang="en-US" sz="1600">
                <a:latin typeface="Calibri" panose="020F0502020204030204" pitchFamily="34" charset="0"/>
                <a:cs typeface="Calibri" panose="020F0502020204030204" pitchFamily="34" charset="0"/>
              </a:rPr>
              <a:t> chọn “Recommended Chart” (2)</a:t>
            </a:r>
          </a:p>
          <a:p>
            <a:pPr algn="l"/>
            <a:r>
              <a:rPr lang="en-US" sz="1600">
                <a:latin typeface="Calibri" panose="020F0502020204030204" pitchFamily="34" charset="0"/>
                <a:cs typeface="Calibri" panose="020F0502020204030204" pitchFamily="34" charset="0"/>
              </a:rPr>
              <a:t>=&gt; All Charts (3)</a:t>
            </a:r>
          </a:p>
          <a:p>
            <a:pPr algn="l"/>
            <a:r>
              <a:rPr lang="en-US" sz="1600">
                <a:latin typeface="Calibri" panose="020F0502020204030204" pitchFamily="34" charset="0"/>
                <a:cs typeface="Calibri" panose="020F0502020204030204" pitchFamily="34" charset="0"/>
              </a:rPr>
              <a:t>=&gt;  Combo (4)</a:t>
            </a:r>
          </a:p>
          <a:p>
            <a:pPr marL="285750" indent="-285750" algn="l">
              <a:buFont typeface="Symbol" panose="05050102010706020507" pitchFamily="18" charset="2"/>
              <a:buChar char="Þ"/>
            </a:pPr>
            <a:r>
              <a:rPr lang="en-US" sz="1600">
                <a:latin typeface="Calibri" panose="020F0502020204030204" pitchFamily="34" charset="0"/>
                <a:cs typeface="Calibri" panose="020F0502020204030204" pitchFamily="34" charset="0"/>
              </a:rPr>
              <a:t>Có thể chuyển từ </a:t>
            </a:r>
          </a:p>
          <a:p>
            <a:pPr algn="l"/>
            <a:r>
              <a:rPr lang="en-US" sz="1600">
                <a:latin typeface="Calibri" panose="020F0502020204030204" pitchFamily="34" charset="0"/>
                <a:cs typeface="Calibri" panose="020F0502020204030204" pitchFamily="34" charset="0"/>
              </a:rPr>
              <a:t>Line thành cột</a:t>
            </a:r>
          </a:p>
          <a:p>
            <a:pPr algn="l"/>
            <a:r>
              <a:rPr lang="en-US" sz="1600">
                <a:latin typeface="Calibri" panose="020F0502020204030204" pitchFamily="34" charset="0"/>
                <a:cs typeface="Calibri" panose="020F0502020204030204" pitchFamily="34" charset="0"/>
              </a:rPr>
              <a:t>(Clustered column)(5)</a:t>
            </a:r>
          </a:p>
          <a:p>
            <a:pPr algn="l"/>
            <a:r>
              <a:rPr lang="en-US" sz="1600">
                <a:latin typeface="Calibri" panose="020F0502020204030204" pitchFamily="34" charset="0"/>
                <a:cs typeface="Calibri" panose="020F0502020204030204" pitchFamily="34" charset="0"/>
              </a:rPr>
              <a:t>Tùy theo mục đích</a:t>
            </a:r>
          </a:p>
          <a:p>
            <a:pPr algn="l"/>
            <a:r>
              <a:rPr lang="en-US" sz="1600">
                <a:latin typeface="Calibri" panose="020F0502020204030204" pitchFamily="34" charset="0"/>
                <a:cs typeface="Calibri" panose="020F0502020204030204" pitchFamily="34" charset="0"/>
              </a:rPr>
              <a:t>=&gt; Nhấn OK (6)</a:t>
            </a:r>
          </a:p>
          <a:p>
            <a:pPr marL="342900" indent="-342900" algn="l">
              <a:buAutoNum type="alphaUcPeriod"/>
            </a:pPr>
            <a:endParaRPr lang="en-US" sz="1600">
              <a:latin typeface="Calibri" panose="020F0502020204030204" pitchFamily="34" charset="0"/>
              <a:cs typeface="Calibri" panose="020F0502020204030204" pitchFamily="34" charset="0"/>
            </a:endParaRPr>
          </a:p>
        </p:txBody>
      </p:sp>
      <p:sp>
        <p:nvSpPr>
          <p:cNvPr id="5" name="Oval 4">
            <a:extLst>
              <a:ext uri="{FF2B5EF4-FFF2-40B4-BE49-F238E27FC236}">
                <a16:creationId xmlns:a16="http://schemas.microsoft.com/office/drawing/2014/main" id="{330181B2-E767-7FC3-F9E2-8B955CB3BD92}"/>
              </a:ext>
            </a:extLst>
          </p:cNvPr>
          <p:cNvSpPr/>
          <p:nvPr/>
        </p:nvSpPr>
        <p:spPr>
          <a:xfrm>
            <a:off x="2403554" y="1547814"/>
            <a:ext cx="352425" cy="352425"/>
          </a:xfrm>
          <a:prstGeom prst="ellipse">
            <a:avLst/>
          </a:prstGeom>
          <a:solidFill>
            <a:srgbClr val="00B05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1</a:t>
            </a:r>
          </a:p>
        </p:txBody>
      </p:sp>
      <p:sp>
        <p:nvSpPr>
          <p:cNvPr id="9" name="Oval 8">
            <a:extLst>
              <a:ext uri="{FF2B5EF4-FFF2-40B4-BE49-F238E27FC236}">
                <a16:creationId xmlns:a16="http://schemas.microsoft.com/office/drawing/2014/main" id="{AC7706FF-68D5-0D42-C290-A645EA8D1F69}"/>
              </a:ext>
            </a:extLst>
          </p:cNvPr>
          <p:cNvSpPr/>
          <p:nvPr/>
        </p:nvSpPr>
        <p:spPr>
          <a:xfrm>
            <a:off x="3327444" y="2191150"/>
            <a:ext cx="352425" cy="352425"/>
          </a:xfrm>
          <a:prstGeom prst="ellipse">
            <a:avLst/>
          </a:prstGeom>
          <a:solidFill>
            <a:srgbClr val="00B05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2</a:t>
            </a:r>
          </a:p>
        </p:txBody>
      </p:sp>
      <p:sp>
        <p:nvSpPr>
          <p:cNvPr id="10" name="Oval 9">
            <a:extLst>
              <a:ext uri="{FF2B5EF4-FFF2-40B4-BE49-F238E27FC236}">
                <a16:creationId xmlns:a16="http://schemas.microsoft.com/office/drawing/2014/main" id="{FD01FBCE-71CA-6A03-05F1-88B404BA9EC7}"/>
              </a:ext>
            </a:extLst>
          </p:cNvPr>
          <p:cNvSpPr/>
          <p:nvPr/>
        </p:nvSpPr>
        <p:spPr>
          <a:xfrm>
            <a:off x="4991628" y="1511766"/>
            <a:ext cx="352425" cy="352425"/>
          </a:xfrm>
          <a:prstGeom prst="ellipse">
            <a:avLst/>
          </a:prstGeom>
          <a:solidFill>
            <a:srgbClr val="00B05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3</a:t>
            </a:r>
          </a:p>
        </p:txBody>
      </p:sp>
      <p:sp>
        <p:nvSpPr>
          <p:cNvPr id="13" name="Oval 12">
            <a:extLst>
              <a:ext uri="{FF2B5EF4-FFF2-40B4-BE49-F238E27FC236}">
                <a16:creationId xmlns:a16="http://schemas.microsoft.com/office/drawing/2014/main" id="{F756A4EA-63F5-9FF0-DB3A-2E8FCCC13C0A}"/>
              </a:ext>
            </a:extLst>
          </p:cNvPr>
          <p:cNvSpPr/>
          <p:nvPr/>
        </p:nvSpPr>
        <p:spPr>
          <a:xfrm>
            <a:off x="4639203" y="5488891"/>
            <a:ext cx="352425" cy="352425"/>
          </a:xfrm>
          <a:prstGeom prst="ellipse">
            <a:avLst/>
          </a:prstGeom>
          <a:solidFill>
            <a:srgbClr val="00B05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4</a:t>
            </a:r>
          </a:p>
        </p:txBody>
      </p:sp>
      <p:sp>
        <p:nvSpPr>
          <p:cNvPr id="14" name="Oval 13">
            <a:extLst>
              <a:ext uri="{FF2B5EF4-FFF2-40B4-BE49-F238E27FC236}">
                <a16:creationId xmlns:a16="http://schemas.microsoft.com/office/drawing/2014/main" id="{98ED15C3-2242-0E26-00C3-327EF627EA56}"/>
              </a:ext>
            </a:extLst>
          </p:cNvPr>
          <p:cNvSpPr/>
          <p:nvPr/>
        </p:nvSpPr>
        <p:spPr>
          <a:xfrm>
            <a:off x="7744794" y="5587500"/>
            <a:ext cx="352425" cy="352425"/>
          </a:xfrm>
          <a:prstGeom prst="ellipse">
            <a:avLst/>
          </a:prstGeom>
          <a:solidFill>
            <a:srgbClr val="00B05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5</a:t>
            </a:r>
          </a:p>
        </p:txBody>
      </p:sp>
      <p:sp>
        <p:nvSpPr>
          <p:cNvPr id="15" name="Oval 14">
            <a:extLst>
              <a:ext uri="{FF2B5EF4-FFF2-40B4-BE49-F238E27FC236}">
                <a16:creationId xmlns:a16="http://schemas.microsoft.com/office/drawing/2014/main" id="{2EA93B55-F8D1-7596-2FBE-616293E78855}"/>
              </a:ext>
            </a:extLst>
          </p:cNvPr>
          <p:cNvSpPr/>
          <p:nvPr/>
        </p:nvSpPr>
        <p:spPr>
          <a:xfrm>
            <a:off x="7250270" y="6003520"/>
            <a:ext cx="352425" cy="352425"/>
          </a:xfrm>
          <a:prstGeom prst="ellipse">
            <a:avLst/>
          </a:prstGeom>
          <a:solidFill>
            <a:srgbClr val="00B05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6</a:t>
            </a:r>
          </a:p>
        </p:txBody>
      </p:sp>
    </p:spTree>
    <p:extLst>
      <p:ext uri="{BB962C8B-B14F-4D97-AF65-F5344CB8AC3E}">
        <p14:creationId xmlns:p14="http://schemas.microsoft.com/office/powerpoint/2010/main" val="21124763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A2260AF-203A-658F-9E73-F43B785768E1}"/>
              </a:ext>
            </a:extLst>
          </p:cNvPr>
          <p:cNvPicPr>
            <a:picLocks noChangeAspect="1"/>
          </p:cNvPicPr>
          <p:nvPr/>
        </p:nvPicPr>
        <p:blipFill>
          <a:blip r:embed="rId3"/>
          <a:stretch>
            <a:fillRect/>
          </a:stretch>
        </p:blipFill>
        <p:spPr>
          <a:xfrm>
            <a:off x="1372084" y="2410181"/>
            <a:ext cx="6052987" cy="3718598"/>
          </a:xfrm>
          <a:prstGeom prst="rect">
            <a:avLst/>
          </a:prstGeom>
          <a:effectLst>
            <a:glow rad="63500">
              <a:schemeClr val="bg1">
                <a:lumMod val="65000"/>
                <a:alpha val="40000"/>
              </a:schemeClr>
            </a:glow>
          </a:effectLst>
        </p:spPr>
      </p:pic>
      <p:sp>
        <p:nvSpPr>
          <p:cNvPr id="7" name="Slide Number Placeholder 5"/>
          <p:cNvSpPr>
            <a:spLocks noGrp="1"/>
          </p:cNvSpPr>
          <p:nvPr>
            <p:ph type="sldNum" sz="quarter" idx="4"/>
          </p:nvPr>
        </p:nvSpPr>
        <p:spPr>
          <a:prstGeom prst="rect">
            <a:avLst/>
          </a:prstGeom>
        </p:spPr>
        <p:txBody>
          <a:bodyPr vert="horz" lIns="0" tIns="0" rIns="0" bIns="0" rtlCol="0" anchor="ctr" anchorCtr="0"/>
          <a:lstStyle>
            <a:lvl1pPr algn="r">
              <a:defRPr sz="1800">
                <a:solidFill>
                  <a:schemeClr val="tx1"/>
                </a:solidFill>
              </a:defRPr>
            </a:lvl1pPr>
          </a:lstStyle>
          <a:p>
            <a:fld id="{A3381702-59A5-4643-AE93-D7BF7F78153B}" type="slidenum">
              <a:rPr lang="en-GB" smtClean="0"/>
              <a:pPr/>
              <a:t>27</a:t>
            </a:fld>
            <a:endParaRPr lang="en-GB" dirty="0"/>
          </a:p>
        </p:txBody>
      </p:sp>
      <p:sp>
        <p:nvSpPr>
          <p:cNvPr id="8" name="Footer Placeholder 4"/>
          <p:cNvSpPr>
            <a:spLocks noGrp="1"/>
          </p:cNvSpPr>
          <p:nvPr>
            <p:ph type="ftr" sz="quarter" idx="3"/>
          </p:nvPr>
        </p:nvSpPr>
        <p:spPr>
          <a:prstGeom prst="rect">
            <a:avLst/>
          </a:prstGeom>
        </p:spPr>
        <p:txBody>
          <a:bodyPr vert="horz" lIns="0" tIns="0" rIns="0" bIns="0" rtlCol="0" anchor="t" anchorCtr="0"/>
          <a:lstStyle>
            <a:lvl1pPr algn="r">
              <a:defRPr sz="700">
                <a:solidFill>
                  <a:schemeClr val="tx1"/>
                </a:solidFill>
                <a:latin typeface="+mn-lt"/>
              </a:defRPr>
            </a:lvl1pPr>
          </a:lstStyle>
          <a:p>
            <a:r>
              <a:rPr lang="fr-FR" altLang="ja-JP" dirty="0"/>
              <a:t>©20</a:t>
            </a:r>
            <a:r>
              <a:rPr lang="en-US" altLang="ja-JP" dirty="0"/>
              <a:t>23</a:t>
            </a:r>
            <a:r>
              <a:rPr lang="fr-FR" altLang="ja-JP" dirty="0"/>
              <a:t> KYOCERA Document Solutions Inc.</a:t>
            </a:r>
            <a:endParaRPr lang="en-GB" dirty="0"/>
          </a:p>
        </p:txBody>
      </p:sp>
      <p:sp>
        <p:nvSpPr>
          <p:cNvPr id="4" name="Rectangle 3">
            <a:extLst>
              <a:ext uri="{FF2B5EF4-FFF2-40B4-BE49-F238E27FC236}">
                <a16:creationId xmlns:a16="http://schemas.microsoft.com/office/drawing/2014/main" id="{0BAEFD46-8DC5-BB64-F040-FD68EE6A7C2D}"/>
              </a:ext>
            </a:extLst>
          </p:cNvPr>
          <p:cNvSpPr/>
          <p:nvPr/>
        </p:nvSpPr>
        <p:spPr>
          <a:xfrm>
            <a:off x="295745" y="40624"/>
            <a:ext cx="8722810" cy="6207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nSpc>
                <a:spcPct val="107000"/>
              </a:lnSpc>
              <a:spcBef>
                <a:spcPts val="0"/>
              </a:spcBef>
              <a:spcAft>
                <a:spcPts val="800"/>
              </a:spcAft>
              <a:tabLst>
                <a:tab pos="457200" algn="l"/>
              </a:tabLst>
            </a:pPr>
            <a:r>
              <a:rPr lang="en-US" sz="2200" b="1">
                <a:solidFill>
                  <a:schemeClr val="tx1"/>
                </a:solidFill>
                <a:latin typeface="Calibri" panose="020F0502020204030204" pitchFamily="34" charset="0"/>
                <a:ea typeface="游明朝" panose="02020400000000000000" pitchFamily="18" charset="-128"/>
                <a:cs typeface="Times New Roman" panose="02020603050405020304" pitchFamily="18" charset="0"/>
              </a:rPr>
              <a:t>4</a:t>
            </a:r>
            <a:r>
              <a:rPr lang="en-US" sz="2200" b="1">
                <a:solidFill>
                  <a:schemeClr val="tx1"/>
                </a:solidFill>
                <a:effectLst/>
                <a:latin typeface="Calibri" panose="020F0502020204030204" pitchFamily="34" charset="0"/>
                <a:ea typeface="游明朝" panose="02020400000000000000" pitchFamily="18" charset="-128"/>
                <a:cs typeface="Times New Roman" panose="02020603050405020304" pitchFamily="18" charset="0"/>
              </a:rPr>
              <a:t>. BIỂU ĐỒ KẾT HỢP</a:t>
            </a:r>
            <a:endParaRPr lang="en-US" sz="2200">
              <a:solidFill>
                <a:schemeClr val="tx1"/>
              </a:solidFill>
              <a:effectLst/>
              <a:latin typeface="Calibri" panose="020F0502020204030204" pitchFamily="34" charset="0"/>
              <a:ea typeface="游明朝" panose="02020400000000000000" pitchFamily="18" charset="-128"/>
              <a:cs typeface="Times New Roman" panose="02020603050405020304" pitchFamily="18" charset="0"/>
            </a:endParaRPr>
          </a:p>
        </p:txBody>
      </p:sp>
      <p:sp>
        <p:nvSpPr>
          <p:cNvPr id="6" name="Freeform 34">
            <a:extLst>
              <a:ext uri="{FF2B5EF4-FFF2-40B4-BE49-F238E27FC236}">
                <a16:creationId xmlns:a16="http://schemas.microsoft.com/office/drawing/2014/main" id="{E988D51C-281C-0FC1-508D-073F501DA6DF}"/>
              </a:ext>
            </a:extLst>
          </p:cNvPr>
          <p:cNvSpPr>
            <a:spLocks noChangeAspect="1"/>
          </p:cNvSpPr>
          <p:nvPr/>
        </p:nvSpPr>
        <p:spPr bwMode="auto">
          <a:xfrm rot="10800000" flipV="1">
            <a:off x="509368" y="536909"/>
            <a:ext cx="1655684" cy="47957"/>
          </a:xfrm>
          <a:custGeom>
            <a:avLst/>
            <a:gdLst>
              <a:gd name="T0" fmla="*/ 922 w 990"/>
              <a:gd name="T1" fmla="*/ 0 h 36"/>
              <a:gd name="T2" fmla="*/ 907 w 990"/>
              <a:gd name="T3" fmla="*/ 0 h 36"/>
              <a:gd name="T4" fmla="*/ 880 w 990"/>
              <a:gd name="T5" fmla="*/ 1 h 36"/>
              <a:gd name="T6" fmla="*/ 839 w 990"/>
              <a:gd name="T7" fmla="*/ 3 h 36"/>
              <a:gd name="T8" fmla="*/ 818 w 990"/>
              <a:gd name="T9" fmla="*/ 3 h 36"/>
              <a:gd name="T10" fmla="*/ 798 w 990"/>
              <a:gd name="T11" fmla="*/ 4 h 36"/>
              <a:gd name="T12" fmla="*/ 757 w 990"/>
              <a:gd name="T13" fmla="*/ 5 h 36"/>
              <a:gd name="T14" fmla="*/ 718 w 990"/>
              <a:gd name="T15" fmla="*/ 5 h 36"/>
              <a:gd name="T16" fmla="*/ 662 w 990"/>
              <a:gd name="T17" fmla="*/ 5 h 36"/>
              <a:gd name="T18" fmla="*/ 540 w 990"/>
              <a:gd name="T19" fmla="*/ 4 h 36"/>
              <a:gd name="T20" fmla="*/ 512 w 990"/>
              <a:gd name="T21" fmla="*/ 4 h 36"/>
              <a:gd name="T22" fmla="*/ 511 w 990"/>
              <a:gd name="T23" fmla="*/ 4 h 36"/>
              <a:gd name="T24" fmla="*/ 484 w 990"/>
              <a:gd name="T25" fmla="*/ 5 h 36"/>
              <a:gd name="T26" fmla="*/ 419 w 990"/>
              <a:gd name="T27" fmla="*/ 5 h 36"/>
              <a:gd name="T28" fmla="*/ 353 w 990"/>
              <a:gd name="T29" fmla="*/ 7 h 36"/>
              <a:gd name="T30" fmla="*/ 350 w 990"/>
              <a:gd name="T31" fmla="*/ 7 h 36"/>
              <a:gd name="T32" fmla="*/ 288 w 990"/>
              <a:gd name="T33" fmla="*/ 5 h 36"/>
              <a:gd name="T34" fmla="*/ 265 w 990"/>
              <a:gd name="T35" fmla="*/ 4 h 36"/>
              <a:gd name="T36" fmla="*/ 244 w 990"/>
              <a:gd name="T37" fmla="*/ 4 h 36"/>
              <a:gd name="T38" fmla="*/ 224 w 990"/>
              <a:gd name="T39" fmla="*/ 4 h 36"/>
              <a:gd name="T40" fmla="*/ 223 w 990"/>
              <a:gd name="T41" fmla="*/ 4 h 36"/>
              <a:gd name="T42" fmla="*/ 222 w 990"/>
              <a:gd name="T43" fmla="*/ 4 h 36"/>
              <a:gd name="T44" fmla="*/ 190 w 990"/>
              <a:gd name="T45" fmla="*/ 4 h 36"/>
              <a:gd name="T46" fmla="*/ 158 w 990"/>
              <a:gd name="T47" fmla="*/ 4 h 36"/>
              <a:gd name="T48" fmla="*/ 157 w 990"/>
              <a:gd name="T49" fmla="*/ 4 h 36"/>
              <a:gd name="T50" fmla="*/ 91 w 990"/>
              <a:gd name="T51" fmla="*/ 5 h 36"/>
              <a:gd name="T52" fmla="*/ 58 w 990"/>
              <a:gd name="T53" fmla="*/ 6 h 36"/>
              <a:gd name="T54" fmla="*/ 26 w 990"/>
              <a:gd name="T55" fmla="*/ 8 h 36"/>
              <a:gd name="T56" fmla="*/ 10 w 990"/>
              <a:gd name="T57" fmla="*/ 10 h 36"/>
              <a:gd name="T58" fmla="*/ 6 w 990"/>
              <a:gd name="T59" fmla="*/ 10 h 36"/>
              <a:gd name="T60" fmla="*/ 5 w 990"/>
              <a:gd name="T61" fmla="*/ 10 h 36"/>
              <a:gd name="T62" fmla="*/ 5 w 990"/>
              <a:gd name="T63" fmla="*/ 10 h 36"/>
              <a:gd name="T64" fmla="*/ 4 w 990"/>
              <a:gd name="T65" fmla="*/ 10 h 36"/>
              <a:gd name="T66" fmla="*/ 2 w 990"/>
              <a:gd name="T67" fmla="*/ 10 h 36"/>
              <a:gd name="T68" fmla="*/ 1 w 990"/>
              <a:gd name="T69" fmla="*/ 12 h 36"/>
              <a:gd name="T70" fmla="*/ 4 w 990"/>
              <a:gd name="T71" fmla="*/ 17 h 36"/>
              <a:gd name="T72" fmla="*/ 4 w 990"/>
              <a:gd name="T73" fmla="*/ 17 h 36"/>
              <a:gd name="T74" fmla="*/ 63 w 990"/>
              <a:gd name="T75" fmla="*/ 16 h 36"/>
              <a:gd name="T76" fmla="*/ 70 w 990"/>
              <a:gd name="T77" fmla="*/ 16 h 36"/>
              <a:gd name="T78" fmla="*/ 122 w 990"/>
              <a:gd name="T79" fmla="*/ 17 h 36"/>
              <a:gd name="T80" fmla="*/ 153 w 990"/>
              <a:gd name="T81" fmla="*/ 19 h 36"/>
              <a:gd name="T82" fmla="*/ 183 w 990"/>
              <a:gd name="T83" fmla="*/ 20 h 36"/>
              <a:gd name="T84" fmla="*/ 244 w 990"/>
              <a:gd name="T85" fmla="*/ 22 h 36"/>
              <a:gd name="T86" fmla="*/ 305 w 990"/>
              <a:gd name="T87" fmla="*/ 24 h 36"/>
              <a:gd name="T88" fmla="*/ 336 w 990"/>
              <a:gd name="T89" fmla="*/ 26 h 36"/>
              <a:gd name="T90" fmla="*/ 375 w 990"/>
              <a:gd name="T91" fmla="*/ 28 h 36"/>
              <a:gd name="T92" fmla="*/ 489 w 990"/>
              <a:gd name="T93" fmla="*/ 32 h 36"/>
              <a:gd name="T94" fmla="*/ 612 w 990"/>
              <a:gd name="T95" fmla="*/ 36 h 36"/>
              <a:gd name="T96" fmla="*/ 665 w 990"/>
              <a:gd name="T97" fmla="*/ 36 h 36"/>
              <a:gd name="T98" fmla="*/ 707 w 990"/>
              <a:gd name="T99" fmla="*/ 36 h 36"/>
              <a:gd name="T100" fmla="*/ 750 w 990"/>
              <a:gd name="T101" fmla="*/ 36 h 36"/>
              <a:gd name="T102" fmla="*/ 792 w 990"/>
              <a:gd name="T103" fmla="*/ 35 h 36"/>
              <a:gd name="T104" fmla="*/ 879 w 990"/>
              <a:gd name="T105" fmla="*/ 32 h 36"/>
              <a:gd name="T106" fmla="*/ 921 w 990"/>
              <a:gd name="T107" fmla="*/ 30 h 36"/>
              <a:gd name="T108" fmla="*/ 969 w 990"/>
              <a:gd name="T109" fmla="*/ 27 h 36"/>
              <a:gd name="T110" fmla="*/ 982 w 990"/>
              <a:gd name="T111" fmla="*/ 22 h 36"/>
              <a:gd name="T112" fmla="*/ 987 w 990"/>
              <a:gd name="T113" fmla="*/ 15 h 36"/>
              <a:gd name="T114" fmla="*/ 989 w 990"/>
              <a:gd name="T115" fmla="*/ 8 h 36"/>
              <a:gd name="T116" fmla="*/ 982 w 990"/>
              <a:gd name="T117" fmla="*/ 2 h 36"/>
              <a:gd name="T118" fmla="*/ 962 w 990"/>
              <a:gd name="T119" fmla="*/ 0 h 36"/>
              <a:gd name="T120" fmla="*/ 934 w 990"/>
              <a:gd name="T121" fmla="*/ 0 h 36"/>
              <a:gd name="T122" fmla="*/ 922 w 990"/>
              <a:gd name="T1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0" h="36">
                <a:moveTo>
                  <a:pt x="922" y="0"/>
                </a:moveTo>
                <a:cubicBezTo>
                  <a:pt x="917" y="0"/>
                  <a:pt x="912" y="0"/>
                  <a:pt x="907" y="0"/>
                </a:cubicBezTo>
                <a:cubicBezTo>
                  <a:pt x="898" y="0"/>
                  <a:pt x="889" y="1"/>
                  <a:pt x="880" y="1"/>
                </a:cubicBezTo>
                <a:cubicBezTo>
                  <a:pt x="839" y="3"/>
                  <a:pt x="839" y="3"/>
                  <a:pt x="839" y="3"/>
                </a:cubicBezTo>
                <a:cubicBezTo>
                  <a:pt x="818" y="3"/>
                  <a:pt x="818" y="3"/>
                  <a:pt x="818" y="3"/>
                </a:cubicBezTo>
                <a:cubicBezTo>
                  <a:pt x="798" y="4"/>
                  <a:pt x="798" y="4"/>
                  <a:pt x="798" y="4"/>
                </a:cubicBezTo>
                <a:cubicBezTo>
                  <a:pt x="757" y="5"/>
                  <a:pt x="757" y="5"/>
                  <a:pt x="757" y="5"/>
                </a:cubicBezTo>
                <a:cubicBezTo>
                  <a:pt x="744" y="5"/>
                  <a:pt x="731" y="5"/>
                  <a:pt x="718" y="5"/>
                </a:cubicBezTo>
                <a:cubicBezTo>
                  <a:pt x="699" y="5"/>
                  <a:pt x="681" y="5"/>
                  <a:pt x="662" y="5"/>
                </a:cubicBezTo>
                <a:cubicBezTo>
                  <a:pt x="540" y="4"/>
                  <a:pt x="540" y="4"/>
                  <a:pt x="540" y="4"/>
                </a:cubicBezTo>
                <a:cubicBezTo>
                  <a:pt x="512" y="4"/>
                  <a:pt x="512" y="4"/>
                  <a:pt x="512" y="4"/>
                </a:cubicBezTo>
                <a:cubicBezTo>
                  <a:pt x="512" y="4"/>
                  <a:pt x="511" y="4"/>
                  <a:pt x="511" y="4"/>
                </a:cubicBezTo>
                <a:cubicBezTo>
                  <a:pt x="502" y="4"/>
                  <a:pt x="493" y="4"/>
                  <a:pt x="484" y="5"/>
                </a:cubicBezTo>
                <a:cubicBezTo>
                  <a:pt x="462" y="5"/>
                  <a:pt x="441" y="5"/>
                  <a:pt x="419" y="5"/>
                </a:cubicBezTo>
                <a:cubicBezTo>
                  <a:pt x="397" y="6"/>
                  <a:pt x="375" y="7"/>
                  <a:pt x="353" y="7"/>
                </a:cubicBezTo>
                <a:cubicBezTo>
                  <a:pt x="352" y="7"/>
                  <a:pt x="351" y="7"/>
                  <a:pt x="350" y="7"/>
                </a:cubicBezTo>
                <a:cubicBezTo>
                  <a:pt x="330" y="7"/>
                  <a:pt x="309" y="5"/>
                  <a:pt x="288" y="5"/>
                </a:cubicBezTo>
                <a:cubicBezTo>
                  <a:pt x="280" y="4"/>
                  <a:pt x="272" y="4"/>
                  <a:pt x="265" y="4"/>
                </a:cubicBezTo>
                <a:cubicBezTo>
                  <a:pt x="258" y="4"/>
                  <a:pt x="251" y="4"/>
                  <a:pt x="244" y="4"/>
                </a:cubicBezTo>
                <a:cubicBezTo>
                  <a:pt x="237" y="4"/>
                  <a:pt x="230" y="4"/>
                  <a:pt x="224" y="4"/>
                </a:cubicBezTo>
                <a:cubicBezTo>
                  <a:pt x="223" y="4"/>
                  <a:pt x="223" y="4"/>
                  <a:pt x="223" y="4"/>
                </a:cubicBezTo>
                <a:cubicBezTo>
                  <a:pt x="223" y="4"/>
                  <a:pt x="222" y="4"/>
                  <a:pt x="222" y="4"/>
                </a:cubicBezTo>
                <a:cubicBezTo>
                  <a:pt x="212" y="4"/>
                  <a:pt x="201" y="4"/>
                  <a:pt x="190" y="4"/>
                </a:cubicBezTo>
                <a:cubicBezTo>
                  <a:pt x="180" y="4"/>
                  <a:pt x="169" y="4"/>
                  <a:pt x="158" y="4"/>
                </a:cubicBezTo>
                <a:cubicBezTo>
                  <a:pt x="158" y="4"/>
                  <a:pt x="157" y="4"/>
                  <a:pt x="157" y="4"/>
                </a:cubicBezTo>
                <a:cubicBezTo>
                  <a:pt x="135" y="4"/>
                  <a:pt x="113" y="4"/>
                  <a:pt x="91" y="5"/>
                </a:cubicBezTo>
                <a:cubicBezTo>
                  <a:pt x="80" y="5"/>
                  <a:pt x="69" y="6"/>
                  <a:pt x="58" y="6"/>
                </a:cubicBezTo>
                <a:cubicBezTo>
                  <a:pt x="48" y="6"/>
                  <a:pt x="37" y="7"/>
                  <a:pt x="26" y="8"/>
                </a:cubicBezTo>
                <a:cubicBezTo>
                  <a:pt x="10" y="10"/>
                  <a:pt x="10" y="10"/>
                  <a:pt x="10" y="10"/>
                </a:cubicBezTo>
                <a:cubicBezTo>
                  <a:pt x="6" y="10"/>
                  <a:pt x="6" y="10"/>
                  <a:pt x="6" y="10"/>
                </a:cubicBezTo>
                <a:cubicBezTo>
                  <a:pt x="6" y="10"/>
                  <a:pt x="5" y="10"/>
                  <a:pt x="5" y="10"/>
                </a:cubicBezTo>
                <a:cubicBezTo>
                  <a:pt x="5" y="10"/>
                  <a:pt x="5" y="10"/>
                  <a:pt x="5" y="10"/>
                </a:cubicBezTo>
                <a:cubicBezTo>
                  <a:pt x="4" y="10"/>
                  <a:pt x="4" y="10"/>
                  <a:pt x="4" y="10"/>
                </a:cubicBezTo>
                <a:cubicBezTo>
                  <a:pt x="3" y="10"/>
                  <a:pt x="2" y="10"/>
                  <a:pt x="2" y="10"/>
                </a:cubicBezTo>
                <a:cubicBezTo>
                  <a:pt x="1" y="10"/>
                  <a:pt x="1" y="11"/>
                  <a:pt x="1" y="12"/>
                </a:cubicBezTo>
                <a:cubicBezTo>
                  <a:pt x="0" y="15"/>
                  <a:pt x="2" y="17"/>
                  <a:pt x="4" y="17"/>
                </a:cubicBezTo>
                <a:cubicBezTo>
                  <a:pt x="4" y="17"/>
                  <a:pt x="4" y="17"/>
                  <a:pt x="4" y="17"/>
                </a:cubicBezTo>
                <a:cubicBezTo>
                  <a:pt x="24" y="17"/>
                  <a:pt x="43" y="16"/>
                  <a:pt x="63" y="16"/>
                </a:cubicBezTo>
                <a:cubicBezTo>
                  <a:pt x="65" y="16"/>
                  <a:pt x="67" y="16"/>
                  <a:pt x="70" y="16"/>
                </a:cubicBezTo>
                <a:cubicBezTo>
                  <a:pt x="87" y="16"/>
                  <a:pt x="105" y="16"/>
                  <a:pt x="122" y="17"/>
                </a:cubicBezTo>
                <a:cubicBezTo>
                  <a:pt x="133" y="18"/>
                  <a:pt x="143" y="19"/>
                  <a:pt x="153" y="19"/>
                </a:cubicBezTo>
                <a:cubicBezTo>
                  <a:pt x="183" y="20"/>
                  <a:pt x="183" y="20"/>
                  <a:pt x="183" y="20"/>
                </a:cubicBezTo>
                <a:cubicBezTo>
                  <a:pt x="203" y="20"/>
                  <a:pt x="224" y="21"/>
                  <a:pt x="244" y="22"/>
                </a:cubicBezTo>
                <a:cubicBezTo>
                  <a:pt x="265" y="22"/>
                  <a:pt x="285" y="23"/>
                  <a:pt x="305" y="24"/>
                </a:cubicBezTo>
                <a:cubicBezTo>
                  <a:pt x="336" y="26"/>
                  <a:pt x="336" y="26"/>
                  <a:pt x="336" y="26"/>
                </a:cubicBezTo>
                <a:cubicBezTo>
                  <a:pt x="346" y="26"/>
                  <a:pt x="361" y="28"/>
                  <a:pt x="375" y="28"/>
                </a:cubicBezTo>
                <a:cubicBezTo>
                  <a:pt x="416" y="31"/>
                  <a:pt x="448" y="31"/>
                  <a:pt x="489" y="32"/>
                </a:cubicBezTo>
                <a:cubicBezTo>
                  <a:pt x="530" y="34"/>
                  <a:pt x="571" y="35"/>
                  <a:pt x="612" y="36"/>
                </a:cubicBezTo>
                <a:cubicBezTo>
                  <a:pt x="629" y="36"/>
                  <a:pt x="647" y="36"/>
                  <a:pt x="665" y="36"/>
                </a:cubicBezTo>
                <a:cubicBezTo>
                  <a:pt x="679" y="36"/>
                  <a:pt x="693" y="36"/>
                  <a:pt x="707" y="36"/>
                </a:cubicBezTo>
                <a:cubicBezTo>
                  <a:pt x="750" y="36"/>
                  <a:pt x="750" y="36"/>
                  <a:pt x="750" y="36"/>
                </a:cubicBezTo>
                <a:cubicBezTo>
                  <a:pt x="792" y="35"/>
                  <a:pt x="792" y="35"/>
                  <a:pt x="792" y="35"/>
                </a:cubicBezTo>
                <a:cubicBezTo>
                  <a:pt x="821" y="34"/>
                  <a:pt x="850" y="33"/>
                  <a:pt x="879" y="32"/>
                </a:cubicBezTo>
                <a:cubicBezTo>
                  <a:pt x="921" y="30"/>
                  <a:pt x="921" y="30"/>
                  <a:pt x="921" y="30"/>
                </a:cubicBezTo>
                <a:cubicBezTo>
                  <a:pt x="937" y="30"/>
                  <a:pt x="953" y="29"/>
                  <a:pt x="969" y="27"/>
                </a:cubicBezTo>
                <a:cubicBezTo>
                  <a:pt x="973" y="26"/>
                  <a:pt x="979" y="25"/>
                  <a:pt x="982" y="22"/>
                </a:cubicBezTo>
                <a:cubicBezTo>
                  <a:pt x="984" y="20"/>
                  <a:pt x="986" y="17"/>
                  <a:pt x="987" y="15"/>
                </a:cubicBezTo>
                <a:cubicBezTo>
                  <a:pt x="989" y="13"/>
                  <a:pt x="990" y="10"/>
                  <a:pt x="989" y="8"/>
                </a:cubicBezTo>
                <a:cubicBezTo>
                  <a:pt x="988" y="4"/>
                  <a:pt x="985" y="3"/>
                  <a:pt x="982" y="2"/>
                </a:cubicBezTo>
                <a:cubicBezTo>
                  <a:pt x="975" y="0"/>
                  <a:pt x="968" y="0"/>
                  <a:pt x="962" y="0"/>
                </a:cubicBezTo>
                <a:cubicBezTo>
                  <a:pt x="934" y="0"/>
                  <a:pt x="934" y="0"/>
                  <a:pt x="934" y="0"/>
                </a:cubicBezTo>
                <a:cubicBezTo>
                  <a:pt x="930" y="0"/>
                  <a:pt x="926" y="0"/>
                  <a:pt x="922" y="0"/>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2" name="Content Placeholder 2">
            <a:extLst>
              <a:ext uri="{FF2B5EF4-FFF2-40B4-BE49-F238E27FC236}">
                <a16:creationId xmlns:a16="http://schemas.microsoft.com/office/drawing/2014/main" id="{8A378710-0B40-86B5-B2C6-AF290BD75FB3}"/>
              </a:ext>
            </a:extLst>
          </p:cNvPr>
          <p:cNvSpPr txBox="1">
            <a:spLocks/>
          </p:cNvSpPr>
          <p:nvPr/>
        </p:nvSpPr>
        <p:spPr>
          <a:xfrm>
            <a:off x="401032" y="716399"/>
            <a:ext cx="8510739" cy="1326843"/>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1600" b="1">
                <a:latin typeface="Calibri" panose="020F0502020204030204" pitchFamily="34" charset="0"/>
                <a:cs typeface="Calibri" panose="020F0502020204030204" pitchFamily="34" charset="0"/>
              </a:rPr>
              <a:t>b. Cách vẽ: </a:t>
            </a:r>
          </a:p>
          <a:p>
            <a:pPr algn="l"/>
            <a:r>
              <a:rPr lang="en-US" sz="1600" b="1">
                <a:latin typeface="Calibri" panose="020F0502020204030204" pitchFamily="34" charset="0"/>
                <a:cs typeface="Calibri" panose="020F0502020204030204" pitchFamily="34" charset="0"/>
              </a:rPr>
              <a:t>Bước 3</a:t>
            </a:r>
            <a:r>
              <a:rPr lang="en-US" sz="1600">
                <a:latin typeface="Calibri" panose="020F0502020204030204" pitchFamily="34" charset="0"/>
                <a:cs typeface="Calibri" panose="020F0502020204030204" pitchFamily="34" charset="0"/>
              </a:rPr>
              <a:t>: Hoàn thiện biểu đồ</a:t>
            </a:r>
          </a:p>
          <a:p>
            <a:pPr marL="285750" indent="-285750" algn="l">
              <a:buFontTx/>
              <a:buChar char="-"/>
            </a:pPr>
            <a:r>
              <a:rPr lang="en-US" sz="1600" b="1">
                <a:latin typeface="Calibri" panose="020F0502020204030204" pitchFamily="34" charset="0"/>
                <a:cs typeface="Calibri" panose="020F0502020204030204" pitchFamily="34" charset="0"/>
              </a:rPr>
              <a:t>Thay đổi tiêu đề biểu đồ:</a:t>
            </a:r>
            <a:r>
              <a:rPr lang="en-US" sz="1600">
                <a:latin typeface="Calibri" panose="020F0502020204030204" pitchFamily="34" charset="0"/>
                <a:cs typeface="Calibri" panose="020F0502020204030204" pitchFamily="34" charset="0"/>
              </a:rPr>
              <a:t> Click đúp chuột vào tiêu đề (1) để thay đổi tiêu đề</a:t>
            </a:r>
          </a:p>
          <a:p>
            <a:pPr marL="285750" indent="-285750" algn="l">
              <a:buFontTx/>
              <a:buChar char="-"/>
            </a:pPr>
            <a:r>
              <a:rPr lang="en-US" sz="1600" b="1">
                <a:latin typeface="Calibri" panose="020F0502020204030204" pitchFamily="34" charset="0"/>
                <a:cs typeface="Calibri" panose="020F0502020204030204" pitchFamily="34" charset="0"/>
              </a:rPr>
              <a:t>Thay đổi kích thước biểu đồ</a:t>
            </a:r>
            <a:r>
              <a:rPr lang="en-US" sz="1600">
                <a:latin typeface="Calibri" panose="020F0502020204030204" pitchFamily="34" charset="0"/>
                <a:cs typeface="Calibri" panose="020F0502020204030204" pitchFamily="34" charset="0"/>
              </a:rPr>
              <a:t>: di chuột vào các góc (2) để thay đổi kích thước biểu đồ cho phù hợp</a:t>
            </a:r>
          </a:p>
        </p:txBody>
      </p:sp>
      <p:sp>
        <p:nvSpPr>
          <p:cNvPr id="12" name="Oval 11">
            <a:extLst>
              <a:ext uri="{FF2B5EF4-FFF2-40B4-BE49-F238E27FC236}">
                <a16:creationId xmlns:a16="http://schemas.microsoft.com/office/drawing/2014/main" id="{EE39C399-697C-FE44-F510-CB4B7E102188}"/>
              </a:ext>
            </a:extLst>
          </p:cNvPr>
          <p:cNvSpPr/>
          <p:nvPr/>
        </p:nvSpPr>
        <p:spPr>
          <a:xfrm>
            <a:off x="4178674" y="2233968"/>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1</a:t>
            </a:r>
          </a:p>
        </p:txBody>
      </p:sp>
      <p:sp>
        <p:nvSpPr>
          <p:cNvPr id="13" name="Oval 12">
            <a:extLst>
              <a:ext uri="{FF2B5EF4-FFF2-40B4-BE49-F238E27FC236}">
                <a16:creationId xmlns:a16="http://schemas.microsoft.com/office/drawing/2014/main" id="{6F93BA1C-6FA9-D5A4-7EFA-CB8DF75B6B37}"/>
              </a:ext>
            </a:extLst>
          </p:cNvPr>
          <p:cNvSpPr/>
          <p:nvPr/>
        </p:nvSpPr>
        <p:spPr>
          <a:xfrm>
            <a:off x="7279298" y="5620391"/>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2</a:t>
            </a:r>
          </a:p>
        </p:txBody>
      </p:sp>
    </p:spTree>
    <p:extLst>
      <p:ext uri="{BB962C8B-B14F-4D97-AF65-F5344CB8AC3E}">
        <p14:creationId xmlns:p14="http://schemas.microsoft.com/office/powerpoint/2010/main" val="22897817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E4D3893-E20A-3A8C-27CB-F6B3392E28CF}"/>
              </a:ext>
            </a:extLst>
          </p:cNvPr>
          <p:cNvPicPr>
            <a:picLocks noChangeAspect="1"/>
          </p:cNvPicPr>
          <p:nvPr/>
        </p:nvPicPr>
        <p:blipFill>
          <a:blip r:embed="rId3"/>
          <a:stretch>
            <a:fillRect/>
          </a:stretch>
        </p:blipFill>
        <p:spPr>
          <a:xfrm>
            <a:off x="0" y="1745194"/>
            <a:ext cx="9144000" cy="3367611"/>
          </a:xfrm>
          <a:prstGeom prst="rect">
            <a:avLst/>
          </a:prstGeom>
        </p:spPr>
      </p:pic>
      <p:sp>
        <p:nvSpPr>
          <p:cNvPr id="7" name="Slide Number Placeholder 5"/>
          <p:cNvSpPr>
            <a:spLocks noGrp="1"/>
          </p:cNvSpPr>
          <p:nvPr>
            <p:ph type="sldNum" sz="quarter" idx="4"/>
          </p:nvPr>
        </p:nvSpPr>
        <p:spPr>
          <a:prstGeom prst="rect">
            <a:avLst/>
          </a:prstGeom>
        </p:spPr>
        <p:txBody>
          <a:bodyPr vert="horz" lIns="0" tIns="0" rIns="0" bIns="0" rtlCol="0" anchor="ctr" anchorCtr="0"/>
          <a:lstStyle>
            <a:lvl1pPr algn="r">
              <a:defRPr sz="1800">
                <a:solidFill>
                  <a:schemeClr val="tx1"/>
                </a:solidFill>
              </a:defRPr>
            </a:lvl1pPr>
          </a:lstStyle>
          <a:p>
            <a:fld id="{A3381702-59A5-4643-AE93-D7BF7F78153B}" type="slidenum">
              <a:rPr lang="en-GB" smtClean="0"/>
              <a:pPr/>
              <a:t>28</a:t>
            </a:fld>
            <a:endParaRPr lang="en-GB" dirty="0"/>
          </a:p>
        </p:txBody>
      </p:sp>
      <p:sp>
        <p:nvSpPr>
          <p:cNvPr id="8" name="Footer Placeholder 4"/>
          <p:cNvSpPr>
            <a:spLocks noGrp="1"/>
          </p:cNvSpPr>
          <p:nvPr>
            <p:ph type="ftr" sz="quarter" idx="3"/>
          </p:nvPr>
        </p:nvSpPr>
        <p:spPr>
          <a:prstGeom prst="rect">
            <a:avLst/>
          </a:prstGeom>
        </p:spPr>
        <p:txBody>
          <a:bodyPr vert="horz" lIns="0" tIns="0" rIns="0" bIns="0" rtlCol="0" anchor="t" anchorCtr="0"/>
          <a:lstStyle>
            <a:lvl1pPr algn="r">
              <a:defRPr sz="700">
                <a:solidFill>
                  <a:schemeClr val="tx1"/>
                </a:solidFill>
                <a:latin typeface="+mn-lt"/>
              </a:defRPr>
            </a:lvl1pPr>
          </a:lstStyle>
          <a:p>
            <a:r>
              <a:rPr lang="fr-FR" altLang="ja-JP" dirty="0"/>
              <a:t>©20</a:t>
            </a:r>
            <a:r>
              <a:rPr lang="en-US" altLang="ja-JP" dirty="0"/>
              <a:t>23</a:t>
            </a:r>
            <a:r>
              <a:rPr lang="fr-FR" altLang="ja-JP" dirty="0"/>
              <a:t> KYOCERA Document Solutions Inc.</a:t>
            </a:r>
            <a:endParaRPr lang="en-GB" dirty="0"/>
          </a:p>
        </p:txBody>
      </p:sp>
      <p:sp>
        <p:nvSpPr>
          <p:cNvPr id="4" name="Rectangle 3">
            <a:extLst>
              <a:ext uri="{FF2B5EF4-FFF2-40B4-BE49-F238E27FC236}">
                <a16:creationId xmlns:a16="http://schemas.microsoft.com/office/drawing/2014/main" id="{0BAEFD46-8DC5-BB64-F040-FD68EE6A7C2D}"/>
              </a:ext>
            </a:extLst>
          </p:cNvPr>
          <p:cNvSpPr/>
          <p:nvPr/>
        </p:nvSpPr>
        <p:spPr>
          <a:xfrm>
            <a:off x="295745" y="40624"/>
            <a:ext cx="8722810" cy="6207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nSpc>
                <a:spcPct val="107000"/>
              </a:lnSpc>
              <a:spcBef>
                <a:spcPts val="0"/>
              </a:spcBef>
              <a:spcAft>
                <a:spcPts val="800"/>
              </a:spcAft>
              <a:tabLst>
                <a:tab pos="457200" algn="l"/>
              </a:tabLst>
            </a:pPr>
            <a:r>
              <a:rPr lang="en-US" sz="2200" b="1">
                <a:solidFill>
                  <a:schemeClr val="tx1"/>
                </a:solidFill>
                <a:latin typeface="Calibri" panose="020F0502020204030204" pitchFamily="34" charset="0"/>
                <a:ea typeface="游明朝" panose="02020400000000000000" pitchFamily="18" charset="-128"/>
                <a:cs typeface="Times New Roman" panose="02020603050405020304" pitchFamily="18" charset="0"/>
              </a:rPr>
              <a:t>4</a:t>
            </a:r>
            <a:r>
              <a:rPr lang="en-US" sz="2200" b="1">
                <a:solidFill>
                  <a:schemeClr val="tx1"/>
                </a:solidFill>
                <a:effectLst/>
                <a:latin typeface="Calibri" panose="020F0502020204030204" pitchFamily="34" charset="0"/>
                <a:ea typeface="游明朝" panose="02020400000000000000" pitchFamily="18" charset="-128"/>
                <a:cs typeface="Times New Roman" panose="02020603050405020304" pitchFamily="18" charset="0"/>
              </a:rPr>
              <a:t>. BIỂU ĐỒ KẾT HỢP</a:t>
            </a:r>
            <a:endParaRPr lang="en-US" sz="2200">
              <a:solidFill>
                <a:schemeClr val="tx1"/>
              </a:solidFill>
              <a:effectLst/>
              <a:latin typeface="Calibri" panose="020F0502020204030204" pitchFamily="34" charset="0"/>
              <a:ea typeface="游明朝" panose="02020400000000000000" pitchFamily="18" charset="-128"/>
              <a:cs typeface="Times New Roman" panose="02020603050405020304" pitchFamily="18" charset="0"/>
            </a:endParaRPr>
          </a:p>
        </p:txBody>
      </p:sp>
      <p:sp>
        <p:nvSpPr>
          <p:cNvPr id="6" name="Freeform 34">
            <a:extLst>
              <a:ext uri="{FF2B5EF4-FFF2-40B4-BE49-F238E27FC236}">
                <a16:creationId xmlns:a16="http://schemas.microsoft.com/office/drawing/2014/main" id="{E988D51C-281C-0FC1-508D-073F501DA6DF}"/>
              </a:ext>
            </a:extLst>
          </p:cNvPr>
          <p:cNvSpPr>
            <a:spLocks noChangeAspect="1"/>
          </p:cNvSpPr>
          <p:nvPr/>
        </p:nvSpPr>
        <p:spPr bwMode="auto">
          <a:xfrm rot="10800000" flipV="1">
            <a:off x="509368" y="536909"/>
            <a:ext cx="1655684" cy="47957"/>
          </a:xfrm>
          <a:custGeom>
            <a:avLst/>
            <a:gdLst>
              <a:gd name="T0" fmla="*/ 922 w 990"/>
              <a:gd name="T1" fmla="*/ 0 h 36"/>
              <a:gd name="T2" fmla="*/ 907 w 990"/>
              <a:gd name="T3" fmla="*/ 0 h 36"/>
              <a:gd name="T4" fmla="*/ 880 w 990"/>
              <a:gd name="T5" fmla="*/ 1 h 36"/>
              <a:gd name="T6" fmla="*/ 839 w 990"/>
              <a:gd name="T7" fmla="*/ 3 h 36"/>
              <a:gd name="T8" fmla="*/ 818 w 990"/>
              <a:gd name="T9" fmla="*/ 3 h 36"/>
              <a:gd name="T10" fmla="*/ 798 w 990"/>
              <a:gd name="T11" fmla="*/ 4 h 36"/>
              <a:gd name="T12" fmla="*/ 757 w 990"/>
              <a:gd name="T13" fmla="*/ 5 h 36"/>
              <a:gd name="T14" fmla="*/ 718 w 990"/>
              <a:gd name="T15" fmla="*/ 5 h 36"/>
              <a:gd name="T16" fmla="*/ 662 w 990"/>
              <a:gd name="T17" fmla="*/ 5 h 36"/>
              <a:gd name="T18" fmla="*/ 540 w 990"/>
              <a:gd name="T19" fmla="*/ 4 h 36"/>
              <a:gd name="T20" fmla="*/ 512 w 990"/>
              <a:gd name="T21" fmla="*/ 4 h 36"/>
              <a:gd name="T22" fmla="*/ 511 w 990"/>
              <a:gd name="T23" fmla="*/ 4 h 36"/>
              <a:gd name="T24" fmla="*/ 484 w 990"/>
              <a:gd name="T25" fmla="*/ 5 h 36"/>
              <a:gd name="T26" fmla="*/ 419 w 990"/>
              <a:gd name="T27" fmla="*/ 5 h 36"/>
              <a:gd name="T28" fmla="*/ 353 w 990"/>
              <a:gd name="T29" fmla="*/ 7 h 36"/>
              <a:gd name="T30" fmla="*/ 350 w 990"/>
              <a:gd name="T31" fmla="*/ 7 h 36"/>
              <a:gd name="T32" fmla="*/ 288 w 990"/>
              <a:gd name="T33" fmla="*/ 5 h 36"/>
              <a:gd name="T34" fmla="*/ 265 w 990"/>
              <a:gd name="T35" fmla="*/ 4 h 36"/>
              <a:gd name="T36" fmla="*/ 244 w 990"/>
              <a:gd name="T37" fmla="*/ 4 h 36"/>
              <a:gd name="T38" fmla="*/ 224 w 990"/>
              <a:gd name="T39" fmla="*/ 4 h 36"/>
              <a:gd name="T40" fmla="*/ 223 w 990"/>
              <a:gd name="T41" fmla="*/ 4 h 36"/>
              <a:gd name="T42" fmla="*/ 222 w 990"/>
              <a:gd name="T43" fmla="*/ 4 h 36"/>
              <a:gd name="T44" fmla="*/ 190 w 990"/>
              <a:gd name="T45" fmla="*/ 4 h 36"/>
              <a:gd name="T46" fmla="*/ 158 w 990"/>
              <a:gd name="T47" fmla="*/ 4 h 36"/>
              <a:gd name="T48" fmla="*/ 157 w 990"/>
              <a:gd name="T49" fmla="*/ 4 h 36"/>
              <a:gd name="T50" fmla="*/ 91 w 990"/>
              <a:gd name="T51" fmla="*/ 5 h 36"/>
              <a:gd name="T52" fmla="*/ 58 w 990"/>
              <a:gd name="T53" fmla="*/ 6 h 36"/>
              <a:gd name="T54" fmla="*/ 26 w 990"/>
              <a:gd name="T55" fmla="*/ 8 h 36"/>
              <a:gd name="T56" fmla="*/ 10 w 990"/>
              <a:gd name="T57" fmla="*/ 10 h 36"/>
              <a:gd name="T58" fmla="*/ 6 w 990"/>
              <a:gd name="T59" fmla="*/ 10 h 36"/>
              <a:gd name="T60" fmla="*/ 5 w 990"/>
              <a:gd name="T61" fmla="*/ 10 h 36"/>
              <a:gd name="T62" fmla="*/ 5 w 990"/>
              <a:gd name="T63" fmla="*/ 10 h 36"/>
              <a:gd name="T64" fmla="*/ 4 w 990"/>
              <a:gd name="T65" fmla="*/ 10 h 36"/>
              <a:gd name="T66" fmla="*/ 2 w 990"/>
              <a:gd name="T67" fmla="*/ 10 h 36"/>
              <a:gd name="T68" fmla="*/ 1 w 990"/>
              <a:gd name="T69" fmla="*/ 12 h 36"/>
              <a:gd name="T70" fmla="*/ 4 w 990"/>
              <a:gd name="T71" fmla="*/ 17 h 36"/>
              <a:gd name="T72" fmla="*/ 4 w 990"/>
              <a:gd name="T73" fmla="*/ 17 h 36"/>
              <a:gd name="T74" fmla="*/ 63 w 990"/>
              <a:gd name="T75" fmla="*/ 16 h 36"/>
              <a:gd name="T76" fmla="*/ 70 w 990"/>
              <a:gd name="T77" fmla="*/ 16 h 36"/>
              <a:gd name="T78" fmla="*/ 122 w 990"/>
              <a:gd name="T79" fmla="*/ 17 h 36"/>
              <a:gd name="T80" fmla="*/ 153 w 990"/>
              <a:gd name="T81" fmla="*/ 19 h 36"/>
              <a:gd name="T82" fmla="*/ 183 w 990"/>
              <a:gd name="T83" fmla="*/ 20 h 36"/>
              <a:gd name="T84" fmla="*/ 244 w 990"/>
              <a:gd name="T85" fmla="*/ 22 h 36"/>
              <a:gd name="T86" fmla="*/ 305 w 990"/>
              <a:gd name="T87" fmla="*/ 24 h 36"/>
              <a:gd name="T88" fmla="*/ 336 w 990"/>
              <a:gd name="T89" fmla="*/ 26 h 36"/>
              <a:gd name="T90" fmla="*/ 375 w 990"/>
              <a:gd name="T91" fmla="*/ 28 h 36"/>
              <a:gd name="T92" fmla="*/ 489 w 990"/>
              <a:gd name="T93" fmla="*/ 32 h 36"/>
              <a:gd name="T94" fmla="*/ 612 w 990"/>
              <a:gd name="T95" fmla="*/ 36 h 36"/>
              <a:gd name="T96" fmla="*/ 665 w 990"/>
              <a:gd name="T97" fmla="*/ 36 h 36"/>
              <a:gd name="T98" fmla="*/ 707 w 990"/>
              <a:gd name="T99" fmla="*/ 36 h 36"/>
              <a:gd name="T100" fmla="*/ 750 w 990"/>
              <a:gd name="T101" fmla="*/ 36 h 36"/>
              <a:gd name="T102" fmla="*/ 792 w 990"/>
              <a:gd name="T103" fmla="*/ 35 h 36"/>
              <a:gd name="T104" fmla="*/ 879 w 990"/>
              <a:gd name="T105" fmla="*/ 32 h 36"/>
              <a:gd name="T106" fmla="*/ 921 w 990"/>
              <a:gd name="T107" fmla="*/ 30 h 36"/>
              <a:gd name="T108" fmla="*/ 969 w 990"/>
              <a:gd name="T109" fmla="*/ 27 h 36"/>
              <a:gd name="T110" fmla="*/ 982 w 990"/>
              <a:gd name="T111" fmla="*/ 22 h 36"/>
              <a:gd name="T112" fmla="*/ 987 w 990"/>
              <a:gd name="T113" fmla="*/ 15 h 36"/>
              <a:gd name="T114" fmla="*/ 989 w 990"/>
              <a:gd name="T115" fmla="*/ 8 h 36"/>
              <a:gd name="T116" fmla="*/ 982 w 990"/>
              <a:gd name="T117" fmla="*/ 2 h 36"/>
              <a:gd name="T118" fmla="*/ 962 w 990"/>
              <a:gd name="T119" fmla="*/ 0 h 36"/>
              <a:gd name="T120" fmla="*/ 934 w 990"/>
              <a:gd name="T121" fmla="*/ 0 h 36"/>
              <a:gd name="T122" fmla="*/ 922 w 990"/>
              <a:gd name="T1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0" h="36">
                <a:moveTo>
                  <a:pt x="922" y="0"/>
                </a:moveTo>
                <a:cubicBezTo>
                  <a:pt x="917" y="0"/>
                  <a:pt x="912" y="0"/>
                  <a:pt x="907" y="0"/>
                </a:cubicBezTo>
                <a:cubicBezTo>
                  <a:pt x="898" y="0"/>
                  <a:pt x="889" y="1"/>
                  <a:pt x="880" y="1"/>
                </a:cubicBezTo>
                <a:cubicBezTo>
                  <a:pt x="839" y="3"/>
                  <a:pt x="839" y="3"/>
                  <a:pt x="839" y="3"/>
                </a:cubicBezTo>
                <a:cubicBezTo>
                  <a:pt x="818" y="3"/>
                  <a:pt x="818" y="3"/>
                  <a:pt x="818" y="3"/>
                </a:cubicBezTo>
                <a:cubicBezTo>
                  <a:pt x="798" y="4"/>
                  <a:pt x="798" y="4"/>
                  <a:pt x="798" y="4"/>
                </a:cubicBezTo>
                <a:cubicBezTo>
                  <a:pt x="757" y="5"/>
                  <a:pt x="757" y="5"/>
                  <a:pt x="757" y="5"/>
                </a:cubicBezTo>
                <a:cubicBezTo>
                  <a:pt x="744" y="5"/>
                  <a:pt x="731" y="5"/>
                  <a:pt x="718" y="5"/>
                </a:cubicBezTo>
                <a:cubicBezTo>
                  <a:pt x="699" y="5"/>
                  <a:pt x="681" y="5"/>
                  <a:pt x="662" y="5"/>
                </a:cubicBezTo>
                <a:cubicBezTo>
                  <a:pt x="540" y="4"/>
                  <a:pt x="540" y="4"/>
                  <a:pt x="540" y="4"/>
                </a:cubicBezTo>
                <a:cubicBezTo>
                  <a:pt x="512" y="4"/>
                  <a:pt x="512" y="4"/>
                  <a:pt x="512" y="4"/>
                </a:cubicBezTo>
                <a:cubicBezTo>
                  <a:pt x="512" y="4"/>
                  <a:pt x="511" y="4"/>
                  <a:pt x="511" y="4"/>
                </a:cubicBezTo>
                <a:cubicBezTo>
                  <a:pt x="502" y="4"/>
                  <a:pt x="493" y="4"/>
                  <a:pt x="484" y="5"/>
                </a:cubicBezTo>
                <a:cubicBezTo>
                  <a:pt x="462" y="5"/>
                  <a:pt x="441" y="5"/>
                  <a:pt x="419" y="5"/>
                </a:cubicBezTo>
                <a:cubicBezTo>
                  <a:pt x="397" y="6"/>
                  <a:pt x="375" y="7"/>
                  <a:pt x="353" y="7"/>
                </a:cubicBezTo>
                <a:cubicBezTo>
                  <a:pt x="352" y="7"/>
                  <a:pt x="351" y="7"/>
                  <a:pt x="350" y="7"/>
                </a:cubicBezTo>
                <a:cubicBezTo>
                  <a:pt x="330" y="7"/>
                  <a:pt x="309" y="5"/>
                  <a:pt x="288" y="5"/>
                </a:cubicBezTo>
                <a:cubicBezTo>
                  <a:pt x="280" y="4"/>
                  <a:pt x="272" y="4"/>
                  <a:pt x="265" y="4"/>
                </a:cubicBezTo>
                <a:cubicBezTo>
                  <a:pt x="258" y="4"/>
                  <a:pt x="251" y="4"/>
                  <a:pt x="244" y="4"/>
                </a:cubicBezTo>
                <a:cubicBezTo>
                  <a:pt x="237" y="4"/>
                  <a:pt x="230" y="4"/>
                  <a:pt x="224" y="4"/>
                </a:cubicBezTo>
                <a:cubicBezTo>
                  <a:pt x="223" y="4"/>
                  <a:pt x="223" y="4"/>
                  <a:pt x="223" y="4"/>
                </a:cubicBezTo>
                <a:cubicBezTo>
                  <a:pt x="223" y="4"/>
                  <a:pt x="222" y="4"/>
                  <a:pt x="222" y="4"/>
                </a:cubicBezTo>
                <a:cubicBezTo>
                  <a:pt x="212" y="4"/>
                  <a:pt x="201" y="4"/>
                  <a:pt x="190" y="4"/>
                </a:cubicBezTo>
                <a:cubicBezTo>
                  <a:pt x="180" y="4"/>
                  <a:pt x="169" y="4"/>
                  <a:pt x="158" y="4"/>
                </a:cubicBezTo>
                <a:cubicBezTo>
                  <a:pt x="158" y="4"/>
                  <a:pt x="157" y="4"/>
                  <a:pt x="157" y="4"/>
                </a:cubicBezTo>
                <a:cubicBezTo>
                  <a:pt x="135" y="4"/>
                  <a:pt x="113" y="4"/>
                  <a:pt x="91" y="5"/>
                </a:cubicBezTo>
                <a:cubicBezTo>
                  <a:pt x="80" y="5"/>
                  <a:pt x="69" y="6"/>
                  <a:pt x="58" y="6"/>
                </a:cubicBezTo>
                <a:cubicBezTo>
                  <a:pt x="48" y="6"/>
                  <a:pt x="37" y="7"/>
                  <a:pt x="26" y="8"/>
                </a:cubicBezTo>
                <a:cubicBezTo>
                  <a:pt x="10" y="10"/>
                  <a:pt x="10" y="10"/>
                  <a:pt x="10" y="10"/>
                </a:cubicBezTo>
                <a:cubicBezTo>
                  <a:pt x="6" y="10"/>
                  <a:pt x="6" y="10"/>
                  <a:pt x="6" y="10"/>
                </a:cubicBezTo>
                <a:cubicBezTo>
                  <a:pt x="6" y="10"/>
                  <a:pt x="5" y="10"/>
                  <a:pt x="5" y="10"/>
                </a:cubicBezTo>
                <a:cubicBezTo>
                  <a:pt x="5" y="10"/>
                  <a:pt x="5" y="10"/>
                  <a:pt x="5" y="10"/>
                </a:cubicBezTo>
                <a:cubicBezTo>
                  <a:pt x="4" y="10"/>
                  <a:pt x="4" y="10"/>
                  <a:pt x="4" y="10"/>
                </a:cubicBezTo>
                <a:cubicBezTo>
                  <a:pt x="3" y="10"/>
                  <a:pt x="2" y="10"/>
                  <a:pt x="2" y="10"/>
                </a:cubicBezTo>
                <a:cubicBezTo>
                  <a:pt x="1" y="10"/>
                  <a:pt x="1" y="11"/>
                  <a:pt x="1" y="12"/>
                </a:cubicBezTo>
                <a:cubicBezTo>
                  <a:pt x="0" y="15"/>
                  <a:pt x="2" y="17"/>
                  <a:pt x="4" y="17"/>
                </a:cubicBezTo>
                <a:cubicBezTo>
                  <a:pt x="4" y="17"/>
                  <a:pt x="4" y="17"/>
                  <a:pt x="4" y="17"/>
                </a:cubicBezTo>
                <a:cubicBezTo>
                  <a:pt x="24" y="17"/>
                  <a:pt x="43" y="16"/>
                  <a:pt x="63" y="16"/>
                </a:cubicBezTo>
                <a:cubicBezTo>
                  <a:pt x="65" y="16"/>
                  <a:pt x="67" y="16"/>
                  <a:pt x="70" y="16"/>
                </a:cubicBezTo>
                <a:cubicBezTo>
                  <a:pt x="87" y="16"/>
                  <a:pt x="105" y="16"/>
                  <a:pt x="122" y="17"/>
                </a:cubicBezTo>
                <a:cubicBezTo>
                  <a:pt x="133" y="18"/>
                  <a:pt x="143" y="19"/>
                  <a:pt x="153" y="19"/>
                </a:cubicBezTo>
                <a:cubicBezTo>
                  <a:pt x="183" y="20"/>
                  <a:pt x="183" y="20"/>
                  <a:pt x="183" y="20"/>
                </a:cubicBezTo>
                <a:cubicBezTo>
                  <a:pt x="203" y="20"/>
                  <a:pt x="224" y="21"/>
                  <a:pt x="244" y="22"/>
                </a:cubicBezTo>
                <a:cubicBezTo>
                  <a:pt x="265" y="22"/>
                  <a:pt x="285" y="23"/>
                  <a:pt x="305" y="24"/>
                </a:cubicBezTo>
                <a:cubicBezTo>
                  <a:pt x="336" y="26"/>
                  <a:pt x="336" y="26"/>
                  <a:pt x="336" y="26"/>
                </a:cubicBezTo>
                <a:cubicBezTo>
                  <a:pt x="346" y="26"/>
                  <a:pt x="361" y="28"/>
                  <a:pt x="375" y="28"/>
                </a:cubicBezTo>
                <a:cubicBezTo>
                  <a:pt x="416" y="31"/>
                  <a:pt x="448" y="31"/>
                  <a:pt x="489" y="32"/>
                </a:cubicBezTo>
                <a:cubicBezTo>
                  <a:pt x="530" y="34"/>
                  <a:pt x="571" y="35"/>
                  <a:pt x="612" y="36"/>
                </a:cubicBezTo>
                <a:cubicBezTo>
                  <a:pt x="629" y="36"/>
                  <a:pt x="647" y="36"/>
                  <a:pt x="665" y="36"/>
                </a:cubicBezTo>
                <a:cubicBezTo>
                  <a:pt x="679" y="36"/>
                  <a:pt x="693" y="36"/>
                  <a:pt x="707" y="36"/>
                </a:cubicBezTo>
                <a:cubicBezTo>
                  <a:pt x="750" y="36"/>
                  <a:pt x="750" y="36"/>
                  <a:pt x="750" y="36"/>
                </a:cubicBezTo>
                <a:cubicBezTo>
                  <a:pt x="792" y="35"/>
                  <a:pt x="792" y="35"/>
                  <a:pt x="792" y="35"/>
                </a:cubicBezTo>
                <a:cubicBezTo>
                  <a:pt x="821" y="34"/>
                  <a:pt x="850" y="33"/>
                  <a:pt x="879" y="32"/>
                </a:cubicBezTo>
                <a:cubicBezTo>
                  <a:pt x="921" y="30"/>
                  <a:pt x="921" y="30"/>
                  <a:pt x="921" y="30"/>
                </a:cubicBezTo>
                <a:cubicBezTo>
                  <a:pt x="937" y="30"/>
                  <a:pt x="953" y="29"/>
                  <a:pt x="969" y="27"/>
                </a:cubicBezTo>
                <a:cubicBezTo>
                  <a:pt x="973" y="26"/>
                  <a:pt x="979" y="25"/>
                  <a:pt x="982" y="22"/>
                </a:cubicBezTo>
                <a:cubicBezTo>
                  <a:pt x="984" y="20"/>
                  <a:pt x="986" y="17"/>
                  <a:pt x="987" y="15"/>
                </a:cubicBezTo>
                <a:cubicBezTo>
                  <a:pt x="989" y="13"/>
                  <a:pt x="990" y="10"/>
                  <a:pt x="989" y="8"/>
                </a:cubicBezTo>
                <a:cubicBezTo>
                  <a:pt x="988" y="4"/>
                  <a:pt x="985" y="3"/>
                  <a:pt x="982" y="2"/>
                </a:cubicBezTo>
                <a:cubicBezTo>
                  <a:pt x="975" y="0"/>
                  <a:pt x="968" y="0"/>
                  <a:pt x="962" y="0"/>
                </a:cubicBezTo>
                <a:cubicBezTo>
                  <a:pt x="934" y="0"/>
                  <a:pt x="934" y="0"/>
                  <a:pt x="934" y="0"/>
                </a:cubicBezTo>
                <a:cubicBezTo>
                  <a:pt x="930" y="0"/>
                  <a:pt x="926" y="0"/>
                  <a:pt x="922" y="0"/>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2" name="Content Placeholder 2">
            <a:extLst>
              <a:ext uri="{FF2B5EF4-FFF2-40B4-BE49-F238E27FC236}">
                <a16:creationId xmlns:a16="http://schemas.microsoft.com/office/drawing/2014/main" id="{8A378710-0B40-86B5-B2C6-AF290BD75FB3}"/>
              </a:ext>
            </a:extLst>
          </p:cNvPr>
          <p:cNvSpPr txBox="1">
            <a:spLocks/>
          </p:cNvSpPr>
          <p:nvPr/>
        </p:nvSpPr>
        <p:spPr>
          <a:xfrm>
            <a:off x="401032" y="716399"/>
            <a:ext cx="8510739" cy="1226941"/>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1600" b="1">
                <a:latin typeface="Calibri" panose="020F0502020204030204" pitchFamily="34" charset="0"/>
                <a:cs typeface="Calibri" panose="020F0502020204030204" pitchFamily="34" charset="0"/>
              </a:rPr>
              <a:t>Bước 3</a:t>
            </a:r>
            <a:r>
              <a:rPr lang="en-US" sz="1600">
                <a:latin typeface="Calibri" panose="020F0502020204030204" pitchFamily="34" charset="0"/>
                <a:cs typeface="Calibri" panose="020F0502020204030204" pitchFamily="34" charset="0"/>
              </a:rPr>
              <a:t>: Hoàn thiện biểu đồ</a:t>
            </a:r>
          </a:p>
          <a:p>
            <a:pPr marL="285750" indent="-285750" algn="l">
              <a:buFontTx/>
              <a:buChar char="-"/>
            </a:pPr>
            <a:r>
              <a:rPr lang="en-US" sz="1600" b="1">
                <a:latin typeface="Calibri" panose="020F0502020204030204" pitchFamily="34" charset="0"/>
                <a:cs typeface="Calibri" panose="020F0502020204030204" pitchFamily="34" charset="0"/>
              </a:rPr>
              <a:t>Chỉnh khoảng cách giữa các cột: </a:t>
            </a:r>
            <a:r>
              <a:rPr lang="en-US" sz="1600">
                <a:latin typeface="Calibri" panose="020F0502020204030204" pitchFamily="34" charset="0"/>
                <a:cs typeface="Calibri" panose="020F0502020204030204" pitchFamily="34" charset="0"/>
              </a:rPr>
              <a:t>Click đúp chuột vào cột bất kỳ (1), tại bảng Format Data Series chọn biểu tượng có hình biểu đồ (2), tại mục Series Options thay đổi thông số Gap Width (3) để tăng giảm khoảng cách giữa các cột </a:t>
            </a:r>
          </a:p>
          <a:p>
            <a:pPr marL="285750" indent="-285750" algn="l">
              <a:buFontTx/>
              <a:buChar char="-"/>
            </a:pPr>
            <a:endParaRPr lang="en-US" sz="1600">
              <a:latin typeface="Calibri" panose="020F0502020204030204" pitchFamily="34" charset="0"/>
              <a:cs typeface="Calibri" panose="020F0502020204030204" pitchFamily="34" charset="0"/>
            </a:endParaRPr>
          </a:p>
        </p:txBody>
      </p:sp>
      <p:sp>
        <p:nvSpPr>
          <p:cNvPr id="12" name="Oval 11">
            <a:extLst>
              <a:ext uri="{FF2B5EF4-FFF2-40B4-BE49-F238E27FC236}">
                <a16:creationId xmlns:a16="http://schemas.microsoft.com/office/drawing/2014/main" id="{EE39C399-697C-FE44-F510-CB4B7E102188}"/>
              </a:ext>
            </a:extLst>
          </p:cNvPr>
          <p:cNvSpPr/>
          <p:nvPr/>
        </p:nvSpPr>
        <p:spPr>
          <a:xfrm>
            <a:off x="401032" y="3175647"/>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1</a:t>
            </a:r>
          </a:p>
        </p:txBody>
      </p:sp>
      <p:sp>
        <p:nvSpPr>
          <p:cNvPr id="14" name="Oval 13">
            <a:extLst>
              <a:ext uri="{FF2B5EF4-FFF2-40B4-BE49-F238E27FC236}">
                <a16:creationId xmlns:a16="http://schemas.microsoft.com/office/drawing/2014/main" id="{94B5F51D-9593-7C05-BDAD-36A1FF7D96E1}"/>
              </a:ext>
            </a:extLst>
          </p:cNvPr>
          <p:cNvSpPr/>
          <p:nvPr/>
        </p:nvSpPr>
        <p:spPr>
          <a:xfrm>
            <a:off x="8070495" y="2401061"/>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2</a:t>
            </a:r>
          </a:p>
        </p:txBody>
      </p:sp>
      <p:sp>
        <p:nvSpPr>
          <p:cNvPr id="16" name="Oval 15">
            <a:extLst>
              <a:ext uri="{FF2B5EF4-FFF2-40B4-BE49-F238E27FC236}">
                <a16:creationId xmlns:a16="http://schemas.microsoft.com/office/drawing/2014/main" id="{D1028BD7-8309-B021-7F21-3E9F79DB9FC8}"/>
              </a:ext>
            </a:extLst>
          </p:cNvPr>
          <p:cNvSpPr/>
          <p:nvPr/>
        </p:nvSpPr>
        <p:spPr>
          <a:xfrm>
            <a:off x="8518848" y="3953581"/>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3</a:t>
            </a:r>
          </a:p>
        </p:txBody>
      </p:sp>
    </p:spTree>
    <p:extLst>
      <p:ext uri="{BB962C8B-B14F-4D97-AF65-F5344CB8AC3E}">
        <p14:creationId xmlns:p14="http://schemas.microsoft.com/office/powerpoint/2010/main" val="29703889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06B6F9A-9FEA-69A0-6A60-FD600734A183}"/>
              </a:ext>
            </a:extLst>
          </p:cNvPr>
          <p:cNvPicPr>
            <a:picLocks noChangeAspect="1"/>
          </p:cNvPicPr>
          <p:nvPr/>
        </p:nvPicPr>
        <p:blipFill>
          <a:blip r:embed="rId3"/>
          <a:stretch>
            <a:fillRect/>
          </a:stretch>
        </p:blipFill>
        <p:spPr>
          <a:xfrm>
            <a:off x="1580732" y="1704734"/>
            <a:ext cx="5982535" cy="3448531"/>
          </a:xfrm>
          <a:prstGeom prst="rect">
            <a:avLst/>
          </a:prstGeom>
          <a:effectLst>
            <a:glow rad="63500">
              <a:schemeClr val="bg1">
                <a:lumMod val="65000"/>
                <a:alpha val="40000"/>
              </a:schemeClr>
            </a:glow>
          </a:effectLst>
        </p:spPr>
      </p:pic>
      <p:sp>
        <p:nvSpPr>
          <p:cNvPr id="7" name="Slide Number Placeholder 5"/>
          <p:cNvSpPr>
            <a:spLocks noGrp="1"/>
          </p:cNvSpPr>
          <p:nvPr>
            <p:ph type="sldNum" sz="quarter" idx="4"/>
          </p:nvPr>
        </p:nvSpPr>
        <p:spPr>
          <a:prstGeom prst="rect">
            <a:avLst/>
          </a:prstGeom>
        </p:spPr>
        <p:txBody>
          <a:bodyPr vert="horz" lIns="0" tIns="0" rIns="0" bIns="0" rtlCol="0" anchor="ctr" anchorCtr="0"/>
          <a:lstStyle>
            <a:lvl1pPr algn="r">
              <a:defRPr sz="1800">
                <a:solidFill>
                  <a:schemeClr val="tx1"/>
                </a:solidFill>
              </a:defRPr>
            </a:lvl1pPr>
          </a:lstStyle>
          <a:p>
            <a:fld id="{A3381702-59A5-4643-AE93-D7BF7F78153B}" type="slidenum">
              <a:rPr lang="en-GB" smtClean="0"/>
              <a:pPr/>
              <a:t>29</a:t>
            </a:fld>
            <a:endParaRPr lang="en-GB" dirty="0"/>
          </a:p>
        </p:txBody>
      </p:sp>
      <p:sp>
        <p:nvSpPr>
          <p:cNvPr id="8" name="Footer Placeholder 4"/>
          <p:cNvSpPr>
            <a:spLocks noGrp="1"/>
          </p:cNvSpPr>
          <p:nvPr>
            <p:ph type="ftr" sz="quarter" idx="3"/>
          </p:nvPr>
        </p:nvSpPr>
        <p:spPr>
          <a:prstGeom prst="rect">
            <a:avLst/>
          </a:prstGeom>
        </p:spPr>
        <p:txBody>
          <a:bodyPr vert="horz" lIns="0" tIns="0" rIns="0" bIns="0" rtlCol="0" anchor="t" anchorCtr="0"/>
          <a:lstStyle>
            <a:lvl1pPr algn="r">
              <a:defRPr sz="700">
                <a:solidFill>
                  <a:schemeClr val="tx1"/>
                </a:solidFill>
                <a:latin typeface="+mn-lt"/>
              </a:defRPr>
            </a:lvl1pPr>
          </a:lstStyle>
          <a:p>
            <a:r>
              <a:rPr lang="fr-FR" altLang="ja-JP" dirty="0"/>
              <a:t>©20</a:t>
            </a:r>
            <a:r>
              <a:rPr lang="en-US" altLang="ja-JP" dirty="0"/>
              <a:t>23</a:t>
            </a:r>
            <a:r>
              <a:rPr lang="fr-FR" altLang="ja-JP" dirty="0"/>
              <a:t> KYOCERA Document Solutions Inc.</a:t>
            </a:r>
            <a:endParaRPr lang="en-GB" dirty="0"/>
          </a:p>
        </p:txBody>
      </p:sp>
      <p:sp>
        <p:nvSpPr>
          <p:cNvPr id="4" name="Rectangle 3">
            <a:extLst>
              <a:ext uri="{FF2B5EF4-FFF2-40B4-BE49-F238E27FC236}">
                <a16:creationId xmlns:a16="http://schemas.microsoft.com/office/drawing/2014/main" id="{0BAEFD46-8DC5-BB64-F040-FD68EE6A7C2D}"/>
              </a:ext>
            </a:extLst>
          </p:cNvPr>
          <p:cNvSpPr/>
          <p:nvPr/>
        </p:nvSpPr>
        <p:spPr>
          <a:xfrm>
            <a:off x="295745" y="40624"/>
            <a:ext cx="8722810" cy="6207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nSpc>
                <a:spcPct val="107000"/>
              </a:lnSpc>
              <a:spcBef>
                <a:spcPts val="0"/>
              </a:spcBef>
              <a:spcAft>
                <a:spcPts val="800"/>
              </a:spcAft>
              <a:tabLst>
                <a:tab pos="457200" algn="l"/>
              </a:tabLst>
            </a:pPr>
            <a:r>
              <a:rPr lang="en-US" sz="2200" b="1">
                <a:solidFill>
                  <a:schemeClr val="tx1"/>
                </a:solidFill>
                <a:latin typeface="Calibri" panose="020F0502020204030204" pitchFamily="34" charset="0"/>
                <a:ea typeface="游明朝" panose="02020400000000000000" pitchFamily="18" charset="-128"/>
                <a:cs typeface="Times New Roman" panose="02020603050405020304" pitchFamily="18" charset="0"/>
              </a:rPr>
              <a:t>4</a:t>
            </a:r>
            <a:r>
              <a:rPr lang="en-US" sz="2200" b="1">
                <a:solidFill>
                  <a:schemeClr val="tx1"/>
                </a:solidFill>
                <a:effectLst/>
                <a:latin typeface="Calibri" panose="020F0502020204030204" pitchFamily="34" charset="0"/>
                <a:ea typeface="游明朝" panose="02020400000000000000" pitchFamily="18" charset="-128"/>
                <a:cs typeface="Times New Roman" panose="02020603050405020304" pitchFamily="18" charset="0"/>
              </a:rPr>
              <a:t>. BIỂU ĐỒ KẾT HỢP</a:t>
            </a:r>
            <a:endParaRPr lang="en-US" sz="2200">
              <a:solidFill>
                <a:schemeClr val="tx1"/>
              </a:solidFill>
              <a:effectLst/>
              <a:latin typeface="Calibri" panose="020F0502020204030204" pitchFamily="34" charset="0"/>
              <a:ea typeface="游明朝" panose="02020400000000000000" pitchFamily="18" charset="-128"/>
              <a:cs typeface="Times New Roman" panose="02020603050405020304" pitchFamily="18" charset="0"/>
            </a:endParaRPr>
          </a:p>
        </p:txBody>
      </p:sp>
      <p:sp>
        <p:nvSpPr>
          <p:cNvPr id="6" name="Freeform 34">
            <a:extLst>
              <a:ext uri="{FF2B5EF4-FFF2-40B4-BE49-F238E27FC236}">
                <a16:creationId xmlns:a16="http://schemas.microsoft.com/office/drawing/2014/main" id="{E988D51C-281C-0FC1-508D-073F501DA6DF}"/>
              </a:ext>
            </a:extLst>
          </p:cNvPr>
          <p:cNvSpPr>
            <a:spLocks noChangeAspect="1"/>
          </p:cNvSpPr>
          <p:nvPr/>
        </p:nvSpPr>
        <p:spPr bwMode="auto">
          <a:xfrm rot="10800000" flipV="1">
            <a:off x="509368" y="536909"/>
            <a:ext cx="1655684" cy="47957"/>
          </a:xfrm>
          <a:custGeom>
            <a:avLst/>
            <a:gdLst>
              <a:gd name="T0" fmla="*/ 922 w 990"/>
              <a:gd name="T1" fmla="*/ 0 h 36"/>
              <a:gd name="T2" fmla="*/ 907 w 990"/>
              <a:gd name="T3" fmla="*/ 0 h 36"/>
              <a:gd name="T4" fmla="*/ 880 w 990"/>
              <a:gd name="T5" fmla="*/ 1 h 36"/>
              <a:gd name="T6" fmla="*/ 839 w 990"/>
              <a:gd name="T7" fmla="*/ 3 h 36"/>
              <a:gd name="T8" fmla="*/ 818 w 990"/>
              <a:gd name="T9" fmla="*/ 3 h 36"/>
              <a:gd name="T10" fmla="*/ 798 w 990"/>
              <a:gd name="T11" fmla="*/ 4 h 36"/>
              <a:gd name="T12" fmla="*/ 757 w 990"/>
              <a:gd name="T13" fmla="*/ 5 h 36"/>
              <a:gd name="T14" fmla="*/ 718 w 990"/>
              <a:gd name="T15" fmla="*/ 5 h 36"/>
              <a:gd name="T16" fmla="*/ 662 w 990"/>
              <a:gd name="T17" fmla="*/ 5 h 36"/>
              <a:gd name="T18" fmla="*/ 540 w 990"/>
              <a:gd name="T19" fmla="*/ 4 h 36"/>
              <a:gd name="T20" fmla="*/ 512 w 990"/>
              <a:gd name="T21" fmla="*/ 4 h 36"/>
              <a:gd name="T22" fmla="*/ 511 w 990"/>
              <a:gd name="T23" fmla="*/ 4 h 36"/>
              <a:gd name="T24" fmla="*/ 484 w 990"/>
              <a:gd name="T25" fmla="*/ 5 h 36"/>
              <a:gd name="T26" fmla="*/ 419 w 990"/>
              <a:gd name="T27" fmla="*/ 5 h 36"/>
              <a:gd name="T28" fmla="*/ 353 w 990"/>
              <a:gd name="T29" fmla="*/ 7 h 36"/>
              <a:gd name="T30" fmla="*/ 350 w 990"/>
              <a:gd name="T31" fmla="*/ 7 h 36"/>
              <a:gd name="T32" fmla="*/ 288 w 990"/>
              <a:gd name="T33" fmla="*/ 5 h 36"/>
              <a:gd name="T34" fmla="*/ 265 w 990"/>
              <a:gd name="T35" fmla="*/ 4 h 36"/>
              <a:gd name="T36" fmla="*/ 244 w 990"/>
              <a:gd name="T37" fmla="*/ 4 h 36"/>
              <a:gd name="T38" fmla="*/ 224 w 990"/>
              <a:gd name="T39" fmla="*/ 4 h 36"/>
              <a:gd name="T40" fmla="*/ 223 w 990"/>
              <a:gd name="T41" fmla="*/ 4 h 36"/>
              <a:gd name="T42" fmla="*/ 222 w 990"/>
              <a:gd name="T43" fmla="*/ 4 h 36"/>
              <a:gd name="T44" fmla="*/ 190 w 990"/>
              <a:gd name="T45" fmla="*/ 4 h 36"/>
              <a:gd name="T46" fmla="*/ 158 w 990"/>
              <a:gd name="T47" fmla="*/ 4 h 36"/>
              <a:gd name="T48" fmla="*/ 157 w 990"/>
              <a:gd name="T49" fmla="*/ 4 h 36"/>
              <a:gd name="T50" fmla="*/ 91 w 990"/>
              <a:gd name="T51" fmla="*/ 5 h 36"/>
              <a:gd name="T52" fmla="*/ 58 w 990"/>
              <a:gd name="T53" fmla="*/ 6 h 36"/>
              <a:gd name="T54" fmla="*/ 26 w 990"/>
              <a:gd name="T55" fmla="*/ 8 h 36"/>
              <a:gd name="T56" fmla="*/ 10 w 990"/>
              <a:gd name="T57" fmla="*/ 10 h 36"/>
              <a:gd name="T58" fmla="*/ 6 w 990"/>
              <a:gd name="T59" fmla="*/ 10 h 36"/>
              <a:gd name="T60" fmla="*/ 5 w 990"/>
              <a:gd name="T61" fmla="*/ 10 h 36"/>
              <a:gd name="T62" fmla="*/ 5 w 990"/>
              <a:gd name="T63" fmla="*/ 10 h 36"/>
              <a:gd name="T64" fmla="*/ 4 w 990"/>
              <a:gd name="T65" fmla="*/ 10 h 36"/>
              <a:gd name="T66" fmla="*/ 2 w 990"/>
              <a:gd name="T67" fmla="*/ 10 h 36"/>
              <a:gd name="T68" fmla="*/ 1 w 990"/>
              <a:gd name="T69" fmla="*/ 12 h 36"/>
              <a:gd name="T70" fmla="*/ 4 w 990"/>
              <a:gd name="T71" fmla="*/ 17 h 36"/>
              <a:gd name="T72" fmla="*/ 4 w 990"/>
              <a:gd name="T73" fmla="*/ 17 h 36"/>
              <a:gd name="T74" fmla="*/ 63 w 990"/>
              <a:gd name="T75" fmla="*/ 16 h 36"/>
              <a:gd name="T76" fmla="*/ 70 w 990"/>
              <a:gd name="T77" fmla="*/ 16 h 36"/>
              <a:gd name="T78" fmla="*/ 122 w 990"/>
              <a:gd name="T79" fmla="*/ 17 h 36"/>
              <a:gd name="T80" fmla="*/ 153 w 990"/>
              <a:gd name="T81" fmla="*/ 19 h 36"/>
              <a:gd name="T82" fmla="*/ 183 w 990"/>
              <a:gd name="T83" fmla="*/ 20 h 36"/>
              <a:gd name="T84" fmla="*/ 244 w 990"/>
              <a:gd name="T85" fmla="*/ 22 h 36"/>
              <a:gd name="T86" fmla="*/ 305 w 990"/>
              <a:gd name="T87" fmla="*/ 24 h 36"/>
              <a:gd name="T88" fmla="*/ 336 w 990"/>
              <a:gd name="T89" fmla="*/ 26 h 36"/>
              <a:gd name="T90" fmla="*/ 375 w 990"/>
              <a:gd name="T91" fmla="*/ 28 h 36"/>
              <a:gd name="T92" fmla="*/ 489 w 990"/>
              <a:gd name="T93" fmla="*/ 32 h 36"/>
              <a:gd name="T94" fmla="*/ 612 w 990"/>
              <a:gd name="T95" fmla="*/ 36 h 36"/>
              <a:gd name="T96" fmla="*/ 665 w 990"/>
              <a:gd name="T97" fmla="*/ 36 h 36"/>
              <a:gd name="T98" fmla="*/ 707 w 990"/>
              <a:gd name="T99" fmla="*/ 36 h 36"/>
              <a:gd name="T100" fmla="*/ 750 w 990"/>
              <a:gd name="T101" fmla="*/ 36 h 36"/>
              <a:gd name="T102" fmla="*/ 792 w 990"/>
              <a:gd name="T103" fmla="*/ 35 h 36"/>
              <a:gd name="T104" fmla="*/ 879 w 990"/>
              <a:gd name="T105" fmla="*/ 32 h 36"/>
              <a:gd name="T106" fmla="*/ 921 w 990"/>
              <a:gd name="T107" fmla="*/ 30 h 36"/>
              <a:gd name="T108" fmla="*/ 969 w 990"/>
              <a:gd name="T109" fmla="*/ 27 h 36"/>
              <a:gd name="T110" fmla="*/ 982 w 990"/>
              <a:gd name="T111" fmla="*/ 22 h 36"/>
              <a:gd name="T112" fmla="*/ 987 w 990"/>
              <a:gd name="T113" fmla="*/ 15 h 36"/>
              <a:gd name="T114" fmla="*/ 989 w 990"/>
              <a:gd name="T115" fmla="*/ 8 h 36"/>
              <a:gd name="T116" fmla="*/ 982 w 990"/>
              <a:gd name="T117" fmla="*/ 2 h 36"/>
              <a:gd name="T118" fmla="*/ 962 w 990"/>
              <a:gd name="T119" fmla="*/ 0 h 36"/>
              <a:gd name="T120" fmla="*/ 934 w 990"/>
              <a:gd name="T121" fmla="*/ 0 h 36"/>
              <a:gd name="T122" fmla="*/ 922 w 990"/>
              <a:gd name="T1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0" h="36">
                <a:moveTo>
                  <a:pt x="922" y="0"/>
                </a:moveTo>
                <a:cubicBezTo>
                  <a:pt x="917" y="0"/>
                  <a:pt x="912" y="0"/>
                  <a:pt x="907" y="0"/>
                </a:cubicBezTo>
                <a:cubicBezTo>
                  <a:pt x="898" y="0"/>
                  <a:pt x="889" y="1"/>
                  <a:pt x="880" y="1"/>
                </a:cubicBezTo>
                <a:cubicBezTo>
                  <a:pt x="839" y="3"/>
                  <a:pt x="839" y="3"/>
                  <a:pt x="839" y="3"/>
                </a:cubicBezTo>
                <a:cubicBezTo>
                  <a:pt x="818" y="3"/>
                  <a:pt x="818" y="3"/>
                  <a:pt x="818" y="3"/>
                </a:cubicBezTo>
                <a:cubicBezTo>
                  <a:pt x="798" y="4"/>
                  <a:pt x="798" y="4"/>
                  <a:pt x="798" y="4"/>
                </a:cubicBezTo>
                <a:cubicBezTo>
                  <a:pt x="757" y="5"/>
                  <a:pt x="757" y="5"/>
                  <a:pt x="757" y="5"/>
                </a:cubicBezTo>
                <a:cubicBezTo>
                  <a:pt x="744" y="5"/>
                  <a:pt x="731" y="5"/>
                  <a:pt x="718" y="5"/>
                </a:cubicBezTo>
                <a:cubicBezTo>
                  <a:pt x="699" y="5"/>
                  <a:pt x="681" y="5"/>
                  <a:pt x="662" y="5"/>
                </a:cubicBezTo>
                <a:cubicBezTo>
                  <a:pt x="540" y="4"/>
                  <a:pt x="540" y="4"/>
                  <a:pt x="540" y="4"/>
                </a:cubicBezTo>
                <a:cubicBezTo>
                  <a:pt x="512" y="4"/>
                  <a:pt x="512" y="4"/>
                  <a:pt x="512" y="4"/>
                </a:cubicBezTo>
                <a:cubicBezTo>
                  <a:pt x="512" y="4"/>
                  <a:pt x="511" y="4"/>
                  <a:pt x="511" y="4"/>
                </a:cubicBezTo>
                <a:cubicBezTo>
                  <a:pt x="502" y="4"/>
                  <a:pt x="493" y="4"/>
                  <a:pt x="484" y="5"/>
                </a:cubicBezTo>
                <a:cubicBezTo>
                  <a:pt x="462" y="5"/>
                  <a:pt x="441" y="5"/>
                  <a:pt x="419" y="5"/>
                </a:cubicBezTo>
                <a:cubicBezTo>
                  <a:pt x="397" y="6"/>
                  <a:pt x="375" y="7"/>
                  <a:pt x="353" y="7"/>
                </a:cubicBezTo>
                <a:cubicBezTo>
                  <a:pt x="352" y="7"/>
                  <a:pt x="351" y="7"/>
                  <a:pt x="350" y="7"/>
                </a:cubicBezTo>
                <a:cubicBezTo>
                  <a:pt x="330" y="7"/>
                  <a:pt x="309" y="5"/>
                  <a:pt x="288" y="5"/>
                </a:cubicBezTo>
                <a:cubicBezTo>
                  <a:pt x="280" y="4"/>
                  <a:pt x="272" y="4"/>
                  <a:pt x="265" y="4"/>
                </a:cubicBezTo>
                <a:cubicBezTo>
                  <a:pt x="258" y="4"/>
                  <a:pt x="251" y="4"/>
                  <a:pt x="244" y="4"/>
                </a:cubicBezTo>
                <a:cubicBezTo>
                  <a:pt x="237" y="4"/>
                  <a:pt x="230" y="4"/>
                  <a:pt x="224" y="4"/>
                </a:cubicBezTo>
                <a:cubicBezTo>
                  <a:pt x="223" y="4"/>
                  <a:pt x="223" y="4"/>
                  <a:pt x="223" y="4"/>
                </a:cubicBezTo>
                <a:cubicBezTo>
                  <a:pt x="223" y="4"/>
                  <a:pt x="222" y="4"/>
                  <a:pt x="222" y="4"/>
                </a:cubicBezTo>
                <a:cubicBezTo>
                  <a:pt x="212" y="4"/>
                  <a:pt x="201" y="4"/>
                  <a:pt x="190" y="4"/>
                </a:cubicBezTo>
                <a:cubicBezTo>
                  <a:pt x="180" y="4"/>
                  <a:pt x="169" y="4"/>
                  <a:pt x="158" y="4"/>
                </a:cubicBezTo>
                <a:cubicBezTo>
                  <a:pt x="158" y="4"/>
                  <a:pt x="157" y="4"/>
                  <a:pt x="157" y="4"/>
                </a:cubicBezTo>
                <a:cubicBezTo>
                  <a:pt x="135" y="4"/>
                  <a:pt x="113" y="4"/>
                  <a:pt x="91" y="5"/>
                </a:cubicBezTo>
                <a:cubicBezTo>
                  <a:pt x="80" y="5"/>
                  <a:pt x="69" y="6"/>
                  <a:pt x="58" y="6"/>
                </a:cubicBezTo>
                <a:cubicBezTo>
                  <a:pt x="48" y="6"/>
                  <a:pt x="37" y="7"/>
                  <a:pt x="26" y="8"/>
                </a:cubicBezTo>
                <a:cubicBezTo>
                  <a:pt x="10" y="10"/>
                  <a:pt x="10" y="10"/>
                  <a:pt x="10" y="10"/>
                </a:cubicBezTo>
                <a:cubicBezTo>
                  <a:pt x="6" y="10"/>
                  <a:pt x="6" y="10"/>
                  <a:pt x="6" y="10"/>
                </a:cubicBezTo>
                <a:cubicBezTo>
                  <a:pt x="6" y="10"/>
                  <a:pt x="5" y="10"/>
                  <a:pt x="5" y="10"/>
                </a:cubicBezTo>
                <a:cubicBezTo>
                  <a:pt x="5" y="10"/>
                  <a:pt x="5" y="10"/>
                  <a:pt x="5" y="10"/>
                </a:cubicBezTo>
                <a:cubicBezTo>
                  <a:pt x="4" y="10"/>
                  <a:pt x="4" y="10"/>
                  <a:pt x="4" y="10"/>
                </a:cubicBezTo>
                <a:cubicBezTo>
                  <a:pt x="3" y="10"/>
                  <a:pt x="2" y="10"/>
                  <a:pt x="2" y="10"/>
                </a:cubicBezTo>
                <a:cubicBezTo>
                  <a:pt x="1" y="10"/>
                  <a:pt x="1" y="11"/>
                  <a:pt x="1" y="12"/>
                </a:cubicBezTo>
                <a:cubicBezTo>
                  <a:pt x="0" y="15"/>
                  <a:pt x="2" y="17"/>
                  <a:pt x="4" y="17"/>
                </a:cubicBezTo>
                <a:cubicBezTo>
                  <a:pt x="4" y="17"/>
                  <a:pt x="4" y="17"/>
                  <a:pt x="4" y="17"/>
                </a:cubicBezTo>
                <a:cubicBezTo>
                  <a:pt x="24" y="17"/>
                  <a:pt x="43" y="16"/>
                  <a:pt x="63" y="16"/>
                </a:cubicBezTo>
                <a:cubicBezTo>
                  <a:pt x="65" y="16"/>
                  <a:pt x="67" y="16"/>
                  <a:pt x="70" y="16"/>
                </a:cubicBezTo>
                <a:cubicBezTo>
                  <a:pt x="87" y="16"/>
                  <a:pt x="105" y="16"/>
                  <a:pt x="122" y="17"/>
                </a:cubicBezTo>
                <a:cubicBezTo>
                  <a:pt x="133" y="18"/>
                  <a:pt x="143" y="19"/>
                  <a:pt x="153" y="19"/>
                </a:cubicBezTo>
                <a:cubicBezTo>
                  <a:pt x="183" y="20"/>
                  <a:pt x="183" y="20"/>
                  <a:pt x="183" y="20"/>
                </a:cubicBezTo>
                <a:cubicBezTo>
                  <a:pt x="203" y="20"/>
                  <a:pt x="224" y="21"/>
                  <a:pt x="244" y="22"/>
                </a:cubicBezTo>
                <a:cubicBezTo>
                  <a:pt x="265" y="22"/>
                  <a:pt x="285" y="23"/>
                  <a:pt x="305" y="24"/>
                </a:cubicBezTo>
                <a:cubicBezTo>
                  <a:pt x="336" y="26"/>
                  <a:pt x="336" y="26"/>
                  <a:pt x="336" y="26"/>
                </a:cubicBezTo>
                <a:cubicBezTo>
                  <a:pt x="346" y="26"/>
                  <a:pt x="361" y="28"/>
                  <a:pt x="375" y="28"/>
                </a:cubicBezTo>
                <a:cubicBezTo>
                  <a:pt x="416" y="31"/>
                  <a:pt x="448" y="31"/>
                  <a:pt x="489" y="32"/>
                </a:cubicBezTo>
                <a:cubicBezTo>
                  <a:pt x="530" y="34"/>
                  <a:pt x="571" y="35"/>
                  <a:pt x="612" y="36"/>
                </a:cubicBezTo>
                <a:cubicBezTo>
                  <a:pt x="629" y="36"/>
                  <a:pt x="647" y="36"/>
                  <a:pt x="665" y="36"/>
                </a:cubicBezTo>
                <a:cubicBezTo>
                  <a:pt x="679" y="36"/>
                  <a:pt x="693" y="36"/>
                  <a:pt x="707" y="36"/>
                </a:cubicBezTo>
                <a:cubicBezTo>
                  <a:pt x="750" y="36"/>
                  <a:pt x="750" y="36"/>
                  <a:pt x="750" y="36"/>
                </a:cubicBezTo>
                <a:cubicBezTo>
                  <a:pt x="792" y="35"/>
                  <a:pt x="792" y="35"/>
                  <a:pt x="792" y="35"/>
                </a:cubicBezTo>
                <a:cubicBezTo>
                  <a:pt x="821" y="34"/>
                  <a:pt x="850" y="33"/>
                  <a:pt x="879" y="32"/>
                </a:cubicBezTo>
                <a:cubicBezTo>
                  <a:pt x="921" y="30"/>
                  <a:pt x="921" y="30"/>
                  <a:pt x="921" y="30"/>
                </a:cubicBezTo>
                <a:cubicBezTo>
                  <a:pt x="937" y="30"/>
                  <a:pt x="953" y="29"/>
                  <a:pt x="969" y="27"/>
                </a:cubicBezTo>
                <a:cubicBezTo>
                  <a:pt x="973" y="26"/>
                  <a:pt x="979" y="25"/>
                  <a:pt x="982" y="22"/>
                </a:cubicBezTo>
                <a:cubicBezTo>
                  <a:pt x="984" y="20"/>
                  <a:pt x="986" y="17"/>
                  <a:pt x="987" y="15"/>
                </a:cubicBezTo>
                <a:cubicBezTo>
                  <a:pt x="989" y="13"/>
                  <a:pt x="990" y="10"/>
                  <a:pt x="989" y="8"/>
                </a:cubicBezTo>
                <a:cubicBezTo>
                  <a:pt x="988" y="4"/>
                  <a:pt x="985" y="3"/>
                  <a:pt x="982" y="2"/>
                </a:cubicBezTo>
                <a:cubicBezTo>
                  <a:pt x="975" y="0"/>
                  <a:pt x="968" y="0"/>
                  <a:pt x="962" y="0"/>
                </a:cubicBezTo>
                <a:cubicBezTo>
                  <a:pt x="934" y="0"/>
                  <a:pt x="934" y="0"/>
                  <a:pt x="934" y="0"/>
                </a:cubicBezTo>
                <a:cubicBezTo>
                  <a:pt x="930" y="0"/>
                  <a:pt x="926" y="0"/>
                  <a:pt x="922" y="0"/>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2" name="Content Placeholder 2">
            <a:extLst>
              <a:ext uri="{FF2B5EF4-FFF2-40B4-BE49-F238E27FC236}">
                <a16:creationId xmlns:a16="http://schemas.microsoft.com/office/drawing/2014/main" id="{8A378710-0B40-86B5-B2C6-AF290BD75FB3}"/>
              </a:ext>
            </a:extLst>
          </p:cNvPr>
          <p:cNvSpPr txBox="1">
            <a:spLocks/>
          </p:cNvSpPr>
          <p:nvPr/>
        </p:nvSpPr>
        <p:spPr>
          <a:xfrm>
            <a:off x="401032" y="716399"/>
            <a:ext cx="8510739" cy="1226941"/>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1600" b="1">
                <a:latin typeface="Calibri" panose="020F0502020204030204" pitchFamily="34" charset="0"/>
                <a:cs typeface="Calibri" panose="020F0502020204030204" pitchFamily="34" charset="0"/>
              </a:rPr>
              <a:t>Bước 3</a:t>
            </a:r>
            <a:r>
              <a:rPr lang="en-US" sz="1600">
                <a:latin typeface="Calibri" panose="020F0502020204030204" pitchFamily="34" charset="0"/>
                <a:cs typeface="Calibri" panose="020F0502020204030204" pitchFamily="34" charset="0"/>
              </a:rPr>
              <a:t>: Hoàn thiện biểu đồ</a:t>
            </a:r>
          </a:p>
          <a:p>
            <a:pPr marL="285750" indent="-285750" algn="l">
              <a:buFontTx/>
              <a:buChar char="-"/>
            </a:pPr>
            <a:r>
              <a:rPr lang="en-US" sz="1600" b="1">
                <a:latin typeface="Calibri" panose="020F0502020204030204" pitchFamily="34" charset="0"/>
                <a:cs typeface="Calibri" panose="020F0502020204030204" pitchFamily="34" charset="0"/>
              </a:rPr>
              <a:t>Thêm giá trị cho cột: </a:t>
            </a:r>
            <a:r>
              <a:rPr lang="en-US" sz="1600">
                <a:latin typeface="Calibri" panose="020F0502020204030204" pitchFamily="34" charset="0"/>
                <a:cs typeface="Calibri" panose="020F0502020204030204" pitchFamily="34" charset="0"/>
              </a:rPr>
              <a:t>Chuột phải vào cột bất kỳ (1), chọn Add Data Labels (2) / Add Data Labels (3)</a:t>
            </a:r>
          </a:p>
          <a:p>
            <a:pPr marL="285750" indent="-285750" algn="l">
              <a:buFontTx/>
              <a:buChar char="-"/>
            </a:pPr>
            <a:endParaRPr lang="en-US" sz="1600">
              <a:latin typeface="Calibri" panose="020F0502020204030204" pitchFamily="34" charset="0"/>
              <a:cs typeface="Calibri" panose="020F0502020204030204" pitchFamily="34" charset="0"/>
            </a:endParaRPr>
          </a:p>
        </p:txBody>
      </p:sp>
      <p:sp>
        <p:nvSpPr>
          <p:cNvPr id="12" name="Oval 11">
            <a:extLst>
              <a:ext uri="{FF2B5EF4-FFF2-40B4-BE49-F238E27FC236}">
                <a16:creationId xmlns:a16="http://schemas.microsoft.com/office/drawing/2014/main" id="{EE39C399-697C-FE44-F510-CB4B7E102188}"/>
              </a:ext>
            </a:extLst>
          </p:cNvPr>
          <p:cNvSpPr/>
          <p:nvPr/>
        </p:nvSpPr>
        <p:spPr>
          <a:xfrm>
            <a:off x="1988839" y="3556630"/>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1</a:t>
            </a:r>
          </a:p>
        </p:txBody>
      </p:sp>
      <p:sp>
        <p:nvSpPr>
          <p:cNvPr id="14" name="Oval 13">
            <a:extLst>
              <a:ext uri="{FF2B5EF4-FFF2-40B4-BE49-F238E27FC236}">
                <a16:creationId xmlns:a16="http://schemas.microsoft.com/office/drawing/2014/main" id="{94B5F51D-9593-7C05-BDAD-36A1FF7D96E1}"/>
              </a:ext>
            </a:extLst>
          </p:cNvPr>
          <p:cNvSpPr/>
          <p:nvPr/>
        </p:nvSpPr>
        <p:spPr>
          <a:xfrm>
            <a:off x="3848020" y="4269620"/>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2</a:t>
            </a:r>
          </a:p>
        </p:txBody>
      </p:sp>
      <p:sp>
        <p:nvSpPr>
          <p:cNvPr id="16" name="Oval 15">
            <a:extLst>
              <a:ext uri="{FF2B5EF4-FFF2-40B4-BE49-F238E27FC236}">
                <a16:creationId xmlns:a16="http://schemas.microsoft.com/office/drawing/2014/main" id="{D1028BD7-8309-B021-7F21-3E9F79DB9FC8}"/>
              </a:ext>
            </a:extLst>
          </p:cNvPr>
          <p:cNvSpPr/>
          <p:nvPr/>
        </p:nvSpPr>
        <p:spPr>
          <a:xfrm>
            <a:off x="7103086" y="4361377"/>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3</a:t>
            </a:r>
          </a:p>
        </p:txBody>
      </p:sp>
    </p:spTree>
    <p:extLst>
      <p:ext uri="{BB962C8B-B14F-4D97-AF65-F5344CB8AC3E}">
        <p14:creationId xmlns:p14="http://schemas.microsoft.com/office/powerpoint/2010/main" val="35234173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F4DDA6E-0C06-9553-2479-F28DEFF6C4BB}"/>
              </a:ext>
            </a:extLst>
          </p:cNvPr>
          <p:cNvPicPr>
            <a:picLocks noChangeAspect="1"/>
          </p:cNvPicPr>
          <p:nvPr/>
        </p:nvPicPr>
        <p:blipFill>
          <a:blip r:embed="rId3"/>
          <a:stretch>
            <a:fillRect/>
          </a:stretch>
        </p:blipFill>
        <p:spPr>
          <a:xfrm>
            <a:off x="295745" y="1895039"/>
            <a:ext cx="8571551" cy="3797856"/>
          </a:xfrm>
          <a:prstGeom prst="rect">
            <a:avLst/>
          </a:prstGeom>
        </p:spPr>
      </p:pic>
      <p:sp>
        <p:nvSpPr>
          <p:cNvPr id="7" name="Slide Number Placeholder 5"/>
          <p:cNvSpPr>
            <a:spLocks noGrp="1"/>
          </p:cNvSpPr>
          <p:nvPr>
            <p:ph type="sldNum" sz="quarter" idx="4"/>
          </p:nvPr>
        </p:nvSpPr>
        <p:spPr>
          <a:prstGeom prst="rect">
            <a:avLst/>
          </a:prstGeom>
        </p:spPr>
        <p:txBody>
          <a:bodyPr vert="horz" lIns="0" tIns="0" rIns="0" bIns="0" rtlCol="0" anchor="ctr" anchorCtr="0"/>
          <a:lstStyle>
            <a:lvl1pPr algn="r">
              <a:defRPr sz="1800">
                <a:solidFill>
                  <a:schemeClr val="tx1"/>
                </a:solidFill>
              </a:defRPr>
            </a:lvl1pPr>
          </a:lstStyle>
          <a:p>
            <a:fld id="{A3381702-59A5-4643-AE93-D7BF7F78153B}" type="slidenum">
              <a:rPr lang="en-GB" smtClean="0"/>
              <a:pPr/>
              <a:t>30</a:t>
            </a:fld>
            <a:endParaRPr lang="en-GB" dirty="0"/>
          </a:p>
        </p:txBody>
      </p:sp>
      <p:sp>
        <p:nvSpPr>
          <p:cNvPr id="8" name="Footer Placeholder 4"/>
          <p:cNvSpPr>
            <a:spLocks noGrp="1"/>
          </p:cNvSpPr>
          <p:nvPr>
            <p:ph type="ftr" sz="quarter" idx="3"/>
          </p:nvPr>
        </p:nvSpPr>
        <p:spPr>
          <a:prstGeom prst="rect">
            <a:avLst/>
          </a:prstGeom>
        </p:spPr>
        <p:txBody>
          <a:bodyPr vert="horz" lIns="0" tIns="0" rIns="0" bIns="0" rtlCol="0" anchor="t" anchorCtr="0"/>
          <a:lstStyle>
            <a:lvl1pPr algn="r">
              <a:defRPr sz="700">
                <a:solidFill>
                  <a:schemeClr val="tx1"/>
                </a:solidFill>
                <a:latin typeface="+mn-lt"/>
              </a:defRPr>
            </a:lvl1pPr>
          </a:lstStyle>
          <a:p>
            <a:r>
              <a:rPr lang="fr-FR" altLang="ja-JP" dirty="0"/>
              <a:t>©20</a:t>
            </a:r>
            <a:r>
              <a:rPr lang="en-US" altLang="ja-JP" dirty="0"/>
              <a:t>23</a:t>
            </a:r>
            <a:r>
              <a:rPr lang="fr-FR" altLang="ja-JP" dirty="0"/>
              <a:t> KYOCERA Document Solutions Inc.</a:t>
            </a:r>
            <a:endParaRPr lang="en-GB" dirty="0"/>
          </a:p>
        </p:txBody>
      </p:sp>
      <p:sp>
        <p:nvSpPr>
          <p:cNvPr id="4" name="Rectangle 3">
            <a:extLst>
              <a:ext uri="{FF2B5EF4-FFF2-40B4-BE49-F238E27FC236}">
                <a16:creationId xmlns:a16="http://schemas.microsoft.com/office/drawing/2014/main" id="{0BAEFD46-8DC5-BB64-F040-FD68EE6A7C2D}"/>
              </a:ext>
            </a:extLst>
          </p:cNvPr>
          <p:cNvSpPr/>
          <p:nvPr/>
        </p:nvSpPr>
        <p:spPr>
          <a:xfrm>
            <a:off x="295745" y="40624"/>
            <a:ext cx="8722810" cy="6207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nSpc>
                <a:spcPct val="107000"/>
              </a:lnSpc>
              <a:spcBef>
                <a:spcPts val="0"/>
              </a:spcBef>
              <a:spcAft>
                <a:spcPts val="800"/>
              </a:spcAft>
              <a:tabLst>
                <a:tab pos="457200" algn="l"/>
              </a:tabLst>
            </a:pPr>
            <a:r>
              <a:rPr lang="en-US" sz="2200" b="1">
                <a:solidFill>
                  <a:schemeClr val="tx1"/>
                </a:solidFill>
                <a:latin typeface="Calibri" panose="020F0502020204030204" pitchFamily="34" charset="0"/>
                <a:ea typeface="游明朝" panose="02020400000000000000" pitchFamily="18" charset="-128"/>
                <a:cs typeface="Times New Roman" panose="02020603050405020304" pitchFamily="18" charset="0"/>
              </a:rPr>
              <a:t>4</a:t>
            </a:r>
            <a:r>
              <a:rPr lang="en-US" sz="2200" b="1">
                <a:solidFill>
                  <a:schemeClr val="tx1"/>
                </a:solidFill>
                <a:effectLst/>
                <a:latin typeface="Calibri" panose="020F0502020204030204" pitchFamily="34" charset="0"/>
                <a:ea typeface="游明朝" panose="02020400000000000000" pitchFamily="18" charset="-128"/>
                <a:cs typeface="Times New Roman" panose="02020603050405020304" pitchFamily="18" charset="0"/>
              </a:rPr>
              <a:t>. BIỂU ĐỒ KẾT HỢP</a:t>
            </a:r>
            <a:endParaRPr lang="en-US" sz="2200">
              <a:solidFill>
                <a:schemeClr val="tx1"/>
              </a:solidFill>
              <a:effectLst/>
              <a:latin typeface="Calibri" panose="020F0502020204030204" pitchFamily="34" charset="0"/>
              <a:ea typeface="游明朝" panose="02020400000000000000" pitchFamily="18" charset="-128"/>
              <a:cs typeface="Times New Roman" panose="02020603050405020304" pitchFamily="18" charset="0"/>
            </a:endParaRPr>
          </a:p>
        </p:txBody>
      </p:sp>
      <p:sp>
        <p:nvSpPr>
          <p:cNvPr id="6" name="Freeform 34">
            <a:extLst>
              <a:ext uri="{FF2B5EF4-FFF2-40B4-BE49-F238E27FC236}">
                <a16:creationId xmlns:a16="http://schemas.microsoft.com/office/drawing/2014/main" id="{E988D51C-281C-0FC1-508D-073F501DA6DF}"/>
              </a:ext>
            </a:extLst>
          </p:cNvPr>
          <p:cNvSpPr>
            <a:spLocks noChangeAspect="1"/>
          </p:cNvSpPr>
          <p:nvPr/>
        </p:nvSpPr>
        <p:spPr bwMode="auto">
          <a:xfrm rot="10800000" flipV="1">
            <a:off x="509368" y="536909"/>
            <a:ext cx="1655684" cy="47957"/>
          </a:xfrm>
          <a:custGeom>
            <a:avLst/>
            <a:gdLst>
              <a:gd name="T0" fmla="*/ 922 w 990"/>
              <a:gd name="T1" fmla="*/ 0 h 36"/>
              <a:gd name="T2" fmla="*/ 907 w 990"/>
              <a:gd name="T3" fmla="*/ 0 h 36"/>
              <a:gd name="T4" fmla="*/ 880 w 990"/>
              <a:gd name="T5" fmla="*/ 1 h 36"/>
              <a:gd name="T6" fmla="*/ 839 w 990"/>
              <a:gd name="T7" fmla="*/ 3 h 36"/>
              <a:gd name="T8" fmla="*/ 818 w 990"/>
              <a:gd name="T9" fmla="*/ 3 h 36"/>
              <a:gd name="T10" fmla="*/ 798 w 990"/>
              <a:gd name="T11" fmla="*/ 4 h 36"/>
              <a:gd name="T12" fmla="*/ 757 w 990"/>
              <a:gd name="T13" fmla="*/ 5 h 36"/>
              <a:gd name="T14" fmla="*/ 718 w 990"/>
              <a:gd name="T15" fmla="*/ 5 h 36"/>
              <a:gd name="T16" fmla="*/ 662 w 990"/>
              <a:gd name="T17" fmla="*/ 5 h 36"/>
              <a:gd name="T18" fmla="*/ 540 w 990"/>
              <a:gd name="T19" fmla="*/ 4 h 36"/>
              <a:gd name="T20" fmla="*/ 512 w 990"/>
              <a:gd name="T21" fmla="*/ 4 h 36"/>
              <a:gd name="T22" fmla="*/ 511 w 990"/>
              <a:gd name="T23" fmla="*/ 4 h 36"/>
              <a:gd name="T24" fmla="*/ 484 w 990"/>
              <a:gd name="T25" fmla="*/ 5 h 36"/>
              <a:gd name="T26" fmla="*/ 419 w 990"/>
              <a:gd name="T27" fmla="*/ 5 h 36"/>
              <a:gd name="T28" fmla="*/ 353 w 990"/>
              <a:gd name="T29" fmla="*/ 7 h 36"/>
              <a:gd name="T30" fmla="*/ 350 w 990"/>
              <a:gd name="T31" fmla="*/ 7 h 36"/>
              <a:gd name="T32" fmla="*/ 288 w 990"/>
              <a:gd name="T33" fmla="*/ 5 h 36"/>
              <a:gd name="T34" fmla="*/ 265 w 990"/>
              <a:gd name="T35" fmla="*/ 4 h 36"/>
              <a:gd name="T36" fmla="*/ 244 w 990"/>
              <a:gd name="T37" fmla="*/ 4 h 36"/>
              <a:gd name="T38" fmla="*/ 224 w 990"/>
              <a:gd name="T39" fmla="*/ 4 h 36"/>
              <a:gd name="T40" fmla="*/ 223 w 990"/>
              <a:gd name="T41" fmla="*/ 4 h 36"/>
              <a:gd name="T42" fmla="*/ 222 w 990"/>
              <a:gd name="T43" fmla="*/ 4 h 36"/>
              <a:gd name="T44" fmla="*/ 190 w 990"/>
              <a:gd name="T45" fmla="*/ 4 h 36"/>
              <a:gd name="T46" fmla="*/ 158 w 990"/>
              <a:gd name="T47" fmla="*/ 4 h 36"/>
              <a:gd name="T48" fmla="*/ 157 w 990"/>
              <a:gd name="T49" fmla="*/ 4 h 36"/>
              <a:gd name="T50" fmla="*/ 91 w 990"/>
              <a:gd name="T51" fmla="*/ 5 h 36"/>
              <a:gd name="T52" fmla="*/ 58 w 990"/>
              <a:gd name="T53" fmla="*/ 6 h 36"/>
              <a:gd name="T54" fmla="*/ 26 w 990"/>
              <a:gd name="T55" fmla="*/ 8 h 36"/>
              <a:gd name="T56" fmla="*/ 10 w 990"/>
              <a:gd name="T57" fmla="*/ 10 h 36"/>
              <a:gd name="T58" fmla="*/ 6 w 990"/>
              <a:gd name="T59" fmla="*/ 10 h 36"/>
              <a:gd name="T60" fmla="*/ 5 w 990"/>
              <a:gd name="T61" fmla="*/ 10 h 36"/>
              <a:gd name="T62" fmla="*/ 5 w 990"/>
              <a:gd name="T63" fmla="*/ 10 h 36"/>
              <a:gd name="T64" fmla="*/ 4 w 990"/>
              <a:gd name="T65" fmla="*/ 10 h 36"/>
              <a:gd name="T66" fmla="*/ 2 w 990"/>
              <a:gd name="T67" fmla="*/ 10 h 36"/>
              <a:gd name="T68" fmla="*/ 1 w 990"/>
              <a:gd name="T69" fmla="*/ 12 h 36"/>
              <a:gd name="T70" fmla="*/ 4 w 990"/>
              <a:gd name="T71" fmla="*/ 17 h 36"/>
              <a:gd name="T72" fmla="*/ 4 w 990"/>
              <a:gd name="T73" fmla="*/ 17 h 36"/>
              <a:gd name="T74" fmla="*/ 63 w 990"/>
              <a:gd name="T75" fmla="*/ 16 h 36"/>
              <a:gd name="T76" fmla="*/ 70 w 990"/>
              <a:gd name="T77" fmla="*/ 16 h 36"/>
              <a:gd name="T78" fmla="*/ 122 w 990"/>
              <a:gd name="T79" fmla="*/ 17 h 36"/>
              <a:gd name="T80" fmla="*/ 153 w 990"/>
              <a:gd name="T81" fmla="*/ 19 h 36"/>
              <a:gd name="T82" fmla="*/ 183 w 990"/>
              <a:gd name="T83" fmla="*/ 20 h 36"/>
              <a:gd name="T84" fmla="*/ 244 w 990"/>
              <a:gd name="T85" fmla="*/ 22 h 36"/>
              <a:gd name="T86" fmla="*/ 305 w 990"/>
              <a:gd name="T87" fmla="*/ 24 h 36"/>
              <a:gd name="T88" fmla="*/ 336 w 990"/>
              <a:gd name="T89" fmla="*/ 26 h 36"/>
              <a:gd name="T90" fmla="*/ 375 w 990"/>
              <a:gd name="T91" fmla="*/ 28 h 36"/>
              <a:gd name="T92" fmla="*/ 489 w 990"/>
              <a:gd name="T93" fmla="*/ 32 h 36"/>
              <a:gd name="T94" fmla="*/ 612 w 990"/>
              <a:gd name="T95" fmla="*/ 36 h 36"/>
              <a:gd name="T96" fmla="*/ 665 w 990"/>
              <a:gd name="T97" fmla="*/ 36 h 36"/>
              <a:gd name="T98" fmla="*/ 707 w 990"/>
              <a:gd name="T99" fmla="*/ 36 h 36"/>
              <a:gd name="T100" fmla="*/ 750 w 990"/>
              <a:gd name="T101" fmla="*/ 36 h 36"/>
              <a:gd name="T102" fmla="*/ 792 w 990"/>
              <a:gd name="T103" fmla="*/ 35 h 36"/>
              <a:gd name="T104" fmla="*/ 879 w 990"/>
              <a:gd name="T105" fmla="*/ 32 h 36"/>
              <a:gd name="T106" fmla="*/ 921 w 990"/>
              <a:gd name="T107" fmla="*/ 30 h 36"/>
              <a:gd name="T108" fmla="*/ 969 w 990"/>
              <a:gd name="T109" fmla="*/ 27 h 36"/>
              <a:gd name="T110" fmla="*/ 982 w 990"/>
              <a:gd name="T111" fmla="*/ 22 h 36"/>
              <a:gd name="T112" fmla="*/ 987 w 990"/>
              <a:gd name="T113" fmla="*/ 15 h 36"/>
              <a:gd name="T114" fmla="*/ 989 w 990"/>
              <a:gd name="T115" fmla="*/ 8 h 36"/>
              <a:gd name="T116" fmla="*/ 982 w 990"/>
              <a:gd name="T117" fmla="*/ 2 h 36"/>
              <a:gd name="T118" fmla="*/ 962 w 990"/>
              <a:gd name="T119" fmla="*/ 0 h 36"/>
              <a:gd name="T120" fmla="*/ 934 w 990"/>
              <a:gd name="T121" fmla="*/ 0 h 36"/>
              <a:gd name="T122" fmla="*/ 922 w 990"/>
              <a:gd name="T1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0" h="36">
                <a:moveTo>
                  <a:pt x="922" y="0"/>
                </a:moveTo>
                <a:cubicBezTo>
                  <a:pt x="917" y="0"/>
                  <a:pt x="912" y="0"/>
                  <a:pt x="907" y="0"/>
                </a:cubicBezTo>
                <a:cubicBezTo>
                  <a:pt x="898" y="0"/>
                  <a:pt x="889" y="1"/>
                  <a:pt x="880" y="1"/>
                </a:cubicBezTo>
                <a:cubicBezTo>
                  <a:pt x="839" y="3"/>
                  <a:pt x="839" y="3"/>
                  <a:pt x="839" y="3"/>
                </a:cubicBezTo>
                <a:cubicBezTo>
                  <a:pt x="818" y="3"/>
                  <a:pt x="818" y="3"/>
                  <a:pt x="818" y="3"/>
                </a:cubicBezTo>
                <a:cubicBezTo>
                  <a:pt x="798" y="4"/>
                  <a:pt x="798" y="4"/>
                  <a:pt x="798" y="4"/>
                </a:cubicBezTo>
                <a:cubicBezTo>
                  <a:pt x="757" y="5"/>
                  <a:pt x="757" y="5"/>
                  <a:pt x="757" y="5"/>
                </a:cubicBezTo>
                <a:cubicBezTo>
                  <a:pt x="744" y="5"/>
                  <a:pt x="731" y="5"/>
                  <a:pt x="718" y="5"/>
                </a:cubicBezTo>
                <a:cubicBezTo>
                  <a:pt x="699" y="5"/>
                  <a:pt x="681" y="5"/>
                  <a:pt x="662" y="5"/>
                </a:cubicBezTo>
                <a:cubicBezTo>
                  <a:pt x="540" y="4"/>
                  <a:pt x="540" y="4"/>
                  <a:pt x="540" y="4"/>
                </a:cubicBezTo>
                <a:cubicBezTo>
                  <a:pt x="512" y="4"/>
                  <a:pt x="512" y="4"/>
                  <a:pt x="512" y="4"/>
                </a:cubicBezTo>
                <a:cubicBezTo>
                  <a:pt x="512" y="4"/>
                  <a:pt x="511" y="4"/>
                  <a:pt x="511" y="4"/>
                </a:cubicBezTo>
                <a:cubicBezTo>
                  <a:pt x="502" y="4"/>
                  <a:pt x="493" y="4"/>
                  <a:pt x="484" y="5"/>
                </a:cubicBezTo>
                <a:cubicBezTo>
                  <a:pt x="462" y="5"/>
                  <a:pt x="441" y="5"/>
                  <a:pt x="419" y="5"/>
                </a:cubicBezTo>
                <a:cubicBezTo>
                  <a:pt x="397" y="6"/>
                  <a:pt x="375" y="7"/>
                  <a:pt x="353" y="7"/>
                </a:cubicBezTo>
                <a:cubicBezTo>
                  <a:pt x="352" y="7"/>
                  <a:pt x="351" y="7"/>
                  <a:pt x="350" y="7"/>
                </a:cubicBezTo>
                <a:cubicBezTo>
                  <a:pt x="330" y="7"/>
                  <a:pt x="309" y="5"/>
                  <a:pt x="288" y="5"/>
                </a:cubicBezTo>
                <a:cubicBezTo>
                  <a:pt x="280" y="4"/>
                  <a:pt x="272" y="4"/>
                  <a:pt x="265" y="4"/>
                </a:cubicBezTo>
                <a:cubicBezTo>
                  <a:pt x="258" y="4"/>
                  <a:pt x="251" y="4"/>
                  <a:pt x="244" y="4"/>
                </a:cubicBezTo>
                <a:cubicBezTo>
                  <a:pt x="237" y="4"/>
                  <a:pt x="230" y="4"/>
                  <a:pt x="224" y="4"/>
                </a:cubicBezTo>
                <a:cubicBezTo>
                  <a:pt x="223" y="4"/>
                  <a:pt x="223" y="4"/>
                  <a:pt x="223" y="4"/>
                </a:cubicBezTo>
                <a:cubicBezTo>
                  <a:pt x="223" y="4"/>
                  <a:pt x="222" y="4"/>
                  <a:pt x="222" y="4"/>
                </a:cubicBezTo>
                <a:cubicBezTo>
                  <a:pt x="212" y="4"/>
                  <a:pt x="201" y="4"/>
                  <a:pt x="190" y="4"/>
                </a:cubicBezTo>
                <a:cubicBezTo>
                  <a:pt x="180" y="4"/>
                  <a:pt x="169" y="4"/>
                  <a:pt x="158" y="4"/>
                </a:cubicBezTo>
                <a:cubicBezTo>
                  <a:pt x="158" y="4"/>
                  <a:pt x="157" y="4"/>
                  <a:pt x="157" y="4"/>
                </a:cubicBezTo>
                <a:cubicBezTo>
                  <a:pt x="135" y="4"/>
                  <a:pt x="113" y="4"/>
                  <a:pt x="91" y="5"/>
                </a:cubicBezTo>
                <a:cubicBezTo>
                  <a:pt x="80" y="5"/>
                  <a:pt x="69" y="6"/>
                  <a:pt x="58" y="6"/>
                </a:cubicBezTo>
                <a:cubicBezTo>
                  <a:pt x="48" y="6"/>
                  <a:pt x="37" y="7"/>
                  <a:pt x="26" y="8"/>
                </a:cubicBezTo>
                <a:cubicBezTo>
                  <a:pt x="10" y="10"/>
                  <a:pt x="10" y="10"/>
                  <a:pt x="10" y="10"/>
                </a:cubicBezTo>
                <a:cubicBezTo>
                  <a:pt x="6" y="10"/>
                  <a:pt x="6" y="10"/>
                  <a:pt x="6" y="10"/>
                </a:cubicBezTo>
                <a:cubicBezTo>
                  <a:pt x="6" y="10"/>
                  <a:pt x="5" y="10"/>
                  <a:pt x="5" y="10"/>
                </a:cubicBezTo>
                <a:cubicBezTo>
                  <a:pt x="5" y="10"/>
                  <a:pt x="5" y="10"/>
                  <a:pt x="5" y="10"/>
                </a:cubicBezTo>
                <a:cubicBezTo>
                  <a:pt x="4" y="10"/>
                  <a:pt x="4" y="10"/>
                  <a:pt x="4" y="10"/>
                </a:cubicBezTo>
                <a:cubicBezTo>
                  <a:pt x="3" y="10"/>
                  <a:pt x="2" y="10"/>
                  <a:pt x="2" y="10"/>
                </a:cubicBezTo>
                <a:cubicBezTo>
                  <a:pt x="1" y="10"/>
                  <a:pt x="1" y="11"/>
                  <a:pt x="1" y="12"/>
                </a:cubicBezTo>
                <a:cubicBezTo>
                  <a:pt x="0" y="15"/>
                  <a:pt x="2" y="17"/>
                  <a:pt x="4" y="17"/>
                </a:cubicBezTo>
                <a:cubicBezTo>
                  <a:pt x="4" y="17"/>
                  <a:pt x="4" y="17"/>
                  <a:pt x="4" y="17"/>
                </a:cubicBezTo>
                <a:cubicBezTo>
                  <a:pt x="24" y="17"/>
                  <a:pt x="43" y="16"/>
                  <a:pt x="63" y="16"/>
                </a:cubicBezTo>
                <a:cubicBezTo>
                  <a:pt x="65" y="16"/>
                  <a:pt x="67" y="16"/>
                  <a:pt x="70" y="16"/>
                </a:cubicBezTo>
                <a:cubicBezTo>
                  <a:pt x="87" y="16"/>
                  <a:pt x="105" y="16"/>
                  <a:pt x="122" y="17"/>
                </a:cubicBezTo>
                <a:cubicBezTo>
                  <a:pt x="133" y="18"/>
                  <a:pt x="143" y="19"/>
                  <a:pt x="153" y="19"/>
                </a:cubicBezTo>
                <a:cubicBezTo>
                  <a:pt x="183" y="20"/>
                  <a:pt x="183" y="20"/>
                  <a:pt x="183" y="20"/>
                </a:cubicBezTo>
                <a:cubicBezTo>
                  <a:pt x="203" y="20"/>
                  <a:pt x="224" y="21"/>
                  <a:pt x="244" y="22"/>
                </a:cubicBezTo>
                <a:cubicBezTo>
                  <a:pt x="265" y="22"/>
                  <a:pt x="285" y="23"/>
                  <a:pt x="305" y="24"/>
                </a:cubicBezTo>
                <a:cubicBezTo>
                  <a:pt x="336" y="26"/>
                  <a:pt x="336" y="26"/>
                  <a:pt x="336" y="26"/>
                </a:cubicBezTo>
                <a:cubicBezTo>
                  <a:pt x="346" y="26"/>
                  <a:pt x="361" y="28"/>
                  <a:pt x="375" y="28"/>
                </a:cubicBezTo>
                <a:cubicBezTo>
                  <a:pt x="416" y="31"/>
                  <a:pt x="448" y="31"/>
                  <a:pt x="489" y="32"/>
                </a:cubicBezTo>
                <a:cubicBezTo>
                  <a:pt x="530" y="34"/>
                  <a:pt x="571" y="35"/>
                  <a:pt x="612" y="36"/>
                </a:cubicBezTo>
                <a:cubicBezTo>
                  <a:pt x="629" y="36"/>
                  <a:pt x="647" y="36"/>
                  <a:pt x="665" y="36"/>
                </a:cubicBezTo>
                <a:cubicBezTo>
                  <a:pt x="679" y="36"/>
                  <a:pt x="693" y="36"/>
                  <a:pt x="707" y="36"/>
                </a:cubicBezTo>
                <a:cubicBezTo>
                  <a:pt x="750" y="36"/>
                  <a:pt x="750" y="36"/>
                  <a:pt x="750" y="36"/>
                </a:cubicBezTo>
                <a:cubicBezTo>
                  <a:pt x="792" y="35"/>
                  <a:pt x="792" y="35"/>
                  <a:pt x="792" y="35"/>
                </a:cubicBezTo>
                <a:cubicBezTo>
                  <a:pt x="821" y="34"/>
                  <a:pt x="850" y="33"/>
                  <a:pt x="879" y="32"/>
                </a:cubicBezTo>
                <a:cubicBezTo>
                  <a:pt x="921" y="30"/>
                  <a:pt x="921" y="30"/>
                  <a:pt x="921" y="30"/>
                </a:cubicBezTo>
                <a:cubicBezTo>
                  <a:pt x="937" y="30"/>
                  <a:pt x="953" y="29"/>
                  <a:pt x="969" y="27"/>
                </a:cubicBezTo>
                <a:cubicBezTo>
                  <a:pt x="973" y="26"/>
                  <a:pt x="979" y="25"/>
                  <a:pt x="982" y="22"/>
                </a:cubicBezTo>
                <a:cubicBezTo>
                  <a:pt x="984" y="20"/>
                  <a:pt x="986" y="17"/>
                  <a:pt x="987" y="15"/>
                </a:cubicBezTo>
                <a:cubicBezTo>
                  <a:pt x="989" y="13"/>
                  <a:pt x="990" y="10"/>
                  <a:pt x="989" y="8"/>
                </a:cubicBezTo>
                <a:cubicBezTo>
                  <a:pt x="988" y="4"/>
                  <a:pt x="985" y="3"/>
                  <a:pt x="982" y="2"/>
                </a:cubicBezTo>
                <a:cubicBezTo>
                  <a:pt x="975" y="0"/>
                  <a:pt x="968" y="0"/>
                  <a:pt x="962" y="0"/>
                </a:cubicBezTo>
                <a:cubicBezTo>
                  <a:pt x="934" y="0"/>
                  <a:pt x="934" y="0"/>
                  <a:pt x="934" y="0"/>
                </a:cubicBezTo>
                <a:cubicBezTo>
                  <a:pt x="930" y="0"/>
                  <a:pt x="926" y="0"/>
                  <a:pt x="922" y="0"/>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2" name="Content Placeholder 2">
            <a:extLst>
              <a:ext uri="{FF2B5EF4-FFF2-40B4-BE49-F238E27FC236}">
                <a16:creationId xmlns:a16="http://schemas.microsoft.com/office/drawing/2014/main" id="{8A378710-0B40-86B5-B2C6-AF290BD75FB3}"/>
              </a:ext>
            </a:extLst>
          </p:cNvPr>
          <p:cNvSpPr txBox="1">
            <a:spLocks/>
          </p:cNvSpPr>
          <p:nvPr/>
        </p:nvSpPr>
        <p:spPr>
          <a:xfrm>
            <a:off x="401032" y="716399"/>
            <a:ext cx="8510739" cy="1226941"/>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1600" b="1">
                <a:latin typeface="Calibri" panose="020F0502020204030204" pitchFamily="34" charset="0"/>
                <a:cs typeface="Calibri" panose="020F0502020204030204" pitchFamily="34" charset="0"/>
              </a:rPr>
              <a:t>Bước 3</a:t>
            </a:r>
            <a:r>
              <a:rPr lang="en-US" sz="1600">
                <a:latin typeface="Calibri" panose="020F0502020204030204" pitchFamily="34" charset="0"/>
                <a:cs typeface="Calibri" panose="020F0502020204030204" pitchFamily="34" charset="0"/>
              </a:rPr>
              <a:t>: Hoàn thiện biểu đồ</a:t>
            </a:r>
          </a:p>
          <a:p>
            <a:pPr marL="285750" indent="-285750" algn="l">
              <a:buFontTx/>
              <a:buChar char="-"/>
            </a:pPr>
            <a:r>
              <a:rPr lang="en-US" sz="1600" b="1">
                <a:latin typeface="Calibri" panose="020F0502020204030204" pitchFamily="34" charset="0"/>
                <a:cs typeface="Calibri" panose="020F0502020204030204" pitchFamily="34" charset="0"/>
              </a:rPr>
              <a:t>Thêm điểm Marking cho đường %: </a:t>
            </a:r>
            <a:r>
              <a:rPr lang="en-US" sz="1600">
                <a:latin typeface="Calibri" panose="020F0502020204030204" pitchFamily="34" charset="0"/>
                <a:cs typeface="Calibri" panose="020F0502020204030204" pitchFamily="34" charset="0"/>
              </a:rPr>
              <a:t>Click đúp chuột vào đường (1) để hiện bảng Format Data Series, chọn lần lượt từ (2) =&gt; (6) để chọn kiểu hiển thị cho điểm Marking. Chọn (7) để thay đổi độ lớn điểm marking</a:t>
            </a:r>
          </a:p>
        </p:txBody>
      </p:sp>
      <p:sp>
        <p:nvSpPr>
          <p:cNvPr id="12" name="Oval 11">
            <a:extLst>
              <a:ext uri="{FF2B5EF4-FFF2-40B4-BE49-F238E27FC236}">
                <a16:creationId xmlns:a16="http://schemas.microsoft.com/office/drawing/2014/main" id="{EE39C399-697C-FE44-F510-CB4B7E102188}"/>
              </a:ext>
            </a:extLst>
          </p:cNvPr>
          <p:cNvSpPr/>
          <p:nvPr/>
        </p:nvSpPr>
        <p:spPr>
          <a:xfrm>
            <a:off x="1084255" y="4157089"/>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1</a:t>
            </a:r>
          </a:p>
        </p:txBody>
      </p:sp>
      <p:sp>
        <p:nvSpPr>
          <p:cNvPr id="14" name="Oval 13">
            <a:extLst>
              <a:ext uri="{FF2B5EF4-FFF2-40B4-BE49-F238E27FC236}">
                <a16:creationId xmlns:a16="http://schemas.microsoft.com/office/drawing/2014/main" id="{94B5F51D-9593-7C05-BDAD-36A1FF7D96E1}"/>
              </a:ext>
            </a:extLst>
          </p:cNvPr>
          <p:cNvSpPr/>
          <p:nvPr/>
        </p:nvSpPr>
        <p:spPr>
          <a:xfrm>
            <a:off x="7631723" y="2373897"/>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2</a:t>
            </a:r>
          </a:p>
        </p:txBody>
      </p:sp>
      <p:sp>
        <p:nvSpPr>
          <p:cNvPr id="10" name="Oval 9">
            <a:extLst>
              <a:ext uri="{FF2B5EF4-FFF2-40B4-BE49-F238E27FC236}">
                <a16:creationId xmlns:a16="http://schemas.microsoft.com/office/drawing/2014/main" id="{6D935A5E-9A52-6D0C-6DD4-AA17D6B8457A}"/>
              </a:ext>
            </a:extLst>
          </p:cNvPr>
          <p:cNvSpPr/>
          <p:nvPr/>
        </p:nvSpPr>
        <p:spPr>
          <a:xfrm>
            <a:off x="7667818" y="3904962"/>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6</a:t>
            </a:r>
          </a:p>
        </p:txBody>
      </p:sp>
      <p:sp>
        <p:nvSpPr>
          <p:cNvPr id="11" name="Oval 10">
            <a:extLst>
              <a:ext uri="{FF2B5EF4-FFF2-40B4-BE49-F238E27FC236}">
                <a16:creationId xmlns:a16="http://schemas.microsoft.com/office/drawing/2014/main" id="{2FE8BF49-3C41-D3CF-60BA-579CCE9A0CE9}"/>
              </a:ext>
            </a:extLst>
          </p:cNvPr>
          <p:cNvSpPr/>
          <p:nvPr/>
        </p:nvSpPr>
        <p:spPr>
          <a:xfrm>
            <a:off x="7732295" y="2848449"/>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3</a:t>
            </a:r>
          </a:p>
        </p:txBody>
      </p:sp>
      <p:sp>
        <p:nvSpPr>
          <p:cNvPr id="13" name="Oval 12">
            <a:extLst>
              <a:ext uri="{FF2B5EF4-FFF2-40B4-BE49-F238E27FC236}">
                <a16:creationId xmlns:a16="http://schemas.microsoft.com/office/drawing/2014/main" id="{7BCC0654-5973-D8CC-DB86-83E8D02AEABA}"/>
              </a:ext>
            </a:extLst>
          </p:cNvPr>
          <p:cNvSpPr/>
          <p:nvPr/>
        </p:nvSpPr>
        <p:spPr>
          <a:xfrm>
            <a:off x="6385875" y="3153891"/>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4</a:t>
            </a:r>
          </a:p>
        </p:txBody>
      </p:sp>
      <p:sp>
        <p:nvSpPr>
          <p:cNvPr id="15" name="Oval 14">
            <a:extLst>
              <a:ext uri="{FF2B5EF4-FFF2-40B4-BE49-F238E27FC236}">
                <a16:creationId xmlns:a16="http://schemas.microsoft.com/office/drawing/2014/main" id="{4A6F0980-A6C1-7E37-9C08-8FE40BC22AF3}"/>
              </a:ext>
            </a:extLst>
          </p:cNvPr>
          <p:cNvSpPr/>
          <p:nvPr/>
        </p:nvSpPr>
        <p:spPr>
          <a:xfrm>
            <a:off x="6385876" y="3728749"/>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5</a:t>
            </a:r>
          </a:p>
        </p:txBody>
      </p:sp>
      <p:sp>
        <p:nvSpPr>
          <p:cNvPr id="16" name="Oval 15">
            <a:extLst>
              <a:ext uri="{FF2B5EF4-FFF2-40B4-BE49-F238E27FC236}">
                <a16:creationId xmlns:a16="http://schemas.microsoft.com/office/drawing/2014/main" id="{382A45A0-C335-8578-5370-F395B79996A7}"/>
              </a:ext>
            </a:extLst>
          </p:cNvPr>
          <p:cNvSpPr/>
          <p:nvPr/>
        </p:nvSpPr>
        <p:spPr>
          <a:xfrm>
            <a:off x="7806406" y="4351590"/>
            <a:ext cx="352425" cy="352425"/>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7</a:t>
            </a:r>
          </a:p>
        </p:txBody>
      </p:sp>
    </p:spTree>
    <p:extLst>
      <p:ext uri="{BB962C8B-B14F-4D97-AF65-F5344CB8AC3E}">
        <p14:creationId xmlns:p14="http://schemas.microsoft.com/office/powerpoint/2010/main" val="15085710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0D29E60-1C91-83BA-EA60-82E3E478EB74}"/>
              </a:ext>
            </a:extLst>
          </p:cNvPr>
          <p:cNvPicPr>
            <a:picLocks noChangeAspect="1"/>
          </p:cNvPicPr>
          <p:nvPr/>
        </p:nvPicPr>
        <p:blipFill rotWithShape="1">
          <a:blip r:embed="rId3"/>
          <a:srcRect r="10023" b="32562"/>
          <a:stretch/>
        </p:blipFill>
        <p:spPr>
          <a:xfrm>
            <a:off x="2926436" y="1353014"/>
            <a:ext cx="6071788" cy="2491728"/>
          </a:xfrm>
          <a:prstGeom prst="rect">
            <a:avLst/>
          </a:prstGeom>
          <a:effectLst>
            <a:glow rad="63500">
              <a:schemeClr val="bg1">
                <a:lumMod val="65000"/>
                <a:alpha val="40000"/>
              </a:schemeClr>
            </a:glow>
          </a:effectLst>
        </p:spPr>
      </p:pic>
      <p:sp>
        <p:nvSpPr>
          <p:cNvPr id="7" name="Slide Number Placeholder 5"/>
          <p:cNvSpPr>
            <a:spLocks noGrp="1"/>
          </p:cNvSpPr>
          <p:nvPr>
            <p:ph type="sldNum" sz="quarter" idx="4"/>
          </p:nvPr>
        </p:nvSpPr>
        <p:spPr>
          <a:prstGeom prst="rect">
            <a:avLst/>
          </a:prstGeom>
        </p:spPr>
        <p:txBody>
          <a:bodyPr vert="horz" lIns="0" tIns="0" rIns="0" bIns="0" rtlCol="0" anchor="ctr" anchorCtr="0"/>
          <a:lstStyle>
            <a:lvl1pPr algn="r">
              <a:defRPr sz="1800">
                <a:solidFill>
                  <a:schemeClr val="tx1"/>
                </a:solidFill>
              </a:defRPr>
            </a:lvl1pPr>
          </a:lstStyle>
          <a:p>
            <a:fld id="{A3381702-59A5-4643-AE93-D7BF7F78153B}" type="slidenum">
              <a:rPr lang="en-GB" smtClean="0"/>
              <a:pPr/>
              <a:t>31</a:t>
            </a:fld>
            <a:endParaRPr lang="en-GB" dirty="0"/>
          </a:p>
        </p:txBody>
      </p:sp>
      <p:sp>
        <p:nvSpPr>
          <p:cNvPr id="8" name="Footer Placeholder 4"/>
          <p:cNvSpPr>
            <a:spLocks noGrp="1"/>
          </p:cNvSpPr>
          <p:nvPr>
            <p:ph type="ftr" sz="quarter" idx="3"/>
          </p:nvPr>
        </p:nvSpPr>
        <p:spPr>
          <a:prstGeom prst="rect">
            <a:avLst/>
          </a:prstGeom>
        </p:spPr>
        <p:txBody>
          <a:bodyPr vert="horz" lIns="0" tIns="0" rIns="0" bIns="0" rtlCol="0" anchor="t" anchorCtr="0"/>
          <a:lstStyle>
            <a:lvl1pPr algn="r">
              <a:defRPr sz="700">
                <a:solidFill>
                  <a:schemeClr val="tx1"/>
                </a:solidFill>
                <a:latin typeface="+mn-lt"/>
              </a:defRPr>
            </a:lvl1pPr>
          </a:lstStyle>
          <a:p>
            <a:r>
              <a:rPr lang="fr-FR" altLang="ja-JP" dirty="0"/>
              <a:t>©20</a:t>
            </a:r>
            <a:r>
              <a:rPr lang="en-US" altLang="ja-JP" dirty="0"/>
              <a:t>23</a:t>
            </a:r>
            <a:r>
              <a:rPr lang="fr-FR" altLang="ja-JP" dirty="0"/>
              <a:t> KYOCERA Document Solutions Inc.</a:t>
            </a:r>
            <a:endParaRPr lang="en-GB" dirty="0"/>
          </a:p>
        </p:txBody>
      </p:sp>
      <p:sp>
        <p:nvSpPr>
          <p:cNvPr id="4" name="Rectangle 3">
            <a:extLst>
              <a:ext uri="{FF2B5EF4-FFF2-40B4-BE49-F238E27FC236}">
                <a16:creationId xmlns:a16="http://schemas.microsoft.com/office/drawing/2014/main" id="{0BAEFD46-8DC5-BB64-F040-FD68EE6A7C2D}"/>
              </a:ext>
            </a:extLst>
          </p:cNvPr>
          <p:cNvSpPr/>
          <p:nvPr/>
        </p:nvSpPr>
        <p:spPr>
          <a:xfrm>
            <a:off x="295745" y="40624"/>
            <a:ext cx="8722810" cy="6207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nSpc>
                <a:spcPct val="107000"/>
              </a:lnSpc>
              <a:spcBef>
                <a:spcPts val="0"/>
              </a:spcBef>
              <a:spcAft>
                <a:spcPts val="800"/>
              </a:spcAft>
              <a:tabLst>
                <a:tab pos="457200" algn="l"/>
              </a:tabLst>
            </a:pPr>
            <a:r>
              <a:rPr lang="en-US" sz="2200" b="1">
                <a:solidFill>
                  <a:schemeClr val="tx1"/>
                </a:solidFill>
                <a:latin typeface="Calibri" panose="020F0502020204030204" pitchFamily="34" charset="0"/>
                <a:ea typeface="游明朝" panose="02020400000000000000" pitchFamily="18" charset="-128"/>
                <a:cs typeface="Times New Roman" panose="02020603050405020304" pitchFamily="18" charset="0"/>
              </a:rPr>
              <a:t>4</a:t>
            </a:r>
            <a:r>
              <a:rPr lang="en-US" sz="2200" b="1">
                <a:solidFill>
                  <a:schemeClr val="tx1"/>
                </a:solidFill>
                <a:effectLst/>
                <a:latin typeface="Calibri" panose="020F0502020204030204" pitchFamily="34" charset="0"/>
                <a:ea typeface="游明朝" panose="02020400000000000000" pitchFamily="18" charset="-128"/>
                <a:cs typeface="Times New Roman" panose="02020603050405020304" pitchFamily="18" charset="0"/>
              </a:rPr>
              <a:t>. BIỂU ĐỒ KẾT HỢP</a:t>
            </a:r>
            <a:endParaRPr lang="en-US" sz="2200">
              <a:solidFill>
                <a:schemeClr val="tx1"/>
              </a:solidFill>
              <a:effectLst/>
              <a:latin typeface="Calibri" panose="020F0502020204030204" pitchFamily="34" charset="0"/>
              <a:ea typeface="游明朝" panose="02020400000000000000" pitchFamily="18" charset="-128"/>
              <a:cs typeface="Times New Roman" panose="02020603050405020304" pitchFamily="18" charset="0"/>
            </a:endParaRPr>
          </a:p>
        </p:txBody>
      </p:sp>
      <p:sp>
        <p:nvSpPr>
          <p:cNvPr id="6" name="Freeform 34">
            <a:extLst>
              <a:ext uri="{FF2B5EF4-FFF2-40B4-BE49-F238E27FC236}">
                <a16:creationId xmlns:a16="http://schemas.microsoft.com/office/drawing/2014/main" id="{E988D51C-281C-0FC1-508D-073F501DA6DF}"/>
              </a:ext>
            </a:extLst>
          </p:cNvPr>
          <p:cNvSpPr>
            <a:spLocks noChangeAspect="1"/>
          </p:cNvSpPr>
          <p:nvPr/>
        </p:nvSpPr>
        <p:spPr bwMode="auto">
          <a:xfrm rot="10800000" flipV="1">
            <a:off x="429856" y="536909"/>
            <a:ext cx="1655684" cy="47957"/>
          </a:xfrm>
          <a:custGeom>
            <a:avLst/>
            <a:gdLst>
              <a:gd name="T0" fmla="*/ 922 w 990"/>
              <a:gd name="T1" fmla="*/ 0 h 36"/>
              <a:gd name="T2" fmla="*/ 907 w 990"/>
              <a:gd name="T3" fmla="*/ 0 h 36"/>
              <a:gd name="T4" fmla="*/ 880 w 990"/>
              <a:gd name="T5" fmla="*/ 1 h 36"/>
              <a:gd name="T6" fmla="*/ 839 w 990"/>
              <a:gd name="T7" fmla="*/ 3 h 36"/>
              <a:gd name="T8" fmla="*/ 818 w 990"/>
              <a:gd name="T9" fmla="*/ 3 h 36"/>
              <a:gd name="T10" fmla="*/ 798 w 990"/>
              <a:gd name="T11" fmla="*/ 4 h 36"/>
              <a:gd name="T12" fmla="*/ 757 w 990"/>
              <a:gd name="T13" fmla="*/ 5 h 36"/>
              <a:gd name="T14" fmla="*/ 718 w 990"/>
              <a:gd name="T15" fmla="*/ 5 h 36"/>
              <a:gd name="T16" fmla="*/ 662 w 990"/>
              <a:gd name="T17" fmla="*/ 5 h 36"/>
              <a:gd name="T18" fmla="*/ 540 w 990"/>
              <a:gd name="T19" fmla="*/ 4 h 36"/>
              <a:gd name="T20" fmla="*/ 512 w 990"/>
              <a:gd name="T21" fmla="*/ 4 h 36"/>
              <a:gd name="T22" fmla="*/ 511 w 990"/>
              <a:gd name="T23" fmla="*/ 4 h 36"/>
              <a:gd name="T24" fmla="*/ 484 w 990"/>
              <a:gd name="T25" fmla="*/ 5 h 36"/>
              <a:gd name="T26" fmla="*/ 419 w 990"/>
              <a:gd name="T27" fmla="*/ 5 h 36"/>
              <a:gd name="T28" fmla="*/ 353 w 990"/>
              <a:gd name="T29" fmla="*/ 7 h 36"/>
              <a:gd name="T30" fmla="*/ 350 w 990"/>
              <a:gd name="T31" fmla="*/ 7 h 36"/>
              <a:gd name="T32" fmla="*/ 288 w 990"/>
              <a:gd name="T33" fmla="*/ 5 h 36"/>
              <a:gd name="T34" fmla="*/ 265 w 990"/>
              <a:gd name="T35" fmla="*/ 4 h 36"/>
              <a:gd name="T36" fmla="*/ 244 w 990"/>
              <a:gd name="T37" fmla="*/ 4 h 36"/>
              <a:gd name="T38" fmla="*/ 224 w 990"/>
              <a:gd name="T39" fmla="*/ 4 h 36"/>
              <a:gd name="T40" fmla="*/ 223 w 990"/>
              <a:gd name="T41" fmla="*/ 4 h 36"/>
              <a:gd name="T42" fmla="*/ 222 w 990"/>
              <a:gd name="T43" fmla="*/ 4 h 36"/>
              <a:gd name="T44" fmla="*/ 190 w 990"/>
              <a:gd name="T45" fmla="*/ 4 h 36"/>
              <a:gd name="T46" fmla="*/ 158 w 990"/>
              <a:gd name="T47" fmla="*/ 4 h 36"/>
              <a:gd name="T48" fmla="*/ 157 w 990"/>
              <a:gd name="T49" fmla="*/ 4 h 36"/>
              <a:gd name="T50" fmla="*/ 91 w 990"/>
              <a:gd name="T51" fmla="*/ 5 h 36"/>
              <a:gd name="T52" fmla="*/ 58 w 990"/>
              <a:gd name="T53" fmla="*/ 6 h 36"/>
              <a:gd name="T54" fmla="*/ 26 w 990"/>
              <a:gd name="T55" fmla="*/ 8 h 36"/>
              <a:gd name="T56" fmla="*/ 10 w 990"/>
              <a:gd name="T57" fmla="*/ 10 h 36"/>
              <a:gd name="T58" fmla="*/ 6 w 990"/>
              <a:gd name="T59" fmla="*/ 10 h 36"/>
              <a:gd name="T60" fmla="*/ 5 w 990"/>
              <a:gd name="T61" fmla="*/ 10 h 36"/>
              <a:gd name="T62" fmla="*/ 5 w 990"/>
              <a:gd name="T63" fmla="*/ 10 h 36"/>
              <a:gd name="T64" fmla="*/ 4 w 990"/>
              <a:gd name="T65" fmla="*/ 10 h 36"/>
              <a:gd name="T66" fmla="*/ 2 w 990"/>
              <a:gd name="T67" fmla="*/ 10 h 36"/>
              <a:gd name="T68" fmla="*/ 1 w 990"/>
              <a:gd name="T69" fmla="*/ 12 h 36"/>
              <a:gd name="T70" fmla="*/ 4 w 990"/>
              <a:gd name="T71" fmla="*/ 17 h 36"/>
              <a:gd name="T72" fmla="*/ 4 w 990"/>
              <a:gd name="T73" fmla="*/ 17 h 36"/>
              <a:gd name="T74" fmla="*/ 63 w 990"/>
              <a:gd name="T75" fmla="*/ 16 h 36"/>
              <a:gd name="T76" fmla="*/ 70 w 990"/>
              <a:gd name="T77" fmla="*/ 16 h 36"/>
              <a:gd name="T78" fmla="*/ 122 w 990"/>
              <a:gd name="T79" fmla="*/ 17 h 36"/>
              <a:gd name="T80" fmla="*/ 153 w 990"/>
              <a:gd name="T81" fmla="*/ 19 h 36"/>
              <a:gd name="T82" fmla="*/ 183 w 990"/>
              <a:gd name="T83" fmla="*/ 20 h 36"/>
              <a:gd name="T84" fmla="*/ 244 w 990"/>
              <a:gd name="T85" fmla="*/ 22 h 36"/>
              <a:gd name="T86" fmla="*/ 305 w 990"/>
              <a:gd name="T87" fmla="*/ 24 h 36"/>
              <a:gd name="T88" fmla="*/ 336 w 990"/>
              <a:gd name="T89" fmla="*/ 26 h 36"/>
              <a:gd name="T90" fmla="*/ 375 w 990"/>
              <a:gd name="T91" fmla="*/ 28 h 36"/>
              <a:gd name="T92" fmla="*/ 489 w 990"/>
              <a:gd name="T93" fmla="*/ 32 h 36"/>
              <a:gd name="T94" fmla="*/ 612 w 990"/>
              <a:gd name="T95" fmla="*/ 36 h 36"/>
              <a:gd name="T96" fmla="*/ 665 w 990"/>
              <a:gd name="T97" fmla="*/ 36 h 36"/>
              <a:gd name="T98" fmla="*/ 707 w 990"/>
              <a:gd name="T99" fmla="*/ 36 h 36"/>
              <a:gd name="T100" fmla="*/ 750 w 990"/>
              <a:gd name="T101" fmla="*/ 36 h 36"/>
              <a:gd name="T102" fmla="*/ 792 w 990"/>
              <a:gd name="T103" fmla="*/ 35 h 36"/>
              <a:gd name="T104" fmla="*/ 879 w 990"/>
              <a:gd name="T105" fmla="*/ 32 h 36"/>
              <a:gd name="T106" fmla="*/ 921 w 990"/>
              <a:gd name="T107" fmla="*/ 30 h 36"/>
              <a:gd name="T108" fmla="*/ 969 w 990"/>
              <a:gd name="T109" fmla="*/ 27 h 36"/>
              <a:gd name="T110" fmla="*/ 982 w 990"/>
              <a:gd name="T111" fmla="*/ 22 h 36"/>
              <a:gd name="T112" fmla="*/ 987 w 990"/>
              <a:gd name="T113" fmla="*/ 15 h 36"/>
              <a:gd name="T114" fmla="*/ 989 w 990"/>
              <a:gd name="T115" fmla="*/ 8 h 36"/>
              <a:gd name="T116" fmla="*/ 982 w 990"/>
              <a:gd name="T117" fmla="*/ 2 h 36"/>
              <a:gd name="T118" fmla="*/ 962 w 990"/>
              <a:gd name="T119" fmla="*/ 0 h 36"/>
              <a:gd name="T120" fmla="*/ 934 w 990"/>
              <a:gd name="T121" fmla="*/ 0 h 36"/>
              <a:gd name="T122" fmla="*/ 922 w 990"/>
              <a:gd name="T1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0" h="36">
                <a:moveTo>
                  <a:pt x="922" y="0"/>
                </a:moveTo>
                <a:cubicBezTo>
                  <a:pt x="917" y="0"/>
                  <a:pt x="912" y="0"/>
                  <a:pt x="907" y="0"/>
                </a:cubicBezTo>
                <a:cubicBezTo>
                  <a:pt x="898" y="0"/>
                  <a:pt x="889" y="1"/>
                  <a:pt x="880" y="1"/>
                </a:cubicBezTo>
                <a:cubicBezTo>
                  <a:pt x="839" y="3"/>
                  <a:pt x="839" y="3"/>
                  <a:pt x="839" y="3"/>
                </a:cubicBezTo>
                <a:cubicBezTo>
                  <a:pt x="818" y="3"/>
                  <a:pt x="818" y="3"/>
                  <a:pt x="818" y="3"/>
                </a:cubicBezTo>
                <a:cubicBezTo>
                  <a:pt x="798" y="4"/>
                  <a:pt x="798" y="4"/>
                  <a:pt x="798" y="4"/>
                </a:cubicBezTo>
                <a:cubicBezTo>
                  <a:pt x="757" y="5"/>
                  <a:pt x="757" y="5"/>
                  <a:pt x="757" y="5"/>
                </a:cubicBezTo>
                <a:cubicBezTo>
                  <a:pt x="744" y="5"/>
                  <a:pt x="731" y="5"/>
                  <a:pt x="718" y="5"/>
                </a:cubicBezTo>
                <a:cubicBezTo>
                  <a:pt x="699" y="5"/>
                  <a:pt x="681" y="5"/>
                  <a:pt x="662" y="5"/>
                </a:cubicBezTo>
                <a:cubicBezTo>
                  <a:pt x="540" y="4"/>
                  <a:pt x="540" y="4"/>
                  <a:pt x="540" y="4"/>
                </a:cubicBezTo>
                <a:cubicBezTo>
                  <a:pt x="512" y="4"/>
                  <a:pt x="512" y="4"/>
                  <a:pt x="512" y="4"/>
                </a:cubicBezTo>
                <a:cubicBezTo>
                  <a:pt x="512" y="4"/>
                  <a:pt x="511" y="4"/>
                  <a:pt x="511" y="4"/>
                </a:cubicBezTo>
                <a:cubicBezTo>
                  <a:pt x="502" y="4"/>
                  <a:pt x="493" y="4"/>
                  <a:pt x="484" y="5"/>
                </a:cubicBezTo>
                <a:cubicBezTo>
                  <a:pt x="462" y="5"/>
                  <a:pt x="441" y="5"/>
                  <a:pt x="419" y="5"/>
                </a:cubicBezTo>
                <a:cubicBezTo>
                  <a:pt x="397" y="6"/>
                  <a:pt x="375" y="7"/>
                  <a:pt x="353" y="7"/>
                </a:cubicBezTo>
                <a:cubicBezTo>
                  <a:pt x="352" y="7"/>
                  <a:pt x="351" y="7"/>
                  <a:pt x="350" y="7"/>
                </a:cubicBezTo>
                <a:cubicBezTo>
                  <a:pt x="330" y="7"/>
                  <a:pt x="309" y="5"/>
                  <a:pt x="288" y="5"/>
                </a:cubicBezTo>
                <a:cubicBezTo>
                  <a:pt x="280" y="4"/>
                  <a:pt x="272" y="4"/>
                  <a:pt x="265" y="4"/>
                </a:cubicBezTo>
                <a:cubicBezTo>
                  <a:pt x="258" y="4"/>
                  <a:pt x="251" y="4"/>
                  <a:pt x="244" y="4"/>
                </a:cubicBezTo>
                <a:cubicBezTo>
                  <a:pt x="237" y="4"/>
                  <a:pt x="230" y="4"/>
                  <a:pt x="224" y="4"/>
                </a:cubicBezTo>
                <a:cubicBezTo>
                  <a:pt x="223" y="4"/>
                  <a:pt x="223" y="4"/>
                  <a:pt x="223" y="4"/>
                </a:cubicBezTo>
                <a:cubicBezTo>
                  <a:pt x="223" y="4"/>
                  <a:pt x="222" y="4"/>
                  <a:pt x="222" y="4"/>
                </a:cubicBezTo>
                <a:cubicBezTo>
                  <a:pt x="212" y="4"/>
                  <a:pt x="201" y="4"/>
                  <a:pt x="190" y="4"/>
                </a:cubicBezTo>
                <a:cubicBezTo>
                  <a:pt x="180" y="4"/>
                  <a:pt x="169" y="4"/>
                  <a:pt x="158" y="4"/>
                </a:cubicBezTo>
                <a:cubicBezTo>
                  <a:pt x="158" y="4"/>
                  <a:pt x="157" y="4"/>
                  <a:pt x="157" y="4"/>
                </a:cubicBezTo>
                <a:cubicBezTo>
                  <a:pt x="135" y="4"/>
                  <a:pt x="113" y="4"/>
                  <a:pt x="91" y="5"/>
                </a:cubicBezTo>
                <a:cubicBezTo>
                  <a:pt x="80" y="5"/>
                  <a:pt x="69" y="6"/>
                  <a:pt x="58" y="6"/>
                </a:cubicBezTo>
                <a:cubicBezTo>
                  <a:pt x="48" y="6"/>
                  <a:pt x="37" y="7"/>
                  <a:pt x="26" y="8"/>
                </a:cubicBezTo>
                <a:cubicBezTo>
                  <a:pt x="10" y="10"/>
                  <a:pt x="10" y="10"/>
                  <a:pt x="10" y="10"/>
                </a:cubicBezTo>
                <a:cubicBezTo>
                  <a:pt x="6" y="10"/>
                  <a:pt x="6" y="10"/>
                  <a:pt x="6" y="10"/>
                </a:cubicBezTo>
                <a:cubicBezTo>
                  <a:pt x="6" y="10"/>
                  <a:pt x="5" y="10"/>
                  <a:pt x="5" y="10"/>
                </a:cubicBezTo>
                <a:cubicBezTo>
                  <a:pt x="5" y="10"/>
                  <a:pt x="5" y="10"/>
                  <a:pt x="5" y="10"/>
                </a:cubicBezTo>
                <a:cubicBezTo>
                  <a:pt x="4" y="10"/>
                  <a:pt x="4" y="10"/>
                  <a:pt x="4" y="10"/>
                </a:cubicBezTo>
                <a:cubicBezTo>
                  <a:pt x="3" y="10"/>
                  <a:pt x="2" y="10"/>
                  <a:pt x="2" y="10"/>
                </a:cubicBezTo>
                <a:cubicBezTo>
                  <a:pt x="1" y="10"/>
                  <a:pt x="1" y="11"/>
                  <a:pt x="1" y="12"/>
                </a:cubicBezTo>
                <a:cubicBezTo>
                  <a:pt x="0" y="15"/>
                  <a:pt x="2" y="17"/>
                  <a:pt x="4" y="17"/>
                </a:cubicBezTo>
                <a:cubicBezTo>
                  <a:pt x="4" y="17"/>
                  <a:pt x="4" y="17"/>
                  <a:pt x="4" y="17"/>
                </a:cubicBezTo>
                <a:cubicBezTo>
                  <a:pt x="24" y="17"/>
                  <a:pt x="43" y="16"/>
                  <a:pt x="63" y="16"/>
                </a:cubicBezTo>
                <a:cubicBezTo>
                  <a:pt x="65" y="16"/>
                  <a:pt x="67" y="16"/>
                  <a:pt x="70" y="16"/>
                </a:cubicBezTo>
                <a:cubicBezTo>
                  <a:pt x="87" y="16"/>
                  <a:pt x="105" y="16"/>
                  <a:pt x="122" y="17"/>
                </a:cubicBezTo>
                <a:cubicBezTo>
                  <a:pt x="133" y="18"/>
                  <a:pt x="143" y="19"/>
                  <a:pt x="153" y="19"/>
                </a:cubicBezTo>
                <a:cubicBezTo>
                  <a:pt x="183" y="20"/>
                  <a:pt x="183" y="20"/>
                  <a:pt x="183" y="20"/>
                </a:cubicBezTo>
                <a:cubicBezTo>
                  <a:pt x="203" y="20"/>
                  <a:pt x="224" y="21"/>
                  <a:pt x="244" y="22"/>
                </a:cubicBezTo>
                <a:cubicBezTo>
                  <a:pt x="265" y="22"/>
                  <a:pt x="285" y="23"/>
                  <a:pt x="305" y="24"/>
                </a:cubicBezTo>
                <a:cubicBezTo>
                  <a:pt x="336" y="26"/>
                  <a:pt x="336" y="26"/>
                  <a:pt x="336" y="26"/>
                </a:cubicBezTo>
                <a:cubicBezTo>
                  <a:pt x="346" y="26"/>
                  <a:pt x="361" y="28"/>
                  <a:pt x="375" y="28"/>
                </a:cubicBezTo>
                <a:cubicBezTo>
                  <a:pt x="416" y="31"/>
                  <a:pt x="448" y="31"/>
                  <a:pt x="489" y="32"/>
                </a:cubicBezTo>
                <a:cubicBezTo>
                  <a:pt x="530" y="34"/>
                  <a:pt x="571" y="35"/>
                  <a:pt x="612" y="36"/>
                </a:cubicBezTo>
                <a:cubicBezTo>
                  <a:pt x="629" y="36"/>
                  <a:pt x="647" y="36"/>
                  <a:pt x="665" y="36"/>
                </a:cubicBezTo>
                <a:cubicBezTo>
                  <a:pt x="679" y="36"/>
                  <a:pt x="693" y="36"/>
                  <a:pt x="707" y="36"/>
                </a:cubicBezTo>
                <a:cubicBezTo>
                  <a:pt x="750" y="36"/>
                  <a:pt x="750" y="36"/>
                  <a:pt x="750" y="36"/>
                </a:cubicBezTo>
                <a:cubicBezTo>
                  <a:pt x="792" y="35"/>
                  <a:pt x="792" y="35"/>
                  <a:pt x="792" y="35"/>
                </a:cubicBezTo>
                <a:cubicBezTo>
                  <a:pt x="821" y="34"/>
                  <a:pt x="850" y="33"/>
                  <a:pt x="879" y="32"/>
                </a:cubicBezTo>
                <a:cubicBezTo>
                  <a:pt x="921" y="30"/>
                  <a:pt x="921" y="30"/>
                  <a:pt x="921" y="30"/>
                </a:cubicBezTo>
                <a:cubicBezTo>
                  <a:pt x="937" y="30"/>
                  <a:pt x="953" y="29"/>
                  <a:pt x="969" y="27"/>
                </a:cubicBezTo>
                <a:cubicBezTo>
                  <a:pt x="973" y="26"/>
                  <a:pt x="979" y="25"/>
                  <a:pt x="982" y="22"/>
                </a:cubicBezTo>
                <a:cubicBezTo>
                  <a:pt x="984" y="20"/>
                  <a:pt x="986" y="17"/>
                  <a:pt x="987" y="15"/>
                </a:cubicBezTo>
                <a:cubicBezTo>
                  <a:pt x="989" y="13"/>
                  <a:pt x="990" y="10"/>
                  <a:pt x="989" y="8"/>
                </a:cubicBezTo>
                <a:cubicBezTo>
                  <a:pt x="988" y="4"/>
                  <a:pt x="985" y="3"/>
                  <a:pt x="982" y="2"/>
                </a:cubicBezTo>
                <a:cubicBezTo>
                  <a:pt x="975" y="0"/>
                  <a:pt x="968" y="0"/>
                  <a:pt x="962" y="0"/>
                </a:cubicBezTo>
                <a:cubicBezTo>
                  <a:pt x="934" y="0"/>
                  <a:pt x="934" y="0"/>
                  <a:pt x="934" y="0"/>
                </a:cubicBezTo>
                <a:cubicBezTo>
                  <a:pt x="930" y="0"/>
                  <a:pt x="926" y="0"/>
                  <a:pt x="922" y="0"/>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2" name="Content Placeholder 2">
            <a:extLst>
              <a:ext uri="{FF2B5EF4-FFF2-40B4-BE49-F238E27FC236}">
                <a16:creationId xmlns:a16="http://schemas.microsoft.com/office/drawing/2014/main" id="{8A378710-0B40-86B5-B2C6-AF290BD75FB3}"/>
              </a:ext>
            </a:extLst>
          </p:cNvPr>
          <p:cNvSpPr txBox="1">
            <a:spLocks/>
          </p:cNvSpPr>
          <p:nvPr/>
        </p:nvSpPr>
        <p:spPr>
          <a:xfrm>
            <a:off x="401032" y="716399"/>
            <a:ext cx="8510739" cy="881599"/>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1600" b="1">
                <a:latin typeface="Calibri" panose="020F0502020204030204" pitchFamily="34" charset="0"/>
                <a:cs typeface="Calibri" panose="020F0502020204030204" pitchFamily="34" charset="0"/>
              </a:rPr>
              <a:t>Bước 3</a:t>
            </a:r>
            <a:r>
              <a:rPr lang="en-US" sz="1600">
                <a:latin typeface="Calibri" panose="020F0502020204030204" pitchFamily="34" charset="0"/>
                <a:cs typeface="Calibri" panose="020F0502020204030204" pitchFamily="34" charset="0"/>
              </a:rPr>
              <a:t>: Hoàn thiện biểu đồ</a:t>
            </a:r>
          </a:p>
          <a:p>
            <a:pPr marL="285750" indent="-285750" algn="l">
              <a:buFontTx/>
              <a:buChar char="-"/>
            </a:pPr>
            <a:r>
              <a:rPr lang="en-US" sz="1600" b="1">
                <a:latin typeface="Calibri" panose="020F0502020204030204" pitchFamily="34" charset="0"/>
                <a:cs typeface="Calibri" panose="020F0502020204030204" pitchFamily="34" charset="0"/>
              </a:rPr>
              <a:t>Thêm đường trục tung: </a:t>
            </a:r>
            <a:r>
              <a:rPr lang="en-US" sz="1600">
                <a:latin typeface="Calibri" panose="020F0502020204030204" pitchFamily="34" charset="0"/>
                <a:cs typeface="Calibri" panose="020F0502020204030204" pitchFamily="34" charset="0"/>
              </a:rPr>
              <a:t>Click đúp chuột vào trục tung (1) để hiện bảng “Format Axis”, chọn biểu tượng (2), chọn Solid line </a:t>
            </a:r>
          </a:p>
        </p:txBody>
      </p:sp>
      <p:sp>
        <p:nvSpPr>
          <p:cNvPr id="12" name="Oval 11">
            <a:extLst>
              <a:ext uri="{FF2B5EF4-FFF2-40B4-BE49-F238E27FC236}">
                <a16:creationId xmlns:a16="http://schemas.microsoft.com/office/drawing/2014/main" id="{EE39C399-697C-FE44-F510-CB4B7E102188}"/>
              </a:ext>
            </a:extLst>
          </p:cNvPr>
          <p:cNvSpPr/>
          <p:nvPr/>
        </p:nvSpPr>
        <p:spPr>
          <a:xfrm>
            <a:off x="3122054" y="2567880"/>
            <a:ext cx="328018" cy="328469"/>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1</a:t>
            </a:r>
          </a:p>
        </p:txBody>
      </p:sp>
      <p:sp>
        <p:nvSpPr>
          <p:cNvPr id="13" name="Oval 12">
            <a:extLst>
              <a:ext uri="{FF2B5EF4-FFF2-40B4-BE49-F238E27FC236}">
                <a16:creationId xmlns:a16="http://schemas.microsoft.com/office/drawing/2014/main" id="{6F93BA1C-6FA9-D5A4-7EFA-CB8DF75B6B37}"/>
              </a:ext>
            </a:extLst>
          </p:cNvPr>
          <p:cNvSpPr/>
          <p:nvPr/>
        </p:nvSpPr>
        <p:spPr>
          <a:xfrm>
            <a:off x="7318006" y="3311666"/>
            <a:ext cx="328018" cy="328469"/>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3</a:t>
            </a:r>
          </a:p>
        </p:txBody>
      </p:sp>
      <p:sp>
        <p:nvSpPr>
          <p:cNvPr id="14" name="Oval 13">
            <a:extLst>
              <a:ext uri="{FF2B5EF4-FFF2-40B4-BE49-F238E27FC236}">
                <a16:creationId xmlns:a16="http://schemas.microsoft.com/office/drawing/2014/main" id="{94B5F51D-9593-7C05-BDAD-36A1FF7D96E1}"/>
              </a:ext>
            </a:extLst>
          </p:cNvPr>
          <p:cNvSpPr/>
          <p:nvPr/>
        </p:nvSpPr>
        <p:spPr>
          <a:xfrm>
            <a:off x="7150832" y="1906144"/>
            <a:ext cx="328018" cy="328469"/>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2</a:t>
            </a:r>
          </a:p>
        </p:txBody>
      </p:sp>
      <p:sp>
        <p:nvSpPr>
          <p:cNvPr id="9" name="Content Placeholder 2">
            <a:extLst>
              <a:ext uri="{FF2B5EF4-FFF2-40B4-BE49-F238E27FC236}">
                <a16:creationId xmlns:a16="http://schemas.microsoft.com/office/drawing/2014/main" id="{8698B018-37CA-B8DA-5A95-2DC8A3B5DD7C}"/>
              </a:ext>
            </a:extLst>
          </p:cNvPr>
          <p:cNvSpPr txBox="1">
            <a:spLocks/>
          </p:cNvSpPr>
          <p:nvPr/>
        </p:nvSpPr>
        <p:spPr>
          <a:xfrm>
            <a:off x="494587" y="4328375"/>
            <a:ext cx="8510739" cy="881599"/>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marL="285750" indent="-285750" algn="l">
              <a:buFontTx/>
              <a:buChar char="-"/>
            </a:pPr>
            <a:r>
              <a:rPr lang="en-US" sz="1600" b="1">
                <a:latin typeface="Calibri" panose="020F0502020204030204" pitchFamily="34" charset="0"/>
                <a:cs typeface="Calibri" panose="020F0502020204030204" pitchFamily="34" charset="0"/>
              </a:rPr>
              <a:t>Thêm tiêu đề cho trục tung: </a:t>
            </a:r>
            <a:r>
              <a:rPr lang="en-US" sz="1600">
                <a:latin typeface="Calibri" panose="020F0502020204030204" pitchFamily="34" charset="0"/>
                <a:cs typeface="Calibri" panose="020F0502020204030204" pitchFamily="34" charset="0"/>
              </a:rPr>
              <a:t>Chọn Insert/Text (1)/Text Box (2), bôi chọn vị trí muốn đặt tiêu đề (3), gõ tiêu đề phù hơp (4)</a:t>
            </a:r>
          </a:p>
        </p:txBody>
      </p:sp>
      <p:pic>
        <p:nvPicPr>
          <p:cNvPr id="17" name="Picture 16">
            <a:extLst>
              <a:ext uri="{FF2B5EF4-FFF2-40B4-BE49-F238E27FC236}">
                <a16:creationId xmlns:a16="http://schemas.microsoft.com/office/drawing/2014/main" id="{F4690572-B853-17E2-46DE-A1F1D9C4578F}"/>
              </a:ext>
            </a:extLst>
          </p:cNvPr>
          <p:cNvPicPr>
            <a:picLocks noChangeAspect="1"/>
          </p:cNvPicPr>
          <p:nvPr/>
        </p:nvPicPr>
        <p:blipFill>
          <a:blip r:embed="rId4"/>
          <a:stretch>
            <a:fillRect/>
          </a:stretch>
        </p:blipFill>
        <p:spPr>
          <a:xfrm>
            <a:off x="4025956" y="5293609"/>
            <a:ext cx="1448002" cy="562053"/>
          </a:xfrm>
          <a:prstGeom prst="rect">
            <a:avLst/>
          </a:prstGeom>
          <a:effectLst>
            <a:glow rad="63500">
              <a:schemeClr val="bg1">
                <a:lumMod val="65000"/>
                <a:alpha val="40000"/>
              </a:schemeClr>
            </a:glow>
          </a:effectLst>
        </p:spPr>
      </p:pic>
      <p:pic>
        <p:nvPicPr>
          <p:cNvPr id="19" name="Picture 18">
            <a:extLst>
              <a:ext uri="{FF2B5EF4-FFF2-40B4-BE49-F238E27FC236}">
                <a16:creationId xmlns:a16="http://schemas.microsoft.com/office/drawing/2014/main" id="{2A51030F-E179-324F-56B5-8CC70454C989}"/>
              </a:ext>
            </a:extLst>
          </p:cNvPr>
          <p:cNvPicPr>
            <a:picLocks noChangeAspect="1"/>
          </p:cNvPicPr>
          <p:nvPr/>
        </p:nvPicPr>
        <p:blipFill>
          <a:blip r:embed="rId5"/>
          <a:stretch>
            <a:fillRect/>
          </a:stretch>
        </p:blipFill>
        <p:spPr>
          <a:xfrm>
            <a:off x="1831254" y="4834761"/>
            <a:ext cx="1524213" cy="1943371"/>
          </a:xfrm>
          <a:prstGeom prst="rect">
            <a:avLst/>
          </a:prstGeom>
          <a:effectLst>
            <a:glow rad="63500">
              <a:schemeClr val="bg1">
                <a:lumMod val="65000"/>
                <a:alpha val="40000"/>
              </a:schemeClr>
            </a:glow>
          </a:effectLst>
        </p:spPr>
      </p:pic>
      <p:pic>
        <p:nvPicPr>
          <p:cNvPr id="21" name="Picture 20">
            <a:extLst>
              <a:ext uri="{FF2B5EF4-FFF2-40B4-BE49-F238E27FC236}">
                <a16:creationId xmlns:a16="http://schemas.microsoft.com/office/drawing/2014/main" id="{15A5D1FF-692A-13DE-80CF-62F07C1E5EE8}"/>
              </a:ext>
            </a:extLst>
          </p:cNvPr>
          <p:cNvPicPr>
            <a:picLocks noChangeAspect="1"/>
          </p:cNvPicPr>
          <p:nvPr/>
        </p:nvPicPr>
        <p:blipFill>
          <a:blip r:embed="rId6"/>
          <a:stretch>
            <a:fillRect/>
          </a:stretch>
        </p:blipFill>
        <p:spPr>
          <a:xfrm>
            <a:off x="6582687" y="5274555"/>
            <a:ext cx="1105054" cy="600159"/>
          </a:xfrm>
          <a:prstGeom prst="rect">
            <a:avLst/>
          </a:prstGeom>
          <a:effectLst>
            <a:glow rad="63500">
              <a:schemeClr val="bg1">
                <a:lumMod val="65000"/>
                <a:alpha val="40000"/>
              </a:schemeClr>
            </a:glow>
          </a:effectLst>
        </p:spPr>
      </p:pic>
      <p:sp>
        <p:nvSpPr>
          <p:cNvPr id="22" name="Oval 21">
            <a:extLst>
              <a:ext uri="{FF2B5EF4-FFF2-40B4-BE49-F238E27FC236}">
                <a16:creationId xmlns:a16="http://schemas.microsoft.com/office/drawing/2014/main" id="{4AF22AE9-2D55-ACD3-E788-1B8395A85A32}"/>
              </a:ext>
            </a:extLst>
          </p:cNvPr>
          <p:cNvSpPr/>
          <p:nvPr/>
        </p:nvSpPr>
        <p:spPr>
          <a:xfrm>
            <a:off x="2794036" y="5459644"/>
            <a:ext cx="328018" cy="328469"/>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1</a:t>
            </a:r>
          </a:p>
        </p:txBody>
      </p:sp>
      <p:sp>
        <p:nvSpPr>
          <p:cNvPr id="23" name="Oval 22">
            <a:extLst>
              <a:ext uri="{FF2B5EF4-FFF2-40B4-BE49-F238E27FC236}">
                <a16:creationId xmlns:a16="http://schemas.microsoft.com/office/drawing/2014/main" id="{D57DABD6-7D7D-1CCC-BFBB-9849B9F82627}"/>
              </a:ext>
            </a:extLst>
          </p:cNvPr>
          <p:cNvSpPr/>
          <p:nvPr/>
        </p:nvSpPr>
        <p:spPr>
          <a:xfrm>
            <a:off x="2088822" y="6472901"/>
            <a:ext cx="328018" cy="328469"/>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2</a:t>
            </a:r>
          </a:p>
        </p:txBody>
      </p:sp>
      <p:sp>
        <p:nvSpPr>
          <p:cNvPr id="24" name="Arrow: Right 23">
            <a:extLst>
              <a:ext uri="{FF2B5EF4-FFF2-40B4-BE49-F238E27FC236}">
                <a16:creationId xmlns:a16="http://schemas.microsoft.com/office/drawing/2014/main" id="{F0BDE42B-552D-9449-AC2C-672F981AB8D5}"/>
              </a:ext>
            </a:extLst>
          </p:cNvPr>
          <p:cNvSpPr/>
          <p:nvPr/>
        </p:nvSpPr>
        <p:spPr>
          <a:xfrm>
            <a:off x="3538330" y="5428862"/>
            <a:ext cx="254213" cy="281028"/>
          </a:xfrm>
          <a:prstGeom prst="right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Arrow: Right 24">
            <a:extLst>
              <a:ext uri="{FF2B5EF4-FFF2-40B4-BE49-F238E27FC236}">
                <a16:creationId xmlns:a16="http://schemas.microsoft.com/office/drawing/2014/main" id="{D9F0FDA5-21EC-9992-A427-7E1AEE0B163C}"/>
              </a:ext>
            </a:extLst>
          </p:cNvPr>
          <p:cNvSpPr/>
          <p:nvPr/>
        </p:nvSpPr>
        <p:spPr>
          <a:xfrm>
            <a:off x="5901216" y="5434120"/>
            <a:ext cx="254213" cy="281028"/>
          </a:xfrm>
          <a:prstGeom prst="right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1AEC7004-F7E3-743B-F99F-BB997CF19790}"/>
              </a:ext>
            </a:extLst>
          </p:cNvPr>
          <p:cNvSpPr/>
          <p:nvPr/>
        </p:nvSpPr>
        <p:spPr>
          <a:xfrm>
            <a:off x="4572000" y="5932400"/>
            <a:ext cx="328018" cy="328469"/>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3</a:t>
            </a:r>
          </a:p>
        </p:txBody>
      </p:sp>
      <p:sp>
        <p:nvSpPr>
          <p:cNvPr id="27" name="Oval 26">
            <a:extLst>
              <a:ext uri="{FF2B5EF4-FFF2-40B4-BE49-F238E27FC236}">
                <a16:creationId xmlns:a16="http://schemas.microsoft.com/office/drawing/2014/main" id="{EE343BED-384E-5F94-8FF8-0F59E4F23787}"/>
              </a:ext>
            </a:extLst>
          </p:cNvPr>
          <p:cNvSpPr/>
          <p:nvPr/>
        </p:nvSpPr>
        <p:spPr>
          <a:xfrm>
            <a:off x="6939501" y="5939110"/>
            <a:ext cx="328018" cy="328469"/>
          </a:xfrm>
          <a:prstGeom prst="ellipse">
            <a:avLst/>
          </a:prstGeom>
          <a:solidFill>
            <a:srgbClr val="00B0F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4</a:t>
            </a:r>
          </a:p>
        </p:txBody>
      </p:sp>
    </p:spTree>
    <p:extLst>
      <p:ext uri="{BB962C8B-B14F-4D97-AF65-F5344CB8AC3E}">
        <p14:creationId xmlns:p14="http://schemas.microsoft.com/office/powerpoint/2010/main" val="33263939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66A92E2-08B6-3458-D716-668A6A0BC5ED}"/>
              </a:ext>
            </a:extLst>
          </p:cNvPr>
          <p:cNvPicPr>
            <a:picLocks noChangeAspect="1"/>
          </p:cNvPicPr>
          <p:nvPr/>
        </p:nvPicPr>
        <p:blipFill>
          <a:blip r:embed="rId3"/>
          <a:stretch>
            <a:fillRect/>
          </a:stretch>
        </p:blipFill>
        <p:spPr>
          <a:xfrm>
            <a:off x="105023" y="1916918"/>
            <a:ext cx="8909454" cy="3788507"/>
          </a:xfrm>
          <a:prstGeom prst="rect">
            <a:avLst/>
          </a:prstGeom>
          <a:effectLst>
            <a:glow rad="63500">
              <a:schemeClr val="bg1">
                <a:lumMod val="65000"/>
                <a:alpha val="40000"/>
              </a:schemeClr>
            </a:glow>
          </a:effectLst>
        </p:spPr>
      </p:pic>
      <p:sp>
        <p:nvSpPr>
          <p:cNvPr id="7" name="Slide Number Placeholder 5"/>
          <p:cNvSpPr>
            <a:spLocks noGrp="1"/>
          </p:cNvSpPr>
          <p:nvPr>
            <p:ph type="sldNum" sz="quarter" idx="4"/>
          </p:nvPr>
        </p:nvSpPr>
        <p:spPr>
          <a:prstGeom prst="rect">
            <a:avLst/>
          </a:prstGeom>
        </p:spPr>
        <p:txBody>
          <a:bodyPr vert="horz" lIns="0" tIns="0" rIns="0" bIns="0" rtlCol="0" anchor="ctr" anchorCtr="0"/>
          <a:lstStyle>
            <a:lvl1pPr algn="r">
              <a:defRPr sz="1800">
                <a:solidFill>
                  <a:schemeClr val="tx1"/>
                </a:solidFill>
              </a:defRPr>
            </a:lvl1pPr>
          </a:lstStyle>
          <a:p>
            <a:fld id="{A3381702-59A5-4643-AE93-D7BF7F78153B}" type="slidenum">
              <a:rPr lang="en-GB" smtClean="0"/>
              <a:pPr/>
              <a:t>32</a:t>
            </a:fld>
            <a:endParaRPr lang="en-GB" dirty="0"/>
          </a:p>
        </p:txBody>
      </p:sp>
      <p:sp>
        <p:nvSpPr>
          <p:cNvPr id="8" name="Footer Placeholder 4"/>
          <p:cNvSpPr>
            <a:spLocks noGrp="1"/>
          </p:cNvSpPr>
          <p:nvPr>
            <p:ph type="ftr" sz="quarter" idx="3"/>
          </p:nvPr>
        </p:nvSpPr>
        <p:spPr>
          <a:prstGeom prst="rect">
            <a:avLst/>
          </a:prstGeom>
        </p:spPr>
        <p:txBody>
          <a:bodyPr vert="horz" lIns="0" tIns="0" rIns="0" bIns="0" rtlCol="0" anchor="t" anchorCtr="0"/>
          <a:lstStyle>
            <a:lvl1pPr algn="r">
              <a:defRPr sz="700">
                <a:solidFill>
                  <a:schemeClr val="tx1"/>
                </a:solidFill>
                <a:latin typeface="+mn-lt"/>
              </a:defRPr>
            </a:lvl1pPr>
          </a:lstStyle>
          <a:p>
            <a:r>
              <a:rPr lang="fr-FR" altLang="ja-JP" dirty="0"/>
              <a:t>©20</a:t>
            </a:r>
            <a:r>
              <a:rPr lang="en-US" altLang="ja-JP" dirty="0"/>
              <a:t>23</a:t>
            </a:r>
            <a:r>
              <a:rPr lang="fr-FR" altLang="ja-JP" dirty="0"/>
              <a:t> KYOCERA Document Solutions Inc.</a:t>
            </a:r>
            <a:endParaRPr lang="en-GB" dirty="0"/>
          </a:p>
        </p:txBody>
      </p:sp>
      <p:sp>
        <p:nvSpPr>
          <p:cNvPr id="4" name="Rectangle 3">
            <a:extLst>
              <a:ext uri="{FF2B5EF4-FFF2-40B4-BE49-F238E27FC236}">
                <a16:creationId xmlns:a16="http://schemas.microsoft.com/office/drawing/2014/main" id="{0BAEFD46-8DC5-BB64-F040-FD68EE6A7C2D}"/>
              </a:ext>
            </a:extLst>
          </p:cNvPr>
          <p:cNvSpPr/>
          <p:nvPr/>
        </p:nvSpPr>
        <p:spPr>
          <a:xfrm>
            <a:off x="295745" y="40624"/>
            <a:ext cx="8722810" cy="6207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nSpc>
                <a:spcPct val="107000"/>
              </a:lnSpc>
              <a:spcBef>
                <a:spcPts val="0"/>
              </a:spcBef>
              <a:spcAft>
                <a:spcPts val="800"/>
              </a:spcAft>
              <a:tabLst>
                <a:tab pos="457200" algn="l"/>
              </a:tabLst>
            </a:pPr>
            <a:r>
              <a:rPr lang="en-US" sz="2200" b="1">
                <a:solidFill>
                  <a:schemeClr val="tx1"/>
                </a:solidFill>
                <a:latin typeface="Calibri" panose="020F0502020204030204" pitchFamily="34" charset="0"/>
                <a:ea typeface="游明朝" panose="02020400000000000000" pitchFamily="18" charset="-128"/>
                <a:cs typeface="Times New Roman" panose="02020603050405020304" pitchFamily="18" charset="0"/>
              </a:rPr>
              <a:t>4</a:t>
            </a:r>
            <a:r>
              <a:rPr lang="en-US" sz="2200" b="1">
                <a:solidFill>
                  <a:schemeClr val="tx1"/>
                </a:solidFill>
                <a:effectLst/>
                <a:latin typeface="Calibri" panose="020F0502020204030204" pitchFamily="34" charset="0"/>
                <a:ea typeface="游明朝" panose="02020400000000000000" pitchFamily="18" charset="-128"/>
                <a:cs typeface="Times New Roman" panose="02020603050405020304" pitchFamily="18" charset="0"/>
              </a:rPr>
              <a:t>. BIỂU ĐỒ KẾT HỢP</a:t>
            </a:r>
            <a:endParaRPr lang="en-US" sz="2200">
              <a:solidFill>
                <a:schemeClr val="tx1"/>
              </a:solidFill>
              <a:effectLst/>
              <a:latin typeface="Calibri" panose="020F0502020204030204" pitchFamily="34" charset="0"/>
              <a:ea typeface="游明朝" panose="02020400000000000000" pitchFamily="18" charset="-128"/>
              <a:cs typeface="Times New Roman" panose="02020603050405020304" pitchFamily="18" charset="0"/>
            </a:endParaRPr>
          </a:p>
        </p:txBody>
      </p:sp>
      <p:sp>
        <p:nvSpPr>
          <p:cNvPr id="6" name="Freeform 34">
            <a:extLst>
              <a:ext uri="{FF2B5EF4-FFF2-40B4-BE49-F238E27FC236}">
                <a16:creationId xmlns:a16="http://schemas.microsoft.com/office/drawing/2014/main" id="{E988D51C-281C-0FC1-508D-073F501DA6DF}"/>
              </a:ext>
            </a:extLst>
          </p:cNvPr>
          <p:cNvSpPr>
            <a:spLocks noChangeAspect="1"/>
          </p:cNvSpPr>
          <p:nvPr/>
        </p:nvSpPr>
        <p:spPr bwMode="auto">
          <a:xfrm rot="10800000" flipV="1">
            <a:off x="429856" y="536909"/>
            <a:ext cx="1655684" cy="47957"/>
          </a:xfrm>
          <a:custGeom>
            <a:avLst/>
            <a:gdLst>
              <a:gd name="T0" fmla="*/ 922 w 990"/>
              <a:gd name="T1" fmla="*/ 0 h 36"/>
              <a:gd name="T2" fmla="*/ 907 w 990"/>
              <a:gd name="T3" fmla="*/ 0 h 36"/>
              <a:gd name="T4" fmla="*/ 880 w 990"/>
              <a:gd name="T5" fmla="*/ 1 h 36"/>
              <a:gd name="T6" fmla="*/ 839 w 990"/>
              <a:gd name="T7" fmla="*/ 3 h 36"/>
              <a:gd name="T8" fmla="*/ 818 w 990"/>
              <a:gd name="T9" fmla="*/ 3 h 36"/>
              <a:gd name="T10" fmla="*/ 798 w 990"/>
              <a:gd name="T11" fmla="*/ 4 h 36"/>
              <a:gd name="T12" fmla="*/ 757 w 990"/>
              <a:gd name="T13" fmla="*/ 5 h 36"/>
              <a:gd name="T14" fmla="*/ 718 w 990"/>
              <a:gd name="T15" fmla="*/ 5 h 36"/>
              <a:gd name="T16" fmla="*/ 662 w 990"/>
              <a:gd name="T17" fmla="*/ 5 h 36"/>
              <a:gd name="T18" fmla="*/ 540 w 990"/>
              <a:gd name="T19" fmla="*/ 4 h 36"/>
              <a:gd name="T20" fmla="*/ 512 w 990"/>
              <a:gd name="T21" fmla="*/ 4 h 36"/>
              <a:gd name="T22" fmla="*/ 511 w 990"/>
              <a:gd name="T23" fmla="*/ 4 h 36"/>
              <a:gd name="T24" fmla="*/ 484 w 990"/>
              <a:gd name="T25" fmla="*/ 5 h 36"/>
              <a:gd name="T26" fmla="*/ 419 w 990"/>
              <a:gd name="T27" fmla="*/ 5 h 36"/>
              <a:gd name="T28" fmla="*/ 353 w 990"/>
              <a:gd name="T29" fmla="*/ 7 h 36"/>
              <a:gd name="T30" fmla="*/ 350 w 990"/>
              <a:gd name="T31" fmla="*/ 7 h 36"/>
              <a:gd name="T32" fmla="*/ 288 w 990"/>
              <a:gd name="T33" fmla="*/ 5 h 36"/>
              <a:gd name="T34" fmla="*/ 265 w 990"/>
              <a:gd name="T35" fmla="*/ 4 h 36"/>
              <a:gd name="T36" fmla="*/ 244 w 990"/>
              <a:gd name="T37" fmla="*/ 4 h 36"/>
              <a:gd name="T38" fmla="*/ 224 w 990"/>
              <a:gd name="T39" fmla="*/ 4 h 36"/>
              <a:gd name="T40" fmla="*/ 223 w 990"/>
              <a:gd name="T41" fmla="*/ 4 h 36"/>
              <a:gd name="T42" fmla="*/ 222 w 990"/>
              <a:gd name="T43" fmla="*/ 4 h 36"/>
              <a:gd name="T44" fmla="*/ 190 w 990"/>
              <a:gd name="T45" fmla="*/ 4 h 36"/>
              <a:gd name="T46" fmla="*/ 158 w 990"/>
              <a:gd name="T47" fmla="*/ 4 h 36"/>
              <a:gd name="T48" fmla="*/ 157 w 990"/>
              <a:gd name="T49" fmla="*/ 4 h 36"/>
              <a:gd name="T50" fmla="*/ 91 w 990"/>
              <a:gd name="T51" fmla="*/ 5 h 36"/>
              <a:gd name="T52" fmla="*/ 58 w 990"/>
              <a:gd name="T53" fmla="*/ 6 h 36"/>
              <a:gd name="T54" fmla="*/ 26 w 990"/>
              <a:gd name="T55" fmla="*/ 8 h 36"/>
              <a:gd name="T56" fmla="*/ 10 w 990"/>
              <a:gd name="T57" fmla="*/ 10 h 36"/>
              <a:gd name="T58" fmla="*/ 6 w 990"/>
              <a:gd name="T59" fmla="*/ 10 h 36"/>
              <a:gd name="T60" fmla="*/ 5 w 990"/>
              <a:gd name="T61" fmla="*/ 10 h 36"/>
              <a:gd name="T62" fmla="*/ 5 w 990"/>
              <a:gd name="T63" fmla="*/ 10 h 36"/>
              <a:gd name="T64" fmla="*/ 4 w 990"/>
              <a:gd name="T65" fmla="*/ 10 h 36"/>
              <a:gd name="T66" fmla="*/ 2 w 990"/>
              <a:gd name="T67" fmla="*/ 10 h 36"/>
              <a:gd name="T68" fmla="*/ 1 w 990"/>
              <a:gd name="T69" fmla="*/ 12 h 36"/>
              <a:gd name="T70" fmla="*/ 4 w 990"/>
              <a:gd name="T71" fmla="*/ 17 h 36"/>
              <a:gd name="T72" fmla="*/ 4 w 990"/>
              <a:gd name="T73" fmla="*/ 17 h 36"/>
              <a:gd name="T74" fmla="*/ 63 w 990"/>
              <a:gd name="T75" fmla="*/ 16 h 36"/>
              <a:gd name="T76" fmla="*/ 70 w 990"/>
              <a:gd name="T77" fmla="*/ 16 h 36"/>
              <a:gd name="T78" fmla="*/ 122 w 990"/>
              <a:gd name="T79" fmla="*/ 17 h 36"/>
              <a:gd name="T80" fmla="*/ 153 w 990"/>
              <a:gd name="T81" fmla="*/ 19 h 36"/>
              <a:gd name="T82" fmla="*/ 183 w 990"/>
              <a:gd name="T83" fmla="*/ 20 h 36"/>
              <a:gd name="T84" fmla="*/ 244 w 990"/>
              <a:gd name="T85" fmla="*/ 22 h 36"/>
              <a:gd name="T86" fmla="*/ 305 w 990"/>
              <a:gd name="T87" fmla="*/ 24 h 36"/>
              <a:gd name="T88" fmla="*/ 336 w 990"/>
              <a:gd name="T89" fmla="*/ 26 h 36"/>
              <a:gd name="T90" fmla="*/ 375 w 990"/>
              <a:gd name="T91" fmla="*/ 28 h 36"/>
              <a:gd name="T92" fmla="*/ 489 w 990"/>
              <a:gd name="T93" fmla="*/ 32 h 36"/>
              <a:gd name="T94" fmla="*/ 612 w 990"/>
              <a:gd name="T95" fmla="*/ 36 h 36"/>
              <a:gd name="T96" fmla="*/ 665 w 990"/>
              <a:gd name="T97" fmla="*/ 36 h 36"/>
              <a:gd name="T98" fmla="*/ 707 w 990"/>
              <a:gd name="T99" fmla="*/ 36 h 36"/>
              <a:gd name="T100" fmla="*/ 750 w 990"/>
              <a:gd name="T101" fmla="*/ 36 h 36"/>
              <a:gd name="T102" fmla="*/ 792 w 990"/>
              <a:gd name="T103" fmla="*/ 35 h 36"/>
              <a:gd name="T104" fmla="*/ 879 w 990"/>
              <a:gd name="T105" fmla="*/ 32 h 36"/>
              <a:gd name="T106" fmla="*/ 921 w 990"/>
              <a:gd name="T107" fmla="*/ 30 h 36"/>
              <a:gd name="T108" fmla="*/ 969 w 990"/>
              <a:gd name="T109" fmla="*/ 27 h 36"/>
              <a:gd name="T110" fmla="*/ 982 w 990"/>
              <a:gd name="T111" fmla="*/ 22 h 36"/>
              <a:gd name="T112" fmla="*/ 987 w 990"/>
              <a:gd name="T113" fmla="*/ 15 h 36"/>
              <a:gd name="T114" fmla="*/ 989 w 990"/>
              <a:gd name="T115" fmla="*/ 8 h 36"/>
              <a:gd name="T116" fmla="*/ 982 w 990"/>
              <a:gd name="T117" fmla="*/ 2 h 36"/>
              <a:gd name="T118" fmla="*/ 962 w 990"/>
              <a:gd name="T119" fmla="*/ 0 h 36"/>
              <a:gd name="T120" fmla="*/ 934 w 990"/>
              <a:gd name="T121" fmla="*/ 0 h 36"/>
              <a:gd name="T122" fmla="*/ 922 w 990"/>
              <a:gd name="T1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0" h="36">
                <a:moveTo>
                  <a:pt x="922" y="0"/>
                </a:moveTo>
                <a:cubicBezTo>
                  <a:pt x="917" y="0"/>
                  <a:pt x="912" y="0"/>
                  <a:pt x="907" y="0"/>
                </a:cubicBezTo>
                <a:cubicBezTo>
                  <a:pt x="898" y="0"/>
                  <a:pt x="889" y="1"/>
                  <a:pt x="880" y="1"/>
                </a:cubicBezTo>
                <a:cubicBezTo>
                  <a:pt x="839" y="3"/>
                  <a:pt x="839" y="3"/>
                  <a:pt x="839" y="3"/>
                </a:cubicBezTo>
                <a:cubicBezTo>
                  <a:pt x="818" y="3"/>
                  <a:pt x="818" y="3"/>
                  <a:pt x="818" y="3"/>
                </a:cubicBezTo>
                <a:cubicBezTo>
                  <a:pt x="798" y="4"/>
                  <a:pt x="798" y="4"/>
                  <a:pt x="798" y="4"/>
                </a:cubicBezTo>
                <a:cubicBezTo>
                  <a:pt x="757" y="5"/>
                  <a:pt x="757" y="5"/>
                  <a:pt x="757" y="5"/>
                </a:cubicBezTo>
                <a:cubicBezTo>
                  <a:pt x="744" y="5"/>
                  <a:pt x="731" y="5"/>
                  <a:pt x="718" y="5"/>
                </a:cubicBezTo>
                <a:cubicBezTo>
                  <a:pt x="699" y="5"/>
                  <a:pt x="681" y="5"/>
                  <a:pt x="662" y="5"/>
                </a:cubicBezTo>
                <a:cubicBezTo>
                  <a:pt x="540" y="4"/>
                  <a:pt x="540" y="4"/>
                  <a:pt x="540" y="4"/>
                </a:cubicBezTo>
                <a:cubicBezTo>
                  <a:pt x="512" y="4"/>
                  <a:pt x="512" y="4"/>
                  <a:pt x="512" y="4"/>
                </a:cubicBezTo>
                <a:cubicBezTo>
                  <a:pt x="512" y="4"/>
                  <a:pt x="511" y="4"/>
                  <a:pt x="511" y="4"/>
                </a:cubicBezTo>
                <a:cubicBezTo>
                  <a:pt x="502" y="4"/>
                  <a:pt x="493" y="4"/>
                  <a:pt x="484" y="5"/>
                </a:cubicBezTo>
                <a:cubicBezTo>
                  <a:pt x="462" y="5"/>
                  <a:pt x="441" y="5"/>
                  <a:pt x="419" y="5"/>
                </a:cubicBezTo>
                <a:cubicBezTo>
                  <a:pt x="397" y="6"/>
                  <a:pt x="375" y="7"/>
                  <a:pt x="353" y="7"/>
                </a:cubicBezTo>
                <a:cubicBezTo>
                  <a:pt x="352" y="7"/>
                  <a:pt x="351" y="7"/>
                  <a:pt x="350" y="7"/>
                </a:cubicBezTo>
                <a:cubicBezTo>
                  <a:pt x="330" y="7"/>
                  <a:pt x="309" y="5"/>
                  <a:pt x="288" y="5"/>
                </a:cubicBezTo>
                <a:cubicBezTo>
                  <a:pt x="280" y="4"/>
                  <a:pt x="272" y="4"/>
                  <a:pt x="265" y="4"/>
                </a:cubicBezTo>
                <a:cubicBezTo>
                  <a:pt x="258" y="4"/>
                  <a:pt x="251" y="4"/>
                  <a:pt x="244" y="4"/>
                </a:cubicBezTo>
                <a:cubicBezTo>
                  <a:pt x="237" y="4"/>
                  <a:pt x="230" y="4"/>
                  <a:pt x="224" y="4"/>
                </a:cubicBezTo>
                <a:cubicBezTo>
                  <a:pt x="223" y="4"/>
                  <a:pt x="223" y="4"/>
                  <a:pt x="223" y="4"/>
                </a:cubicBezTo>
                <a:cubicBezTo>
                  <a:pt x="223" y="4"/>
                  <a:pt x="222" y="4"/>
                  <a:pt x="222" y="4"/>
                </a:cubicBezTo>
                <a:cubicBezTo>
                  <a:pt x="212" y="4"/>
                  <a:pt x="201" y="4"/>
                  <a:pt x="190" y="4"/>
                </a:cubicBezTo>
                <a:cubicBezTo>
                  <a:pt x="180" y="4"/>
                  <a:pt x="169" y="4"/>
                  <a:pt x="158" y="4"/>
                </a:cubicBezTo>
                <a:cubicBezTo>
                  <a:pt x="158" y="4"/>
                  <a:pt x="157" y="4"/>
                  <a:pt x="157" y="4"/>
                </a:cubicBezTo>
                <a:cubicBezTo>
                  <a:pt x="135" y="4"/>
                  <a:pt x="113" y="4"/>
                  <a:pt x="91" y="5"/>
                </a:cubicBezTo>
                <a:cubicBezTo>
                  <a:pt x="80" y="5"/>
                  <a:pt x="69" y="6"/>
                  <a:pt x="58" y="6"/>
                </a:cubicBezTo>
                <a:cubicBezTo>
                  <a:pt x="48" y="6"/>
                  <a:pt x="37" y="7"/>
                  <a:pt x="26" y="8"/>
                </a:cubicBezTo>
                <a:cubicBezTo>
                  <a:pt x="10" y="10"/>
                  <a:pt x="10" y="10"/>
                  <a:pt x="10" y="10"/>
                </a:cubicBezTo>
                <a:cubicBezTo>
                  <a:pt x="6" y="10"/>
                  <a:pt x="6" y="10"/>
                  <a:pt x="6" y="10"/>
                </a:cubicBezTo>
                <a:cubicBezTo>
                  <a:pt x="6" y="10"/>
                  <a:pt x="5" y="10"/>
                  <a:pt x="5" y="10"/>
                </a:cubicBezTo>
                <a:cubicBezTo>
                  <a:pt x="5" y="10"/>
                  <a:pt x="5" y="10"/>
                  <a:pt x="5" y="10"/>
                </a:cubicBezTo>
                <a:cubicBezTo>
                  <a:pt x="4" y="10"/>
                  <a:pt x="4" y="10"/>
                  <a:pt x="4" y="10"/>
                </a:cubicBezTo>
                <a:cubicBezTo>
                  <a:pt x="3" y="10"/>
                  <a:pt x="2" y="10"/>
                  <a:pt x="2" y="10"/>
                </a:cubicBezTo>
                <a:cubicBezTo>
                  <a:pt x="1" y="10"/>
                  <a:pt x="1" y="11"/>
                  <a:pt x="1" y="12"/>
                </a:cubicBezTo>
                <a:cubicBezTo>
                  <a:pt x="0" y="15"/>
                  <a:pt x="2" y="17"/>
                  <a:pt x="4" y="17"/>
                </a:cubicBezTo>
                <a:cubicBezTo>
                  <a:pt x="4" y="17"/>
                  <a:pt x="4" y="17"/>
                  <a:pt x="4" y="17"/>
                </a:cubicBezTo>
                <a:cubicBezTo>
                  <a:pt x="24" y="17"/>
                  <a:pt x="43" y="16"/>
                  <a:pt x="63" y="16"/>
                </a:cubicBezTo>
                <a:cubicBezTo>
                  <a:pt x="65" y="16"/>
                  <a:pt x="67" y="16"/>
                  <a:pt x="70" y="16"/>
                </a:cubicBezTo>
                <a:cubicBezTo>
                  <a:pt x="87" y="16"/>
                  <a:pt x="105" y="16"/>
                  <a:pt x="122" y="17"/>
                </a:cubicBezTo>
                <a:cubicBezTo>
                  <a:pt x="133" y="18"/>
                  <a:pt x="143" y="19"/>
                  <a:pt x="153" y="19"/>
                </a:cubicBezTo>
                <a:cubicBezTo>
                  <a:pt x="183" y="20"/>
                  <a:pt x="183" y="20"/>
                  <a:pt x="183" y="20"/>
                </a:cubicBezTo>
                <a:cubicBezTo>
                  <a:pt x="203" y="20"/>
                  <a:pt x="224" y="21"/>
                  <a:pt x="244" y="22"/>
                </a:cubicBezTo>
                <a:cubicBezTo>
                  <a:pt x="265" y="22"/>
                  <a:pt x="285" y="23"/>
                  <a:pt x="305" y="24"/>
                </a:cubicBezTo>
                <a:cubicBezTo>
                  <a:pt x="336" y="26"/>
                  <a:pt x="336" y="26"/>
                  <a:pt x="336" y="26"/>
                </a:cubicBezTo>
                <a:cubicBezTo>
                  <a:pt x="346" y="26"/>
                  <a:pt x="361" y="28"/>
                  <a:pt x="375" y="28"/>
                </a:cubicBezTo>
                <a:cubicBezTo>
                  <a:pt x="416" y="31"/>
                  <a:pt x="448" y="31"/>
                  <a:pt x="489" y="32"/>
                </a:cubicBezTo>
                <a:cubicBezTo>
                  <a:pt x="530" y="34"/>
                  <a:pt x="571" y="35"/>
                  <a:pt x="612" y="36"/>
                </a:cubicBezTo>
                <a:cubicBezTo>
                  <a:pt x="629" y="36"/>
                  <a:pt x="647" y="36"/>
                  <a:pt x="665" y="36"/>
                </a:cubicBezTo>
                <a:cubicBezTo>
                  <a:pt x="679" y="36"/>
                  <a:pt x="693" y="36"/>
                  <a:pt x="707" y="36"/>
                </a:cubicBezTo>
                <a:cubicBezTo>
                  <a:pt x="750" y="36"/>
                  <a:pt x="750" y="36"/>
                  <a:pt x="750" y="36"/>
                </a:cubicBezTo>
                <a:cubicBezTo>
                  <a:pt x="792" y="35"/>
                  <a:pt x="792" y="35"/>
                  <a:pt x="792" y="35"/>
                </a:cubicBezTo>
                <a:cubicBezTo>
                  <a:pt x="821" y="34"/>
                  <a:pt x="850" y="33"/>
                  <a:pt x="879" y="32"/>
                </a:cubicBezTo>
                <a:cubicBezTo>
                  <a:pt x="921" y="30"/>
                  <a:pt x="921" y="30"/>
                  <a:pt x="921" y="30"/>
                </a:cubicBezTo>
                <a:cubicBezTo>
                  <a:pt x="937" y="30"/>
                  <a:pt x="953" y="29"/>
                  <a:pt x="969" y="27"/>
                </a:cubicBezTo>
                <a:cubicBezTo>
                  <a:pt x="973" y="26"/>
                  <a:pt x="979" y="25"/>
                  <a:pt x="982" y="22"/>
                </a:cubicBezTo>
                <a:cubicBezTo>
                  <a:pt x="984" y="20"/>
                  <a:pt x="986" y="17"/>
                  <a:pt x="987" y="15"/>
                </a:cubicBezTo>
                <a:cubicBezTo>
                  <a:pt x="989" y="13"/>
                  <a:pt x="990" y="10"/>
                  <a:pt x="989" y="8"/>
                </a:cubicBezTo>
                <a:cubicBezTo>
                  <a:pt x="988" y="4"/>
                  <a:pt x="985" y="3"/>
                  <a:pt x="982" y="2"/>
                </a:cubicBezTo>
                <a:cubicBezTo>
                  <a:pt x="975" y="0"/>
                  <a:pt x="968" y="0"/>
                  <a:pt x="962" y="0"/>
                </a:cubicBezTo>
                <a:cubicBezTo>
                  <a:pt x="934" y="0"/>
                  <a:pt x="934" y="0"/>
                  <a:pt x="934" y="0"/>
                </a:cubicBezTo>
                <a:cubicBezTo>
                  <a:pt x="930" y="0"/>
                  <a:pt x="926" y="0"/>
                  <a:pt x="922" y="0"/>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2" name="Content Placeholder 2">
            <a:extLst>
              <a:ext uri="{FF2B5EF4-FFF2-40B4-BE49-F238E27FC236}">
                <a16:creationId xmlns:a16="http://schemas.microsoft.com/office/drawing/2014/main" id="{8A378710-0B40-86B5-B2C6-AF290BD75FB3}"/>
              </a:ext>
            </a:extLst>
          </p:cNvPr>
          <p:cNvSpPr txBox="1">
            <a:spLocks/>
          </p:cNvSpPr>
          <p:nvPr/>
        </p:nvSpPr>
        <p:spPr>
          <a:xfrm>
            <a:off x="401032" y="716399"/>
            <a:ext cx="8510739" cy="881599"/>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1600" b="1">
                <a:latin typeface="Calibri" panose="020F0502020204030204" pitchFamily="34" charset="0"/>
                <a:cs typeface="Calibri" panose="020F0502020204030204" pitchFamily="34" charset="0"/>
              </a:rPr>
              <a:t>Bước 3</a:t>
            </a:r>
            <a:r>
              <a:rPr lang="en-US" sz="1600">
                <a:latin typeface="Calibri" panose="020F0502020204030204" pitchFamily="34" charset="0"/>
                <a:cs typeface="Calibri" panose="020F0502020204030204" pitchFamily="34" charset="0"/>
              </a:rPr>
              <a:t>: Hoàn thiện biểu đồ</a:t>
            </a:r>
          </a:p>
          <a:p>
            <a:pPr marL="285750" indent="-285750" algn="l">
              <a:buFontTx/>
              <a:buChar char="-"/>
            </a:pPr>
            <a:r>
              <a:rPr lang="en-US" sz="1600" b="1">
                <a:latin typeface="Calibri" panose="020F0502020204030204" pitchFamily="34" charset="0"/>
                <a:cs typeface="Calibri" panose="020F0502020204030204" pitchFamily="34" charset="0"/>
              </a:rPr>
              <a:t>Thay đổi màu sắc cho cột: </a:t>
            </a:r>
            <a:r>
              <a:rPr lang="en-US" sz="1600">
                <a:latin typeface="Calibri" panose="020F0502020204030204" pitchFamily="34" charset="0"/>
                <a:cs typeface="Calibri" panose="020F0502020204030204" pitchFamily="34" charset="0"/>
              </a:rPr>
              <a:t>Chọn 1 cột bất kỳ (1) để hiện bảng “Format Data Series”, chọn biểu tượng (2), thay đổi màu sắc tại vị trí (3)</a:t>
            </a:r>
          </a:p>
        </p:txBody>
      </p:sp>
      <p:sp>
        <p:nvSpPr>
          <p:cNvPr id="12" name="Oval 11">
            <a:extLst>
              <a:ext uri="{FF2B5EF4-FFF2-40B4-BE49-F238E27FC236}">
                <a16:creationId xmlns:a16="http://schemas.microsoft.com/office/drawing/2014/main" id="{EE39C399-697C-FE44-F510-CB4B7E102188}"/>
              </a:ext>
            </a:extLst>
          </p:cNvPr>
          <p:cNvSpPr/>
          <p:nvPr/>
        </p:nvSpPr>
        <p:spPr>
          <a:xfrm>
            <a:off x="340450" y="3811171"/>
            <a:ext cx="328018" cy="328469"/>
          </a:xfrm>
          <a:prstGeom prst="ellipse">
            <a:avLst/>
          </a:prstGeom>
          <a:solidFill>
            <a:srgbClr val="7030A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en-US" sz="1400"/>
              <a:t>1</a:t>
            </a:r>
          </a:p>
        </p:txBody>
      </p:sp>
      <p:sp>
        <p:nvSpPr>
          <p:cNvPr id="13" name="Oval 12">
            <a:extLst>
              <a:ext uri="{FF2B5EF4-FFF2-40B4-BE49-F238E27FC236}">
                <a16:creationId xmlns:a16="http://schemas.microsoft.com/office/drawing/2014/main" id="{6F93BA1C-6FA9-D5A4-7EFA-CB8DF75B6B37}"/>
              </a:ext>
            </a:extLst>
          </p:cNvPr>
          <p:cNvSpPr/>
          <p:nvPr/>
        </p:nvSpPr>
        <p:spPr>
          <a:xfrm>
            <a:off x="8354839" y="4714379"/>
            <a:ext cx="328018" cy="328469"/>
          </a:xfrm>
          <a:prstGeom prst="ellipse">
            <a:avLst/>
          </a:prstGeom>
          <a:solidFill>
            <a:srgbClr val="7030A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en-US" sz="1400"/>
              <a:t>3</a:t>
            </a:r>
          </a:p>
        </p:txBody>
      </p:sp>
      <p:sp>
        <p:nvSpPr>
          <p:cNvPr id="14" name="Oval 13">
            <a:extLst>
              <a:ext uri="{FF2B5EF4-FFF2-40B4-BE49-F238E27FC236}">
                <a16:creationId xmlns:a16="http://schemas.microsoft.com/office/drawing/2014/main" id="{94B5F51D-9593-7C05-BDAD-36A1FF7D96E1}"/>
              </a:ext>
            </a:extLst>
          </p:cNvPr>
          <p:cNvSpPr/>
          <p:nvPr/>
        </p:nvSpPr>
        <p:spPr>
          <a:xfrm>
            <a:off x="6099209" y="2618301"/>
            <a:ext cx="328018" cy="328469"/>
          </a:xfrm>
          <a:prstGeom prst="ellipse">
            <a:avLst/>
          </a:prstGeom>
          <a:solidFill>
            <a:srgbClr val="7030A0"/>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en-US" sz="1400"/>
              <a:t>2</a:t>
            </a:r>
          </a:p>
        </p:txBody>
      </p:sp>
    </p:spTree>
    <p:extLst>
      <p:ext uri="{BB962C8B-B14F-4D97-AF65-F5344CB8AC3E}">
        <p14:creationId xmlns:p14="http://schemas.microsoft.com/office/powerpoint/2010/main" val="28992510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4"/>
          </p:nvPr>
        </p:nvSpPr>
        <p:spPr>
          <a:prstGeom prst="rect">
            <a:avLst/>
          </a:prstGeom>
        </p:spPr>
        <p:txBody>
          <a:bodyPr vert="horz" lIns="0" tIns="0" rIns="0" bIns="0" rtlCol="0" anchor="ctr" anchorCtr="0"/>
          <a:lstStyle>
            <a:lvl1pPr algn="r">
              <a:defRPr sz="1800">
                <a:solidFill>
                  <a:schemeClr val="tx1"/>
                </a:solidFill>
              </a:defRPr>
            </a:lvl1pPr>
          </a:lstStyle>
          <a:p>
            <a:fld id="{A3381702-59A5-4643-AE93-D7BF7F78153B}" type="slidenum">
              <a:rPr lang="en-GB" smtClean="0"/>
              <a:pPr/>
              <a:t>33</a:t>
            </a:fld>
            <a:endParaRPr lang="en-GB" dirty="0"/>
          </a:p>
        </p:txBody>
      </p:sp>
      <p:sp>
        <p:nvSpPr>
          <p:cNvPr id="8" name="Footer Placeholder 4"/>
          <p:cNvSpPr>
            <a:spLocks noGrp="1"/>
          </p:cNvSpPr>
          <p:nvPr>
            <p:ph type="ftr" sz="quarter" idx="3"/>
          </p:nvPr>
        </p:nvSpPr>
        <p:spPr>
          <a:prstGeom prst="rect">
            <a:avLst/>
          </a:prstGeom>
        </p:spPr>
        <p:txBody>
          <a:bodyPr vert="horz" lIns="0" tIns="0" rIns="0" bIns="0" rtlCol="0" anchor="t" anchorCtr="0"/>
          <a:lstStyle>
            <a:lvl1pPr algn="r">
              <a:defRPr sz="700">
                <a:solidFill>
                  <a:schemeClr val="tx1"/>
                </a:solidFill>
                <a:latin typeface="+mn-lt"/>
              </a:defRPr>
            </a:lvl1pPr>
          </a:lstStyle>
          <a:p>
            <a:r>
              <a:rPr lang="fr-FR" altLang="ja-JP" dirty="0"/>
              <a:t>©20</a:t>
            </a:r>
            <a:r>
              <a:rPr lang="en-US" altLang="ja-JP" dirty="0"/>
              <a:t>23</a:t>
            </a:r>
            <a:r>
              <a:rPr lang="fr-FR" altLang="ja-JP" dirty="0"/>
              <a:t> KYOCERA Document Solutions Inc.</a:t>
            </a:r>
            <a:endParaRPr lang="en-GB" dirty="0"/>
          </a:p>
        </p:txBody>
      </p:sp>
      <p:sp>
        <p:nvSpPr>
          <p:cNvPr id="4" name="Rectangle 3">
            <a:extLst>
              <a:ext uri="{FF2B5EF4-FFF2-40B4-BE49-F238E27FC236}">
                <a16:creationId xmlns:a16="http://schemas.microsoft.com/office/drawing/2014/main" id="{0BAEFD46-8DC5-BB64-F040-FD68EE6A7C2D}"/>
              </a:ext>
            </a:extLst>
          </p:cNvPr>
          <p:cNvSpPr/>
          <p:nvPr/>
        </p:nvSpPr>
        <p:spPr>
          <a:xfrm>
            <a:off x="295745" y="40624"/>
            <a:ext cx="8722810" cy="6207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nSpc>
                <a:spcPct val="107000"/>
              </a:lnSpc>
              <a:spcBef>
                <a:spcPts val="0"/>
              </a:spcBef>
              <a:spcAft>
                <a:spcPts val="800"/>
              </a:spcAft>
              <a:tabLst>
                <a:tab pos="457200" algn="l"/>
              </a:tabLst>
            </a:pPr>
            <a:r>
              <a:rPr lang="en-US" sz="2200" b="1">
                <a:solidFill>
                  <a:schemeClr val="tx1"/>
                </a:solidFill>
                <a:latin typeface="Calibri" panose="020F0502020204030204" pitchFamily="34" charset="0"/>
                <a:ea typeface="游明朝" panose="02020400000000000000" pitchFamily="18" charset="-128"/>
                <a:cs typeface="Times New Roman" panose="02020603050405020304" pitchFamily="18" charset="0"/>
              </a:rPr>
              <a:t>4</a:t>
            </a:r>
            <a:r>
              <a:rPr lang="en-US" sz="2200" b="1">
                <a:solidFill>
                  <a:schemeClr val="tx1"/>
                </a:solidFill>
                <a:effectLst/>
                <a:latin typeface="Calibri" panose="020F0502020204030204" pitchFamily="34" charset="0"/>
                <a:ea typeface="游明朝" panose="02020400000000000000" pitchFamily="18" charset="-128"/>
                <a:cs typeface="Times New Roman" panose="02020603050405020304" pitchFamily="18" charset="0"/>
              </a:rPr>
              <a:t>. BIỂU ĐỒ KẾT HỢP</a:t>
            </a:r>
            <a:endParaRPr lang="en-US" sz="2200">
              <a:solidFill>
                <a:schemeClr val="tx1"/>
              </a:solidFill>
              <a:effectLst/>
              <a:latin typeface="Calibri" panose="020F0502020204030204" pitchFamily="34" charset="0"/>
              <a:ea typeface="游明朝" panose="02020400000000000000" pitchFamily="18" charset="-128"/>
              <a:cs typeface="Times New Roman" panose="02020603050405020304" pitchFamily="18" charset="0"/>
            </a:endParaRPr>
          </a:p>
        </p:txBody>
      </p:sp>
      <p:sp>
        <p:nvSpPr>
          <p:cNvPr id="6" name="Freeform 34">
            <a:extLst>
              <a:ext uri="{FF2B5EF4-FFF2-40B4-BE49-F238E27FC236}">
                <a16:creationId xmlns:a16="http://schemas.microsoft.com/office/drawing/2014/main" id="{E988D51C-281C-0FC1-508D-073F501DA6DF}"/>
              </a:ext>
            </a:extLst>
          </p:cNvPr>
          <p:cNvSpPr>
            <a:spLocks noChangeAspect="1"/>
          </p:cNvSpPr>
          <p:nvPr/>
        </p:nvSpPr>
        <p:spPr bwMode="auto">
          <a:xfrm rot="10800000" flipV="1">
            <a:off x="509368" y="536909"/>
            <a:ext cx="1655684" cy="47957"/>
          </a:xfrm>
          <a:custGeom>
            <a:avLst/>
            <a:gdLst>
              <a:gd name="T0" fmla="*/ 922 w 990"/>
              <a:gd name="T1" fmla="*/ 0 h 36"/>
              <a:gd name="T2" fmla="*/ 907 w 990"/>
              <a:gd name="T3" fmla="*/ 0 h 36"/>
              <a:gd name="T4" fmla="*/ 880 w 990"/>
              <a:gd name="T5" fmla="*/ 1 h 36"/>
              <a:gd name="T6" fmla="*/ 839 w 990"/>
              <a:gd name="T7" fmla="*/ 3 h 36"/>
              <a:gd name="T8" fmla="*/ 818 w 990"/>
              <a:gd name="T9" fmla="*/ 3 h 36"/>
              <a:gd name="T10" fmla="*/ 798 w 990"/>
              <a:gd name="T11" fmla="*/ 4 h 36"/>
              <a:gd name="T12" fmla="*/ 757 w 990"/>
              <a:gd name="T13" fmla="*/ 5 h 36"/>
              <a:gd name="T14" fmla="*/ 718 w 990"/>
              <a:gd name="T15" fmla="*/ 5 h 36"/>
              <a:gd name="T16" fmla="*/ 662 w 990"/>
              <a:gd name="T17" fmla="*/ 5 h 36"/>
              <a:gd name="T18" fmla="*/ 540 w 990"/>
              <a:gd name="T19" fmla="*/ 4 h 36"/>
              <a:gd name="T20" fmla="*/ 512 w 990"/>
              <a:gd name="T21" fmla="*/ 4 h 36"/>
              <a:gd name="T22" fmla="*/ 511 w 990"/>
              <a:gd name="T23" fmla="*/ 4 h 36"/>
              <a:gd name="T24" fmla="*/ 484 w 990"/>
              <a:gd name="T25" fmla="*/ 5 h 36"/>
              <a:gd name="T26" fmla="*/ 419 w 990"/>
              <a:gd name="T27" fmla="*/ 5 h 36"/>
              <a:gd name="T28" fmla="*/ 353 w 990"/>
              <a:gd name="T29" fmla="*/ 7 h 36"/>
              <a:gd name="T30" fmla="*/ 350 w 990"/>
              <a:gd name="T31" fmla="*/ 7 h 36"/>
              <a:gd name="T32" fmla="*/ 288 w 990"/>
              <a:gd name="T33" fmla="*/ 5 h 36"/>
              <a:gd name="T34" fmla="*/ 265 w 990"/>
              <a:gd name="T35" fmla="*/ 4 h 36"/>
              <a:gd name="T36" fmla="*/ 244 w 990"/>
              <a:gd name="T37" fmla="*/ 4 h 36"/>
              <a:gd name="T38" fmla="*/ 224 w 990"/>
              <a:gd name="T39" fmla="*/ 4 h 36"/>
              <a:gd name="T40" fmla="*/ 223 w 990"/>
              <a:gd name="T41" fmla="*/ 4 h 36"/>
              <a:gd name="T42" fmla="*/ 222 w 990"/>
              <a:gd name="T43" fmla="*/ 4 h 36"/>
              <a:gd name="T44" fmla="*/ 190 w 990"/>
              <a:gd name="T45" fmla="*/ 4 h 36"/>
              <a:gd name="T46" fmla="*/ 158 w 990"/>
              <a:gd name="T47" fmla="*/ 4 h 36"/>
              <a:gd name="T48" fmla="*/ 157 w 990"/>
              <a:gd name="T49" fmla="*/ 4 h 36"/>
              <a:gd name="T50" fmla="*/ 91 w 990"/>
              <a:gd name="T51" fmla="*/ 5 h 36"/>
              <a:gd name="T52" fmla="*/ 58 w 990"/>
              <a:gd name="T53" fmla="*/ 6 h 36"/>
              <a:gd name="T54" fmla="*/ 26 w 990"/>
              <a:gd name="T55" fmla="*/ 8 h 36"/>
              <a:gd name="T56" fmla="*/ 10 w 990"/>
              <a:gd name="T57" fmla="*/ 10 h 36"/>
              <a:gd name="T58" fmla="*/ 6 w 990"/>
              <a:gd name="T59" fmla="*/ 10 h 36"/>
              <a:gd name="T60" fmla="*/ 5 w 990"/>
              <a:gd name="T61" fmla="*/ 10 h 36"/>
              <a:gd name="T62" fmla="*/ 5 w 990"/>
              <a:gd name="T63" fmla="*/ 10 h 36"/>
              <a:gd name="T64" fmla="*/ 4 w 990"/>
              <a:gd name="T65" fmla="*/ 10 h 36"/>
              <a:gd name="T66" fmla="*/ 2 w 990"/>
              <a:gd name="T67" fmla="*/ 10 h 36"/>
              <a:gd name="T68" fmla="*/ 1 w 990"/>
              <a:gd name="T69" fmla="*/ 12 h 36"/>
              <a:gd name="T70" fmla="*/ 4 w 990"/>
              <a:gd name="T71" fmla="*/ 17 h 36"/>
              <a:gd name="T72" fmla="*/ 4 w 990"/>
              <a:gd name="T73" fmla="*/ 17 h 36"/>
              <a:gd name="T74" fmla="*/ 63 w 990"/>
              <a:gd name="T75" fmla="*/ 16 h 36"/>
              <a:gd name="T76" fmla="*/ 70 w 990"/>
              <a:gd name="T77" fmla="*/ 16 h 36"/>
              <a:gd name="T78" fmla="*/ 122 w 990"/>
              <a:gd name="T79" fmla="*/ 17 h 36"/>
              <a:gd name="T80" fmla="*/ 153 w 990"/>
              <a:gd name="T81" fmla="*/ 19 h 36"/>
              <a:gd name="T82" fmla="*/ 183 w 990"/>
              <a:gd name="T83" fmla="*/ 20 h 36"/>
              <a:gd name="T84" fmla="*/ 244 w 990"/>
              <a:gd name="T85" fmla="*/ 22 h 36"/>
              <a:gd name="T86" fmla="*/ 305 w 990"/>
              <a:gd name="T87" fmla="*/ 24 h 36"/>
              <a:gd name="T88" fmla="*/ 336 w 990"/>
              <a:gd name="T89" fmla="*/ 26 h 36"/>
              <a:gd name="T90" fmla="*/ 375 w 990"/>
              <a:gd name="T91" fmla="*/ 28 h 36"/>
              <a:gd name="T92" fmla="*/ 489 w 990"/>
              <a:gd name="T93" fmla="*/ 32 h 36"/>
              <a:gd name="T94" fmla="*/ 612 w 990"/>
              <a:gd name="T95" fmla="*/ 36 h 36"/>
              <a:gd name="T96" fmla="*/ 665 w 990"/>
              <a:gd name="T97" fmla="*/ 36 h 36"/>
              <a:gd name="T98" fmla="*/ 707 w 990"/>
              <a:gd name="T99" fmla="*/ 36 h 36"/>
              <a:gd name="T100" fmla="*/ 750 w 990"/>
              <a:gd name="T101" fmla="*/ 36 h 36"/>
              <a:gd name="T102" fmla="*/ 792 w 990"/>
              <a:gd name="T103" fmla="*/ 35 h 36"/>
              <a:gd name="T104" fmla="*/ 879 w 990"/>
              <a:gd name="T105" fmla="*/ 32 h 36"/>
              <a:gd name="T106" fmla="*/ 921 w 990"/>
              <a:gd name="T107" fmla="*/ 30 h 36"/>
              <a:gd name="T108" fmla="*/ 969 w 990"/>
              <a:gd name="T109" fmla="*/ 27 h 36"/>
              <a:gd name="T110" fmla="*/ 982 w 990"/>
              <a:gd name="T111" fmla="*/ 22 h 36"/>
              <a:gd name="T112" fmla="*/ 987 w 990"/>
              <a:gd name="T113" fmla="*/ 15 h 36"/>
              <a:gd name="T114" fmla="*/ 989 w 990"/>
              <a:gd name="T115" fmla="*/ 8 h 36"/>
              <a:gd name="T116" fmla="*/ 982 w 990"/>
              <a:gd name="T117" fmla="*/ 2 h 36"/>
              <a:gd name="T118" fmla="*/ 962 w 990"/>
              <a:gd name="T119" fmla="*/ 0 h 36"/>
              <a:gd name="T120" fmla="*/ 934 w 990"/>
              <a:gd name="T121" fmla="*/ 0 h 36"/>
              <a:gd name="T122" fmla="*/ 922 w 990"/>
              <a:gd name="T1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0" h="36">
                <a:moveTo>
                  <a:pt x="922" y="0"/>
                </a:moveTo>
                <a:cubicBezTo>
                  <a:pt x="917" y="0"/>
                  <a:pt x="912" y="0"/>
                  <a:pt x="907" y="0"/>
                </a:cubicBezTo>
                <a:cubicBezTo>
                  <a:pt x="898" y="0"/>
                  <a:pt x="889" y="1"/>
                  <a:pt x="880" y="1"/>
                </a:cubicBezTo>
                <a:cubicBezTo>
                  <a:pt x="839" y="3"/>
                  <a:pt x="839" y="3"/>
                  <a:pt x="839" y="3"/>
                </a:cubicBezTo>
                <a:cubicBezTo>
                  <a:pt x="818" y="3"/>
                  <a:pt x="818" y="3"/>
                  <a:pt x="818" y="3"/>
                </a:cubicBezTo>
                <a:cubicBezTo>
                  <a:pt x="798" y="4"/>
                  <a:pt x="798" y="4"/>
                  <a:pt x="798" y="4"/>
                </a:cubicBezTo>
                <a:cubicBezTo>
                  <a:pt x="757" y="5"/>
                  <a:pt x="757" y="5"/>
                  <a:pt x="757" y="5"/>
                </a:cubicBezTo>
                <a:cubicBezTo>
                  <a:pt x="744" y="5"/>
                  <a:pt x="731" y="5"/>
                  <a:pt x="718" y="5"/>
                </a:cubicBezTo>
                <a:cubicBezTo>
                  <a:pt x="699" y="5"/>
                  <a:pt x="681" y="5"/>
                  <a:pt x="662" y="5"/>
                </a:cubicBezTo>
                <a:cubicBezTo>
                  <a:pt x="540" y="4"/>
                  <a:pt x="540" y="4"/>
                  <a:pt x="540" y="4"/>
                </a:cubicBezTo>
                <a:cubicBezTo>
                  <a:pt x="512" y="4"/>
                  <a:pt x="512" y="4"/>
                  <a:pt x="512" y="4"/>
                </a:cubicBezTo>
                <a:cubicBezTo>
                  <a:pt x="512" y="4"/>
                  <a:pt x="511" y="4"/>
                  <a:pt x="511" y="4"/>
                </a:cubicBezTo>
                <a:cubicBezTo>
                  <a:pt x="502" y="4"/>
                  <a:pt x="493" y="4"/>
                  <a:pt x="484" y="5"/>
                </a:cubicBezTo>
                <a:cubicBezTo>
                  <a:pt x="462" y="5"/>
                  <a:pt x="441" y="5"/>
                  <a:pt x="419" y="5"/>
                </a:cubicBezTo>
                <a:cubicBezTo>
                  <a:pt x="397" y="6"/>
                  <a:pt x="375" y="7"/>
                  <a:pt x="353" y="7"/>
                </a:cubicBezTo>
                <a:cubicBezTo>
                  <a:pt x="352" y="7"/>
                  <a:pt x="351" y="7"/>
                  <a:pt x="350" y="7"/>
                </a:cubicBezTo>
                <a:cubicBezTo>
                  <a:pt x="330" y="7"/>
                  <a:pt x="309" y="5"/>
                  <a:pt x="288" y="5"/>
                </a:cubicBezTo>
                <a:cubicBezTo>
                  <a:pt x="280" y="4"/>
                  <a:pt x="272" y="4"/>
                  <a:pt x="265" y="4"/>
                </a:cubicBezTo>
                <a:cubicBezTo>
                  <a:pt x="258" y="4"/>
                  <a:pt x="251" y="4"/>
                  <a:pt x="244" y="4"/>
                </a:cubicBezTo>
                <a:cubicBezTo>
                  <a:pt x="237" y="4"/>
                  <a:pt x="230" y="4"/>
                  <a:pt x="224" y="4"/>
                </a:cubicBezTo>
                <a:cubicBezTo>
                  <a:pt x="223" y="4"/>
                  <a:pt x="223" y="4"/>
                  <a:pt x="223" y="4"/>
                </a:cubicBezTo>
                <a:cubicBezTo>
                  <a:pt x="223" y="4"/>
                  <a:pt x="222" y="4"/>
                  <a:pt x="222" y="4"/>
                </a:cubicBezTo>
                <a:cubicBezTo>
                  <a:pt x="212" y="4"/>
                  <a:pt x="201" y="4"/>
                  <a:pt x="190" y="4"/>
                </a:cubicBezTo>
                <a:cubicBezTo>
                  <a:pt x="180" y="4"/>
                  <a:pt x="169" y="4"/>
                  <a:pt x="158" y="4"/>
                </a:cubicBezTo>
                <a:cubicBezTo>
                  <a:pt x="158" y="4"/>
                  <a:pt x="157" y="4"/>
                  <a:pt x="157" y="4"/>
                </a:cubicBezTo>
                <a:cubicBezTo>
                  <a:pt x="135" y="4"/>
                  <a:pt x="113" y="4"/>
                  <a:pt x="91" y="5"/>
                </a:cubicBezTo>
                <a:cubicBezTo>
                  <a:pt x="80" y="5"/>
                  <a:pt x="69" y="6"/>
                  <a:pt x="58" y="6"/>
                </a:cubicBezTo>
                <a:cubicBezTo>
                  <a:pt x="48" y="6"/>
                  <a:pt x="37" y="7"/>
                  <a:pt x="26" y="8"/>
                </a:cubicBezTo>
                <a:cubicBezTo>
                  <a:pt x="10" y="10"/>
                  <a:pt x="10" y="10"/>
                  <a:pt x="10" y="10"/>
                </a:cubicBezTo>
                <a:cubicBezTo>
                  <a:pt x="6" y="10"/>
                  <a:pt x="6" y="10"/>
                  <a:pt x="6" y="10"/>
                </a:cubicBezTo>
                <a:cubicBezTo>
                  <a:pt x="6" y="10"/>
                  <a:pt x="5" y="10"/>
                  <a:pt x="5" y="10"/>
                </a:cubicBezTo>
                <a:cubicBezTo>
                  <a:pt x="5" y="10"/>
                  <a:pt x="5" y="10"/>
                  <a:pt x="5" y="10"/>
                </a:cubicBezTo>
                <a:cubicBezTo>
                  <a:pt x="4" y="10"/>
                  <a:pt x="4" y="10"/>
                  <a:pt x="4" y="10"/>
                </a:cubicBezTo>
                <a:cubicBezTo>
                  <a:pt x="3" y="10"/>
                  <a:pt x="2" y="10"/>
                  <a:pt x="2" y="10"/>
                </a:cubicBezTo>
                <a:cubicBezTo>
                  <a:pt x="1" y="10"/>
                  <a:pt x="1" y="11"/>
                  <a:pt x="1" y="12"/>
                </a:cubicBezTo>
                <a:cubicBezTo>
                  <a:pt x="0" y="15"/>
                  <a:pt x="2" y="17"/>
                  <a:pt x="4" y="17"/>
                </a:cubicBezTo>
                <a:cubicBezTo>
                  <a:pt x="4" y="17"/>
                  <a:pt x="4" y="17"/>
                  <a:pt x="4" y="17"/>
                </a:cubicBezTo>
                <a:cubicBezTo>
                  <a:pt x="24" y="17"/>
                  <a:pt x="43" y="16"/>
                  <a:pt x="63" y="16"/>
                </a:cubicBezTo>
                <a:cubicBezTo>
                  <a:pt x="65" y="16"/>
                  <a:pt x="67" y="16"/>
                  <a:pt x="70" y="16"/>
                </a:cubicBezTo>
                <a:cubicBezTo>
                  <a:pt x="87" y="16"/>
                  <a:pt x="105" y="16"/>
                  <a:pt x="122" y="17"/>
                </a:cubicBezTo>
                <a:cubicBezTo>
                  <a:pt x="133" y="18"/>
                  <a:pt x="143" y="19"/>
                  <a:pt x="153" y="19"/>
                </a:cubicBezTo>
                <a:cubicBezTo>
                  <a:pt x="183" y="20"/>
                  <a:pt x="183" y="20"/>
                  <a:pt x="183" y="20"/>
                </a:cubicBezTo>
                <a:cubicBezTo>
                  <a:pt x="203" y="20"/>
                  <a:pt x="224" y="21"/>
                  <a:pt x="244" y="22"/>
                </a:cubicBezTo>
                <a:cubicBezTo>
                  <a:pt x="265" y="22"/>
                  <a:pt x="285" y="23"/>
                  <a:pt x="305" y="24"/>
                </a:cubicBezTo>
                <a:cubicBezTo>
                  <a:pt x="336" y="26"/>
                  <a:pt x="336" y="26"/>
                  <a:pt x="336" y="26"/>
                </a:cubicBezTo>
                <a:cubicBezTo>
                  <a:pt x="346" y="26"/>
                  <a:pt x="361" y="28"/>
                  <a:pt x="375" y="28"/>
                </a:cubicBezTo>
                <a:cubicBezTo>
                  <a:pt x="416" y="31"/>
                  <a:pt x="448" y="31"/>
                  <a:pt x="489" y="32"/>
                </a:cubicBezTo>
                <a:cubicBezTo>
                  <a:pt x="530" y="34"/>
                  <a:pt x="571" y="35"/>
                  <a:pt x="612" y="36"/>
                </a:cubicBezTo>
                <a:cubicBezTo>
                  <a:pt x="629" y="36"/>
                  <a:pt x="647" y="36"/>
                  <a:pt x="665" y="36"/>
                </a:cubicBezTo>
                <a:cubicBezTo>
                  <a:pt x="679" y="36"/>
                  <a:pt x="693" y="36"/>
                  <a:pt x="707" y="36"/>
                </a:cubicBezTo>
                <a:cubicBezTo>
                  <a:pt x="750" y="36"/>
                  <a:pt x="750" y="36"/>
                  <a:pt x="750" y="36"/>
                </a:cubicBezTo>
                <a:cubicBezTo>
                  <a:pt x="792" y="35"/>
                  <a:pt x="792" y="35"/>
                  <a:pt x="792" y="35"/>
                </a:cubicBezTo>
                <a:cubicBezTo>
                  <a:pt x="821" y="34"/>
                  <a:pt x="850" y="33"/>
                  <a:pt x="879" y="32"/>
                </a:cubicBezTo>
                <a:cubicBezTo>
                  <a:pt x="921" y="30"/>
                  <a:pt x="921" y="30"/>
                  <a:pt x="921" y="30"/>
                </a:cubicBezTo>
                <a:cubicBezTo>
                  <a:pt x="937" y="30"/>
                  <a:pt x="953" y="29"/>
                  <a:pt x="969" y="27"/>
                </a:cubicBezTo>
                <a:cubicBezTo>
                  <a:pt x="973" y="26"/>
                  <a:pt x="979" y="25"/>
                  <a:pt x="982" y="22"/>
                </a:cubicBezTo>
                <a:cubicBezTo>
                  <a:pt x="984" y="20"/>
                  <a:pt x="986" y="17"/>
                  <a:pt x="987" y="15"/>
                </a:cubicBezTo>
                <a:cubicBezTo>
                  <a:pt x="989" y="13"/>
                  <a:pt x="990" y="10"/>
                  <a:pt x="989" y="8"/>
                </a:cubicBezTo>
                <a:cubicBezTo>
                  <a:pt x="988" y="4"/>
                  <a:pt x="985" y="3"/>
                  <a:pt x="982" y="2"/>
                </a:cubicBezTo>
                <a:cubicBezTo>
                  <a:pt x="975" y="0"/>
                  <a:pt x="968" y="0"/>
                  <a:pt x="962" y="0"/>
                </a:cubicBezTo>
                <a:cubicBezTo>
                  <a:pt x="934" y="0"/>
                  <a:pt x="934" y="0"/>
                  <a:pt x="934" y="0"/>
                </a:cubicBezTo>
                <a:cubicBezTo>
                  <a:pt x="930" y="0"/>
                  <a:pt x="926" y="0"/>
                  <a:pt x="922" y="0"/>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2" name="Content Placeholder 2">
            <a:extLst>
              <a:ext uri="{FF2B5EF4-FFF2-40B4-BE49-F238E27FC236}">
                <a16:creationId xmlns:a16="http://schemas.microsoft.com/office/drawing/2014/main" id="{8A378710-0B40-86B5-B2C6-AF290BD75FB3}"/>
              </a:ext>
            </a:extLst>
          </p:cNvPr>
          <p:cNvSpPr txBox="1">
            <a:spLocks/>
          </p:cNvSpPr>
          <p:nvPr/>
        </p:nvSpPr>
        <p:spPr>
          <a:xfrm>
            <a:off x="401032" y="716399"/>
            <a:ext cx="8510739" cy="1226941"/>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1600" b="1">
                <a:latin typeface="Calibri" panose="020F0502020204030204" pitchFamily="34" charset="0"/>
                <a:cs typeface="Calibri" panose="020F0502020204030204" pitchFamily="34" charset="0"/>
              </a:rPr>
              <a:t>c.</a:t>
            </a:r>
            <a:r>
              <a:rPr lang="en-US" sz="1600">
                <a:latin typeface="Calibri" panose="020F0502020204030204" pitchFamily="34" charset="0"/>
                <a:cs typeface="Calibri" panose="020F0502020204030204" pitchFamily="34" charset="0"/>
              </a:rPr>
              <a:t> </a:t>
            </a:r>
            <a:r>
              <a:rPr lang="en-US" sz="1600" b="1">
                <a:latin typeface="Calibri" panose="020F0502020204030204" pitchFamily="34" charset="0"/>
                <a:cs typeface="Calibri" panose="020F0502020204030204" pitchFamily="34" charset="0"/>
              </a:rPr>
              <a:t>Lỗi cần tránh</a:t>
            </a:r>
          </a:p>
        </p:txBody>
      </p:sp>
      <p:sp>
        <p:nvSpPr>
          <p:cNvPr id="15" name="Rectangle 14">
            <a:extLst>
              <a:ext uri="{FF2B5EF4-FFF2-40B4-BE49-F238E27FC236}">
                <a16:creationId xmlns:a16="http://schemas.microsoft.com/office/drawing/2014/main" id="{1E08D1DA-5820-9944-7266-2218896EEDC9}"/>
              </a:ext>
            </a:extLst>
          </p:cNvPr>
          <p:cNvSpPr/>
          <p:nvPr/>
        </p:nvSpPr>
        <p:spPr>
          <a:xfrm>
            <a:off x="2508124" y="1062043"/>
            <a:ext cx="1868557" cy="1226940"/>
          </a:xfrm>
          <a:prstGeom prst="rect">
            <a:avLst/>
          </a:prstGeom>
          <a:solidFill>
            <a:srgbClr val="00B050"/>
          </a:solid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bg1"/>
                </a:solidFill>
                <a:latin typeface="Calibri" panose="020F0502020204030204" pitchFamily="34" charset="0"/>
                <a:cs typeface="Calibri" panose="020F0502020204030204" pitchFamily="34" charset="0"/>
              </a:rPr>
              <a:t>Nên để tiêu đề cho trục tung, chỉnh sửa giá trị min max của trục tung gần với điểm ma của cột</a:t>
            </a:r>
            <a:endParaRPr lang="en-US" sz="1600">
              <a:solidFill>
                <a:schemeClr val="bg1"/>
              </a:solidFill>
            </a:endParaRPr>
          </a:p>
        </p:txBody>
      </p:sp>
      <p:sp>
        <p:nvSpPr>
          <p:cNvPr id="16" name="Rectangle 15">
            <a:extLst>
              <a:ext uri="{FF2B5EF4-FFF2-40B4-BE49-F238E27FC236}">
                <a16:creationId xmlns:a16="http://schemas.microsoft.com/office/drawing/2014/main" id="{CED86361-A7A3-3B4A-6FE5-46C0A190AC4C}"/>
              </a:ext>
            </a:extLst>
          </p:cNvPr>
          <p:cNvSpPr/>
          <p:nvPr/>
        </p:nvSpPr>
        <p:spPr>
          <a:xfrm>
            <a:off x="198781" y="1062040"/>
            <a:ext cx="1868557" cy="1226941"/>
          </a:xfrm>
          <a:prstGeom prst="rect">
            <a:avLst/>
          </a:prstGeom>
          <a:solidFill>
            <a:srgbClr val="FF0000"/>
          </a:solid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bg1"/>
                </a:solidFill>
                <a:latin typeface="Calibri" panose="020F0502020204030204" pitchFamily="34" charset="0"/>
                <a:cs typeface="Calibri" panose="020F0502020204030204" pitchFamily="34" charset="0"/>
              </a:rPr>
              <a:t>Trục tung không có tiêu đề, khoảng chia cột không phù hợp</a:t>
            </a:r>
          </a:p>
        </p:txBody>
      </p:sp>
      <p:sp>
        <p:nvSpPr>
          <p:cNvPr id="17" name="Rectangle 16">
            <a:extLst>
              <a:ext uri="{FF2B5EF4-FFF2-40B4-BE49-F238E27FC236}">
                <a16:creationId xmlns:a16="http://schemas.microsoft.com/office/drawing/2014/main" id="{4214962E-018D-E8FA-FFAB-2C7690030DAE}"/>
              </a:ext>
            </a:extLst>
          </p:cNvPr>
          <p:cNvSpPr/>
          <p:nvPr/>
        </p:nvSpPr>
        <p:spPr>
          <a:xfrm>
            <a:off x="7182680" y="1034007"/>
            <a:ext cx="1868557" cy="1254975"/>
          </a:xfrm>
          <a:prstGeom prst="rect">
            <a:avLst/>
          </a:prstGeom>
          <a:solidFill>
            <a:srgbClr val="00B050"/>
          </a:solid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bg1"/>
                </a:solidFill>
                <a:latin typeface="Calibri" panose="020F0502020204030204" pitchFamily="34" charset="0"/>
                <a:cs typeface="Calibri" panose="020F0502020204030204" pitchFamily="34" charset="0"/>
              </a:rPr>
              <a:t>Chọn màu sắc tương phản làm nổi bật ý nghĩa biểu đồ</a:t>
            </a:r>
            <a:endParaRPr lang="en-US" sz="1600">
              <a:solidFill>
                <a:schemeClr val="bg1"/>
              </a:solidFill>
            </a:endParaRPr>
          </a:p>
        </p:txBody>
      </p:sp>
      <p:sp>
        <p:nvSpPr>
          <p:cNvPr id="18" name="Rectangle 17">
            <a:extLst>
              <a:ext uri="{FF2B5EF4-FFF2-40B4-BE49-F238E27FC236}">
                <a16:creationId xmlns:a16="http://schemas.microsoft.com/office/drawing/2014/main" id="{B6FEFE62-E674-2F0F-5871-629A691C4B89}"/>
              </a:ext>
            </a:extLst>
          </p:cNvPr>
          <p:cNvSpPr/>
          <p:nvPr/>
        </p:nvSpPr>
        <p:spPr>
          <a:xfrm>
            <a:off x="4918526" y="1062040"/>
            <a:ext cx="1868557" cy="1226941"/>
          </a:xfrm>
          <a:prstGeom prst="rect">
            <a:avLst/>
          </a:prstGeom>
          <a:solidFill>
            <a:srgbClr val="FF0000"/>
          </a:solidFill>
          <a:ln w="127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bg1"/>
                </a:solidFill>
                <a:latin typeface="Calibri" panose="020F0502020204030204" pitchFamily="34" charset="0"/>
                <a:cs typeface="Calibri" panose="020F0502020204030204" pitchFamily="34" charset="0"/>
              </a:rPr>
              <a:t>Các thành phần có màu sắc gần giống nhau, khó quan sát</a:t>
            </a:r>
          </a:p>
        </p:txBody>
      </p:sp>
      <p:pic>
        <p:nvPicPr>
          <p:cNvPr id="5" name="Picture 4">
            <a:extLst>
              <a:ext uri="{FF2B5EF4-FFF2-40B4-BE49-F238E27FC236}">
                <a16:creationId xmlns:a16="http://schemas.microsoft.com/office/drawing/2014/main" id="{DEEB6772-98A2-BC7E-3EB2-2B11317A5AE5}"/>
              </a:ext>
            </a:extLst>
          </p:cNvPr>
          <p:cNvPicPr>
            <a:picLocks noChangeAspect="1"/>
          </p:cNvPicPr>
          <p:nvPr/>
        </p:nvPicPr>
        <p:blipFill>
          <a:blip r:embed="rId3"/>
          <a:stretch>
            <a:fillRect/>
          </a:stretch>
        </p:blipFill>
        <p:spPr>
          <a:xfrm>
            <a:off x="4572000" y="2747775"/>
            <a:ext cx="2126675" cy="1515760"/>
          </a:xfrm>
          <a:prstGeom prst="rect">
            <a:avLst/>
          </a:prstGeom>
        </p:spPr>
      </p:pic>
      <p:pic>
        <p:nvPicPr>
          <p:cNvPr id="12" name="Picture 11">
            <a:extLst>
              <a:ext uri="{FF2B5EF4-FFF2-40B4-BE49-F238E27FC236}">
                <a16:creationId xmlns:a16="http://schemas.microsoft.com/office/drawing/2014/main" id="{CCED0C31-37B1-2C01-4D74-76B20E602B95}"/>
              </a:ext>
            </a:extLst>
          </p:cNvPr>
          <p:cNvPicPr>
            <a:picLocks noChangeAspect="1"/>
          </p:cNvPicPr>
          <p:nvPr/>
        </p:nvPicPr>
        <p:blipFill>
          <a:blip r:embed="rId4"/>
          <a:stretch>
            <a:fillRect/>
          </a:stretch>
        </p:blipFill>
        <p:spPr>
          <a:xfrm>
            <a:off x="6974133" y="2726928"/>
            <a:ext cx="2080568" cy="1515760"/>
          </a:xfrm>
          <a:prstGeom prst="rect">
            <a:avLst/>
          </a:prstGeom>
        </p:spPr>
      </p:pic>
      <p:pic>
        <p:nvPicPr>
          <p:cNvPr id="14" name="Picture 13">
            <a:extLst>
              <a:ext uri="{FF2B5EF4-FFF2-40B4-BE49-F238E27FC236}">
                <a16:creationId xmlns:a16="http://schemas.microsoft.com/office/drawing/2014/main" id="{673E91B0-BB8A-9144-81D4-7CC29899F9DE}"/>
              </a:ext>
            </a:extLst>
          </p:cNvPr>
          <p:cNvPicPr>
            <a:picLocks noChangeAspect="1"/>
          </p:cNvPicPr>
          <p:nvPr/>
        </p:nvPicPr>
        <p:blipFill>
          <a:blip r:embed="rId5"/>
          <a:stretch>
            <a:fillRect/>
          </a:stretch>
        </p:blipFill>
        <p:spPr>
          <a:xfrm>
            <a:off x="5443173" y="2442932"/>
            <a:ext cx="409632" cy="304843"/>
          </a:xfrm>
          <a:prstGeom prst="rect">
            <a:avLst/>
          </a:prstGeom>
        </p:spPr>
      </p:pic>
      <p:pic>
        <p:nvPicPr>
          <p:cNvPr id="20" name="Picture 19">
            <a:extLst>
              <a:ext uri="{FF2B5EF4-FFF2-40B4-BE49-F238E27FC236}">
                <a16:creationId xmlns:a16="http://schemas.microsoft.com/office/drawing/2014/main" id="{1DBD6789-26B0-4876-134B-157DE4B1B76D}"/>
              </a:ext>
            </a:extLst>
          </p:cNvPr>
          <p:cNvPicPr>
            <a:picLocks noChangeAspect="1"/>
          </p:cNvPicPr>
          <p:nvPr/>
        </p:nvPicPr>
        <p:blipFill>
          <a:blip r:embed="rId6"/>
          <a:stretch>
            <a:fillRect/>
          </a:stretch>
        </p:blipFill>
        <p:spPr>
          <a:xfrm>
            <a:off x="7800074" y="2479243"/>
            <a:ext cx="428685" cy="247685"/>
          </a:xfrm>
          <a:prstGeom prst="rect">
            <a:avLst/>
          </a:prstGeom>
        </p:spPr>
      </p:pic>
      <p:pic>
        <p:nvPicPr>
          <p:cNvPr id="22" name="Picture 21">
            <a:extLst>
              <a:ext uri="{FF2B5EF4-FFF2-40B4-BE49-F238E27FC236}">
                <a16:creationId xmlns:a16="http://schemas.microsoft.com/office/drawing/2014/main" id="{290FCB83-2F44-44CB-8FAF-B7B4D10F80D8}"/>
              </a:ext>
            </a:extLst>
          </p:cNvPr>
          <p:cNvPicPr>
            <a:picLocks noChangeAspect="1"/>
          </p:cNvPicPr>
          <p:nvPr/>
        </p:nvPicPr>
        <p:blipFill>
          <a:blip r:embed="rId7"/>
          <a:stretch>
            <a:fillRect/>
          </a:stretch>
        </p:blipFill>
        <p:spPr>
          <a:xfrm>
            <a:off x="46989" y="2747732"/>
            <a:ext cx="2193434" cy="2427098"/>
          </a:xfrm>
          <a:prstGeom prst="rect">
            <a:avLst/>
          </a:prstGeom>
        </p:spPr>
      </p:pic>
      <p:pic>
        <p:nvPicPr>
          <p:cNvPr id="24" name="Picture 23">
            <a:extLst>
              <a:ext uri="{FF2B5EF4-FFF2-40B4-BE49-F238E27FC236}">
                <a16:creationId xmlns:a16="http://schemas.microsoft.com/office/drawing/2014/main" id="{4C872C62-CEFD-815D-AA6F-D4EC639169AB}"/>
              </a:ext>
            </a:extLst>
          </p:cNvPr>
          <p:cNvPicPr>
            <a:picLocks noChangeAspect="1"/>
          </p:cNvPicPr>
          <p:nvPr/>
        </p:nvPicPr>
        <p:blipFill>
          <a:blip r:embed="rId8"/>
          <a:stretch>
            <a:fillRect/>
          </a:stretch>
        </p:blipFill>
        <p:spPr>
          <a:xfrm>
            <a:off x="2601865" y="2843831"/>
            <a:ext cx="1751103" cy="2245004"/>
          </a:xfrm>
          <a:prstGeom prst="rect">
            <a:avLst/>
          </a:prstGeom>
        </p:spPr>
      </p:pic>
      <p:pic>
        <p:nvPicPr>
          <p:cNvPr id="25" name="Picture 24">
            <a:extLst>
              <a:ext uri="{FF2B5EF4-FFF2-40B4-BE49-F238E27FC236}">
                <a16:creationId xmlns:a16="http://schemas.microsoft.com/office/drawing/2014/main" id="{FADE9315-00B2-3A46-C7E0-E4FD73A96E1A}"/>
              </a:ext>
            </a:extLst>
          </p:cNvPr>
          <p:cNvPicPr>
            <a:picLocks noChangeAspect="1"/>
          </p:cNvPicPr>
          <p:nvPr/>
        </p:nvPicPr>
        <p:blipFill>
          <a:blip r:embed="rId5"/>
          <a:stretch>
            <a:fillRect/>
          </a:stretch>
        </p:blipFill>
        <p:spPr>
          <a:xfrm>
            <a:off x="851296" y="2449560"/>
            <a:ext cx="409632" cy="304843"/>
          </a:xfrm>
          <a:prstGeom prst="rect">
            <a:avLst/>
          </a:prstGeom>
        </p:spPr>
      </p:pic>
      <p:pic>
        <p:nvPicPr>
          <p:cNvPr id="26" name="Picture 25">
            <a:extLst>
              <a:ext uri="{FF2B5EF4-FFF2-40B4-BE49-F238E27FC236}">
                <a16:creationId xmlns:a16="http://schemas.microsoft.com/office/drawing/2014/main" id="{E2A8FABE-702C-C59D-6AB2-122705A35729}"/>
              </a:ext>
            </a:extLst>
          </p:cNvPr>
          <p:cNvPicPr>
            <a:picLocks noChangeAspect="1"/>
          </p:cNvPicPr>
          <p:nvPr/>
        </p:nvPicPr>
        <p:blipFill>
          <a:blip r:embed="rId6"/>
          <a:stretch>
            <a:fillRect/>
          </a:stretch>
        </p:blipFill>
        <p:spPr>
          <a:xfrm>
            <a:off x="3208193" y="2485871"/>
            <a:ext cx="428685" cy="247685"/>
          </a:xfrm>
          <a:prstGeom prst="rect">
            <a:avLst/>
          </a:prstGeom>
        </p:spPr>
      </p:pic>
    </p:spTree>
    <p:extLst>
      <p:ext uri="{BB962C8B-B14F-4D97-AF65-F5344CB8AC3E}">
        <p14:creationId xmlns:p14="http://schemas.microsoft.com/office/powerpoint/2010/main" val="31061115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4"/>
          </p:nvPr>
        </p:nvSpPr>
        <p:spPr>
          <a:prstGeom prst="rect">
            <a:avLst/>
          </a:prstGeom>
        </p:spPr>
        <p:txBody>
          <a:bodyPr vert="horz" lIns="0" tIns="0" rIns="0" bIns="0" rtlCol="0" anchor="ctr" anchorCtr="0"/>
          <a:lstStyle>
            <a:lvl1pPr algn="r">
              <a:defRPr sz="1800">
                <a:solidFill>
                  <a:schemeClr val="tx1"/>
                </a:solidFill>
              </a:defRPr>
            </a:lvl1pPr>
          </a:lstStyle>
          <a:p>
            <a:fld id="{A3381702-59A5-4643-AE93-D7BF7F78153B}" type="slidenum">
              <a:rPr lang="en-GB" smtClean="0"/>
              <a:pPr/>
              <a:t>34</a:t>
            </a:fld>
            <a:endParaRPr lang="en-GB" dirty="0"/>
          </a:p>
        </p:txBody>
      </p:sp>
      <p:sp>
        <p:nvSpPr>
          <p:cNvPr id="8" name="Footer Placeholder 4"/>
          <p:cNvSpPr>
            <a:spLocks noGrp="1"/>
          </p:cNvSpPr>
          <p:nvPr>
            <p:ph type="ftr" sz="quarter" idx="3"/>
          </p:nvPr>
        </p:nvSpPr>
        <p:spPr>
          <a:prstGeom prst="rect">
            <a:avLst/>
          </a:prstGeom>
        </p:spPr>
        <p:txBody>
          <a:bodyPr vert="horz" lIns="0" tIns="0" rIns="0" bIns="0" rtlCol="0" anchor="t" anchorCtr="0"/>
          <a:lstStyle>
            <a:lvl1pPr algn="r">
              <a:defRPr sz="700">
                <a:solidFill>
                  <a:schemeClr val="tx1"/>
                </a:solidFill>
                <a:latin typeface="+mn-lt"/>
              </a:defRPr>
            </a:lvl1pPr>
          </a:lstStyle>
          <a:p>
            <a:r>
              <a:rPr lang="fr-FR" altLang="ja-JP" dirty="0"/>
              <a:t>©20</a:t>
            </a:r>
            <a:r>
              <a:rPr lang="en-US" altLang="ja-JP" dirty="0"/>
              <a:t>23</a:t>
            </a:r>
            <a:r>
              <a:rPr lang="fr-FR" altLang="ja-JP" dirty="0"/>
              <a:t> KYOCERA Document Solutions Inc.</a:t>
            </a:r>
            <a:endParaRPr lang="en-GB" dirty="0"/>
          </a:p>
        </p:txBody>
      </p:sp>
      <p:sp>
        <p:nvSpPr>
          <p:cNvPr id="4" name="Rectangle 3">
            <a:extLst>
              <a:ext uri="{FF2B5EF4-FFF2-40B4-BE49-F238E27FC236}">
                <a16:creationId xmlns:a16="http://schemas.microsoft.com/office/drawing/2014/main" id="{0BAEFD46-8DC5-BB64-F040-FD68EE6A7C2D}"/>
              </a:ext>
            </a:extLst>
          </p:cNvPr>
          <p:cNvSpPr/>
          <p:nvPr/>
        </p:nvSpPr>
        <p:spPr>
          <a:xfrm>
            <a:off x="295745" y="40624"/>
            <a:ext cx="8722810" cy="6207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nSpc>
                <a:spcPct val="107000"/>
              </a:lnSpc>
              <a:spcBef>
                <a:spcPts val="0"/>
              </a:spcBef>
              <a:spcAft>
                <a:spcPts val="800"/>
              </a:spcAft>
              <a:tabLst>
                <a:tab pos="457200" algn="l"/>
              </a:tabLst>
            </a:pPr>
            <a:r>
              <a:rPr lang="en-US" sz="2200" b="1">
                <a:solidFill>
                  <a:schemeClr val="tx1"/>
                </a:solidFill>
                <a:effectLst/>
                <a:latin typeface="Calibri" panose="020F0502020204030204" pitchFamily="34" charset="0"/>
                <a:ea typeface="游明朝" panose="02020400000000000000" pitchFamily="18" charset="-128"/>
                <a:cs typeface="Times New Roman" panose="02020603050405020304" pitchFamily="18" charset="0"/>
              </a:rPr>
              <a:t>5. TÀI LIỆU ĐÍNH KÈM</a:t>
            </a:r>
            <a:endParaRPr lang="en-US" sz="2200">
              <a:solidFill>
                <a:schemeClr val="tx1"/>
              </a:solidFill>
              <a:effectLst/>
              <a:latin typeface="Calibri" panose="020F0502020204030204" pitchFamily="34" charset="0"/>
              <a:ea typeface="游明朝" panose="02020400000000000000" pitchFamily="18" charset="-128"/>
              <a:cs typeface="Times New Roman" panose="02020603050405020304" pitchFamily="18" charset="0"/>
            </a:endParaRPr>
          </a:p>
        </p:txBody>
      </p:sp>
      <p:sp>
        <p:nvSpPr>
          <p:cNvPr id="6" name="Freeform 34">
            <a:extLst>
              <a:ext uri="{FF2B5EF4-FFF2-40B4-BE49-F238E27FC236}">
                <a16:creationId xmlns:a16="http://schemas.microsoft.com/office/drawing/2014/main" id="{E988D51C-281C-0FC1-508D-073F501DA6DF}"/>
              </a:ext>
            </a:extLst>
          </p:cNvPr>
          <p:cNvSpPr>
            <a:spLocks noChangeAspect="1"/>
          </p:cNvSpPr>
          <p:nvPr/>
        </p:nvSpPr>
        <p:spPr bwMode="auto">
          <a:xfrm rot="10800000" flipV="1">
            <a:off x="509368" y="536909"/>
            <a:ext cx="1655684" cy="47957"/>
          </a:xfrm>
          <a:custGeom>
            <a:avLst/>
            <a:gdLst>
              <a:gd name="T0" fmla="*/ 922 w 990"/>
              <a:gd name="T1" fmla="*/ 0 h 36"/>
              <a:gd name="T2" fmla="*/ 907 w 990"/>
              <a:gd name="T3" fmla="*/ 0 h 36"/>
              <a:gd name="T4" fmla="*/ 880 w 990"/>
              <a:gd name="T5" fmla="*/ 1 h 36"/>
              <a:gd name="T6" fmla="*/ 839 w 990"/>
              <a:gd name="T7" fmla="*/ 3 h 36"/>
              <a:gd name="T8" fmla="*/ 818 w 990"/>
              <a:gd name="T9" fmla="*/ 3 h 36"/>
              <a:gd name="T10" fmla="*/ 798 w 990"/>
              <a:gd name="T11" fmla="*/ 4 h 36"/>
              <a:gd name="T12" fmla="*/ 757 w 990"/>
              <a:gd name="T13" fmla="*/ 5 h 36"/>
              <a:gd name="T14" fmla="*/ 718 w 990"/>
              <a:gd name="T15" fmla="*/ 5 h 36"/>
              <a:gd name="T16" fmla="*/ 662 w 990"/>
              <a:gd name="T17" fmla="*/ 5 h 36"/>
              <a:gd name="T18" fmla="*/ 540 w 990"/>
              <a:gd name="T19" fmla="*/ 4 h 36"/>
              <a:gd name="T20" fmla="*/ 512 w 990"/>
              <a:gd name="T21" fmla="*/ 4 h 36"/>
              <a:gd name="T22" fmla="*/ 511 w 990"/>
              <a:gd name="T23" fmla="*/ 4 h 36"/>
              <a:gd name="T24" fmla="*/ 484 w 990"/>
              <a:gd name="T25" fmla="*/ 5 h 36"/>
              <a:gd name="T26" fmla="*/ 419 w 990"/>
              <a:gd name="T27" fmla="*/ 5 h 36"/>
              <a:gd name="T28" fmla="*/ 353 w 990"/>
              <a:gd name="T29" fmla="*/ 7 h 36"/>
              <a:gd name="T30" fmla="*/ 350 w 990"/>
              <a:gd name="T31" fmla="*/ 7 h 36"/>
              <a:gd name="T32" fmla="*/ 288 w 990"/>
              <a:gd name="T33" fmla="*/ 5 h 36"/>
              <a:gd name="T34" fmla="*/ 265 w 990"/>
              <a:gd name="T35" fmla="*/ 4 h 36"/>
              <a:gd name="T36" fmla="*/ 244 w 990"/>
              <a:gd name="T37" fmla="*/ 4 h 36"/>
              <a:gd name="T38" fmla="*/ 224 w 990"/>
              <a:gd name="T39" fmla="*/ 4 h 36"/>
              <a:gd name="T40" fmla="*/ 223 w 990"/>
              <a:gd name="T41" fmla="*/ 4 h 36"/>
              <a:gd name="T42" fmla="*/ 222 w 990"/>
              <a:gd name="T43" fmla="*/ 4 h 36"/>
              <a:gd name="T44" fmla="*/ 190 w 990"/>
              <a:gd name="T45" fmla="*/ 4 h 36"/>
              <a:gd name="T46" fmla="*/ 158 w 990"/>
              <a:gd name="T47" fmla="*/ 4 h 36"/>
              <a:gd name="T48" fmla="*/ 157 w 990"/>
              <a:gd name="T49" fmla="*/ 4 h 36"/>
              <a:gd name="T50" fmla="*/ 91 w 990"/>
              <a:gd name="T51" fmla="*/ 5 h 36"/>
              <a:gd name="T52" fmla="*/ 58 w 990"/>
              <a:gd name="T53" fmla="*/ 6 h 36"/>
              <a:gd name="T54" fmla="*/ 26 w 990"/>
              <a:gd name="T55" fmla="*/ 8 h 36"/>
              <a:gd name="T56" fmla="*/ 10 w 990"/>
              <a:gd name="T57" fmla="*/ 10 h 36"/>
              <a:gd name="T58" fmla="*/ 6 w 990"/>
              <a:gd name="T59" fmla="*/ 10 h 36"/>
              <a:gd name="T60" fmla="*/ 5 w 990"/>
              <a:gd name="T61" fmla="*/ 10 h 36"/>
              <a:gd name="T62" fmla="*/ 5 w 990"/>
              <a:gd name="T63" fmla="*/ 10 h 36"/>
              <a:gd name="T64" fmla="*/ 4 w 990"/>
              <a:gd name="T65" fmla="*/ 10 h 36"/>
              <a:gd name="T66" fmla="*/ 2 w 990"/>
              <a:gd name="T67" fmla="*/ 10 h 36"/>
              <a:gd name="T68" fmla="*/ 1 w 990"/>
              <a:gd name="T69" fmla="*/ 12 h 36"/>
              <a:gd name="T70" fmla="*/ 4 w 990"/>
              <a:gd name="T71" fmla="*/ 17 h 36"/>
              <a:gd name="T72" fmla="*/ 4 w 990"/>
              <a:gd name="T73" fmla="*/ 17 h 36"/>
              <a:gd name="T74" fmla="*/ 63 w 990"/>
              <a:gd name="T75" fmla="*/ 16 h 36"/>
              <a:gd name="T76" fmla="*/ 70 w 990"/>
              <a:gd name="T77" fmla="*/ 16 h 36"/>
              <a:gd name="T78" fmla="*/ 122 w 990"/>
              <a:gd name="T79" fmla="*/ 17 h 36"/>
              <a:gd name="T80" fmla="*/ 153 w 990"/>
              <a:gd name="T81" fmla="*/ 19 h 36"/>
              <a:gd name="T82" fmla="*/ 183 w 990"/>
              <a:gd name="T83" fmla="*/ 20 h 36"/>
              <a:gd name="T84" fmla="*/ 244 w 990"/>
              <a:gd name="T85" fmla="*/ 22 h 36"/>
              <a:gd name="T86" fmla="*/ 305 w 990"/>
              <a:gd name="T87" fmla="*/ 24 h 36"/>
              <a:gd name="T88" fmla="*/ 336 w 990"/>
              <a:gd name="T89" fmla="*/ 26 h 36"/>
              <a:gd name="T90" fmla="*/ 375 w 990"/>
              <a:gd name="T91" fmla="*/ 28 h 36"/>
              <a:gd name="T92" fmla="*/ 489 w 990"/>
              <a:gd name="T93" fmla="*/ 32 h 36"/>
              <a:gd name="T94" fmla="*/ 612 w 990"/>
              <a:gd name="T95" fmla="*/ 36 h 36"/>
              <a:gd name="T96" fmla="*/ 665 w 990"/>
              <a:gd name="T97" fmla="*/ 36 h 36"/>
              <a:gd name="T98" fmla="*/ 707 w 990"/>
              <a:gd name="T99" fmla="*/ 36 h 36"/>
              <a:gd name="T100" fmla="*/ 750 w 990"/>
              <a:gd name="T101" fmla="*/ 36 h 36"/>
              <a:gd name="T102" fmla="*/ 792 w 990"/>
              <a:gd name="T103" fmla="*/ 35 h 36"/>
              <a:gd name="T104" fmla="*/ 879 w 990"/>
              <a:gd name="T105" fmla="*/ 32 h 36"/>
              <a:gd name="T106" fmla="*/ 921 w 990"/>
              <a:gd name="T107" fmla="*/ 30 h 36"/>
              <a:gd name="T108" fmla="*/ 969 w 990"/>
              <a:gd name="T109" fmla="*/ 27 h 36"/>
              <a:gd name="T110" fmla="*/ 982 w 990"/>
              <a:gd name="T111" fmla="*/ 22 h 36"/>
              <a:gd name="T112" fmla="*/ 987 w 990"/>
              <a:gd name="T113" fmla="*/ 15 h 36"/>
              <a:gd name="T114" fmla="*/ 989 w 990"/>
              <a:gd name="T115" fmla="*/ 8 h 36"/>
              <a:gd name="T116" fmla="*/ 982 w 990"/>
              <a:gd name="T117" fmla="*/ 2 h 36"/>
              <a:gd name="T118" fmla="*/ 962 w 990"/>
              <a:gd name="T119" fmla="*/ 0 h 36"/>
              <a:gd name="T120" fmla="*/ 934 w 990"/>
              <a:gd name="T121" fmla="*/ 0 h 36"/>
              <a:gd name="T122" fmla="*/ 922 w 990"/>
              <a:gd name="T1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0" h="36">
                <a:moveTo>
                  <a:pt x="922" y="0"/>
                </a:moveTo>
                <a:cubicBezTo>
                  <a:pt x="917" y="0"/>
                  <a:pt x="912" y="0"/>
                  <a:pt x="907" y="0"/>
                </a:cubicBezTo>
                <a:cubicBezTo>
                  <a:pt x="898" y="0"/>
                  <a:pt x="889" y="1"/>
                  <a:pt x="880" y="1"/>
                </a:cubicBezTo>
                <a:cubicBezTo>
                  <a:pt x="839" y="3"/>
                  <a:pt x="839" y="3"/>
                  <a:pt x="839" y="3"/>
                </a:cubicBezTo>
                <a:cubicBezTo>
                  <a:pt x="818" y="3"/>
                  <a:pt x="818" y="3"/>
                  <a:pt x="818" y="3"/>
                </a:cubicBezTo>
                <a:cubicBezTo>
                  <a:pt x="798" y="4"/>
                  <a:pt x="798" y="4"/>
                  <a:pt x="798" y="4"/>
                </a:cubicBezTo>
                <a:cubicBezTo>
                  <a:pt x="757" y="5"/>
                  <a:pt x="757" y="5"/>
                  <a:pt x="757" y="5"/>
                </a:cubicBezTo>
                <a:cubicBezTo>
                  <a:pt x="744" y="5"/>
                  <a:pt x="731" y="5"/>
                  <a:pt x="718" y="5"/>
                </a:cubicBezTo>
                <a:cubicBezTo>
                  <a:pt x="699" y="5"/>
                  <a:pt x="681" y="5"/>
                  <a:pt x="662" y="5"/>
                </a:cubicBezTo>
                <a:cubicBezTo>
                  <a:pt x="540" y="4"/>
                  <a:pt x="540" y="4"/>
                  <a:pt x="540" y="4"/>
                </a:cubicBezTo>
                <a:cubicBezTo>
                  <a:pt x="512" y="4"/>
                  <a:pt x="512" y="4"/>
                  <a:pt x="512" y="4"/>
                </a:cubicBezTo>
                <a:cubicBezTo>
                  <a:pt x="512" y="4"/>
                  <a:pt x="511" y="4"/>
                  <a:pt x="511" y="4"/>
                </a:cubicBezTo>
                <a:cubicBezTo>
                  <a:pt x="502" y="4"/>
                  <a:pt x="493" y="4"/>
                  <a:pt x="484" y="5"/>
                </a:cubicBezTo>
                <a:cubicBezTo>
                  <a:pt x="462" y="5"/>
                  <a:pt x="441" y="5"/>
                  <a:pt x="419" y="5"/>
                </a:cubicBezTo>
                <a:cubicBezTo>
                  <a:pt x="397" y="6"/>
                  <a:pt x="375" y="7"/>
                  <a:pt x="353" y="7"/>
                </a:cubicBezTo>
                <a:cubicBezTo>
                  <a:pt x="352" y="7"/>
                  <a:pt x="351" y="7"/>
                  <a:pt x="350" y="7"/>
                </a:cubicBezTo>
                <a:cubicBezTo>
                  <a:pt x="330" y="7"/>
                  <a:pt x="309" y="5"/>
                  <a:pt x="288" y="5"/>
                </a:cubicBezTo>
                <a:cubicBezTo>
                  <a:pt x="280" y="4"/>
                  <a:pt x="272" y="4"/>
                  <a:pt x="265" y="4"/>
                </a:cubicBezTo>
                <a:cubicBezTo>
                  <a:pt x="258" y="4"/>
                  <a:pt x="251" y="4"/>
                  <a:pt x="244" y="4"/>
                </a:cubicBezTo>
                <a:cubicBezTo>
                  <a:pt x="237" y="4"/>
                  <a:pt x="230" y="4"/>
                  <a:pt x="224" y="4"/>
                </a:cubicBezTo>
                <a:cubicBezTo>
                  <a:pt x="223" y="4"/>
                  <a:pt x="223" y="4"/>
                  <a:pt x="223" y="4"/>
                </a:cubicBezTo>
                <a:cubicBezTo>
                  <a:pt x="223" y="4"/>
                  <a:pt x="222" y="4"/>
                  <a:pt x="222" y="4"/>
                </a:cubicBezTo>
                <a:cubicBezTo>
                  <a:pt x="212" y="4"/>
                  <a:pt x="201" y="4"/>
                  <a:pt x="190" y="4"/>
                </a:cubicBezTo>
                <a:cubicBezTo>
                  <a:pt x="180" y="4"/>
                  <a:pt x="169" y="4"/>
                  <a:pt x="158" y="4"/>
                </a:cubicBezTo>
                <a:cubicBezTo>
                  <a:pt x="158" y="4"/>
                  <a:pt x="157" y="4"/>
                  <a:pt x="157" y="4"/>
                </a:cubicBezTo>
                <a:cubicBezTo>
                  <a:pt x="135" y="4"/>
                  <a:pt x="113" y="4"/>
                  <a:pt x="91" y="5"/>
                </a:cubicBezTo>
                <a:cubicBezTo>
                  <a:pt x="80" y="5"/>
                  <a:pt x="69" y="6"/>
                  <a:pt x="58" y="6"/>
                </a:cubicBezTo>
                <a:cubicBezTo>
                  <a:pt x="48" y="6"/>
                  <a:pt x="37" y="7"/>
                  <a:pt x="26" y="8"/>
                </a:cubicBezTo>
                <a:cubicBezTo>
                  <a:pt x="10" y="10"/>
                  <a:pt x="10" y="10"/>
                  <a:pt x="10" y="10"/>
                </a:cubicBezTo>
                <a:cubicBezTo>
                  <a:pt x="6" y="10"/>
                  <a:pt x="6" y="10"/>
                  <a:pt x="6" y="10"/>
                </a:cubicBezTo>
                <a:cubicBezTo>
                  <a:pt x="6" y="10"/>
                  <a:pt x="5" y="10"/>
                  <a:pt x="5" y="10"/>
                </a:cubicBezTo>
                <a:cubicBezTo>
                  <a:pt x="5" y="10"/>
                  <a:pt x="5" y="10"/>
                  <a:pt x="5" y="10"/>
                </a:cubicBezTo>
                <a:cubicBezTo>
                  <a:pt x="4" y="10"/>
                  <a:pt x="4" y="10"/>
                  <a:pt x="4" y="10"/>
                </a:cubicBezTo>
                <a:cubicBezTo>
                  <a:pt x="3" y="10"/>
                  <a:pt x="2" y="10"/>
                  <a:pt x="2" y="10"/>
                </a:cubicBezTo>
                <a:cubicBezTo>
                  <a:pt x="1" y="10"/>
                  <a:pt x="1" y="11"/>
                  <a:pt x="1" y="12"/>
                </a:cubicBezTo>
                <a:cubicBezTo>
                  <a:pt x="0" y="15"/>
                  <a:pt x="2" y="17"/>
                  <a:pt x="4" y="17"/>
                </a:cubicBezTo>
                <a:cubicBezTo>
                  <a:pt x="4" y="17"/>
                  <a:pt x="4" y="17"/>
                  <a:pt x="4" y="17"/>
                </a:cubicBezTo>
                <a:cubicBezTo>
                  <a:pt x="24" y="17"/>
                  <a:pt x="43" y="16"/>
                  <a:pt x="63" y="16"/>
                </a:cubicBezTo>
                <a:cubicBezTo>
                  <a:pt x="65" y="16"/>
                  <a:pt x="67" y="16"/>
                  <a:pt x="70" y="16"/>
                </a:cubicBezTo>
                <a:cubicBezTo>
                  <a:pt x="87" y="16"/>
                  <a:pt x="105" y="16"/>
                  <a:pt x="122" y="17"/>
                </a:cubicBezTo>
                <a:cubicBezTo>
                  <a:pt x="133" y="18"/>
                  <a:pt x="143" y="19"/>
                  <a:pt x="153" y="19"/>
                </a:cubicBezTo>
                <a:cubicBezTo>
                  <a:pt x="183" y="20"/>
                  <a:pt x="183" y="20"/>
                  <a:pt x="183" y="20"/>
                </a:cubicBezTo>
                <a:cubicBezTo>
                  <a:pt x="203" y="20"/>
                  <a:pt x="224" y="21"/>
                  <a:pt x="244" y="22"/>
                </a:cubicBezTo>
                <a:cubicBezTo>
                  <a:pt x="265" y="22"/>
                  <a:pt x="285" y="23"/>
                  <a:pt x="305" y="24"/>
                </a:cubicBezTo>
                <a:cubicBezTo>
                  <a:pt x="336" y="26"/>
                  <a:pt x="336" y="26"/>
                  <a:pt x="336" y="26"/>
                </a:cubicBezTo>
                <a:cubicBezTo>
                  <a:pt x="346" y="26"/>
                  <a:pt x="361" y="28"/>
                  <a:pt x="375" y="28"/>
                </a:cubicBezTo>
                <a:cubicBezTo>
                  <a:pt x="416" y="31"/>
                  <a:pt x="448" y="31"/>
                  <a:pt x="489" y="32"/>
                </a:cubicBezTo>
                <a:cubicBezTo>
                  <a:pt x="530" y="34"/>
                  <a:pt x="571" y="35"/>
                  <a:pt x="612" y="36"/>
                </a:cubicBezTo>
                <a:cubicBezTo>
                  <a:pt x="629" y="36"/>
                  <a:pt x="647" y="36"/>
                  <a:pt x="665" y="36"/>
                </a:cubicBezTo>
                <a:cubicBezTo>
                  <a:pt x="679" y="36"/>
                  <a:pt x="693" y="36"/>
                  <a:pt x="707" y="36"/>
                </a:cubicBezTo>
                <a:cubicBezTo>
                  <a:pt x="750" y="36"/>
                  <a:pt x="750" y="36"/>
                  <a:pt x="750" y="36"/>
                </a:cubicBezTo>
                <a:cubicBezTo>
                  <a:pt x="792" y="35"/>
                  <a:pt x="792" y="35"/>
                  <a:pt x="792" y="35"/>
                </a:cubicBezTo>
                <a:cubicBezTo>
                  <a:pt x="821" y="34"/>
                  <a:pt x="850" y="33"/>
                  <a:pt x="879" y="32"/>
                </a:cubicBezTo>
                <a:cubicBezTo>
                  <a:pt x="921" y="30"/>
                  <a:pt x="921" y="30"/>
                  <a:pt x="921" y="30"/>
                </a:cubicBezTo>
                <a:cubicBezTo>
                  <a:pt x="937" y="30"/>
                  <a:pt x="953" y="29"/>
                  <a:pt x="969" y="27"/>
                </a:cubicBezTo>
                <a:cubicBezTo>
                  <a:pt x="973" y="26"/>
                  <a:pt x="979" y="25"/>
                  <a:pt x="982" y="22"/>
                </a:cubicBezTo>
                <a:cubicBezTo>
                  <a:pt x="984" y="20"/>
                  <a:pt x="986" y="17"/>
                  <a:pt x="987" y="15"/>
                </a:cubicBezTo>
                <a:cubicBezTo>
                  <a:pt x="989" y="13"/>
                  <a:pt x="990" y="10"/>
                  <a:pt x="989" y="8"/>
                </a:cubicBezTo>
                <a:cubicBezTo>
                  <a:pt x="988" y="4"/>
                  <a:pt x="985" y="3"/>
                  <a:pt x="982" y="2"/>
                </a:cubicBezTo>
                <a:cubicBezTo>
                  <a:pt x="975" y="0"/>
                  <a:pt x="968" y="0"/>
                  <a:pt x="962" y="0"/>
                </a:cubicBezTo>
                <a:cubicBezTo>
                  <a:pt x="934" y="0"/>
                  <a:pt x="934" y="0"/>
                  <a:pt x="934" y="0"/>
                </a:cubicBezTo>
                <a:cubicBezTo>
                  <a:pt x="930" y="0"/>
                  <a:pt x="926" y="0"/>
                  <a:pt x="922" y="0"/>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a:p>
        </p:txBody>
      </p:sp>
      <p:sp>
        <p:nvSpPr>
          <p:cNvPr id="2" name="Content Placeholder 2">
            <a:extLst>
              <a:ext uri="{FF2B5EF4-FFF2-40B4-BE49-F238E27FC236}">
                <a16:creationId xmlns:a16="http://schemas.microsoft.com/office/drawing/2014/main" id="{8A378710-0B40-86B5-B2C6-AF290BD75FB3}"/>
              </a:ext>
            </a:extLst>
          </p:cNvPr>
          <p:cNvSpPr txBox="1">
            <a:spLocks/>
          </p:cNvSpPr>
          <p:nvPr/>
        </p:nvSpPr>
        <p:spPr>
          <a:xfrm>
            <a:off x="401032" y="716399"/>
            <a:ext cx="8510739" cy="1226941"/>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sz="1600">
                <a:latin typeface="Calibri" panose="020F0502020204030204" pitchFamily="34" charset="0"/>
                <a:cs typeface="Calibri" panose="020F0502020204030204" pitchFamily="34" charset="0"/>
              </a:rPr>
              <a:t>Các biểu đồ ví dụ trong slide được trình bày trong file excel dưới đây.</a:t>
            </a:r>
          </a:p>
        </p:txBody>
      </p:sp>
      <p:graphicFrame>
        <p:nvGraphicFramePr>
          <p:cNvPr id="5" name="Object 4">
            <a:extLst>
              <a:ext uri="{FF2B5EF4-FFF2-40B4-BE49-F238E27FC236}">
                <a16:creationId xmlns:a16="http://schemas.microsoft.com/office/drawing/2014/main" id="{CA502931-2549-2922-182A-94D9E2EEE59B}"/>
              </a:ext>
            </a:extLst>
          </p:cNvPr>
          <p:cNvGraphicFramePr>
            <a:graphicFrameLocks noChangeAspect="1"/>
          </p:cNvGraphicFramePr>
          <p:nvPr>
            <p:extLst>
              <p:ext uri="{D42A27DB-BD31-4B8C-83A1-F6EECF244321}">
                <p14:modId xmlns:p14="http://schemas.microsoft.com/office/powerpoint/2010/main" val="1758482913"/>
              </p:ext>
            </p:extLst>
          </p:nvPr>
        </p:nvGraphicFramePr>
        <p:xfrm>
          <a:off x="3728892" y="1329869"/>
          <a:ext cx="1686216" cy="1422745"/>
        </p:xfrm>
        <a:graphic>
          <a:graphicData uri="http://schemas.openxmlformats.org/presentationml/2006/ole">
            <mc:AlternateContent xmlns:mc="http://schemas.openxmlformats.org/markup-compatibility/2006">
              <mc:Choice xmlns:v="urn:schemas-microsoft-com:vml" Requires="v">
                <p:oleObj name="Worksheet" showAsIcon="1" r:id="rId3" imgW="914570" imgH="771459" progId="Excel.Sheet.12">
                  <p:embed/>
                </p:oleObj>
              </mc:Choice>
              <mc:Fallback>
                <p:oleObj name="Worksheet" showAsIcon="1" r:id="rId3" imgW="914570" imgH="771459" progId="Excel.Sheet.12">
                  <p:embed/>
                  <p:pic>
                    <p:nvPicPr>
                      <p:cNvPr id="0" name=""/>
                      <p:cNvPicPr/>
                      <p:nvPr/>
                    </p:nvPicPr>
                    <p:blipFill>
                      <a:blip r:embed="rId4"/>
                      <a:stretch>
                        <a:fillRect/>
                      </a:stretch>
                    </p:blipFill>
                    <p:spPr>
                      <a:xfrm>
                        <a:off x="3728892" y="1329869"/>
                        <a:ext cx="1686216" cy="1422745"/>
                      </a:xfrm>
                      <a:prstGeom prst="rect">
                        <a:avLst/>
                      </a:prstGeom>
                    </p:spPr>
                  </p:pic>
                </p:oleObj>
              </mc:Fallback>
            </mc:AlternateContent>
          </a:graphicData>
        </a:graphic>
      </p:graphicFrame>
    </p:spTree>
    <p:extLst>
      <p:ext uri="{BB962C8B-B14F-4D97-AF65-F5344CB8AC3E}">
        <p14:creationId xmlns:p14="http://schemas.microsoft.com/office/powerpoint/2010/main" val="1964842873"/>
      </p:ext>
    </p:extLst>
  </p:cSld>
  <p:clrMapOvr>
    <a:masterClrMapping/>
  </p:clrMapOvr>
</p:sld>
</file>

<file path=ppt/theme/theme1.xml><?xml version="1.0" encoding="utf-8"?>
<a:theme xmlns:a="http://schemas.openxmlformats.org/drawingml/2006/main" name="Kyocera">
  <a:themeElements>
    <a:clrScheme name="Saffron(Branding)">
      <a:dk1>
        <a:sysClr val="windowText" lastClr="000000"/>
      </a:dk1>
      <a:lt1>
        <a:sysClr val="window" lastClr="FFFFFF"/>
      </a:lt1>
      <a:dk2>
        <a:srgbClr val="282828"/>
      </a:dk2>
      <a:lt2>
        <a:srgbClr val="F2F2F2"/>
      </a:lt2>
      <a:accent1>
        <a:srgbClr val="6E3CBE"/>
      </a:accent1>
      <a:accent2>
        <a:srgbClr val="F5B400"/>
      </a:accent2>
      <a:accent3>
        <a:srgbClr val="0A9BCD"/>
      </a:accent3>
      <a:accent4>
        <a:srgbClr val="F06400"/>
      </a:accent4>
      <a:accent5>
        <a:srgbClr val="26AF72"/>
      </a:accent5>
      <a:accent6>
        <a:srgbClr val="A9A9A9"/>
      </a:accent6>
      <a:hlink>
        <a:srgbClr val="0563C1"/>
      </a:hlink>
      <a:folHlink>
        <a:srgbClr val="954F72"/>
      </a:folHlink>
    </a:clrScheme>
    <a:fontScheme name="Meiryo UI">
      <a:majorFont>
        <a:latin typeface="Meiryo UI"/>
        <a:ea typeface="Meiryo UI"/>
        <a:cs typeface=""/>
      </a:majorFont>
      <a:minorFont>
        <a:latin typeface="Meiryo UI"/>
        <a:ea typeface="Meiryo UI"/>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Kyocera_PPT_Template_KDC(MeiryoUI)4x3_201904.potx" id="{F7824327-EC3B-4A60-8311-B051A00F6AFE}" vid="{6D7B0D19-6042-4B58-9131-C9BAC69EA51B}"/>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020C45F11115134F91C22EC17B4E2172" ma:contentTypeVersion="6" ma:contentTypeDescription="新しいドキュメントを作成します。" ma:contentTypeScope="" ma:versionID="0f02be9c4bbbbad9952571b44dcd4e70">
  <xsd:schema xmlns:xsd="http://www.w3.org/2001/XMLSchema" xmlns:xs="http://www.w3.org/2001/XMLSchema" xmlns:p="http://schemas.microsoft.com/office/2006/metadata/properties" xmlns:ns2="0822f7e7-e76d-4d34-b36a-2e1b760e47af" targetNamespace="http://schemas.microsoft.com/office/2006/metadata/properties" ma:root="true" ma:fieldsID="cfa2c8bd0d594cd0e29817af954bd091" ns2:_="">
    <xsd:import namespace="0822f7e7-e76d-4d34-b36a-2e1b760e47af"/>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DateTake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822f7e7-e76d-4d34-b36a-2e1b760e47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コンテンツ タイプ"/>
        <xsd:element ref="dc:title" minOccurs="0" maxOccurs="1" ma:index="3"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8E8814D-B370-44EF-8BA8-DEB5221437A1}">
  <ds:schemaRefs>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purl.org/dc/dcmitype/"/>
    <ds:schemaRef ds:uri="0822f7e7-e76d-4d34-b36a-2e1b760e47af"/>
    <ds:schemaRef ds:uri="http://www.w3.org/XML/1998/namespace"/>
  </ds:schemaRefs>
</ds:datastoreItem>
</file>

<file path=customXml/itemProps2.xml><?xml version="1.0" encoding="utf-8"?>
<ds:datastoreItem xmlns:ds="http://schemas.openxmlformats.org/officeDocument/2006/customXml" ds:itemID="{CFBBDCFB-9C08-42FC-9D9C-DB5C3E1AD68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822f7e7-e76d-4d34-b36a-2e1b760e47a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DD3D008-3E51-4FD4-A566-4E24AFFD36A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14821</TotalTime>
  <Words>2400</Words>
  <Application>Microsoft Office PowerPoint</Application>
  <PresentationFormat>On-screen Show (4:3)</PresentationFormat>
  <Paragraphs>389</Paragraphs>
  <Slides>34</Slides>
  <Notes>34</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34</vt:i4>
      </vt:variant>
    </vt:vector>
  </HeadingPairs>
  <TitlesOfParts>
    <vt:vector size="42" baseType="lpstr">
      <vt:lpstr>Meiryo UI</vt:lpstr>
      <vt:lpstr>游ゴシック</vt:lpstr>
      <vt:lpstr>Arial</vt:lpstr>
      <vt:lpstr>Calibri</vt:lpstr>
      <vt:lpstr>Cambria</vt:lpstr>
      <vt:lpstr>Symbol</vt:lpstr>
      <vt:lpstr>Kyocera</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Eguchi，Yuko(江口優子)</dc:creator>
  <cp:lastModifiedBy>Lê Đức Huy(Le Duc Huy)</cp:lastModifiedBy>
  <cp:revision>466</cp:revision>
  <cp:lastPrinted>2020-10-06T05:38:29Z</cp:lastPrinted>
  <dcterms:created xsi:type="dcterms:W3CDTF">2019-04-25T02:35:23Z</dcterms:created>
  <dcterms:modified xsi:type="dcterms:W3CDTF">2023-07-14T03:59:08Z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0x010100020C45F11115134F91C22EC17B4E2172</vt:lpwstr>
  </property>
</Properties>
</file>