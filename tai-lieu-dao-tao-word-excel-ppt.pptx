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50"/>
  </p:notesMasterIdLst>
  <p:handoutMasterIdLst>
    <p:handoutMasterId r:id="rId51"/>
  </p:handoutMasterIdLst>
  <p:sldIdLst>
    <p:sldId id="710" r:id="rId5"/>
    <p:sldId id="755" r:id="rId6"/>
    <p:sldId id="705" r:id="rId7"/>
    <p:sldId id="711" r:id="rId8"/>
    <p:sldId id="713" r:id="rId9"/>
    <p:sldId id="733" r:id="rId10"/>
    <p:sldId id="734" r:id="rId11"/>
    <p:sldId id="735" r:id="rId12"/>
    <p:sldId id="736" r:id="rId13"/>
    <p:sldId id="737" r:id="rId14"/>
    <p:sldId id="738" r:id="rId15"/>
    <p:sldId id="739" r:id="rId16"/>
    <p:sldId id="732" r:id="rId17"/>
    <p:sldId id="740" r:id="rId18"/>
    <p:sldId id="714" r:id="rId19"/>
    <p:sldId id="715" r:id="rId20"/>
    <p:sldId id="716" r:id="rId21"/>
    <p:sldId id="717" r:id="rId22"/>
    <p:sldId id="741" r:id="rId23"/>
    <p:sldId id="718" r:id="rId24"/>
    <p:sldId id="742" r:id="rId25"/>
    <p:sldId id="743" r:id="rId26"/>
    <p:sldId id="744" r:id="rId27"/>
    <p:sldId id="719" r:id="rId28"/>
    <p:sldId id="720" r:id="rId29"/>
    <p:sldId id="745" r:id="rId30"/>
    <p:sldId id="756" r:id="rId31"/>
    <p:sldId id="757" r:id="rId32"/>
    <p:sldId id="721" r:id="rId33"/>
    <p:sldId id="747" r:id="rId34"/>
    <p:sldId id="722" r:id="rId35"/>
    <p:sldId id="750" r:id="rId36"/>
    <p:sldId id="751" r:id="rId37"/>
    <p:sldId id="724" r:id="rId38"/>
    <p:sldId id="725" r:id="rId39"/>
    <p:sldId id="748" r:id="rId40"/>
    <p:sldId id="749" r:id="rId41"/>
    <p:sldId id="753" r:id="rId42"/>
    <p:sldId id="726" r:id="rId43"/>
    <p:sldId id="727" r:id="rId44"/>
    <p:sldId id="728" r:id="rId45"/>
    <p:sldId id="731" r:id="rId46"/>
    <p:sldId id="730" r:id="rId47"/>
    <p:sldId id="729" r:id="rId48"/>
    <p:sldId id="754" r:id="rId49"/>
  </p:sldIdLst>
  <p:sldSz cx="12192000" cy="68580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32" userDrawn="1">
          <p15:clr>
            <a:srgbClr val="A4A3A4"/>
          </p15:clr>
        </p15:guide>
        <p15:guide id="4" pos="7348" userDrawn="1">
          <p15:clr>
            <a:srgbClr val="A4A3A4"/>
          </p15:clr>
        </p15:guide>
        <p15:guide id="5" orient="horz" pos="459" userDrawn="1">
          <p15:clr>
            <a:srgbClr val="A4A3A4"/>
          </p15:clr>
        </p15:guide>
        <p15:guide id="6" orient="horz" pos="3997" userDrawn="1">
          <p15:clr>
            <a:srgbClr val="A4A3A4"/>
          </p15:clr>
        </p15:guide>
        <p15:guide id="7"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A9A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801" autoAdjust="0"/>
    <p:restoredTop sz="96224" autoAdjust="0"/>
  </p:normalViewPr>
  <p:slideViewPr>
    <p:cSldViewPr snapToGrid="0">
      <p:cViewPr varScale="1">
        <p:scale>
          <a:sx n="74" d="100"/>
          <a:sy n="74" d="100"/>
        </p:scale>
        <p:origin x="192" y="40"/>
      </p:cViewPr>
      <p:guideLst>
        <p:guide orient="horz" pos="2160"/>
        <p:guide pos="332"/>
        <p:guide pos="7348"/>
        <p:guide orient="horz" pos="459"/>
        <p:guide orient="horz" pos="3997"/>
        <p:guide pos="3840"/>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77" d="100"/>
          <a:sy n="77" d="100"/>
        </p:scale>
        <p:origin x="1776"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D5CF7B6E-06F8-4EA4-9972-29E59E3DA8F7}" type="datetimeFigureOut">
              <a:rPr kumimoji="1" lang="ja-JP" altLang="en-US" smtClean="0"/>
              <a:t>2026/6/10</a:t>
            </a:fld>
            <a:endParaRPr kumimoji="1" lang="ja-JP" altLang="en-US"/>
          </a:p>
        </p:txBody>
      </p:sp>
      <p:sp>
        <p:nvSpPr>
          <p:cNvPr id="4" name="フッター プレースホルダー 3"/>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CAB48240-D91F-4129-BF79-2A71E83D0D37}" type="slidenum">
              <a:rPr kumimoji="1" lang="ja-JP" altLang="en-US" smtClean="0"/>
              <a:t>‹#›</a:t>
            </a:fld>
            <a:endParaRPr kumimoji="1" lang="ja-JP" altLang="en-US"/>
          </a:p>
        </p:txBody>
      </p:sp>
    </p:spTree>
    <p:extLst>
      <p:ext uri="{BB962C8B-B14F-4D97-AF65-F5344CB8AC3E}">
        <p14:creationId xmlns:p14="http://schemas.microsoft.com/office/powerpoint/2010/main" val="29579740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FE9E4F50-57D5-4638-8961-5783F5566392}" type="datetimeFigureOut">
              <a:rPr kumimoji="1" lang="ja-JP" altLang="en-US" smtClean="0"/>
              <a:t>2026/6/10</a:t>
            </a:fld>
            <a:endParaRPr kumimoji="1" lang="ja-JP" altLang="en-US"/>
          </a:p>
        </p:txBody>
      </p:sp>
      <p:sp>
        <p:nvSpPr>
          <p:cNvPr id="4" name="スライド イメージ プレースホルダー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0E1B736C-7E22-4286-9492-6D135922483F}" type="slidenum">
              <a:rPr kumimoji="1" lang="ja-JP" altLang="en-US" smtClean="0"/>
              <a:t>‹#›</a:t>
            </a:fld>
            <a:endParaRPr kumimoji="1" lang="ja-JP" altLang="en-US"/>
          </a:p>
        </p:txBody>
      </p:sp>
    </p:spTree>
    <p:extLst>
      <p:ext uri="{BB962C8B-B14F-4D97-AF65-F5344CB8AC3E}">
        <p14:creationId xmlns:p14="http://schemas.microsoft.com/office/powerpoint/2010/main" val="281029248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4_表紙用">
    <p:bg>
      <p:bgPr>
        <a:solidFill>
          <a:schemeClr val="bg2"/>
        </a:solidFill>
        <a:effectLst/>
      </p:bgPr>
    </p:bg>
    <p:spTree>
      <p:nvGrpSpPr>
        <p:cNvPr id="1" name=""/>
        <p:cNvGrpSpPr/>
        <p:nvPr/>
      </p:nvGrpSpPr>
      <p:grpSpPr>
        <a:xfrm>
          <a:off x="0" y="0"/>
          <a:ext cx="0" cy="0"/>
          <a:chOff x="0" y="0"/>
          <a:chExt cx="0" cy="0"/>
        </a:xfrm>
      </p:grpSpPr>
      <p:pic>
        <p:nvPicPr>
          <p:cNvPr id="5" name="図 4" descr="絵と文字の加工写真&#10;&#10;低い精度で自動的に生成された説明">
            <a:extLst>
              <a:ext uri="{FF2B5EF4-FFF2-40B4-BE49-F238E27FC236}">
                <a16:creationId xmlns:a16="http://schemas.microsoft.com/office/drawing/2014/main" id="{49FC8EDF-1E53-0784-015A-50BF3903929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032"/>
            <a:ext cx="12192000" cy="6853968"/>
          </a:xfrm>
          <a:prstGeom prst="rect">
            <a:avLst/>
          </a:prstGeom>
        </p:spPr>
      </p:pic>
      <p:pic>
        <p:nvPicPr>
          <p:cNvPr id="3" name="Picture 9">
            <a:extLst>
              <a:ext uri="{FF2B5EF4-FFF2-40B4-BE49-F238E27FC236}">
                <a16:creationId xmlns:a16="http://schemas.microsoft.com/office/drawing/2014/main" id="{39A7D7A2-81C9-62EC-56D5-8D20A87956CF}"/>
              </a:ext>
            </a:extLst>
          </p:cNvPr>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534994" y="387924"/>
            <a:ext cx="1896690" cy="417144"/>
          </a:xfrm>
          <a:prstGeom prst="rect">
            <a:avLst/>
          </a:prstGeom>
          <a:noFill/>
          <a:ln>
            <a:noFill/>
          </a:ln>
        </p:spPr>
      </p:pic>
    </p:spTree>
    <p:extLst>
      <p:ext uri="{BB962C8B-B14F-4D97-AF65-F5344CB8AC3E}">
        <p14:creationId xmlns:p14="http://schemas.microsoft.com/office/powerpoint/2010/main" val="36237151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白紙">
    <p:spTree>
      <p:nvGrpSpPr>
        <p:cNvPr id="1" name=""/>
        <p:cNvGrpSpPr/>
        <p:nvPr/>
      </p:nvGrpSpPr>
      <p:grpSpPr>
        <a:xfrm>
          <a:off x="0" y="0"/>
          <a:ext cx="0" cy="0"/>
          <a:chOff x="0" y="0"/>
          <a:chExt cx="0" cy="0"/>
        </a:xfrm>
      </p:grpSpPr>
      <p:pic>
        <p:nvPicPr>
          <p:cNvPr id="2" name="Picture 9">
            <a:extLst>
              <a:ext uri="{FF2B5EF4-FFF2-40B4-BE49-F238E27FC236}">
                <a16:creationId xmlns:a16="http://schemas.microsoft.com/office/drawing/2014/main" id="{F114BEFE-30F4-06E8-6BE0-619CDBC06F00}"/>
              </a:ext>
            </a:extLst>
          </p:cNvPr>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80327" y="6523613"/>
            <a:ext cx="1032653" cy="227114"/>
          </a:xfrm>
          <a:prstGeom prst="rect">
            <a:avLst/>
          </a:prstGeom>
          <a:noFill/>
          <a:ln>
            <a:noFill/>
          </a:ln>
        </p:spPr>
      </p:pic>
    </p:spTree>
    <p:extLst>
      <p:ext uri="{BB962C8B-B14F-4D97-AF65-F5344CB8AC3E}">
        <p14:creationId xmlns:p14="http://schemas.microsoft.com/office/powerpoint/2010/main" val="158076037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527999" y="11832"/>
            <a:ext cx="11160840" cy="423341"/>
          </a:xfrm>
          <a:prstGeom prst="rect">
            <a:avLst/>
          </a:prstGeom>
        </p:spPr>
        <p:txBody>
          <a:bodyPr vert="horz" lIns="0" tIns="0" rIns="0" bIns="0" rtlCol="0" anchor="t" anchorCtr="0">
            <a:noAutofit/>
          </a:bodyPr>
          <a:lstStyle/>
          <a:p>
            <a:r>
              <a:rPr lang="ja-JP" altLang="en-US" dirty="0"/>
              <a:t>マスター タイトルの書式設定</a:t>
            </a:r>
            <a:endParaRPr lang="en-GB" dirty="0"/>
          </a:p>
        </p:txBody>
      </p:sp>
      <p:sp>
        <p:nvSpPr>
          <p:cNvPr id="8" name="Text Placeholder 2"/>
          <p:cNvSpPr>
            <a:spLocks noGrp="1"/>
          </p:cNvSpPr>
          <p:nvPr>
            <p:ph type="body" idx="1"/>
          </p:nvPr>
        </p:nvSpPr>
        <p:spPr>
          <a:xfrm>
            <a:off x="528001" y="1588958"/>
            <a:ext cx="11160839" cy="4062543"/>
          </a:xfrm>
          <a:prstGeom prst="rect">
            <a:avLst/>
          </a:prstGeom>
        </p:spPr>
        <p:txBody>
          <a:bodyPr vert="horz" lIns="0" tIns="0" rIns="0" bIns="0" rtlCol="0">
            <a:no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GB" dirty="0"/>
          </a:p>
        </p:txBody>
      </p:sp>
      <p:sp>
        <p:nvSpPr>
          <p:cNvPr id="4" name="Slide Number Placeholder 5">
            <a:extLst>
              <a:ext uri="{FF2B5EF4-FFF2-40B4-BE49-F238E27FC236}">
                <a16:creationId xmlns:a16="http://schemas.microsoft.com/office/drawing/2014/main" id="{95723448-76E8-5A7D-4CE3-76075F2E9F20}"/>
              </a:ext>
            </a:extLst>
          </p:cNvPr>
          <p:cNvSpPr txBox="1">
            <a:spLocks/>
          </p:cNvSpPr>
          <p:nvPr userDrawn="1"/>
        </p:nvSpPr>
        <p:spPr>
          <a:xfrm>
            <a:off x="11358465" y="6505328"/>
            <a:ext cx="666276" cy="374975"/>
          </a:xfrm>
          <a:prstGeom prst="rect">
            <a:avLst/>
          </a:prstGeom>
        </p:spPr>
        <p:txBody>
          <a:bodyPr vert="horz" lIns="0" tIns="0" rIns="0" bIns="0" rtlCol="0" anchor="t" anchorCtr="0"/>
          <a:lstStyle>
            <a:defPPr>
              <a:defRPr lang="en-US"/>
            </a:defPPr>
            <a:lvl1pPr marL="0" algn="r"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3381702-59A5-4643-AE93-D7BF7F78153B}" type="slidenum">
              <a:rPr lang="en-GB" sz="1800" smtClean="0">
                <a:solidFill>
                  <a:prstClr val="black"/>
                </a:solidFill>
                <a:latin typeface="Meiryo UI"/>
                <a:ea typeface="Meiryo UI"/>
              </a:rPr>
              <a:pPr/>
              <a:t>‹#›</a:t>
            </a:fld>
            <a:endParaRPr lang="en-GB" sz="1800">
              <a:solidFill>
                <a:prstClr val="black"/>
              </a:solidFill>
              <a:latin typeface="Meiryo UI"/>
              <a:ea typeface="Meiryo UI"/>
            </a:endParaRPr>
          </a:p>
        </p:txBody>
      </p:sp>
      <p:sp>
        <p:nvSpPr>
          <p:cNvPr id="5" name="Footer Placeholder 4">
            <a:extLst>
              <a:ext uri="{FF2B5EF4-FFF2-40B4-BE49-F238E27FC236}">
                <a16:creationId xmlns:a16="http://schemas.microsoft.com/office/drawing/2014/main" id="{A33C1039-6B15-6CA8-3AE4-652276463C67}"/>
              </a:ext>
            </a:extLst>
          </p:cNvPr>
          <p:cNvSpPr txBox="1">
            <a:spLocks/>
          </p:cNvSpPr>
          <p:nvPr userDrawn="1"/>
        </p:nvSpPr>
        <p:spPr>
          <a:xfrm>
            <a:off x="7635268" y="6575094"/>
            <a:ext cx="3837497" cy="216000"/>
          </a:xfrm>
          <a:prstGeom prst="rect">
            <a:avLst/>
          </a:prstGeom>
        </p:spPr>
        <p:txBody>
          <a:bodyPr vert="horz" lIns="0" tIns="0" rIns="0" bIns="0" rtlCol="0" anchor="ctr" anchorCtr="0"/>
          <a:lstStyle>
            <a:defPPr>
              <a:defRPr lang="en-US"/>
            </a:defPPr>
            <a:lvl1pPr marL="0" algn="r" defTabSz="457200" rtl="0" eaLnBrk="1" latinLnBrk="0" hangingPunct="1">
              <a:defRPr sz="7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altLang="ja-JP" sz="700" dirty="0">
                <a:solidFill>
                  <a:prstClr val="black"/>
                </a:solidFill>
                <a:latin typeface="Meiryo UI"/>
                <a:ea typeface="Meiryo UI"/>
              </a:rPr>
              <a:t>©</a:t>
            </a:r>
            <a:r>
              <a:rPr lang="fr-FR" altLang="ja-JP" sz="700">
                <a:solidFill>
                  <a:prstClr val="black"/>
                </a:solidFill>
                <a:latin typeface="Meiryo UI"/>
                <a:ea typeface="Meiryo UI"/>
              </a:rPr>
              <a:t>20</a:t>
            </a:r>
            <a:r>
              <a:rPr lang="en-US" altLang="ja-JP" sz="700">
                <a:solidFill>
                  <a:prstClr val="black"/>
                </a:solidFill>
                <a:latin typeface="Meiryo UI"/>
                <a:ea typeface="Meiryo UI"/>
              </a:rPr>
              <a:t>26</a:t>
            </a:r>
            <a:r>
              <a:rPr lang="fr-FR" altLang="ja-JP" sz="700">
                <a:solidFill>
                  <a:prstClr val="black"/>
                </a:solidFill>
                <a:latin typeface="Meiryo UI"/>
                <a:ea typeface="Meiryo UI"/>
              </a:rPr>
              <a:t> </a:t>
            </a:r>
            <a:r>
              <a:rPr lang="fr-FR" altLang="ja-JP" sz="700" dirty="0">
                <a:solidFill>
                  <a:prstClr val="black"/>
                </a:solidFill>
                <a:latin typeface="Meiryo UI"/>
                <a:ea typeface="Meiryo UI"/>
              </a:rPr>
              <a:t>KYOCERA Document Solutions Inc.</a:t>
            </a:r>
            <a:endParaRPr lang="en-GB" sz="700" dirty="0">
              <a:solidFill>
                <a:prstClr val="black"/>
              </a:solidFill>
              <a:latin typeface="Meiryo UI"/>
              <a:ea typeface="Meiryo UI"/>
            </a:endParaRPr>
          </a:p>
        </p:txBody>
      </p:sp>
    </p:spTree>
    <p:extLst>
      <p:ext uri="{BB962C8B-B14F-4D97-AF65-F5344CB8AC3E}">
        <p14:creationId xmlns:p14="http://schemas.microsoft.com/office/powerpoint/2010/main" val="2952492359"/>
      </p:ext>
    </p:extLst>
  </p:cSld>
  <p:clrMap bg1="lt1" tx1="dk1" bg2="lt2" tx2="dk2" accent1="accent1" accent2="accent2" accent3="accent3" accent4="accent4" accent5="accent5" accent6="accent6" hlink="hlink" folHlink="folHlink"/>
  <p:sldLayoutIdLst>
    <p:sldLayoutId id="2147483690" r:id="rId1"/>
    <p:sldLayoutId id="2147483689" r:id="rId2"/>
  </p:sldLayoutIdLst>
  <p:hf sldNum="0" hdr="0" dt="0"/>
  <p:txStyles>
    <p:title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14E6997-91BF-B018-01CA-E65581FE42C2}"/>
              </a:ext>
            </a:extLst>
          </p:cNvPr>
          <p:cNvSpPr txBox="1">
            <a:spLocks/>
          </p:cNvSpPr>
          <p:nvPr/>
        </p:nvSpPr>
        <p:spPr>
          <a:xfrm>
            <a:off x="1877291" y="1037252"/>
            <a:ext cx="8437418" cy="1752600"/>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altLang="zh-TW" sz="4000">
                <a:latin typeface="Times New Roman" panose="02020603050405020304" pitchFamily="18" charset="0"/>
                <a:cs typeface="Times New Roman" panose="02020603050405020304" pitchFamily="18" charset="0"/>
              </a:rPr>
              <a:t>TÀI LIỆU ĐÀO TẠO </a:t>
            </a:r>
            <a:br>
              <a:rPr lang="en-US" altLang="zh-TW" sz="4000">
                <a:latin typeface="Times New Roman" panose="02020603050405020304" pitchFamily="18" charset="0"/>
                <a:cs typeface="Times New Roman" panose="02020603050405020304" pitchFamily="18" charset="0"/>
              </a:rPr>
            </a:br>
            <a:r>
              <a:rPr lang="en-US" altLang="zh-TW" sz="4000">
                <a:latin typeface="Times New Roman" panose="02020603050405020304" pitchFamily="18" charset="0"/>
                <a:cs typeface="Times New Roman" panose="02020603050405020304" pitchFamily="18" charset="0"/>
              </a:rPr>
              <a:t>WORD - EXCEL - POWERPOINT</a:t>
            </a:r>
            <a:endParaRPr lang="en-US" dirty="0">
              <a:latin typeface="Times New Roman" panose="02020603050405020304" pitchFamily="18" charset="0"/>
              <a:cs typeface="Times New Roman" panose="02020603050405020304" pitchFamily="18" charset="0"/>
            </a:endParaRPr>
          </a:p>
        </p:txBody>
      </p:sp>
      <p:sp>
        <p:nvSpPr>
          <p:cNvPr id="7" name="Rounded Rectangle 1">
            <a:extLst>
              <a:ext uri="{FF2B5EF4-FFF2-40B4-BE49-F238E27FC236}">
                <a16:creationId xmlns:a16="http://schemas.microsoft.com/office/drawing/2014/main" id="{560E7FCD-C343-BE21-D9F3-593361B32EBA}"/>
              </a:ext>
            </a:extLst>
          </p:cNvPr>
          <p:cNvSpPr/>
          <p:nvPr/>
        </p:nvSpPr>
        <p:spPr>
          <a:xfrm>
            <a:off x="0" y="2380719"/>
            <a:ext cx="4876800" cy="5334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Times New Roman" panose="02020603050405020304" pitchFamily="18" charset="0"/>
                <a:cs typeface="Times New Roman" panose="02020603050405020304" pitchFamily="18" charset="0"/>
              </a:rPr>
              <a:t>PHÒNG KIỂM TRA LINH KIỆN </a:t>
            </a:r>
          </a:p>
        </p:txBody>
      </p:sp>
      <p:graphicFrame>
        <p:nvGraphicFramePr>
          <p:cNvPr id="8" name="Table 7">
            <a:extLst>
              <a:ext uri="{FF2B5EF4-FFF2-40B4-BE49-F238E27FC236}">
                <a16:creationId xmlns:a16="http://schemas.microsoft.com/office/drawing/2014/main" id="{550D5340-C092-3585-FAF4-418AAAC03A29}"/>
              </a:ext>
            </a:extLst>
          </p:cNvPr>
          <p:cNvGraphicFramePr>
            <a:graphicFrameLocks noGrp="1"/>
          </p:cNvGraphicFramePr>
          <p:nvPr>
            <p:extLst>
              <p:ext uri="{D42A27DB-BD31-4B8C-83A1-F6EECF244321}">
                <p14:modId xmlns:p14="http://schemas.microsoft.com/office/powerpoint/2010/main" val="4227416491"/>
              </p:ext>
            </p:extLst>
          </p:nvPr>
        </p:nvGraphicFramePr>
        <p:xfrm>
          <a:off x="34118" y="2996821"/>
          <a:ext cx="4624317" cy="1842448"/>
        </p:xfrm>
        <a:graphic>
          <a:graphicData uri="http://schemas.openxmlformats.org/drawingml/2006/table">
            <a:tbl>
              <a:tblPr firstRow="1" bandRow="1">
                <a:tableStyleId>{69012ECD-51FC-41F1-AA8D-1B2483CD663E}</a:tableStyleId>
              </a:tblPr>
              <a:tblGrid>
                <a:gridCol w="1541439">
                  <a:extLst>
                    <a:ext uri="{9D8B030D-6E8A-4147-A177-3AD203B41FA5}">
                      <a16:colId xmlns:a16="http://schemas.microsoft.com/office/drawing/2014/main" val="20000"/>
                    </a:ext>
                  </a:extLst>
                </a:gridCol>
                <a:gridCol w="1541439">
                  <a:extLst>
                    <a:ext uri="{9D8B030D-6E8A-4147-A177-3AD203B41FA5}">
                      <a16:colId xmlns:a16="http://schemas.microsoft.com/office/drawing/2014/main" val="20001"/>
                    </a:ext>
                  </a:extLst>
                </a:gridCol>
                <a:gridCol w="1541439">
                  <a:extLst>
                    <a:ext uri="{9D8B030D-6E8A-4147-A177-3AD203B41FA5}">
                      <a16:colId xmlns:a16="http://schemas.microsoft.com/office/drawing/2014/main" val="20002"/>
                    </a:ext>
                  </a:extLst>
                </a:gridCol>
              </a:tblGrid>
              <a:tr h="756721">
                <a:tc>
                  <a:txBody>
                    <a:bodyPr/>
                    <a:lstStyle/>
                    <a:p>
                      <a:pPr algn="ctr"/>
                      <a:r>
                        <a:rPr lang="en-US" dirty="0" err="1"/>
                        <a:t>Xác</a:t>
                      </a:r>
                      <a:r>
                        <a:rPr lang="en-US" baseline="0" dirty="0"/>
                        <a:t> </a:t>
                      </a:r>
                      <a:r>
                        <a:rPr lang="en-US" baseline="0" dirty="0" err="1"/>
                        <a:t>nhận</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err="1"/>
                        <a:t>Kiểm</a:t>
                      </a:r>
                      <a:r>
                        <a:rPr lang="en-US" baseline="0" dirty="0"/>
                        <a:t> </a:t>
                      </a:r>
                      <a:r>
                        <a:rPr lang="en-US" baseline="0" dirty="0" err="1"/>
                        <a:t>tra</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err="1"/>
                        <a:t>Lập</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085727">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3940055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1CAD3-B25D-D88C-B782-8745C74FE832}"/>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8D0BE135-FD9F-8781-EB49-B25D5837A2C9}"/>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Mục lục</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FDE42E0F-0E60-8B97-3990-C7E07182DDB5}"/>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graphicFrame>
        <p:nvGraphicFramePr>
          <p:cNvPr id="7" name="Table 5">
            <a:extLst>
              <a:ext uri="{FF2B5EF4-FFF2-40B4-BE49-F238E27FC236}">
                <a16:creationId xmlns:a16="http://schemas.microsoft.com/office/drawing/2014/main" id="{984CEB32-2B29-17C0-6442-7ACD63BFC3A9}"/>
              </a:ext>
            </a:extLst>
          </p:cNvPr>
          <p:cNvGraphicFramePr>
            <a:graphicFrameLocks noGrp="1"/>
          </p:cNvGraphicFramePr>
          <p:nvPr>
            <p:extLst>
              <p:ext uri="{D42A27DB-BD31-4B8C-83A1-F6EECF244321}">
                <p14:modId xmlns:p14="http://schemas.microsoft.com/office/powerpoint/2010/main" val="2279972533"/>
              </p:ext>
            </p:extLst>
          </p:nvPr>
        </p:nvGraphicFramePr>
        <p:xfrm>
          <a:off x="457200" y="795130"/>
          <a:ext cx="11353800" cy="4971108"/>
        </p:xfrm>
        <a:graphic>
          <a:graphicData uri="http://schemas.openxmlformats.org/drawingml/2006/table">
            <a:tbl>
              <a:tblPr firstRow="1" bandRow="1">
                <a:tableStyleId>{2D5ABB26-0587-4C30-8999-92F81FD0307C}</a:tableStyleId>
              </a:tblPr>
              <a:tblGrid>
                <a:gridCol w="586489">
                  <a:extLst>
                    <a:ext uri="{9D8B030D-6E8A-4147-A177-3AD203B41FA5}">
                      <a16:colId xmlns:a16="http://schemas.microsoft.com/office/drawing/2014/main" val="3741060136"/>
                    </a:ext>
                  </a:extLst>
                </a:gridCol>
                <a:gridCol w="1851911">
                  <a:extLst>
                    <a:ext uri="{9D8B030D-6E8A-4147-A177-3AD203B41FA5}">
                      <a16:colId xmlns:a16="http://schemas.microsoft.com/office/drawing/2014/main" val="3345785645"/>
                    </a:ext>
                  </a:extLst>
                </a:gridCol>
                <a:gridCol w="6629400">
                  <a:extLst>
                    <a:ext uri="{9D8B030D-6E8A-4147-A177-3AD203B41FA5}">
                      <a16:colId xmlns:a16="http://schemas.microsoft.com/office/drawing/2014/main" val="1064570306"/>
                    </a:ext>
                  </a:extLst>
                </a:gridCol>
                <a:gridCol w="2286000">
                  <a:extLst>
                    <a:ext uri="{9D8B030D-6E8A-4147-A177-3AD203B41FA5}">
                      <a16:colId xmlns:a16="http://schemas.microsoft.com/office/drawing/2014/main" val="2450495970"/>
                    </a:ext>
                  </a:extLst>
                </a:gridCol>
              </a:tblGrid>
              <a:tr h="565182">
                <a:tc>
                  <a:txBody>
                    <a:bodyPr/>
                    <a:lstStyle/>
                    <a:p>
                      <a:pPr algn="ctr" fontAlgn="ctr"/>
                      <a:r>
                        <a:rPr lang="en-US" sz="1500" b="1" u="none" strike="noStrike">
                          <a:solidFill>
                            <a:srgbClr val="000000"/>
                          </a:solidFill>
                          <a:effectLst/>
                          <a:latin typeface="Times New Roman" panose="02020603050405020304" pitchFamily="18" charset="0"/>
                          <a:cs typeface="Times New Roman" panose="02020603050405020304" pitchFamily="18" charset="0"/>
                        </a:rPr>
                        <a:t>No</a:t>
                      </a:r>
                      <a:endParaRPr lang="en-US" sz="15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500" b="1" u="none" strike="noStrike">
                          <a:solidFill>
                            <a:srgbClr val="000000"/>
                          </a:solidFill>
                          <a:effectLst/>
                          <a:latin typeface="Times New Roman" panose="02020603050405020304" pitchFamily="18" charset="0"/>
                          <a:cs typeface="Times New Roman" panose="02020603050405020304" pitchFamily="18" charset="0"/>
                        </a:rPr>
                        <a:t>Hạng mục</a:t>
                      </a:r>
                    </a:p>
                    <a:p>
                      <a:pPr algn="l" fontAlgn="ctr"/>
                      <a:r>
                        <a:rPr lang="ja-JP" altLang="en-US" sz="1500" b="1" i="0" u="none" strike="noStrike">
                          <a:solidFill>
                            <a:srgbClr val="000000"/>
                          </a:solidFill>
                          <a:effectLst/>
                          <a:latin typeface="Times New Roman" panose="02020603050405020304" pitchFamily="18" charset="0"/>
                          <a:cs typeface="Times New Roman" panose="02020603050405020304" pitchFamily="18" charset="0"/>
                        </a:rPr>
                        <a:t>項目</a:t>
                      </a:r>
                      <a:endParaRPr lang="en-US" sz="15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500" b="1" i="0" u="none" strike="noStrike">
                          <a:solidFill>
                            <a:srgbClr val="000000"/>
                          </a:solidFill>
                          <a:effectLst/>
                          <a:latin typeface="Times New Roman" panose="02020603050405020304" pitchFamily="18" charset="0"/>
                          <a:cs typeface="Times New Roman" panose="02020603050405020304" pitchFamily="18" charset="0"/>
                        </a:rPr>
                        <a:t>Nội dung thực hiện</a:t>
                      </a:r>
                    </a:p>
                    <a:p>
                      <a:pPr algn="ctr" fontAlgn="ctr"/>
                      <a:r>
                        <a:rPr lang="ja-JP" altLang="en-US" sz="1500" b="1" i="0" u="none" strike="noStrike">
                          <a:solidFill>
                            <a:srgbClr val="000000"/>
                          </a:solidFill>
                          <a:effectLst/>
                          <a:latin typeface="Times New Roman" panose="02020603050405020304" pitchFamily="18" charset="0"/>
                          <a:cs typeface="Times New Roman" panose="02020603050405020304" pitchFamily="18" charset="0"/>
                        </a:rPr>
                        <a:t>実施内容</a:t>
                      </a:r>
                      <a:endParaRPr lang="en-US" sz="15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500" b="1" u="none" strike="noStrike">
                          <a:solidFill>
                            <a:srgbClr val="000000"/>
                          </a:solidFill>
                          <a:effectLst/>
                          <a:latin typeface="Times New Roman" panose="02020603050405020304" pitchFamily="18" charset="0"/>
                          <a:cs typeface="Times New Roman" panose="02020603050405020304" pitchFamily="18" charset="0"/>
                        </a:rPr>
                        <a:t>Phương thức đào tạo</a:t>
                      </a:r>
                    </a:p>
                    <a:p>
                      <a:pPr algn="ctr" fontAlgn="ctr"/>
                      <a:r>
                        <a:rPr lang="ja-JP" altLang="en-US" sz="1500" b="1" i="0" u="none" strike="noStrike">
                          <a:solidFill>
                            <a:srgbClr val="000000"/>
                          </a:solidFill>
                          <a:effectLst/>
                          <a:latin typeface="Times New Roman" panose="02020603050405020304" pitchFamily="18" charset="0"/>
                          <a:cs typeface="Times New Roman" panose="02020603050405020304" pitchFamily="18" charset="0"/>
                        </a:rPr>
                        <a:t>教育方法</a:t>
                      </a:r>
                      <a:endParaRPr lang="en-US" sz="15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8833448"/>
                  </a:ext>
                </a:extLst>
              </a:tr>
              <a:tr h="477940">
                <a:tc rowSpan="10">
                  <a:txBody>
                    <a:bodyPr/>
                    <a:lstStyle/>
                    <a:p>
                      <a:pPr algn="ctr" fontAlgn="ctr"/>
                      <a:r>
                        <a:rPr lang="en-US" sz="1500" b="1" i="0" u="none" strike="noStrike">
                          <a:solidFill>
                            <a:srgbClr val="000000"/>
                          </a:solidFill>
                          <a:effectLst/>
                          <a:latin typeface="Times New Roman" panose="02020603050405020304" pitchFamily="18" charset="0"/>
                          <a:cs typeface="Times New Roman" panose="02020603050405020304" pitchFamily="18" charset="0"/>
                        </a:rPr>
                        <a:t>I</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rowSpan="10">
                  <a:txBody>
                    <a:bodyPr/>
                    <a:lstStyle/>
                    <a:p>
                      <a:pPr algn="l" fontAlgn="ctr"/>
                      <a:r>
                        <a:rPr lang="en-US" sz="1500" b="1" i="0" u="none" strike="noStrike" kern="1200">
                          <a:solidFill>
                            <a:srgbClr val="000000"/>
                          </a:solidFill>
                          <a:effectLst/>
                          <a:latin typeface="Times New Roman" panose="02020603050405020304" pitchFamily="18" charset="0"/>
                          <a:ea typeface="+mn-ea"/>
                          <a:cs typeface="Times New Roman" panose="02020603050405020304" pitchFamily="18" charset="0"/>
                        </a:rPr>
                        <a:t>EXCEL</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r>
                        <a:rPr lang="en-US" sz="1500" b="0" i="0" u="none" strike="noStrike" kern="1200">
                          <a:solidFill>
                            <a:srgbClr val="000000"/>
                          </a:solidFill>
                          <a:effectLst/>
                          <a:latin typeface="Times New Roman" panose="02020603050405020304" pitchFamily="18" charset="0"/>
                          <a:ea typeface="+mn-ea"/>
                          <a:cs typeface="Times New Roman" panose="02020603050405020304" pitchFamily="18" charset="0"/>
                        </a:rPr>
                        <a:t>Bài 1: Biểu thức Excel</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Times New Roman" panose="02020603050405020304" pitchFamily="18" charset="0"/>
                          <a:cs typeface="Times New Roman" panose="02020603050405020304" pitchFamily="18" charset="0"/>
                        </a:rPr>
                        <a:t>OFF JT</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4206721"/>
                  </a:ext>
                </a:extLst>
              </a:tr>
              <a:tr h="452213">
                <a:tc vMerge="1">
                  <a:txBody>
                    <a:bodyPr/>
                    <a:lstStyle/>
                    <a:p>
                      <a:pPr algn="ctr" fontAlgn="ctr"/>
                      <a:endParaRPr lang="en-US" sz="1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vMerge="1">
                  <a:txBody>
                    <a:bodyPr/>
                    <a:lstStyle/>
                    <a:p>
                      <a:pPr algn="l" fontAlgn="ctr"/>
                      <a:endParaRPr lang="vi-VN" sz="1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r>
                        <a:rPr lang="en-US" sz="1500" b="0" i="0" u="none" strike="noStrike" kern="1200">
                          <a:solidFill>
                            <a:srgbClr val="000000"/>
                          </a:solidFill>
                          <a:effectLst/>
                          <a:latin typeface="Times New Roman" panose="02020603050405020304" pitchFamily="18" charset="0"/>
                          <a:ea typeface="+mn-ea"/>
                          <a:cs typeface="Times New Roman" panose="02020603050405020304" pitchFamily="18" charset="0"/>
                        </a:rPr>
                        <a:t>Bài 2: </a:t>
                      </a:r>
                      <a:r>
                        <a:rPr lang="vi-VN" sz="1500" b="0" i="0" u="none" strike="noStrike" kern="1200">
                          <a:solidFill>
                            <a:srgbClr val="000000"/>
                          </a:solidFill>
                          <a:effectLst/>
                          <a:latin typeface="Times New Roman" panose="02020603050405020304" pitchFamily="18" charset="0"/>
                          <a:ea typeface="+mn-ea"/>
                          <a:cs typeface="Times New Roman" panose="02020603050405020304" pitchFamily="18" charset="0"/>
                        </a:rPr>
                        <a:t>Các hàm cơ bản trong excel</a:t>
                      </a:r>
                      <a:endParaRPr lang="en-US" sz="1500" b="0" i="0" u="none" strike="noStrike" kern="1200">
                        <a:solidFill>
                          <a:srgbClr val="000000"/>
                        </a:solidFill>
                        <a:effectLst/>
                        <a:latin typeface="Times New Roman" panose="02020603050405020304" pitchFamily="18" charset="0"/>
                        <a:ea typeface="+mn-ea"/>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kumimoji="0" lang="en-US" sz="15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OFF JT</a:t>
                      </a:r>
                      <a:endParaRPr lang="vi-VN" sz="1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8804331"/>
                  </a:ext>
                </a:extLst>
              </a:tr>
              <a:tr h="365104">
                <a:tc vMerge="1">
                  <a:txBody>
                    <a:bodyPr/>
                    <a:lstStyle/>
                    <a:p>
                      <a:pPr algn="ctr" fontAlgn="ctr"/>
                      <a:endParaRPr lang="en-US" sz="1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vMerge="1">
                  <a:txBody>
                    <a:bodyPr/>
                    <a:lstStyle/>
                    <a:p>
                      <a:pPr algn="l" fontAlgn="ctr"/>
                      <a:endParaRPr lang="en-US" sz="15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r>
                        <a:rPr lang="vi-VN" sz="1500" b="0" i="0" u="none" strike="noStrike" kern="1200">
                          <a:solidFill>
                            <a:srgbClr val="000000"/>
                          </a:solidFill>
                          <a:effectLst/>
                          <a:latin typeface="Times New Roman" panose="02020603050405020304" pitchFamily="18" charset="0"/>
                          <a:ea typeface="+mn-ea"/>
                          <a:cs typeface="Times New Roman" panose="02020603050405020304" pitchFamily="18" charset="0"/>
                        </a:rPr>
                        <a:t>Bài 3: Định dạng dữ liệu</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kumimoji="0" lang="en-US" sz="15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OFF JT</a:t>
                      </a:r>
                      <a:endParaRPr lang="en-US" sz="1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74184618"/>
                  </a:ext>
                </a:extLst>
              </a:tr>
              <a:tr h="399256">
                <a:tc vMerge="1">
                  <a:txBody>
                    <a:bodyPr/>
                    <a:lstStyle/>
                    <a:p>
                      <a:pPr algn="ctr" fontAlgn="ctr"/>
                      <a:endParaRPr lang="en-US" sz="1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vMerge="1">
                  <a:txBody>
                    <a:bodyPr/>
                    <a:lstStyle/>
                    <a:p>
                      <a:pPr algn="l" fontAlgn="ctr"/>
                      <a:endParaRPr lang="vi-VN" sz="1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r>
                        <a:rPr lang="en-US" sz="1500" b="0" i="0" u="none" strike="noStrike" kern="1200">
                          <a:solidFill>
                            <a:srgbClr val="000000"/>
                          </a:solidFill>
                          <a:effectLst/>
                          <a:latin typeface="Times New Roman" panose="02020603050405020304" pitchFamily="18" charset="0"/>
                          <a:ea typeface="+mn-ea"/>
                          <a:cs typeface="Times New Roman" panose="02020603050405020304" pitchFamily="18" charset="0"/>
                        </a:rPr>
                        <a:t>Bài 4: Xử lý vùng dữ liệu</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kumimoji="0" lang="en-US" sz="15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OFF JT</a:t>
                      </a:r>
                      <a:endParaRPr lang="vi-VN" sz="1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0708665"/>
                  </a:ext>
                </a:extLst>
              </a:tr>
              <a:tr h="425456">
                <a:tc vMerge="1">
                  <a:txBody>
                    <a:bodyPr/>
                    <a:lstStyle/>
                    <a:p>
                      <a:pPr algn="ctr" fontAlgn="ctr"/>
                      <a:endParaRPr lang="en-US" sz="1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vMerge="1">
                  <a:txBody>
                    <a:bodyPr/>
                    <a:lstStyle/>
                    <a:p>
                      <a:pPr algn="l" fontAlgn="ctr"/>
                      <a:endParaRPr lang="en-US" sz="1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r>
                        <a:rPr lang="en-US" sz="1500" b="0" i="0" u="none" strike="noStrike" kern="1200">
                          <a:solidFill>
                            <a:srgbClr val="000000"/>
                          </a:solidFill>
                          <a:effectLst/>
                          <a:latin typeface="Times New Roman" panose="02020603050405020304" pitchFamily="18" charset="0"/>
                          <a:ea typeface="+mn-ea"/>
                          <a:cs typeface="Times New Roman" panose="02020603050405020304" pitchFamily="18" charset="0"/>
                        </a:rPr>
                        <a:t>Bài 5: Đóng băng dòng, cột</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kumimoji="0" lang="en-US" sz="15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OFF JT</a:t>
                      </a:r>
                      <a:endParaRPr lang="en-US" sz="1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3512337"/>
                  </a:ext>
                </a:extLst>
              </a:tr>
              <a:tr h="365708">
                <a:tc vMerge="1">
                  <a:txBody>
                    <a:bodyPr/>
                    <a:lstStyle/>
                    <a:p>
                      <a:pPr algn="ctr" fontAlgn="ctr"/>
                      <a:endParaRPr lang="en-US" sz="1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vMerge="1">
                  <a:txBody>
                    <a:bodyPr/>
                    <a:lstStyle/>
                    <a:p>
                      <a:pPr algn="l" fontAlgn="ctr"/>
                      <a:endParaRPr lang="en-US" sz="1500" b="0" i="0" u="none" strike="noStrike">
                        <a:solidFill>
                          <a:schemeClr val="tx1"/>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r>
                        <a:rPr lang="vi-VN" sz="1500" b="0" i="0" u="none" strike="noStrike" kern="1200">
                          <a:solidFill>
                            <a:srgbClr val="000000"/>
                          </a:solidFill>
                          <a:effectLst/>
                          <a:latin typeface="Times New Roman" panose="02020603050405020304" pitchFamily="18" charset="0"/>
                          <a:ea typeface="+mn-ea"/>
                          <a:cs typeface="Times New Roman" panose="02020603050405020304" pitchFamily="18" charset="0"/>
                        </a:rPr>
                        <a:t>Bài 6:</a:t>
                      </a:r>
                      <a:r>
                        <a:rPr lang="en-US" sz="1500" b="0" i="0" u="none" strike="noStrike" kern="1200">
                          <a:solidFill>
                            <a:srgbClr val="000000"/>
                          </a:solidFill>
                          <a:effectLst/>
                          <a:latin typeface="Times New Roman" panose="02020603050405020304" pitchFamily="18" charset="0"/>
                          <a:ea typeface="+mn-ea"/>
                          <a:cs typeface="Times New Roman" panose="02020603050405020304" pitchFamily="18" charset="0"/>
                        </a:rPr>
                        <a:t> </a:t>
                      </a:r>
                      <a:r>
                        <a:rPr lang="vi-VN" sz="1500" b="0" i="0" u="none" strike="noStrike" kern="1200">
                          <a:solidFill>
                            <a:srgbClr val="000000"/>
                          </a:solidFill>
                          <a:effectLst/>
                          <a:latin typeface="Times New Roman" panose="02020603050405020304" pitchFamily="18" charset="0"/>
                          <a:ea typeface="+mn-ea"/>
                          <a:cs typeface="Times New Roman" panose="02020603050405020304" pitchFamily="18" charset="0"/>
                        </a:rPr>
                        <a:t>Định dạng trang in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kumimoji="0" lang="en-US" sz="15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OFF JT</a:t>
                      </a:r>
                      <a:endParaRPr lang="en-US" sz="1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3115621"/>
                  </a:ext>
                </a:extLst>
              </a:tr>
              <a:tr h="285709">
                <a:tc vMerge="1">
                  <a:txBody>
                    <a:bodyPr/>
                    <a:lstStyle/>
                    <a:p>
                      <a:pPr algn="ctr" fontAlgn="ctr"/>
                      <a:endParaRPr lang="en-US" sz="1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vMerge="1">
                  <a:txBody>
                    <a:bodyPr/>
                    <a:lstStyle/>
                    <a:p>
                      <a:pPr algn="l" fontAlgn="ctr"/>
                      <a:endParaRPr lang="en-US" sz="1500" b="1" i="0" u="none" strike="noStrike">
                        <a:solidFill>
                          <a:schemeClr val="tx1"/>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r>
                        <a:rPr lang="en-US" sz="1500" b="0" i="0" u="none" strike="noStrike" kern="1200">
                          <a:solidFill>
                            <a:srgbClr val="000000"/>
                          </a:solidFill>
                          <a:effectLst/>
                          <a:latin typeface="Times New Roman" panose="02020603050405020304" pitchFamily="18" charset="0"/>
                          <a:ea typeface="+mn-ea"/>
                          <a:cs typeface="Times New Roman" panose="02020603050405020304" pitchFamily="18" charset="0"/>
                        </a:rPr>
                        <a:t>Bài 7: Định dạng dữ liệu theo điều kiện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kumimoji="0" lang="en-US" sz="15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OFF JT</a:t>
                      </a:r>
                      <a:endParaRPr lang="en-US" sz="1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1404255"/>
                  </a:ext>
                </a:extLst>
              </a:tr>
              <a:tr h="326908">
                <a:tc vMerge="1">
                  <a:txBody>
                    <a:bodyPr/>
                    <a:lstStyle/>
                    <a:p>
                      <a:pPr algn="ctr" fontAlgn="ctr"/>
                      <a:endParaRPr lang="en-US" sz="1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vMerge="1">
                  <a:txBody>
                    <a:bodyPr/>
                    <a:lstStyle/>
                    <a:p>
                      <a:pPr algn="l" fontAlgn="ctr"/>
                      <a:endParaRPr lang="en-US" sz="1500" b="1" i="0" u="none" strike="noStrike">
                        <a:solidFill>
                          <a:schemeClr val="tx1"/>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r>
                        <a:rPr lang="vi-VN" sz="1500" b="0" i="0" u="none" strike="noStrike" kern="1200">
                          <a:solidFill>
                            <a:srgbClr val="000000"/>
                          </a:solidFill>
                          <a:effectLst/>
                          <a:latin typeface="Times New Roman" panose="02020603050405020304" pitchFamily="18" charset="0"/>
                          <a:ea typeface="+mn-ea"/>
                          <a:cs typeface="Times New Roman" panose="02020603050405020304" pitchFamily="18" charset="0"/>
                        </a:rPr>
                        <a:t>Bài 8:</a:t>
                      </a:r>
                      <a:r>
                        <a:rPr lang="en-US" sz="1500" b="0" i="0" u="none" strike="noStrike" kern="1200">
                          <a:solidFill>
                            <a:srgbClr val="000000"/>
                          </a:solidFill>
                          <a:effectLst/>
                          <a:latin typeface="Times New Roman" panose="02020603050405020304" pitchFamily="18" charset="0"/>
                          <a:ea typeface="+mn-ea"/>
                          <a:cs typeface="Times New Roman" panose="02020603050405020304" pitchFamily="18" charset="0"/>
                        </a:rPr>
                        <a:t> </a:t>
                      </a:r>
                      <a:r>
                        <a:rPr lang="vi-VN" sz="1500" b="0" i="0" u="none" strike="noStrike" kern="1200">
                          <a:solidFill>
                            <a:srgbClr val="000000"/>
                          </a:solidFill>
                          <a:effectLst/>
                          <a:latin typeface="Times New Roman" panose="02020603050405020304" pitchFamily="18" charset="0"/>
                          <a:ea typeface="+mn-ea"/>
                          <a:cs typeface="Times New Roman" panose="02020603050405020304" pitchFamily="18" charset="0"/>
                        </a:rPr>
                        <a:t>Pivot</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OFF JT</a:t>
                      </a:r>
                      <a:endParaRPr lang="en-US" sz="1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266859"/>
                  </a:ext>
                </a:extLst>
              </a:tr>
              <a:tr h="326908">
                <a:tc vMerge="1">
                  <a:txBody>
                    <a:bodyPr/>
                    <a:lstStyle/>
                    <a:p>
                      <a:pPr algn="ctr" fontAlgn="ctr"/>
                      <a:endParaRPr lang="en-US" sz="15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vMerge="1">
                  <a:txBody>
                    <a:bodyPr/>
                    <a:lstStyle/>
                    <a:p>
                      <a:pPr algn="l" fontAlgn="ctr"/>
                      <a:endParaRPr lang="en-US" sz="1500" b="1" i="0" u="none" strike="noStrike" kern="1200">
                        <a:solidFill>
                          <a:srgbClr val="000000"/>
                        </a:solidFill>
                        <a:effectLst/>
                        <a:latin typeface="Times New Roman" panose="02020603050405020304" pitchFamily="18" charset="0"/>
                        <a:ea typeface="+mn-ea"/>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r>
                        <a:rPr lang="vi-VN" sz="1500" b="0" i="0" u="none" strike="noStrike" kern="1200">
                          <a:solidFill>
                            <a:srgbClr val="000000"/>
                          </a:solidFill>
                          <a:effectLst/>
                          <a:latin typeface="Times New Roman" panose="02020603050405020304" pitchFamily="18" charset="0"/>
                          <a:ea typeface="+mn-ea"/>
                          <a:cs typeface="Times New Roman" panose="02020603050405020304" pitchFamily="18" charset="0"/>
                        </a:rPr>
                        <a:t>Bài </a:t>
                      </a:r>
                      <a:r>
                        <a:rPr lang="en-US" sz="1500" b="0" i="0" u="none" strike="noStrike" kern="1200">
                          <a:solidFill>
                            <a:srgbClr val="000000"/>
                          </a:solidFill>
                          <a:effectLst/>
                          <a:latin typeface="Times New Roman" panose="02020603050405020304" pitchFamily="18" charset="0"/>
                          <a:ea typeface="+mn-ea"/>
                          <a:cs typeface="Times New Roman" panose="02020603050405020304" pitchFamily="18" charset="0"/>
                        </a:rPr>
                        <a:t>9</a:t>
                      </a:r>
                      <a:r>
                        <a:rPr lang="vi-VN" sz="1500" b="0" i="0" u="none" strike="noStrike" kern="1200">
                          <a:solidFill>
                            <a:srgbClr val="000000"/>
                          </a:solidFill>
                          <a:effectLst/>
                          <a:latin typeface="Times New Roman" panose="02020603050405020304" pitchFamily="18" charset="0"/>
                          <a:ea typeface="+mn-ea"/>
                          <a:cs typeface="Times New Roman" panose="02020603050405020304" pitchFamily="18" charset="0"/>
                        </a:rPr>
                        <a:t>:</a:t>
                      </a:r>
                      <a:r>
                        <a:rPr lang="en-US" sz="1500" b="0" i="0" u="none" strike="noStrike" kern="1200">
                          <a:solidFill>
                            <a:srgbClr val="000000"/>
                          </a:solidFill>
                          <a:effectLst/>
                          <a:latin typeface="Times New Roman" panose="02020603050405020304" pitchFamily="18" charset="0"/>
                          <a:ea typeface="+mn-ea"/>
                          <a:cs typeface="Times New Roman" panose="02020603050405020304" pitchFamily="18" charset="0"/>
                        </a:rPr>
                        <a:t> </a:t>
                      </a:r>
                      <a:r>
                        <a:rPr lang="vi-VN" sz="1500" b="0" i="0" u="none" strike="noStrike" kern="1200">
                          <a:solidFill>
                            <a:srgbClr val="000000"/>
                          </a:solidFill>
                          <a:effectLst/>
                          <a:latin typeface="Times New Roman" panose="02020603050405020304" pitchFamily="18" charset="0"/>
                          <a:ea typeface="+mn-ea"/>
                          <a:cs typeface="Times New Roman" panose="02020603050405020304" pitchFamily="18" charset="0"/>
                        </a:rPr>
                        <a:t>Chia sẻ file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OFF JT</a:t>
                      </a:r>
                      <a:endParaRPr lang="en-US" sz="1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8617688"/>
                  </a:ext>
                </a:extLst>
              </a:tr>
              <a:tr h="326908">
                <a:tc vMerge="1">
                  <a:txBody>
                    <a:bodyPr/>
                    <a:lstStyle/>
                    <a:p>
                      <a:pPr algn="ctr" fontAlgn="ctr"/>
                      <a:endParaRPr lang="en-US" sz="15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vMerge="1">
                  <a:txBody>
                    <a:bodyPr/>
                    <a:lstStyle/>
                    <a:p>
                      <a:pPr algn="l" fontAlgn="ctr"/>
                      <a:endParaRPr lang="en-US" sz="1500" b="1" i="0" u="none" strike="noStrike" kern="1200">
                        <a:solidFill>
                          <a:srgbClr val="000000"/>
                        </a:solidFill>
                        <a:effectLst/>
                        <a:latin typeface="Times New Roman" panose="02020603050405020304" pitchFamily="18" charset="0"/>
                        <a:ea typeface="+mn-ea"/>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r>
                        <a:rPr lang="vi-VN" sz="1500" b="0" i="0" u="none" strike="noStrike" kern="1200">
                          <a:solidFill>
                            <a:srgbClr val="000000"/>
                          </a:solidFill>
                          <a:effectLst/>
                          <a:latin typeface="Times New Roman" panose="02020603050405020304" pitchFamily="18" charset="0"/>
                          <a:ea typeface="+mn-ea"/>
                          <a:cs typeface="Times New Roman" panose="02020603050405020304" pitchFamily="18" charset="0"/>
                        </a:rPr>
                        <a:t>Bài </a:t>
                      </a:r>
                      <a:r>
                        <a:rPr lang="en-US" sz="1500" b="0" i="0" u="none" strike="noStrike" kern="1200">
                          <a:solidFill>
                            <a:srgbClr val="000000"/>
                          </a:solidFill>
                          <a:effectLst/>
                          <a:latin typeface="Times New Roman" panose="02020603050405020304" pitchFamily="18" charset="0"/>
                          <a:ea typeface="+mn-ea"/>
                          <a:cs typeface="Times New Roman" panose="02020603050405020304" pitchFamily="18" charset="0"/>
                        </a:rPr>
                        <a:t>10</a:t>
                      </a:r>
                      <a:r>
                        <a:rPr lang="vi-VN" sz="1500" b="0" i="0" u="none" strike="noStrike" kern="1200">
                          <a:solidFill>
                            <a:srgbClr val="000000"/>
                          </a:solidFill>
                          <a:effectLst/>
                          <a:latin typeface="Times New Roman" panose="02020603050405020304" pitchFamily="18" charset="0"/>
                          <a:ea typeface="+mn-ea"/>
                          <a:cs typeface="Times New Roman" panose="02020603050405020304" pitchFamily="18" charset="0"/>
                        </a:rPr>
                        <a:t>:</a:t>
                      </a:r>
                      <a:r>
                        <a:rPr lang="en-US" sz="1500" b="0" i="0" u="none" strike="noStrike" kern="1200">
                          <a:solidFill>
                            <a:srgbClr val="000000"/>
                          </a:solidFill>
                          <a:effectLst/>
                          <a:latin typeface="Times New Roman" panose="02020603050405020304" pitchFamily="18" charset="0"/>
                          <a:ea typeface="+mn-ea"/>
                          <a:cs typeface="Times New Roman" panose="02020603050405020304" pitchFamily="18" charset="0"/>
                        </a:rPr>
                        <a:t> </a:t>
                      </a:r>
                      <a:r>
                        <a:rPr lang="vi-VN" sz="1500" b="0" i="0" u="none" strike="noStrike" kern="1200">
                          <a:solidFill>
                            <a:srgbClr val="000000"/>
                          </a:solidFill>
                          <a:effectLst/>
                          <a:latin typeface="Times New Roman" panose="02020603050405020304" pitchFamily="18" charset="0"/>
                          <a:ea typeface="+mn-ea"/>
                          <a:cs typeface="Times New Roman" panose="02020603050405020304" pitchFamily="18" charset="0"/>
                        </a:rPr>
                        <a:t>Khóa file bằng mật khẩu</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OFF JT</a:t>
                      </a:r>
                      <a:endParaRPr lang="en-US" sz="1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2475603"/>
                  </a:ext>
                </a:extLst>
              </a:tr>
              <a:tr h="326908">
                <a:tc>
                  <a:txBody>
                    <a:bodyPr/>
                    <a:lstStyle/>
                    <a:p>
                      <a:pPr algn="ctr" fontAlgn="ctr"/>
                      <a:endParaRPr lang="en-US" sz="15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endParaRPr lang="en-US" sz="1500" b="1" i="0" u="none" strike="noStrike" kern="1200">
                        <a:solidFill>
                          <a:srgbClr val="000000"/>
                        </a:solidFill>
                        <a:effectLst/>
                        <a:latin typeface="Times New Roman" panose="02020603050405020304" pitchFamily="18" charset="0"/>
                        <a:ea typeface="+mn-ea"/>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r>
                        <a:rPr lang="vi-VN" sz="1500" b="0" i="0" u="none" strike="noStrike" kern="1200">
                          <a:solidFill>
                            <a:srgbClr val="000000"/>
                          </a:solidFill>
                          <a:effectLst/>
                          <a:latin typeface="Times New Roman" panose="02020603050405020304" pitchFamily="18" charset="0"/>
                          <a:ea typeface="+mn-ea"/>
                          <a:cs typeface="Times New Roman" panose="02020603050405020304" pitchFamily="18" charset="0"/>
                        </a:rPr>
                        <a:t>Bài </a:t>
                      </a:r>
                      <a:r>
                        <a:rPr lang="en-US" sz="1500" b="0" i="0" u="none" strike="noStrike" kern="1200">
                          <a:solidFill>
                            <a:srgbClr val="000000"/>
                          </a:solidFill>
                          <a:effectLst/>
                          <a:latin typeface="Times New Roman" panose="02020603050405020304" pitchFamily="18" charset="0"/>
                          <a:ea typeface="+mn-ea"/>
                          <a:cs typeface="Times New Roman" panose="02020603050405020304" pitchFamily="18" charset="0"/>
                        </a:rPr>
                        <a:t>11</a:t>
                      </a:r>
                      <a:r>
                        <a:rPr lang="vi-VN" sz="1500" b="0" i="0" u="none" strike="noStrike" kern="1200">
                          <a:solidFill>
                            <a:srgbClr val="000000"/>
                          </a:solidFill>
                          <a:effectLst/>
                          <a:latin typeface="Times New Roman" panose="02020603050405020304" pitchFamily="18" charset="0"/>
                          <a:ea typeface="+mn-ea"/>
                          <a:cs typeface="Times New Roman" panose="02020603050405020304" pitchFamily="18" charset="0"/>
                        </a:rPr>
                        <a:t>:</a:t>
                      </a:r>
                      <a:r>
                        <a:rPr lang="en-US" sz="1500" b="0" i="0" u="none" strike="noStrike" kern="1200">
                          <a:solidFill>
                            <a:srgbClr val="000000"/>
                          </a:solidFill>
                          <a:effectLst/>
                          <a:latin typeface="Times New Roman" panose="02020603050405020304" pitchFamily="18" charset="0"/>
                          <a:ea typeface="+mn-ea"/>
                          <a:cs typeface="Times New Roman" panose="02020603050405020304" pitchFamily="18" charset="0"/>
                        </a:rPr>
                        <a:t> </a:t>
                      </a:r>
                      <a:r>
                        <a:rPr lang="vi-VN" sz="1500" b="0" i="0" u="none" strike="noStrike" kern="1200">
                          <a:solidFill>
                            <a:srgbClr val="000000"/>
                          </a:solidFill>
                          <a:effectLst/>
                          <a:latin typeface="Times New Roman" panose="02020603050405020304" pitchFamily="18" charset="0"/>
                          <a:ea typeface="+mn-ea"/>
                          <a:cs typeface="Times New Roman" panose="02020603050405020304" pitchFamily="18" charset="0"/>
                        </a:rPr>
                        <a:t>Loại bỏ dữ liệu trùng lặp</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OFF JT</a:t>
                      </a:r>
                      <a:endParaRPr lang="en-US" sz="1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86701"/>
                  </a:ext>
                </a:extLst>
              </a:tr>
              <a:tr h="326908">
                <a:tc>
                  <a:txBody>
                    <a:bodyPr/>
                    <a:lstStyle/>
                    <a:p>
                      <a:pPr algn="ctr" fontAlgn="ctr"/>
                      <a:endParaRPr lang="en-US" sz="15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endParaRPr lang="en-US" sz="1500" b="1" i="0" u="none" strike="noStrike" kern="1200">
                        <a:solidFill>
                          <a:srgbClr val="000000"/>
                        </a:solidFill>
                        <a:effectLst/>
                        <a:latin typeface="Times New Roman" panose="02020603050405020304" pitchFamily="18" charset="0"/>
                        <a:ea typeface="+mn-ea"/>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r>
                        <a:rPr lang="vi-VN" sz="1500" b="0" i="0" u="none" strike="noStrike" kern="1200">
                          <a:solidFill>
                            <a:srgbClr val="000000"/>
                          </a:solidFill>
                          <a:effectLst/>
                          <a:latin typeface="Times New Roman" panose="02020603050405020304" pitchFamily="18" charset="0"/>
                          <a:ea typeface="+mn-ea"/>
                          <a:cs typeface="Times New Roman" panose="02020603050405020304" pitchFamily="18" charset="0"/>
                        </a:rPr>
                        <a:t>Bài </a:t>
                      </a:r>
                      <a:r>
                        <a:rPr lang="en-US" sz="1500" b="0" i="0" u="none" strike="noStrike" kern="1200">
                          <a:solidFill>
                            <a:srgbClr val="000000"/>
                          </a:solidFill>
                          <a:effectLst/>
                          <a:latin typeface="Times New Roman" panose="02020603050405020304" pitchFamily="18" charset="0"/>
                          <a:ea typeface="+mn-ea"/>
                          <a:cs typeface="Times New Roman" panose="02020603050405020304" pitchFamily="18" charset="0"/>
                        </a:rPr>
                        <a:t>12</a:t>
                      </a:r>
                      <a:r>
                        <a:rPr lang="vi-VN" sz="1500" b="0" i="0" u="none" strike="noStrike" kern="1200">
                          <a:solidFill>
                            <a:srgbClr val="000000"/>
                          </a:solidFill>
                          <a:effectLst/>
                          <a:latin typeface="Times New Roman" panose="02020603050405020304" pitchFamily="18" charset="0"/>
                          <a:ea typeface="+mn-ea"/>
                          <a:cs typeface="Times New Roman" panose="02020603050405020304" pitchFamily="18" charset="0"/>
                        </a:rPr>
                        <a:t>:</a:t>
                      </a:r>
                      <a:r>
                        <a:rPr lang="en-US" sz="1500" b="0" i="0" u="none" strike="noStrike" kern="1200">
                          <a:solidFill>
                            <a:srgbClr val="000000"/>
                          </a:solidFill>
                          <a:effectLst/>
                          <a:latin typeface="Times New Roman" panose="02020603050405020304" pitchFamily="18" charset="0"/>
                          <a:ea typeface="+mn-ea"/>
                          <a:cs typeface="Times New Roman" panose="02020603050405020304" pitchFamily="18" charset="0"/>
                        </a:rPr>
                        <a:t> </a:t>
                      </a:r>
                      <a:r>
                        <a:rPr lang="vi-VN" sz="1500" b="0" i="0" u="none" strike="noStrike" kern="1200">
                          <a:solidFill>
                            <a:srgbClr val="000000"/>
                          </a:solidFill>
                          <a:effectLst/>
                          <a:latin typeface="Times New Roman" panose="02020603050405020304" pitchFamily="18" charset="0"/>
                          <a:ea typeface="+mn-ea"/>
                          <a:cs typeface="Times New Roman" panose="02020603050405020304" pitchFamily="18" charset="0"/>
                        </a:rPr>
                        <a:t>Các thông báo &amp; cài đặt mặc định</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OFF JT</a:t>
                      </a:r>
                      <a:endParaRPr lang="en-US" sz="1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1303308"/>
                  </a:ext>
                </a:extLst>
              </a:tr>
            </a:tbl>
          </a:graphicData>
        </a:graphic>
      </p:graphicFrame>
    </p:spTree>
    <p:extLst>
      <p:ext uri="{BB962C8B-B14F-4D97-AF65-F5344CB8AC3E}">
        <p14:creationId xmlns:p14="http://schemas.microsoft.com/office/powerpoint/2010/main" val="2936913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307B83-93A1-9E9C-E427-A77F2930EF38}"/>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Mục lục</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AFB8DC48-9C12-088B-5A2C-B5A7EADFDC1F}"/>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graphicFrame>
        <p:nvGraphicFramePr>
          <p:cNvPr id="7" name="Table 5">
            <a:extLst>
              <a:ext uri="{FF2B5EF4-FFF2-40B4-BE49-F238E27FC236}">
                <a16:creationId xmlns:a16="http://schemas.microsoft.com/office/drawing/2014/main" id="{D1B9EB5E-4D33-7E63-DA8B-3A2529DDADF6}"/>
              </a:ext>
            </a:extLst>
          </p:cNvPr>
          <p:cNvGraphicFramePr>
            <a:graphicFrameLocks noGrp="1"/>
          </p:cNvGraphicFramePr>
          <p:nvPr>
            <p:extLst>
              <p:ext uri="{D42A27DB-BD31-4B8C-83A1-F6EECF244321}">
                <p14:modId xmlns:p14="http://schemas.microsoft.com/office/powerpoint/2010/main" val="3014100623"/>
              </p:ext>
            </p:extLst>
          </p:nvPr>
        </p:nvGraphicFramePr>
        <p:xfrm>
          <a:off x="457200" y="795130"/>
          <a:ext cx="11353800" cy="4789850"/>
        </p:xfrm>
        <a:graphic>
          <a:graphicData uri="http://schemas.openxmlformats.org/drawingml/2006/table">
            <a:tbl>
              <a:tblPr firstRow="1" bandRow="1">
                <a:tableStyleId>{2D5ABB26-0587-4C30-8999-92F81FD0307C}</a:tableStyleId>
              </a:tblPr>
              <a:tblGrid>
                <a:gridCol w="586489">
                  <a:extLst>
                    <a:ext uri="{9D8B030D-6E8A-4147-A177-3AD203B41FA5}">
                      <a16:colId xmlns:a16="http://schemas.microsoft.com/office/drawing/2014/main" val="3741060136"/>
                    </a:ext>
                  </a:extLst>
                </a:gridCol>
                <a:gridCol w="1851911">
                  <a:extLst>
                    <a:ext uri="{9D8B030D-6E8A-4147-A177-3AD203B41FA5}">
                      <a16:colId xmlns:a16="http://schemas.microsoft.com/office/drawing/2014/main" val="3345785645"/>
                    </a:ext>
                  </a:extLst>
                </a:gridCol>
                <a:gridCol w="6629400">
                  <a:extLst>
                    <a:ext uri="{9D8B030D-6E8A-4147-A177-3AD203B41FA5}">
                      <a16:colId xmlns:a16="http://schemas.microsoft.com/office/drawing/2014/main" val="1064570306"/>
                    </a:ext>
                  </a:extLst>
                </a:gridCol>
                <a:gridCol w="2286000">
                  <a:extLst>
                    <a:ext uri="{9D8B030D-6E8A-4147-A177-3AD203B41FA5}">
                      <a16:colId xmlns:a16="http://schemas.microsoft.com/office/drawing/2014/main" val="2450495970"/>
                    </a:ext>
                  </a:extLst>
                </a:gridCol>
              </a:tblGrid>
              <a:tr h="545506">
                <a:tc>
                  <a:txBody>
                    <a:bodyPr/>
                    <a:lstStyle/>
                    <a:p>
                      <a:pPr algn="ctr" fontAlgn="ctr"/>
                      <a:r>
                        <a:rPr lang="en-US" sz="1500" b="1" u="none" strike="noStrike">
                          <a:solidFill>
                            <a:srgbClr val="000000"/>
                          </a:solidFill>
                          <a:effectLst/>
                          <a:latin typeface="Times New Roman" panose="02020603050405020304" pitchFamily="18" charset="0"/>
                          <a:cs typeface="Times New Roman" panose="02020603050405020304" pitchFamily="18" charset="0"/>
                        </a:rPr>
                        <a:t>No</a:t>
                      </a:r>
                      <a:endParaRPr lang="en-US" sz="15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500" b="1" u="none" strike="noStrike">
                          <a:solidFill>
                            <a:srgbClr val="000000"/>
                          </a:solidFill>
                          <a:effectLst/>
                          <a:latin typeface="Times New Roman" panose="02020603050405020304" pitchFamily="18" charset="0"/>
                          <a:cs typeface="Times New Roman" panose="02020603050405020304" pitchFamily="18" charset="0"/>
                        </a:rPr>
                        <a:t>Hạng mục</a:t>
                      </a:r>
                    </a:p>
                    <a:p>
                      <a:pPr algn="l" fontAlgn="ctr"/>
                      <a:r>
                        <a:rPr lang="ja-JP" altLang="en-US" sz="1500" b="1" i="0" u="none" strike="noStrike">
                          <a:solidFill>
                            <a:srgbClr val="000000"/>
                          </a:solidFill>
                          <a:effectLst/>
                          <a:latin typeface="Times New Roman" panose="02020603050405020304" pitchFamily="18" charset="0"/>
                          <a:cs typeface="Times New Roman" panose="02020603050405020304" pitchFamily="18" charset="0"/>
                        </a:rPr>
                        <a:t>項目</a:t>
                      </a:r>
                      <a:endParaRPr lang="en-US" sz="15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500" b="1" i="0" u="none" strike="noStrike">
                          <a:solidFill>
                            <a:srgbClr val="000000"/>
                          </a:solidFill>
                          <a:effectLst/>
                          <a:latin typeface="Times New Roman" panose="02020603050405020304" pitchFamily="18" charset="0"/>
                          <a:cs typeface="Times New Roman" panose="02020603050405020304" pitchFamily="18" charset="0"/>
                        </a:rPr>
                        <a:t>Nội dung thực hiện</a:t>
                      </a:r>
                    </a:p>
                    <a:p>
                      <a:pPr algn="ctr" fontAlgn="ctr"/>
                      <a:r>
                        <a:rPr lang="ja-JP" altLang="en-US" sz="1500" b="1" i="0" u="none" strike="noStrike">
                          <a:solidFill>
                            <a:srgbClr val="000000"/>
                          </a:solidFill>
                          <a:effectLst/>
                          <a:latin typeface="Times New Roman" panose="02020603050405020304" pitchFamily="18" charset="0"/>
                          <a:cs typeface="Times New Roman" panose="02020603050405020304" pitchFamily="18" charset="0"/>
                        </a:rPr>
                        <a:t>実施内容</a:t>
                      </a:r>
                      <a:endParaRPr lang="en-US" sz="15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500" b="1" u="none" strike="noStrike">
                          <a:solidFill>
                            <a:srgbClr val="000000"/>
                          </a:solidFill>
                          <a:effectLst/>
                          <a:latin typeface="Times New Roman" panose="02020603050405020304" pitchFamily="18" charset="0"/>
                          <a:cs typeface="Times New Roman" panose="02020603050405020304" pitchFamily="18" charset="0"/>
                        </a:rPr>
                        <a:t>Phương thức đào tạo</a:t>
                      </a:r>
                    </a:p>
                    <a:p>
                      <a:pPr algn="ctr" fontAlgn="ctr"/>
                      <a:r>
                        <a:rPr lang="ja-JP" altLang="en-US" sz="1500" b="1" i="0" u="none" strike="noStrike">
                          <a:solidFill>
                            <a:srgbClr val="000000"/>
                          </a:solidFill>
                          <a:effectLst/>
                          <a:latin typeface="Times New Roman" panose="02020603050405020304" pitchFamily="18" charset="0"/>
                          <a:cs typeface="Times New Roman" panose="02020603050405020304" pitchFamily="18" charset="0"/>
                        </a:rPr>
                        <a:t>教育方法</a:t>
                      </a:r>
                      <a:endParaRPr lang="en-US" sz="15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8833448"/>
                  </a:ext>
                </a:extLst>
              </a:tr>
              <a:tr h="461301">
                <a:tc rowSpan="4">
                  <a:txBody>
                    <a:bodyPr/>
                    <a:lstStyle/>
                    <a:p>
                      <a:pPr algn="ctr" fontAlgn="ctr"/>
                      <a:r>
                        <a:rPr lang="en-US" sz="1500" b="1" i="0" u="none" strike="noStrike" kern="1200">
                          <a:solidFill>
                            <a:srgbClr val="000000"/>
                          </a:solidFill>
                          <a:effectLst/>
                          <a:latin typeface="Times New Roman" panose="02020603050405020304" pitchFamily="18" charset="0"/>
                          <a:ea typeface="+mn-ea"/>
                          <a:cs typeface="Times New Roman" panose="02020603050405020304" pitchFamily="18" charset="0"/>
                        </a:rPr>
                        <a:t>II</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rowSpan="4">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400" b="1">
                          <a:latin typeface="Times New Roman" panose="02020603050405020304" pitchFamily="18" charset="0"/>
                          <a:cs typeface="Times New Roman" panose="02020603050405020304" pitchFamily="18" charset="0"/>
                        </a:rPr>
                        <a:t>POWER POINT</a:t>
                      </a:r>
                      <a:endParaRPr lang="en-US" sz="1400" b="1" i="0" u="none" strike="noStrike" kern="1200">
                        <a:solidFill>
                          <a:srgbClr val="000000"/>
                        </a:solidFill>
                        <a:effectLst/>
                        <a:latin typeface="Times New Roman" panose="02020603050405020304" pitchFamily="18" charset="0"/>
                        <a:ea typeface="+mn-ea"/>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500" b="0" i="0" u="none" strike="noStrike" kern="1200">
                          <a:solidFill>
                            <a:srgbClr val="000000"/>
                          </a:solidFill>
                          <a:effectLst/>
                          <a:latin typeface="Times New Roman" panose="02020603050405020304" pitchFamily="18" charset="0"/>
                          <a:ea typeface="+mn-ea"/>
                          <a:cs typeface="Times New Roman" panose="02020603050405020304" pitchFamily="18" charset="0"/>
                        </a:rPr>
                        <a:t>Bài 13: Thêm tài nguyên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OFF JT</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6913654"/>
                  </a:ext>
                </a:extLst>
              </a:tr>
              <a:tr h="461301">
                <a:tc vMerge="1">
                  <a:txBody>
                    <a:bodyPr/>
                    <a:lstStyle/>
                    <a:p>
                      <a:pPr algn="ctr" fontAlgn="ctr"/>
                      <a:endParaRPr lang="en-US" sz="15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vMerge="1">
                  <a:txBody>
                    <a:bodyPr/>
                    <a:lstStyle/>
                    <a:p>
                      <a:pPr algn="l" fontAlgn="ctr"/>
                      <a:endParaRPr lang="en-US" sz="1500" b="1" i="0" u="none" strike="noStrike" kern="1200">
                        <a:solidFill>
                          <a:srgbClr val="000000"/>
                        </a:solidFill>
                        <a:effectLst/>
                        <a:latin typeface="Times New Roman" panose="02020603050405020304" pitchFamily="18" charset="0"/>
                        <a:ea typeface="+mn-ea"/>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500" b="0" i="0" u="none" strike="noStrike" kern="1200">
                          <a:solidFill>
                            <a:srgbClr val="000000"/>
                          </a:solidFill>
                          <a:effectLst/>
                          <a:latin typeface="Times New Roman" panose="02020603050405020304" pitchFamily="18" charset="0"/>
                          <a:ea typeface="+mn-ea"/>
                          <a:cs typeface="Times New Roman" panose="02020603050405020304" pitchFamily="18" charset="0"/>
                        </a:rPr>
                        <a:t>Bài 14: Hiệu ứng chuyển slide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OFF JT</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0161788"/>
                  </a:ext>
                </a:extLst>
              </a:tr>
              <a:tr h="461301">
                <a:tc vMerge="1">
                  <a:txBody>
                    <a:bodyPr/>
                    <a:lstStyle/>
                    <a:p>
                      <a:pPr algn="ctr" fontAlgn="ctr"/>
                      <a:endParaRPr lang="en-US" sz="15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vMerge="1">
                  <a:txBody>
                    <a:bodyPr/>
                    <a:lstStyle/>
                    <a:p>
                      <a:pPr algn="l" fontAlgn="ctr"/>
                      <a:endParaRPr lang="en-US" sz="1500" b="1" i="0" u="none" strike="noStrike" kern="1200">
                        <a:solidFill>
                          <a:srgbClr val="000000"/>
                        </a:solidFill>
                        <a:effectLst/>
                        <a:latin typeface="Times New Roman" panose="02020603050405020304" pitchFamily="18" charset="0"/>
                        <a:ea typeface="+mn-ea"/>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500" b="0" i="0" u="none" strike="noStrike" kern="1200">
                          <a:solidFill>
                            <a:srgbClr val="000000"/>
                          </a:solidFill>
                          <a:effectLst/>
                          <a:latin typeface="Times New Roman" panose="02020603050405020304" pitchFamily="18" charset="0"/>
                          <a:ea typeface="+mn-ea"/>
                          <a:cs typeface="Times New Roman" panose="02020603050405020304" pitchFamily="18" charset="0"/>
                        </a:rPr>
                        <a:t>Bài 15: Hiệu ứng trong slide (Animations)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OFF JT</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4520531"/>
                  </a:ext>
                </a:extLst>
              </a:tr>
              <a:tr h="461301">
                <a:tc vMerge="1">
                  <a:txBody>
                    <a:bodyPr/>
                    <a:lstStyle/>
                    <a:p>
                      <a:pPr algn="ctr" fontAlgn="ctr"/>
                      <a:endParaRPr lang="en-US" sz="15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vMerge="1">
                  <a:txBody>
                    <a:bodyPr/>
                    <a:lstStyle/>
                    <a:p>
                      <a:pPr algn="l" fontAlgn="ctr"/>
                      <a:endParaRPr lang="en-US" sz="1500" b="1" i="0" u="none" strike="noStrike" kern="1200">
                        <a:solidFill>
                          <a:srgbClr val="000000"/>
                        </a:solidFill>
                        <a:effectLst/>
                        <a:latin typeface="Times New Roman" panose="02020603050405020304" pitchFamily="18" charset="0"/>
                        <a:ea typeface="+mn-ea"/>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a:r>
                        <a:rPr lang="en-US" sz="1500" b="0" i="0" u="none" strike="noStrike" kern="1200">
                          <a:solidFill>
                            <a:srgbClr val="000000"/>
                          </a:solidFill>
                          <a:effectLst/>
                          <a:latin typeface="Times New Roman" panose="02020603050405020304" pitchFamily="18" charset="0"/>
                          <a:ea typeface="+mn-ea"/>
                          <a:cs typeface="Times New Roman" panose="02020603050405020304" pitchFamily="18" charset="0"/>
                        </a:rPr>
                        <a:t>Bài 16: Slide Master</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OFF JT</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6946114"/>
                  </a:ext>
                </a:extLst>
              </a:tr>
              <a:tr h="461301">
                <a:tc rowSpan="6">
                  <a:txBody>
                    <a:bodyPr/>
                    <a:lstStyle/>
                    <a:p>
                      <a:pPr algn="ctr" fontAlgn="ctr"/>
                      <a:r>
                        <a:rPr lang="en-US" sz="1500" b="1" i="0" u="none" strike="noStrike">
                          <a:solidFill>
                            <a:srgbClr val="000000"/>
                          </a:solidFill>
                          <a:effectLst/>
                          <a:latin typeface="Times New Roman" panose="02020603050405020304" pitchFamily="18" charset="0"/>
                          <a:cs typeface="Times New Roman" panose="02020603050405020304" pitchFamily="18" charset="0"/>
                        </a:rPr>
                        <a:t>III</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rowSpan="6">
                  <a:txBody>
                    <a:bodyPr/>
                    <a:lstStyle/>
                    <a:p>
                      <a:pPr algn="l" fontAlgn="ctr"/>
                      <a:r>
                        <a:rPr lang="en-US" sz="1600" b="1" i="0" u="none" strike="noStrike" kern="1200">
                          <a:solidFill>
                            <a:srgbClr val="000000"/>
                          </a:solidFill>
                          <a:effectLst/>
                          <a:latin typeface="Times New Roman" panose="02020603050405020304" pitchFamily="18" charset="0"/>
                          <a:ea typeface="+mn-ea"/>
                          <a:cs typeface="Times New Roman" panose="02020603050405020304" pitchFamily="18" charset="0"/>
                        </a:rPr>
                        <a:t>WORD</a:t>
                      </a:r>
                      <a:endParaRPr lang="en-US" sz="1500" b="1" i="0" u="none" strike="noStrike" kern="1200">
                        <a:solidFill>
                          <a:srgbClr val="000000"/>
                        </a:solidFill>
                        <a:effectLst/>
                        <a:latin typeface="Times New Roman" panose="02020603050405020304" pitchFamily="18" charset="0"/>
                        <a:ea typeface="+mn-ea"/>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r>
                        <a:rPr lang="en-US" sz="1500" b="0" i="0" u="none" strike="noStrike" kern="1200">
                          <a:solidFill>
                            <a:srgbClr val="000000"/>
                          </a:solidFill>
                          <a:effectLst/>
                          <a:latin typeface="Times New Roman" panose="02020603050405020304" pitchFamily="18" charset="0"/>
                          <a:ea typeface="+mn-ea"/>
                          <a:cs typeface="Times New Roman" panose="02020603050405020304" pitchFamily="18" charset="0"/>
                        </a:rPr>
                        <a:t>Bài 17: Tìm kiếm và thay thế</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lang="en-US" sz="1500" b="0" i="0" u="none" strike="noStrike">
                          <a:solidFill>
                            <a:srgbClr val="000000"/>
                          </a:solidFill>
                          <a:effectLst/>
                          <a:latin typeface="Times New Roman" panose="02020603050405020304" pitchFamily="18" charset="0"/>
                          <a:cs typeface="Times New Roman" panose="02020603050405020304" pitchFamily="18" charset="0"/>
                        </a:rPr>
                        <a:t>OFF JT</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4206721"/>
                  </a:ext>
                </a:extLst>
              </a:tr>
              <a:tr h="436470">
                <a:tc vMerge="1">
                  <a:txBody>
                    <a:bodyPr/>
                    <a:lstStyle/>
                    <a:p>
                      <a:pPr algn="ctr" fontAlgn="ctr"/>
                      <a:endParaRPr lang="en-US" sz="1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vMerge="1">
                  <a:txBody>
                    <a:bodyPr/>
                    <a:lstStyle/>
                    <a:p>
                      <a:pPr algn="l" fontAlgn="ctr"/>
                      <a:endParaRPr lang="vi-VN" sz="1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r>
                        <a:rPr lang="en-US" sz="1500" b="0" i="0" u="none" strike="noStrike" kern="1200">
                          <a:solidFill>
                            <a:srgbClr val="000000"/>
                          </a:solidFill>
                          <a:effectLst/>
                          <a:latin typeface="Times New Roman" panose="02020603050405020304" pitchFamily="18" charset="0"/>
                          <a:ea typeface="+mn-ea"/>
                          <a:cs typeface="Times New Roman" panose="02020603050405020304" pitchFamily="18" charset="0"/>
                        </a:rPr>
                        <a:t>Bài 18: </a:t>
                      </a:r>
                      <a:r>
                        <a:rPr lang="vi-VN" sz="1500" b="0" i="0" u="none" strike="noStrike" kern="1200">
                          <a:solidFill>
                            <a:srgbClr val="000000"/>
                          </a:solidFill>
                          <a:effectLst/>
                          <a:latin typeface="Times New Roman" panose="02020603050405020304" pitchFamily="18" charset="0"/>
                          <a:ea typeface="+mn-ea"/>
                          <a:cs typeface="Times New Roman" panose="02020603050405020304" pitchFamily="18" charset="0"/>
                        </a:rPr>
                        <a:t>Thay đổi thành kiểu chữ hoa hay chữ thường</a:t>
                      </a:r>
                      <a:endParaRPr lang="en-US" sz="1500" b="0" i="0" u="none" strike="noStrike" kern="1200">
                        <a:solidFill>
                          <a:srgbClr val="000000"/>
                        </a:solidFill>
                        <a:effectLst/>
                        <a:latin typeface="Times New Roman" panose="02020603050405020304" pitchFamily="18" charset="0"/>
                        <a:ea typeface="+mn-ea"/>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kumimoji="0" lang="en-US" sz="15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OFF JT</a:t>
                      </a:r>
                      <a:endParaRPr lang="vi-VN" sz="1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8804331"/>
                  </a:ext>
                </a:extLst>
              </a:tr>
              <a:tr h="352393">
                <a:tc vMerge="1">
                  <a:txBody>
                    <a:bodyPr/>
                    <a:lstStyle/>
                    <a:p>
                      <a:pPr algn="ctr" fontAlgn="ctr"/>
                      <a:endParaRPr lang="en-US" sz="1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vMerge="1">
                  <a:txBody>
                    <a:bodyPr/>
                    <a:lstStyle/>
                    <a:p>
                      <a:pPr algn="l" fontAlgn="ctr"/>
                      <a:endParaRPr lang="en-US" sz="15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r>
                        <a:rPr lang="vi-VN" sz="1500" b="0" i="0" u="none" strike="noStrike" kern="1200">
                          <a:solidFill>
                            <a:srgbClr val="000000"/>
                          </a:solidFill>
                          <a:effectLst/>
                          <a:latin typeface="Times New Roman" panose="02020603050405020304" pitchFamily="18" charset="0"/>
                          <a:ea typeface="+mn-ea"/>
                          <a:cs typeface="Times New Roman" panose="02020603050405020304" pitchFamily="18" charset="0"/>
                        </a:rPr>
                        <a:t>Bài </a:t>
                      </a:r>
                      <a:r>
                        <a:rPr lang="en-US" sz="1500" b="0" i="0" u="none" strike="noStrike" kern="1200">
                          <a:solidFill>
                            <a:srgbClr val="000000"/>
                          </a:solidFill>
                          <a:effectLst/>
                          <a:latin typeface="Times New Roman" panose="02020603050405020304" pitchFamily="18" charset="0"/>
                          <a:ea typeface="+mn-ea"/>
                          <a:cs typeface="Times New Roman" panose="02020603050405020304" pitchFamily="18" charset="0"/>
                        </a:rPr>
                        <a:t>19</a:t>
                      </a:r>
                      <a:r>
                        <a:rPr lang="vi-VN" sz="1500" b="0" i="0" u="none" strike="noStrike" kern="1200">
                          <a:solidFill>
                            <a:srgbClr val="000000"/>
                          </a:solidFill>
                          <a:effectLst/>
                          <a:latin typeface="Times New Roman" panose="02020603050405020304" pitchFamily="18" charset="0"/>
                          <a:ea typeface="+mn-ea"/>
                          <a:cs typeface="Times New Roman" panose="02020603050405020304" pitchFamily="18" charset="0"/>
                        </a:rPr>
                        <a:t>: Đánh số tự động</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kumimoji="0" lang="en-US" sz="15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OFF JT</a:t>
                      </a:r>
                      <a:endParaRPr lang="en-US" sz="1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74184618"/>
                  </a:ext>
                </a:extLst>
              </a:tr>
              <a:tr h="385356">
                <a:tc vMerge="1">
                  <a:txBody>
                    <a:bodyPr/>
                    <a:lstStyle/>
                    <a:p>
                      <a:pPr algn="ctr" fontAlgn="ctr"/>
                      <a:endParaRPr lang="en-US" sz="1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vMerge="1">
                  <a:txBody>
                    <a:bodyPr/>
                    <a:lstStyle/>
                    <a:p>
                      <a:pPr algn="l" fontAlgn="ctr"/>
                      <a:endParaRPr lang="vi-VN" sz="1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r>
                        <a:rPr lang="en-US" sz="1500" b="0" i="0" u="none" strike="noStrike" kern="1200">
                          <a:solidFill>
                            <a:srgbClr val="000000"/>
                          </a:solidFill>
                          <a:effectLst/>
                          <a:latin typeface="Times New Roman" panose="02020603050405020304" pitchFamily="18" charset="0"/>
                          <a:ea typeface="+mn-ea"/>
                          <a:cs typeface="Times New Roman" panose="02020603050405020304" pitchFamily="18" charset="0"/>
                        </a:rPr>
                        <a:t>Bài 20: Chỉnh sửa Header – Footer</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kumimoji="0" lang="en-US" sz="15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OFF JT</a:t>
                      </a:r>
                      <a:endParaRPr lang="vi-VN" sz="1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0708665"/>
                  </a:ext>
                </a:extLst>
              </a:tr>
              <a:tr h="410644">
                <a:tc vMerge="1">
                  <a:txBody>
                    <a:bodyPr/>
                    <a:lstStyle/>
                    <a:p>
                      <a:pPr algn="ctr" fontAlgn="ctr"/>
                      <a:endParaRPr lang="en-US" sz="1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vMerge="1">
                  <a:txBody>
                    <a:bodyPr/>
                    <a:lstStyle/>
                    <a:p>
                      <a:pPr algn="l" fontAlgn="ctr"/>
                      <a:endParaRPr lang="en-US" sz="1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r>
                        <a:rPr lang="en-US" sz="1500" b="0" i="0" u="none" strike="noStrike" kern="1200">
                          <a:solidFill>
                            <a:srgbClr val="000000"/>
                          </a:solidFill>
                          <a:effectLst/>
                          <a:latin typeface="Times New Roman" panose="02020603050405020304" pitchFamily="18" charset="0"/>
                          <a:ea typeface="+mn-ea"/>
                          <a:cs typeface="Times New Roman" panose="02020603050405020304" pitchFamily="18" charset="0"/>
                        </a:rPr>
                        <a:t>Bài 21: Thêm ký tự đặc biệt</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kumimoji="0" lang="en-US" sz="15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OFF JT</a:t>
                      </a:r>
                      <a:endParaRPr lang="en-US" sz="1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3512337"/>
                  </a:ext>
                </a:extLst>
              </a:tr>
              <a:tr h="352976">
                <a:tc vMerge="1">
                  <a:txBody>
                    <a:bodyPr/>
                    <a:lstStyle/>
                    <a:p>
                      <a:pPr algn="ctr" fontAlgn="ctr"/>
                      <a:endParaRPr lang="en-US" sz="1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vMerge="1">
                  <a:txBody>
                    <a:bodyPr/>
                    <a:lstStyle/>
                    <a:p>
                      <a:pPr algn="l" fontAlgn="ctr"/>
                      <a:endParaRPr lang="en-US" sz="1500" b="0" i="0" u="none" strike="noStrike">
                        <a:solidFill>
                          <a:schemeClr val="tx1"/>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r>
                        <a:rPr lang="vi-VN" sz="1500" b="0" i="0" u="none" strike="noStrike" kern="1200">
                          <a:solidFill>
                            <a:srgbClr val="000000"/>
                          </a:solidFill>
                          <a:effectLst/>
                          <a:latin typeface="Times New Roman" panose="02020603050405020304" pitchFamily="18" charset="0"/>
                          <a:ea typeface="+mn-ea"/>
                          <a:cs typeface="Times New Roman" panose="02020603050405020304" pitchFamily="18" charset="0"/>
                        </a:rPr>
                        <a:t>Bài </a:t>
                      </a:r>
                      <a:r>
                        <a:rPr lang="en-US" sz="1500" b="0" i="0" u="none" strike="noStrike" kern="1200">
                          <a:solidFill>
                            <a:srgbClr val="000000"/>
                          </a:solidFill>
                          <a:effectLst/>
                          <a:latin typeface="Times New Roman" panose="02020603050405020304" pitchFamily="18" charset="0"/>
                          <a:ea typeface="+mn-ea"/>
                          <a:cs typeface="Times New Roman" panose="02020603050405020304" pitchFamily="18" charset="0"/>
                        </a:rPr>
                        <a:t>22</a:t>
                      </a:r>
                      <a:r>
                        <a:rPr lang="vi-VN" sz="1500" b="0" i="0" u="none" strike="noStrike" kern="1200">
                          <a:solidFill>
                            <a:srgbClr val="000000"/>
                          </a:solidFill>
                          <a:effectLst/>
                          <a:latin typeface="Times New Roman" panose="02020603050405020304" pitchFamily="18" charset="0"/>
                          <a:ea typeface="+mn-ea"/>
                          <a:cs typeface="Times New Roman" panose="02020603050405020304" pitchFamily="18" charset="0"/>
                        </a:rPr>
                        <a:t>: Định dạng trang in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r>
                        <a:rPr kumimoji="0" lang="en-US" sz="15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OFF JT</a:t>
                      </a:r>
                      <a:endParaRPr lang="en-US" sz="1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3115621"/>
                  </a:ext>
                </a:extLst>
              </a:tr>
            </a:tbl>
          </a:graphicData>
        </a:graphic>
      </p:graphicFrame>
    </p:spTree>
    <p:extLst>
      <p:ext uri="{BB962C8B-B14F-4D97-AF65-F5344CB8AC3E}">
        <p14:creationId xmlns:p14="http://schemas.microsoft.com/office/powerpoint/2010/main" val="24187048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69853-0663-7395-AD5E-0BF8587741B7}"/>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7D565DC1-A57D-1431-B275-E236994C0C11}"/>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 EXCEL</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582A7019-B76D-61DE-5D9E-E40F28EB24CA}"/>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B0AA6F87-1B3A-99BF-B9DC-E68620C555DF}"/>
              </a:ext>
            </a:extLst>
          </p:cNvPr>
          <p:cNvSpPr txBox="1">
            <a:spLocks/>
          </p:cNvSpPr>
          <p:nvPr/>
        </p:nvSpPr>
        <p:spPr>
          <a:xfrm>
            <a:off x="457200" y="761000"/>
            <a:ext cx="11353800"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1 : Biểu thức Excel</a:t>
            </a:r>
          </a:p>
          <a:p>
            <a:pPr marL="342900" indent="-342900" algn="l">
              <a:buFont typeface="Arial" panose="020B0604020202020204" pitchFamily="34" charset="0"/>
              <a:buChar char="•"/>
            </a:pPr>
            <a:r>
              <a:rPr lang="en-US" sz="2000" b="1">
                <a:latin typeface="Times New Roman" panose="02020603050405020304" pitchFamily="18" charset="0"/>
                <a:cs typeface="Times New Roman" panose="02020603050405020304" pitchFamily="18" charset="0"/>
              </a:rPr>
              <a:t>Biểu thức Excel luôn bắt đầu bằng dấu “=”</a:t>
            </a:r>
          </a:p>
          <a:p>
            <a:pPr algn="l"/>
            <a:endParaRPr lang="en-US" sz="2000">
              <a:latin typeface="Times New Roman" panose="02020603050405020304" pitchFamily="18" charset="0"/>
              <a:cs typeface="Times New Roman" panose="02020603050405020304" pitchFamily="18" charset="0"/>
            </a:endParaRPr>
          </a:p>
        </p:txBody>
      </p:sp>
      <p:pic>
        <p:nvPicPr>
          <p:cNvPr id="11" name="Picture 10" descr="A screenshot of a computer&#10;&#10;AI-generated content may be incorrect.">
            <a:extLst>
              <a:ext uri="{FF2B5EF4-FFF2-40B4-BE49-F238E27FC236}">
                <a16:creationId xmlns:a16="http://schemas.microsoft.com/office/drawing/2014/main" id="{98F5624D-E77B-7741-B188-82B02F2B8E36}"/>
              </a:ext>
            </a:extLst>
          </p:cNvPr>
          <p:cNvPicPr>
            <a:picLocks noChangeAspect="1"/>
          </p:cNvPicPr>
          <p:nvPr/>
        </p:nvPicPr>
        <p:blipFill>
          <a:blip r:embed="rId2"/>
          <a:stretch>
            <a:fillRect/>
          </a:stretch>
        </p:blipFill>
        <p:spPr>
          <a:xfrm>
            <a:off x="457200" y="1543273"/>
            <a:ext cx="6512943" cy="853859"/>
          </a:xfrm>
          <a:prstGeom prst="rect">
            <a:avLst/>
          </a:prstGeom>
          <a:ln w="3175">
            <a:solidFill>
              <a:schemeClr val="tx1"/>
            </a:solidFill>
          </a:ln>
        </p:spPr>
      </p:pic>
      <p:sp>
        <p:nvSpPr>
          <p:cNvPr id="13" name="TextBox 12">
            <a:extLst>
              <a:ext uri="{FF2B5EF4-FFF2-40B4-BE49-F238E27FC236}">
                <a16:creationId xmlns:a16="http://schemas.microsoft.com/office/drawing/2014/main" id="{67FA31AD-955B-B0F8-1886-6C77C213B2A5}"/>
              </a:ext>
            </a:extLst>
          </p:cNvPr>
          <p:cNvSpPr txBox="1"/>
          <p:nvPr/>
        </p:nvSpPr>
        <p:spPr>
          <a:xfrm>
            <a:off x="380999" y="2469177"/>
            <a:ext cx="7874479" cy="3782061"/>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en-US" sz="1800" b="1">
                <a:latin typeface="Times New Roman" panose="02020603050405020304" pitchFamily="18" charset="0"/>
                <a:cs typeface="Times New Roman" panose="02020603050405020304" pitchFamily="18" charset="0"/>
              </a:rPr>
              <a:t>Áp dụng công thức cho các ô bên dưới</a:t>
            </a:r>
          </a:p>
          <a:p>
            <a:pPr algn="l">
              <a:lnSpc>
                <a:spcPct val="150000"/>
              </a:lnSpc>
            </a:pPr>
            <a:r>
              <a:rPr lang="en-US" sz="1800">
                <a:latin typeface="Times New Roman" panose="02020603050405020304" pitchFamily="18" charset="0"/>
                <a:cs typeface="Times New Roman" panose="02020603050405020304" pitchFamily="18" charset="0"/>
              </a:rPr>
              <a:t>Bước 1: </a:t>
            </a:r>
            <a:r>
              <a:rPr lang="vi-VN" sz="1800">
                <a:latin typeface="Times New Roman" panose="02020603050405020304" pitchFamily="18" charset="0"/>
                <a:cs typeface="Times New Roman" panose="02020603050405020304" pitchFamily="18" charset="0"/>
              </a:rPr>
              <a:t>Nhấp đúp vào góc dưới bên phải của ô</a:t>
            </a:r>
            <a:endParaRPr lang="en-US" sz="1800">
              <a:latin typeface="Times New Roman" panose="02020603050405020304" pitchFamily="18" charset="0"/>
              <a:cs typeface="Times New Roman" panose="02020603050405020304" pitchFamily="18" charset="0"/>
            </a:endParaRPr>
          </a:p>
          <a:p>
            <a:pPr>
              <a:lnSpc>
                <a:spcPct val="150000"/>
              </a:lnSpc>
            </a:pPr>
            <a:r>
              <a:rPr lang="en-US" sz="1800">
                <a:latin typeface="Times New Roman" panose="02020603050405020304" pitchFamily="18" charset="0"/>
                <a:cs typeface="Times New Roman" panose="02020603050405020304" pitchFamily="18" charset="0"/>
              </a:rPr>
              <a:t>Bước 2: </a:t>
            </a:r>
            <a:r>
              <a:rPr lang="vi-VN">
                <a:latin typeface="Times New Roman" panose="02020603050405020304" pitchFamily="18" charset="0"/>
                <a:cs typeface="Times New Roman" panose="02020603050405020304" pitchFamily="18" charset="0"/>
              </a:rPr>
              <a:t>Công thức sẽ tự điền xuống theo cột dữ liệu liền kề</a:t>
            </a:r>
            <a:endParaRPr lang="en-US">
              <a:latin typeface="Times New Roman" panose="02020603050405020304" pitchFamily="18" charset="0"/>
              <a:cs typeface="Times New Roman" panose="02020603050405020304" pitchFamily="18" charset="0"/>
            </a:endParaRPr>
          </a:p>
          <a:p>
            <a:pPr>
              <a:lnSpc>
                <a:spcPct val="150000"/>
              </a:lnSpc>
            </a:pPr>
            <a:endParaRPr lang="en-US">
              <a:latin typeface="Times New Roman" panose="02020603050405020304" pitchFamily="18" charset="0"/>
              <a:cs typeface="Times New Roman" panose="02020603050405020304" pitchFamily="18" charset="0"/>
            </a:endParaRPr>
          </a:p>
          <a:p>
            <a:pPr>
              <a:lnSpc>
                <a:spcPct val="150000"/>
              </a:lnSpc>
            </a:pPr>
            <a:endParaRPr lang="en-US">
              <a:latin typeface="Times New Roman" panose="02020603050405020304" pitchFamily="18" charset="0"/>
              <a:cs typeface="Times New Roman" panose="02020603050405020304" pitchFamily="18" charset="0"/>
            </a:endParaRPr>
          </a:p>
          <a:p>
            <a:pPr>
              <a:lnSpc>
                <a:spcPct val="150000"/>
              </a:lnSpc>
            </a:pPr>
            <a:r>
              <a:rPr lang="en-US" b="1" i="1">
                <a:solidFill>
                  <a:srgbClr val="C00000"/>
                </a:solidFill>
                <a:latin typeface="Times New Roman" panose="02020603050405020304" pitchFamily="18" charset="0"/>
                <a:cs typeface="Times New Roman" panose="02020603050405020304" pitchFamily="18" charset="0"/>
              </a:rPr>
              <a:t>Note: Excel sẽ cảnh báo khi có 1 ô có công thức khác so với các ô còn lại</a:t>
            </a:r>
          </a:p>
          <a:p>
            <a:pPr>
              <a:lnSpc>
                <a:spcPct val="150000"/>
              </a:lnSpc>
            </a:pPr>
            <a:endParaRPr lang="en-US" sz="1800">
              <a:latin typeface="Times New Roman" panose="02020603050405020304" pitchFamily="18" charset="0"/>
              <a:cs typeface="Times New Roman" panose="02020603050405020304" pitchFamily="18" charset="0"/>
            </a:endParaRPr>
          </a:p>
          <a:p>
            <a:pPr algn="l">
              <a:lnSpc>
                <a:spcPct val="150000"/>
              </a:lnSpc>
            </a:pPr>
            <a:endParaRPr lang="en-US">
              <a:latin typeface="Times New Roman" panose="02020603050405020304" pitchFamily="18" charset="0"/>
              <a:cs typeface="Times New Roman" panose="02020603050405020304" pitchFamily="18" charset="0"/>
            </a:endParaRPr>
          </a:p>
          <a:p>
            <a:pPr algn="l">
              <a:lnSpc>
                <a:spcPct val="150000"/>
              </a:lnSpc>
            </a:pPr>
            <a:endParaRPr lang="en-US" sz="1800">
              <a:latin typeface="Times New Roman" panose="02020603050405020304" pitchFamily="18" charset="0"/>
              <a:cs typeface="Times New Roman" panose="02020603050405020304" pitchFamily="18" charset="0"/>
            </a:endParaRPr>
          </a:p>
        </p:txBody>
      </p:sp>
      <p:pic>
        <p:nvPicPr>
          <p:cNvPr id="15" name="Picture 14" descr="A table with numbers and letters&#10;&#10;AI-generated content may be incorrect.">
            <a:extLst>
              <a:ext uri="{FF2B5EF4-FFF2-40B4-BE49-F238E27FC236}">
                <a16:creationId xmlns:a16="http://schemas.microsoft.com/office/drawing/2014/main" id="{05ADA96A-47FC-F4C7-D296-CAC4A96226FB}"/>
              </a:ext>
            </a:extLst>
          </p:cNvPr>
          <p:cNvPicPr>
            <a:picLocks noChangeAspect="1"/>
          </p:cNvPicPr>
          <p:nvPr/>
        </p:nvPicPr>
        <p:blipFill>
          <a:blip r:embed="rId3"/>
          <a:stretch>
            <a:fillRect/>
          </a:stretch>
        </p:blipFill>
        <p:spPr>
          <a:xfrm>
            <a:off x="6134100" y="2636509"/>
            <a:ext cx="5169166" cy="1206562"/>
          </a:xfrm>
          <a:prstGeom prst="rect">
            <a:avLst/>
          </a:prstGeom>
          <a:ln w="3175">
            <a:solidFill>
              <a:schemeClr val="tx1"/>
            </a:solidFill>
          </a:ln>
        </p:spPr>
      </p:pic>
      <p:pic>
        <p:nvPicPr>
          <p:cNvPr id="17" name="Picture 16" descr="A table with numbers and text&#10;&#10;AI-generated content may be incorrect.">
            <a:extLst>
              <a:ext uri="{FF2B5EF4-FFF2-40B4-BE49-F238E27FC236}">
                <a16:creationId xmlns:a16="http://schemas.microsoft.com/office/drawing/2014/main" id="{BB22B18D-18BF-8298-B9EC-8F90DC5F829F}"/>
              </a:ext>
            </a:extLst>
          </p:cNvPr>
          <p:cNvPicPr>
            <a:picLocks noChangeAspect="1"/>
          </p:cNvPicPr>
          <p:nvPr/>
        </p:nvPicPr>
        <p:blipFill>
          <a:blip r:embed="rId4"/>
          <a:stretch>
            <a:fillRect/>
          </a:stretch>
        </p:blipFill>
        <p:spPr>
          <a:xfrm>
            <a:off x="479794" y="5109613"/>
            <a:ext cx="5048509" cy="1174810"/>
          </a:xfrm>
          <a:prstGeom prst="rect">
            <a:avLst/>
          </a:prstGeom>
          <a:ln w="3175">
            <a:solidFill>
              <a:schemeClr val="tx1"/>
            </a:solidFill>
          </a:ln>
        </p:spPr>
      </p:pic>
    </p:spTree>
    <p:extLst>
      <p:ext uri="{BB962C8B-B14F-4D97-AF65-F5344CB8AC3E}">
        <p14:creationId xmlns:p14="http://schemas.microsoft.com/office/powerpoint/2010/main" val="2458139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1F67A-A17B-44B3-F5DA-ED7B8EA6295B}"/>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89921DFA-6441-7AE5-7103-C5902D374AC7}"/>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 EXCEL</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6F6D10D3-0DBC-BD6E-08F1-C029E82538A9}"/>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ECA69717-22FE-A505-3E6C-675C8D200CEC}"/>
              </a:ext>
            </a:extLst>
          </p:cNvPr>
          <p:cNvSpPr txBox="1">
            <a:spLocks/>
          </p:cNvSpPr>
          <p:nvPr/>
        </p:nvSpPr>
        <p:spPr>
          <a:xfrm>
            <a:off x="457200" y="761000"/>
            <a:ext cx="11353800"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2 : Các hàm cơ bản trong excel</a:t>
            </a:r>
          </a:p>
          <a:p>
            <a:pPr algn="l"/>
            <a:r>
              <a:rPr lang="en-US" sz="2000" b="1">
                <a:latin typeface="Times New Roman" panose="02020603050405020304" pitchFamily="18" charset="0"/>
                <a:cs typeface="Times New Roman" panose="02020603050405020304" pitchFamily="18" charset="0"/>
              </a:rPr>
              <a:t>2.1 Hàm If</a:t>
            </a:r>
          </a:p>
          <a:p>
            <a:pPr algn="l"/>
            <a:r>
              <a:rPr lang="en-US" sz="2000" b="1">
                <a:latin typeface="Times New Roman" panose="02020603050405020304" pitchFamily="18" charset="0"/>
                <a:cs typeface="Times New Roman" panose="02020603050405020304" pitchFamily="18" charset="0"/>
              </a:rPr>
              <a:t>Ý nghĩa</a:t>
            </a:r>
            <a:r>
              <a:rPr lang="en-US" sz="2000">
                <a:latin typeface="Times New Roman" panose="02020603050405020304" pitchFamily="18" charset="0"/>
                <a:cs typeface="Times New Roman" panose="02020603050405020304" pitchFamily="18" charset="0"/>
              </a:rPr>
              <a:t>: Hàm IF dùng để kiểm tra điều kiện</a:t>
            </a:r>
          </a:p>
          <a:p>
            <a:pPr algn="l"/>
            <a:r>
              <a:rPr lang="en-US" sz="2000" b="1">
                <a:latin typeface="Times New Roman" panose="02020603050405020304" pitchFamily="18" charset="0"/>
                <a:cs typeface="Times New Roman" panose="02020603050405020304" pitchFamily="18" charset="0"/>
              </a:rPr>
              <a:t>Công thức: </a:t>
            </a:r>
            <a:r>
              <a:rPr lang="en-US" sz="2000">
                <a:latin typeface="Times New Roman" panose="02020603050405020304" pitchFamily="18" charset="0"/>
                <a:cs typeface="Times New Roman" panose="02020603050405020304" pitchFamily="18" charset="0"/>
              </a:rPr>
              <a:t>=IF(điều kiện, kết quả nếu đúng, kết quả nếu sai)</a:t>
            </a:r>
          </a:p>
          <a:p>
            <a:pPr algn="l"/>
            <a:r>
              <a:rPr lang="en-US" sz="2000">
                <a:latin typeface="Times New Roman" panose="02020603050405020304" pitchFamily="18" charset="0"/>
                <a:cs typeface="Times New Roman" panose="02020603050405020304" pitchFamily="18" charset="0"/>
              </a:rPr>
              <a:t>Ví dụ: </a:t>
            </a:r>
            <a:endParaRPr lang="en-US" sz="2000" b="1">
              <a:latin typeface="Times New Roman" panose="02020603050405020304" pitchFamily="18" charset="0"/>
              <a:cs typeface="Times New Roman" panose="02020603050405020304" pitchFamily="18" charset="0"/>
            </a:endParaRPr>
          </a:p>
          <a:p>
            <a:pPr algn="l"/>
            <a:endParaRPr lang="en-US" sz="2000" b="1">
              <a:latin typeface="Times New Roman" panose="02020603050405020304" pitchFamily="18" charset="0"/>
              <a:cs typeface="Times New Roman" panose="02020603050405020304" pitchFamily="18" charset="0"/>
            </a:endParaRPr>
          </a:p>
          <a:p>
            <a:pPr algn="l"/>
            <a:r>
              <a:rPr lang="en-US" sz="2000" b="1">
                <a:latin typeface="Times New Roman" panose="02020603050405020304" pitchFamily="18" charset="0"/>
                <a:cs typeface="Times New Roman" panose="02020603050405020304" pitchFamily="18" charset="0"/>
              </a:rPr>
              <a:t>Hàm if lồng nhau: </a:t>
            </a:r>
          </a:p>
          <a:p>
            <a:pPr algn="l"/>
            <a:endParaRPr lang="en-US" sz="2000" b="1">
              <a:latin typeface="Times New Roman" panose="02020603050405020304" pitchFamily="18" charset="0"/>
              <a:cs typeface="Times New Roman" panose="02020603050405020304" pitchFamily="18" charset="0"/>
            </a:endParaRPr>
          </a:p>
          <a:p>
            <a:pPr algn="l"/>
            <a:endParaRPr lang="en-US" sz="2000" b="1">
              <a:latin typeface="Times New Roman" panose="02020603050405020304" pitchFamily="18" charset="0"/>
              <a:cs typeface="Times New Roman" panose="02020603050405020304" pitchFamily="18" charset="0"/>
            </a:endParaRPr>
          </a:p>
          <a:p>
            <a:pPr algn="l"/>
            <a:r>
              <a:rPr lang="en-US" sz="2000" b="1">
                <a:latin typeface="Times New Roman" panose="02020603050405020304" pitchFamily="18" charset="0"/>
                <a:cs typeface="Times New Roman" panose="02020603050405020304" pitchFamily="18" charset="0"/>
              </a:rPr>
              <a:t>Kết hợp IF với AND / OR</a:t>
            </a:r>
          </a:p>
          <a:p>
            <a:pPr algn="l"/>
            <a:r>
              <a:rPr lang="en-US" sz="2000">
                <a:latin typeface="Times New Roman" panose="02020603050405020304" pitchFamily="18" charset="0"/>
                <a:cs typeface="Times New Roman" panose="02020603050405020304" pitchFamily="18" charset="0"/>
              </a:rPr>
              <a:t>=IF(AND(A2&gt;=5,B2&gt;=5),“Đạt",“Không đạt")</a:t>
            </a:r>
          </a:p>
          <a:p>
            <a:pPr algn="l"/>
            <a:endParaRPr lang="en-US" sz="2000">
              <a:latin typeface="Times New Roman" panose="02020603050405020304" pitchFamily="18" charset="0"/>
              <a:cs typeface="Times New Roman" panose="02020603050405020304" pitchFamily="18" charset="0"/>
            </a:endParaRPr>
          </a:p>
        </p:txBody>
      </p:sp>
      <p:pic>
        <p:nvPicPr>
          <p:cNvPr id="5" name="Picture 4" descr="A screenshot of a computer&#10;&#10;AI-generated content may be incorrect.">
            <a:extLst>
              <a:ext uri="{FF2B5EF4-FFF2-40B4-BE49-F238E27FC236}">
                <a16:creationId xmlns:a16="http://schemas.microsoft.com/office/drawing/2014/main" id="{1EC1FC16-A6DE-DFF6-4471-923B5B944B93}"/>
              </a:ext>
            </a:extLst>
          </p:cNvPr>
          <p:cNvPicPr>
            <a:picLocks noChangeAspect="1"/>
          </p:cNvPicPr>
          <p:nvPr/>
        </p:nvPicPr>
        <p:blipFill>
          <a:blip r:embed="rId2"/>
          <a:stretch>
            <a:fillRect/>
          </a:stretch>
        </p:blipFill>
        <p:spPr>
          <a:xfrm>
            <a:off x="1174388" y="2431794"/>
            <a:ext cx="4788146" cy="596931"/>
          </a:xfrm>
          <a:prstGeom prst="rect">
            <a:avLst/>
          </a:prstGeom>
          <a:ln w="3175">
            <a:solidFill>
              <a:schemeClr val="tx1"/>
            </a:solidFill>
          </a:ln>
        </p:spPr>
      </p:pic>
      <p:pic>
        <p:nvPicPr>
          <p:cNvPr id="8" name="Picture 7" descr="A yellow and black text&#10;&#10;AI-generated content may be incorrect.">
            <a:extLst>
              <a:ext uri="{FF2B5EF4-FFF2-40B4-BE49-F238E27FC236}">
                <a16:creationId xmlns:a16="http://schemas.microsoft.com/office/drawing/2014/main" id="{8D60D780-0753-B68F-4BF5-63C7A8DCD445}"/>
              </a:ext>
            </a:extLst>
          </p:cNvPr>
          <p:cNvPicPr>
            <a:picLocks noChangeAspect="1"/>
          </p:cNvPicPr>
          <p:nvPr/>
        </p:nvPicPr>
        <p:blipFill>
          <a:blip r:embed="rId3"/>
          <a:stretch>
            <a:fillRect/>
          </a:stretch>
        </p:blipFill>
        <p:spPr>
          <a:xfrm>
            <a:off x="457200" y="3504700"/>
            <a:ext cx="5643650" cy="506583"/>
          </a:xfrm>
          <a:prstGeom prst="rect">
            <a:avLst/>
          </a:prstGeom>
        </p:spPr>
      </p:pic>
    </p:spTree>
    <p:extLst>
      <p:ext uri="{BB962C8B-B14F-4D97-AF65-F5344CB8AC3E}">
        <p14:creationId xmlns:p14="http://schemas.microsoft.com/office/powerpoint/2010/main" val="4291239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98016-A869-8F01-DA09-028E2AF14050}"/>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5C22899E-25AB-2162-32DF-20A771377572}"/>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 EXCEL</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2B05A7ED-2870-7622-7C40-629826228F40}"/>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9B10BEB4-D64F-6D8D-EED3-EAED607FDE0B}"/>
              </a:ext>
            </a:extLst>
          </p:cNvPr>
          <p:cNvSpPr txBox="1">
            <a:spLocks/>
          </p:cNvSpPr>
          <p:nvPr/>
        </p:nvSpPr>
        <p:spPr>
          <a:xfrm>
            <a:off x="457200" y="761000"/>
            <a:ext cx="11353800"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2 : Các hàm cơ bản trong excel</a:t>
            </a:r>
          </a:p>
          <a:p>
            <a:pPr algn="l"/>
            <a:r>
              <a:rPr lang="en-US" sz="2000" b="1">
                <a:latin typeface="Times New Roman" panose="02020603050405020304" pitchFamily="18" charset="0"/>
                <a:cs typeface="Times New Roman" panose="02020603050405020304" pitchFamily="18" charset="0"/>
              </a:rPr>
              <a:t>2.2 Hàm Left</a:t>
            </a:r>
          </a:p>
          <a:p>
            <a:pPr algn="l"/>
            <a:r>
              <a:rPr lang="en-US" sz="2000">
                <a:latin typeface="Times New Roman" panose="02020603050405020304" pitchFamily="18" charset="0"/>
                <a:cs typeface="Times New Roman" panose="02020603050405020304" pitchFamily="18" charset="0"/>
              </a:rPr>
              <a:t>Ý nghĩa: Hàm LEFT dùng để lấy ký tự từ bên trái của một chuỗi văn bản</a:t>
            </a:r>
          </a:p>
          <a:p>
            <a:pPr algn="l"/>
            <a:r>
              <a:rPr lang="en-US" sz="2000">
                <a:latin typeface="Times New Roman" panose="02020603050405020304" pitchFamily="18" charset="0"/>
                <a:cs typeface="Times New Roman" panose="02020603050405020304" pitchFamily="18" charset="0"/>
              </a:rPr>
              <a:t>Công thức: =LEFT(van_ban, so_ky_tu_can_lay)</a:t>
            </a:r>
          </a:p>
          <a:p>
            <a:pPr algn="l"/>
            <a:r>
              <a:rPr lang="en-US" sz="2000">
                <a:latin typeface="Times New Roman" panose="02020603050405020304" pitchFamily="18" charset="0"/>
                <a:cs typeface="Times New Roman" panose="02020603050405020304" pitchFamily="18" charset="0"/>
              </a:rPr>
              <a:t>Ví dụ: =LEFT(A2,3)</a:t>
            </a:r>
          </a:p>
          <a:p>
            <a:pPr algn="l"/>
            <a:r>
              <a:rPr lang="en-US" sz="2000" b="1">
                <a:latin typeface="Times New Roman" panose="02020603050405020304" pitchFamily="18" charset="0"/>
                <a:cs typeface="Times New Roman" panose="02020603050405020304" pitchFamily="18" charset="0"/>
              </a:rPr>
              <a:t>2.3 Hàm Len</a:t>
            </a:r>
          </a:p>
          <a:p>
            <a:pPr algn="l"/>
            <a:r>
              <a:rPr lang="en-US" sz="2000">
                <a:latin typeface="Times New Roman" panose="02020603050405020304" pitchFamily="18" charset="0"/>
                <a:cs typeface="Times New Roman" panose="02020603050405020304" pitchFamily="18" charset="0"/>
              </a:rPr>
              <a:t>Ý nghĩa: Hàm LEN dùng để đếm số ký tự trong một chuỗi văn bản</a:t>
            </a:r>
          </a:p>
          <a:p>
            <a:pPr algn="l"/>
            <a:r>
              <a:rPr lang="en-US" sz="2000">
                <a:latin typeface="Times New Roman" panose="02020603050405020304" pitchFamily="18" charset="0"/>
                <a:cs typeface="Times New Roman" panose="02020603050405020304" pitchFamily="18" charset="0"/>
              </a:rPr>
              <a:t>Công thức: =LEN(chuoi_van_ban)</a:t>
            </a:r>
          </a:p>
          <a:p>
            <a:pPr algn="l"/>
            <a:r>
              <a:rPr lang="en-US" sz="2000">
                <a:latin typeface="Times New Roman" panose="02020603050405020304" pitchFamily="18" charset="0"/>
                <a:cs typeface="Times New Roman" panose="02020603050405020304" pitchFamily="18" charset="0"/>
              </a:rPr>
              <a:t>Ví dụ: =LEN(“  302RV24050 ”)</a:t>
            </a:r>
          </a:p>
          <a:p>
            <a:pPr algn="l"/>
            <a:r>
              <a:rPr lang="en-US" sz="2000" b="1">
                <a:latin typeface="Times New Roman" panose="02020603050405020304" pitchFamily="18" charset="0"/>
                <a:cs typeface="Times New Roman" panose="02020603050405020304" pitchFamily="18" charset="0"/>
              </a:rPr>
              <a:t>2.4 Hàm Trim</a:t>
            </a:r>
          </a:p>
          <a:p>
            <a:pPr algn="l"/>
            <a:r>
              <a:rPr lang="en-US" sz="2000">
                <a:latin typeface="Times New Roman" panose="02020603050405020304" pitchFamily="18" charset="0"/>
                <a:cs typeface="Times New Roman" panose="02020603050405020304" pitchFamily="18" charset="0"/>
              </a:rPr>
              <a:t>Ý nghĩa: Hàm TRIM dùng để xóa khoảng trắng thừa trong chuỗi văn bản</a:t>
            </a:r>
          </a:p>
          <a:p>
            <a:pPr algn="l"/>
            <a:r>
              <a:rPr lang="en-US" sz="2000">
                <a:latin typeface="Times New Roman" panose="02020603050405020304" pitchFamily="18" charset="0"/>
                <a:cs typeface="Times New Roman" panose="02020603050405020304" pitchFamily="18" charset="0"/>
              </a:rPr>
              <a:t>Công thức: =TRIM(chuoi_van_ban)</a:t>
            </a:r>
          </a:p>
          <a:p>
            <a:pPr algn="l"/>
            <a:r>
              <a:rPr lang="en-US" sz="2000">
                <a:latin typeface="Times New Roman" panose="02020603050405020304" pitchFamily="18" charset="0"/>
                <a:cs typeface="Times New Roman" panose="02020603050405020304" pitchFamily="18" charset="0"/>
              </a:rPr>
              <a:t>Ví dụ: =TRIM(“  302RV24050 ”)</a:t>
            </a:r>
          </a:p>
          <a:p>
            <a:pPr algn="l"/>
            <a:endParaRPr lang="en-US"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6995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502FC-A916-84BD-E88E-94DF6D587135}"/>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130A1396-ED35-65B5-F4D0-7AE2BF798809}"/>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 EXCEL</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CD71CBB2-D178-F2DA-EBBE-9C9FC04FAE0F}"/>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2EE66505-A14D-9DDF-C469-70A5C579B351}"/>
              </a:ext>
            </a:extLst>
          </p:cNvPr>
          <p:cNvSpPr txBox="1">
            <a:spLocks/>
          </p:cNvSpPr>
          <p:nvPr/>
        </p:nvSpPr>
        <p:spPr>
          <a:xfrm>
            <a:off x="457200" y="761000"/>
            <a:ext cx="11353800"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2 : Các hàm cơ bản trong excel</a:t>
            </a:r>
          </a:p>
          <a:p>
            <a:pPr algn="l"/>
            <a:r>
              <a:rPr lang="en-US" sz="2000" b="1">
                <a:latin typeface="Times New Roman" panose="02020603050405020304" pitchFamily="18" charset="0"/>
                <a:cs typeface="Times New Roman" panose="02020603050405020304" pitchFamily="18" charset="0"/>
              </a:rPr>
              <a:t>2.5 Hàm Right</a:t>
            </a:r>
          </a:p>
          <a:p>
            <a:pPr algn="l"/>
            <a:r>
              <a:rPr lang="en-US" sz="2000">
                <a:latin typeface="Times New Roman" panose="02020603050405020304" pitchFamily="18" charset="0"/>
                <a:cs typeface="Times New Roman" panose="02020603050405020304" pitchFamily="18" charset="0"/>
              </a:rPr>
              <a:t>Ý nghĩa: Hàm RIGHT dùng để lấy ký tự từ bên phải của một chuỗi văn bản</a:t>
            </a:r>
          </a:p>
          <a:p>
            <a:pPr algn="l"/>
            <a:r>
              <a:rPr lang="en-US" sz="2000">
                <a:latin typeface="Times New Roman" panose="02020603050405020304" pitchFamily="18" charset="0"/>
                <a:cs typeface="Times New Roman" panose="02020603050405020304" pitchFamily="18" charset="0"/>
              </a:rPr>
              <a:t>Công thức: =RIGHT(van_ban, so_ky_tu_can_lay)</a:t>
            </a:r>
          </a:p>
          <a:p>
            <a:pPr algn="l"/>
            <a:r>
              <a:rPr lang="en-US" sz="2000">
                <a:latin typeface="Times New Roman" panose="02020603050405020304" pitchFamily="18" charset="0"/>
                <a:cs typeface="Times New Roman" panose="02020603050405020304" pitchFamily="18" charset="0"/>
              </a:rPr>
              <a:t>Ví dụ: =RIGHT(A2,3)</a:t>
            </a:r>
          </a:p>
          <a:p>
            <a:pPr algn="l"/>
            <a:r>
              <a:rPr lang="en-US" sz="2000" b="1">
                <a:latin typeface="Times New Roman" panose="02020603050405020304" pitchFamily="18" charset="0"/>
                <a:cs typeface="Times New Roman" panose="02020603050405020304" pitchFamily="18" charset="0"/>
              </a:rPr>
              <a:t>2.6 Hàm Mid</a:t>
            </a:r>
          </a:p>
          <a:p>
            <a:pPr algn="l"/>
            <a:r>
              <a:rPr lang="en-US" sz="2000">
                <a:latin typeface="Times New Roman" panose="02020603050405020304" pitchFamily="18" charset="0"/>
                <a:cs typeface="Times New Roman" panose="02020603050405020304" pitchFamily="18" charset="0"/>
              </a:rPr>
              <a:t>Ý nghĩa: Hàm MID dùng để lấy ký tự ở giữa của một chuỗi văn bản, bắt đầu từ vị trí xác định</a:t>
            </a:r>
          </a:p>
          <a:p>
            <a:pPr algn="l"/>
            <a:r>
              <a:rPr lang="en-US" sz="2000">
                <a:latin typeface="Times New Roman" panose="02020603050405020304" pitchFamily="18" charset="0"/>
                <a:cs typeface="Times New Roman" panose="02020603050405020304" pitchFamily="18" charset="0"/>
              </a:rPr>
              <a:t>Công thức: =MID(van_ban, ky_ty_bat_dau, so_ky_tu_can_lay)</a:t>
            </a:r>
          </a:p>
          <a:p>
            <a:pPr algn="l"/>
            <a:r>
              <a:rPr lang="en-US" sz="2000">
                <a:latin typeface="Times New Roman" panose="02020603050405020304" pitchFamily="18" charset="0"/>
                <a:cs typeface="Times New Roman" panose="02020603050405020304" pitchFamily="18" charset="0"/>
              </a:rPr>
              <a:t>Ví dụ: = MID(A2,4,3) </a:t>
            </a:r>
          </a:p>
          <a:p>
            <a:pPr algn="l"/>
            <a:r>
              <a:rPr lang="en-US" sz="2000" b="1">
                <a:latin typeface="Times New Roman" panose="02020603050405020304" pitchFamily="18" charset="0"/>
                <a:cs typeface="Times New Roman" panose="02020603050405020304" pitchFamily="18" charset="0"/>
              </a:rPr>
              <a:t>2.7 Hàm Max</a:t>
            </a:r>
          </a:p>
          <a:p>
            <a:pPr algn="l"/>
            <a:r>
              <a:rPr lang="en-US" sz="2000">
                <a:latin typeface="Times New Roman" panose="02020603050405020304" pitchFamily="18" charset="0"/>
                <a:cs typeface="Times New Roman" panose="02020603050405020304" pitchFamily="18" charset="0"/>
              </a:rPr>
              <a:t>Ý nghĩa: Hàm MAX dùng để tìm giá trị lớn nhất trong một tập hợp số hoặc trong một phạm vi ô</a:t>
            </a:r>
          </a:p>
          <a:p>
            <a:pPr algn="l"/>
            <a:r>
              <a:rPr lang="en-US" sz="2000">
                <a:latin typeface="Times New Roman" panose="02020603050405020304" pitchFamily="18" charset="0"/>
                <a:cs typeface="Times New Roman" panose="02020603050405020304" pitchFamily="18" charset="0"/>
              </a:rPr>
              <a:t>Công thức: =MAX(number1, [number2], …) </a:t>
            </a:r>
          </a:p>
          <a:p>
            <a:pPr algn="l"/>
            <a:r>
              <a:rPr lang="en-US" sz="2000">
                <a:latin typeface="Times New Roman" panose="02020603050405020304" pitchFamily="18" charset="0"/>
                <a:cs typeface="Times New Roman" panose="02020603050405020304" pitchFamily="18" charset="0"/>
              </a:rPr>
              <a:t>Ví dụ: = MAX(A2:A6)</a:t>
            </a:r>
          </a:p>
        </p:txBody>
      </p:sp>
    </p:spTree>
    <p:extLst>
      <p:ext uri="{BB962C8B-B14F-4D97-AF65-F5344CB8AC3E}">
        <p14:creationId xmlns:p14="http://schemas.microsoft.com/office/powerpoint/2010/main" val="1858707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9A2AB-8A8D-9469-3539-D2124B0B2FFB}"/>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227328F3-3051-982B-D0E3-293E20425C6F}"/>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 EXCEL</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A9F664CF-B0B1-8BD5-17FD-FA27B7489891}"/>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15C8BB5B-5240-E0E1-1B30-448048D79C9A}"/>
              </a:ext>
            </a:extLst>
          </p:cNvPr>
          <p:cNvSpPr txBox="1">
            <a:spLocks/>
          </p:cNvSpPr>
          <p:nvPr/>
        </p:nvSpPr>
        <p:spPr>
          <a:xfrm>
            <a:off x="457200" y="761000"/>
            <a:ext cx="11353800"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2 : Các hàm cơ bản trong excel</a:t>
            </a:r>
          </a:p>
          <a:p>
            <a:pPr algn="l"/>
            <a:r>
              <a:rPr lang="en-US" sz="2000" b="1">
                <a:latin typeface="Times New Roman" panose="02020603050405020304" pitchFamily="18" charset="0"/>
                <a:cs typeface="Times New Roman" panose="02020603050405020304" pitchFamily="18" charset="0"/>
              </a:rPr>
              <a:t>2.8 Hàm Min</a:t>
            </a:r>
          </a:p>
          <a:p>
            <a:pPr algn="l"/>
            <a:r>
              <a:rPr lang="en-US" sz="2000">
                <a:latin typeface="Times New Roman" panose="02020603050405020304" pitchFamily="18" charset="0"/>
                <a:cs typeface="Times New Roman" panose="02020603050405020304" pitchFamily="18" charset="0"/>
              </a:rPr>
              <a:t>Ý nghĩa: Hàm MIN dùng để tìm giá trị nhỏ nhất trong một tập hợp số hoặc trong một phạm vi ô.</a:t>
            </a:r>
          </a:p>
          <a:p>
            <a:pPr algn="l"/>
            <a:r>
              <a:rPr lang="en-US" sz="2000">
                <a:latin typeface="Times New Roman" panose="02020603050405020304" pitchFamily="18" charset="0"/>
                <a:cs typeface="Times New Roman" panose="02020603050405020304" pitchFamily="18" charset="0"/>
              </a:rPr>
              <a:t>Công thức: =MIN(number1, [number2], …) </a:t>
            </a:r>
          </a:p>
          <a:p>
            <a:pPr algn="l"/>
            <a:r>
              <a:rPr lang="en-US" sz="2000">
                <a:latin typeface="Times New Roman" panose="02020603050405020304" pitchFamily="18" charset="0"/>
                <a:cs typeface="Times New Roman" panose="02020603050405020304" pitchFamily="18" charset="0"/>
              </a:rPr>
              <a:t>Ví dụ: = MIN(A2:A6)</a:t>
            </a:r>
          </a:p>
          <a:p>
            <a:pPr algn="l"/>
            <a:r>
              <a:rPr lang="en-US" sz="2000" b="1">
                <a:latin typeface="Times New Roman" panose="02020603050405020304" pitchFamily="18" charset="0"/>
                <a:cs typeface="Times New Roman" panose="02020603050405020304" pitchFamily="18" charset="0"/>
              </a:rPr>
              <a:t>2.9 Hàm AVERAGE</a:t>
            </a:r>
          </a:p>
          <a:p>
            <a:pPr algn="l"/>
            <a:r>
              <a:rPr lang="en-US" sz="2000">
                <a:latin typeface="Times New Roman" panose="02020603050405020304" pitchFamily="18" charset="0"/>
                <a:cs typeface="Times New Roman" panose="02020603050405020304" pitchFamily="18" charset="0"/>
              </a:rPr>
              <a:t>Ý nghĩa: Hàm AVERAGE dùng để tính giá trị trung bình cộng của các số</a:t>
            </a:r>
          </a:p>
          <a:p>
            <a:pPr algn="l"/>
            <a:r>
              <a:rPr lang="en-US" sz="2000">
                <a:latin typeface="Times New Roman" panose="02020603050405020304" pitchFamily="18" charset="0"/>
                <a:cs typeface="Times New Roman" panose="02020603050405020304" pitchFamily="18" charset="0"/>
              </a:rPr>
              <a:t>Công thức: =AVERAGE(number1, [number2], …)</a:t>
            </a:r>
          </a:p>
          <a:p>
            <a:pPr algn="l"/>
            <a:r>
              <a:rPr lang="en-US" sz="2000">
                <a:latin typeface="Times New Roman" panose="02020603050405020304" pitchFamily="18" charset="0"/>
                <a:cs typeface="Times New Roman" panose="02020603050405020304" pitchFamily="18" charset="0"/>
              </a:rPr>
              <a:t>Ví dụ: =AVERAGE(A2:A6)</a:t>
            </a:r>
          </a:p>
          <a:p>
            <a:pPr algn="l"/>
            <a:r>
              <a:rPr lang="en-US" sz="2000" b="1">
                <a:latin typeface="Times New Roman" panose="02020603050405020304" pitchFamily="18" charset="0"/>
                <a:cs typeface="Times New Roman" panose="02020603050405020304" pitchFamily="18" charset="0"/>
              </a:rPr>
              <a:t>2.10 Hàm Sum</a:t>
            </a:r>
          </a:p>
          <a:p>
            <a:pPr algn="l"/>
            <a:r>
              <a:rPr lang="en-US" sz="2000">
                <a:latin typeface="Times New Roman" panose="02020603050405020304" pitchFamily="18" charset="0"/>
                <a:cs typeface="Times New Roman" panose="02020603050405020304" pitchFamily="18" charset="0"/>
              </a:rPr>
              <a:t>Ý nghĩa: Hàm SUM dùng để tính tổng các số trong một phạm vi hoặc nhiều ô</a:t>
            </a:r>
          </a:p>
          <a:p>
            <a:pPr algn="l"/>
            <a:r>
              <a:rPr lang="en-US" sz="2000">
                <a:latin typeface="Times New Roman" panose="02020603050405020304" pitchFamily="18" charset="0"/>
                <a:cs typeface="Times New Roman" panose="02020603050405020304" pitchFamily="18" charset="0"/>
              </a:rPr>
              <a:t>Công thức: =SUM(number1, [number2], …) </a:t>
            </a:r>
          </a:p>
          <a:p>
            <a:pPr algn="l"/>
            <a:r>
              <a:rPr lang="en-US" sz="2000">
                <a:latin typeface="Times New Roman" panose="02020603050405020304" pitchFamily="18" charset="0"/>
                <a:cs typeface="Times New Roman" panose="02020603050405020304" pitchFamily="18" charset="0"/>
              </a:rPr>
              <a:t>Ví dụ: = SUM(A2:A5)</a:t>
            </a:r>
          </a:p>
        </p:txBody>
      </p:sp>
    </p:spTree>
    <p:extLst>
      <p:ext uri="{BB962C8B-B14F-4D97-AF65-F5344CB8AC3E}">
        <p14:creationId xmlns:p14="http://schemas.microsoft.com/office/powerpoint/2010/main" val="26157203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41269-C066-BA02-3FC2-BED79E6C188E}"/>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1C29F04C-0416-7335-6FDD-7BE6D317578F}"/>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 EXCEL</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A7101509-524E-5264-E78B-65F8ECF26FCC}"/>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1006D853-4145-C633-1244-8B6B8F039FE9}"/>
              </a:ext>
            </a:extLst>
          </p:cNvPr>
          <p:cNvSpPr txBox="1">
            <a:spLocks/>
          </p:cNvSpPr>
          <p:nvPr/>
        </p:nvSpPr>
        <p:spPr>
          <a:xfrm>
            <a:off x="457200" y="761000"/>
            <a:ext cx="11353800"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2 : Các hàm cơ bản trong excel</a:t>
            </a:r>
          </a:p>
          <a:p>
            <a:pPr algn="l"/>
            <a:r>
              <a:rPr lang="en-US" sz="2000" b="1">
                <a:latin typeface="Times New Roman" panose="02020603050405020304" pitchFamily="18" charset="0"/>
                <a:cs typeface="Times New Roman" panose="02020603050405020304" pitchFamily="18" charset="0"/>
              </a:rPr>
              <a:t>2.11 Hàm Sumif</a:t>
            </a:r>
          </a:p>
          <a:p>
            <a:pPr algn="l"/>
            <a:r>
              <a:rPr lang="en-US" sz="2000">
                <a:latin typeface="Times New Roman" panose="02020603050405020304" pitchFamily="18" charset="0"/>
                <a:cs typeface="Times New Roman" panose="02020603050405020304" pitchFamily="18" charset="0"/>
              </a:rPr>
              <a:t>Ý nghĩa: Dùng để tính tổng các giá trị thỏa mãn 1 điều kiện.</a:t>
            </a:r>
          </a:p>
          <a:p>
            <a:pPr algn="l"/>
            <a:r>
              <a:rPr lang="en-US" sz="2000">
                <a:latin typeface="Times New Roman" panose="02020603050405020304" pitchFamily="18" charset="0"/>
                <a:cs typeface="Times New Roman" panose="02020603050405020304" pitchFamily="18" charset="0"/>
              </a:rPr>
              <a:t>Công thức: =SUMIF(range, criteria, [sum_range])</a:t>
            </a:r>
          </a:p>
          <a:p>
            <a:pPr marL="800100" lvl="1" indent="-342900" algn="l">
              <a:buFont typeface="Wingdings" panose="05000000000000000000" pitchFamily="2" charset="2"/>
              <a:buChar char="q"/>
            </a:pPr>
            <a:r>
              <a:rPr lang="en-US">
                <a:latin typeface="Times New Roman" panose="02020603050405020304" pitchFamily="18" charset="0"/>
                <a:cs typeface="Times New Roman" panose="02020603050405020304" pitchFamily="18" charset="0"/>
              </a:rPr>
              <a:t>range: vùng điều kiện</a:t>
            </a:r>
          </a:p>
          <a:p>
            <a:pPr marL="800100" lvl="1" indent="-342900" algn="l">
              <a:buFont typeface="Wingdings" panose="05000000000000000000" pitchFamily="2" charset="2"/>
              <a:buChar char="q"/>
            </a:pPr>
            <a:r>
              <a:rPr lang="en-US">
                <a:latin typeface="Times New Roman" panose="02020603050405020304" pitchFamily="18" charset="0"/>
                <a:cs typeface="Times New Roman" panose="02020603050405020304" pitchFamily="18" charset="0"/>
              </a:rPr>
              <a:t>criteria: điều kiện</a:t>
            </a:r>
          </a:p>
          <a:p>
            <a:pPr marL="800100" lvl="1" indent="-342900" algn="l">
              <a:buFont typeface="Wingdings" panose="05000000000000000000" pitchFamily="2" charset="2"/>
              <a:buChar char="q"/>
            </a:pPr>
            <a:r>
              <a:rPr lang="en-US">
                <a:latin typeface="Times New Roman" panose="02020603050405020304" pitchFamily="18" charset="0"/>
                <a:cs typeface="Times New Roman" panose="02020603050405020304" pitchFamily="18" charset="0"/>
              </a:rPr>
              <a:t>sum_range: vùng cần cộng</a:t>
            </a:r>
            <a:endParaRPr lang="en-US" sz="2000">
              <a:latin typeface="Times New Roman" panose="02020603050405020304" pitchFamily="18" charset="0"/>
              <a:cs typeface="Times New Roman" panose="02020603050405020304" pitchFamily="18" charset="0"/>
            </a:endParaRPr>
          </a:p>
          <a:p>
            <a:pPr algn="l"/>
            <a:r>
              <a:rPr lang="en-US" sz="2000">
                <a:latin typeface="Times New Roman" panose="02020603050405020304" pitchFamily="18" charset="0"/>
                <a:cs typeface="Times New Roman" panose="02020603050405020304" pitchFamily="18" charset="0"/>
              </a:rPr>
              <a:t>Ví dụ: =SUMIF(A2:A4,“A",B2:B4)</a:t>
            </a:r>
          </a:p>
          <a:p>
            <a:pPr algn="l"/>
            <a:r>
              <a:rPr lang="en-US" sz="2000" b="1">
                <a:latin typeface="Times New Roman" panose="02020603050405020304" pitchFamily="18" charset="0"/>
                <a:cs typeface="Times New Roman" panose="02020603050405020304" pitchFamily="18" charset="0"/>
              </a:rPr>
              <a:t>2.12 Hàm Sumifs</a:t>
            </a:r>
          </a:p>
          <a:p>
            <a:pPr algn="l"/>
            <a:r>
              <a:rPr lang="en-US" sz="2000">
                <a:latin typeface="Times New Roman" panose="02020603050405020304" pitchFamily="18" charset="0"/>
                <a:cs typeface="Times New Roman" panose="02020603050405020304" pitchFamily="18" charset="0"/>
              </a:rPr>
              <a:t>Ý nghĩa: Dùng để tính tổng các giá trị thỏa mãn nhiều điều kiện.</a:t>
            </a:r>
            <a:endParaRPr lang="en-US" sz="2000" b="1">
              <a:latin typeface="Times New Roman" panose="02020603050405020304" pitchFamily="18" charset="0"/>
              <a:cs typeface="Times New Roman" panose="02020603050405020304" pitchFamily="18" charset="0"/>
            </a:endParaRPr>
          </a:p>
          <a:p>
            <a:pPr algn="l"/>
            <a:r>
              <a:rPr lang="en-US" sz="2000">
                <a:latin typeface="Times New Roman" panose="02020603050405020304" pitchFamily="18" charset="0"/>
                <a:cs typeface="Times New Roman" panose="02020603050405020304" pitchFamily="18" charset="0"/>
              </a:rPr>
              <a:t>Công thức: =SUMIFS(C2:C7, B2:B7, "A", D2:D7, 1)</a:t>
            </a:r>
          </a:p>
          <a:p>
            <a:pPr algn="l"/>
            <a:r>
              <a:rPr lang="en-US" sz="2000">
                <a:latin typeface="Times New Roman" panose="02020603050405020304" pitchFamily="18" charset="0"/>
                <a:cs typeface="Times New Roman" panose="02020603050405020304" pitchFamily="18" charset="0"/>
              </a:rPr>
              <a:t>Trong đó: </a:t>
            </a:r>
          </a:p>
          <a:p>
            <a:pPr marL="342900" indent="-342900" algn="l">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C2:C7 → phạm vi cần tính tổng</a:t>
            </a:r>
          </a:p>
          <a:p>
            <a:pPr marL="342900" indent="-342900" algn="l">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B2:B7, "A" → điều kiện 1</a:t>
            </a:r>
          </a:p>
          <a:p>
            <a:pPr marL="342900" indent="-342900" algn="l">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D2:D7, 1 → điều kiện 2</a:t>
            </a:r>
          </a:p>
        </p:txBody>
      </p:sp>
    </p:spTree>
    <p:extLst>
      <p:ext uri="{BB962C8B-B14F-4D97-AF65-F5344CB8AC3E}">
        <p14:creationId xmlns:p14="http://schemas.microsoft.com/office/powerpoint/2010/main" val="1298966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87A0B-35E8-85FA-E9F4-7ADB4886992D}"/>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4A6F84CA-7AD0-CADE-DBCB-46FD644F93A9}"/>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 EXCEL</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DEA4D92D-1535-17DF-4A89-B5BFCA5B4CE2}"/>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C396D1DA-8BE7-1B62-0799-E94BF5AAE82F}"/>
              </a:ext>
            </a:extLst>
          </p:cNvPr>
          <p:cNvSpPr txBox="1">
            <a:spLocks/>
          </p:cNvSpPr>
          <p:nvPr/>
        </p:nvSpPr>
        <p:spPr>
          <a:xfrm>
            <a:off x="457200" y="761000"/>
            <a:ext cx="11353800"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2 : Các hàm cơ bản trong excel</a:t>
            </a:r>
          </a:p>
          <a:p>
            <a:pPr algn="l"/>
            <a:r>
              <a:rPr lang="en-US" sz="2000" b="1">
                <a:latin typeface="Times New Roman" panose="02020603050405020304" pitchFamily="18" charset="0"/>
                <a:cs typeface="Times New Roman" panose="02020603050405020304" pitchFamily="18" charset="0"/>
              </a:rPr>
              <a:t>2.13 Hàm Count</a:t>
            </a:r>
          </a:p>
          <a:p>
            <a:pPr algn="l"/>
            <a:r>
              <a:rPr lang="en-US" sz="2000">
                <a:latin typeface="Times New Roman" panose="02020603050405020304" pitchFamily="18" charset="0"/>
                <a:cs typeface="Times New Roman" panose="02020603050405020304" pitchFamily="18" charset="0"/>
              </a:rPr>
              <a:t>Ý nghĩa: </a:t>
            </a:r>
            <a:r>
              <a:rPr lang="vi-VN" sz="2000">
                <a:latin typeface="Times New Roman" panose="02020603050405020304" pitchFamily="18" charset="0"/>
                <a:cs typeface="Times New Roman" panose="02020603050405020304" pitchFamily="18" charset="0"/>
              </a:rPr>
              <a:t>Đếm số lượng ô chứa giá trị số</a:t>
            </a:r>
            <a:endParaRPr lang="en-US" sz="2000">
              <a:latin typeface="Times New Roman" panose="02020603050405020304" pitchFamily="18" charset="0"/>
              <a:cs typeface="Times New Roman" panose="02020603050405020304" pitchFamily="18" charset="0"/>
            </a:endParaRPr>
          </a:p>
          <a:p>
            <a:pPr algn="l"/>
            <a:r>
              <a:rPr lang="en-US" sz="2000">
                <a:latin typeface="Times New Roman" panose="02020603050405020304" pitchFamily="18" charset="0"/>
                <a:cs typeface="Times New Roman" panose="02020603050405020304" pitchFamily="18" charset="0"/>
              </a:rPr>
              <a:t>Công thức: =COUNT(value1, [value2], …)</a:t>
            </a:r>
          </a:p>
          <a:p>
            <a:pPr algn="l"/>
            <a:r>
              <a:rPr lang="en-US" sz="2000">
                <a:latin typeface="Times New Roman" panose="02020603050405020304" pitchFamily="18" charset="0"/>
                <a:cs typeface="Times New Roman" panose="02020603050405020304" pitchFamily="18" charset="0"/>
              </a:rPr>
              <a:t>Ví dụ: =COUNT(A2:A10)</a:t>
            </a:r>
          </a:p>
          <a:p>
            <a:pPr algn="l"/>
            <a:r>
              <a:rPr lang="en-US" sz="2000" b="1">
                <a:latin typeface="Times New Roman" panose="02020603050405020304" pitchFamily="18" charset="0"/>
                <a:cs typeface="Times New Roman" panose="02020603050405020304" pitchFamily="18" charset="0"/>
              </a:rPr>
              <a:t>2.14 Hàm Counta</a:t>
            </a:r>
          </a:p>
          <a:p>
            <a:pPr algn="l"/>
            <a:r>
              <a:rPr lang="en-US" sz="2000">
                <a:latin typeface="Times New Roman" panose="02020603050405020304" pitchFamily="18" charset="0"/>
                <a:cs typeface="Times New Roman" panose="02020603050405020304" pitchFamily="18" charset="0"/>
              </a:rPr>
              <a:t>Ý nghĩa: </a:t>
            </a:r>
            <a:r>
              <a:rPr lang="vi-VN" sz="2000">
                <a:latin typeface="Times New Roman" panose="02020603050405020304" pitchFamily="18" charset="0"/>
                <a:cs typeface="Times New Roman" panose="02020603050405020304" pitchFamily="18" charset="0"/>
              </a:rPr>
              <a:t>dùng để đếm số ô không trống trong một phạm vi, bao gồm cả ô chứa số, văn bản</a:t>
            </a:r>
          </a:p>
          <a:p>
            <a:pPr algn="l"/>
            <a:r>
              <a:rPr lang="en-US" sz="2000">
                <a:latin typeface="Times New Roman" panose="02020603050405020304" pitchFamily="18" charset="0"/>
                <a:cs typeface="Times New Roman" panose="02020603050405020304" pitchFamily="18" charset="0"/>
              </a:rPr>
              <a:t>Công thức: = COUNTA(value1, [value2], …)</a:t>
            </a:r>
          </a:p>
          <a:p>
            <a:pPr algn="l"/>
            <a:r>
              <a:rPr lang="en-US" sz="2000">
                <a:latin typeface="Times New Roman" panose="02020603050405020304" pitchFamily="18" charset="0"/>
                <a:cs typeface="Times New Roman" panose="02020603050405020304" pitchFamily="18" charset="0"/>
              </a:rPr>
              <a:t>Ví dụ: = COUNTA(A2:A10)</a:t>
            </a:r>
          </a:p>
          <a:p>
            <a:pPr algn="l"/>
            <a:r>
              <a:rPr lang="en-US" sz="2000" b="1">
                <a:latin typeface="Times New Roman" panose="02020603050405020304" pitchFamily="18" charset="0"/>
                <a:cs typeface="Times New Roman" panose="02020603050405020304" pitchFamily="18" charset="0"/>
              </a:rPr>
              <a:t>2.15 Hàm Countblank</a:t>
            </a:r>
          </a:p>
          <a:p>
            <a:pPr algn="l"/>
            <a:r>
              <a:rPr lang="en-US" sz="2000">
                <a:latin typeface="Times New Roman" panose="02020603050405020304" pitchFamily="18" charset="0"/>
                <a:cs typeface="Times New Roman" panose="02020603050405020304" pitchFamily="18" charset="0"/>
              </a:rPr>
              <a:t>Ý nghĩa: Đ</a:t>
            </a:r>
            <a:r>
              <a:rPr lang="vi-VN" sz="2000">
                <a:latin typeface="Times New Roman" panose="02020603050405020304" pitchFamily="18" charset="0"/>
                <a:cs typeface="Times New Roman" panose="02020603050405020304" pitchFamily="18" charset="0"/>
              </a:rPr>
              <a:t>ược dùng để đếm số ô trống trong một phạm vi</a:t>
            </a:r>
          </a:p>
          <a:p>
            <a:pPr algn="l"/>
            <a:r>
              <a:rPr lang="en-US" sz="2000">
                <a:latin typeface="Times New Roman" panose="02020603050405020304" pitchFamily="18" charset="0"/>
                <a:cs typeface="Times New Roman" panose="02020603050405020304" pitchFamily="18" charset="0"/>
              </a:rPr>
              <a:t>Công thức: =COUNTBLANK (value1, [value2], …)</a:t>
            </a:r>
          </a:p>
          <a:p>
            <a:pPr algn="l"/>
            <a:r>
              <a:rPr lang="en-US" sz="2000">
                <a:latin typeface="Times New Roman" panose="02020603050405020304" pitchFamily="18" charset="0"/>
                <a:cs typeface="Times New Roman" panose="02020603050405020304" pitchFamily="18" charset="0"/>
              </a:rPr>
              <a:t>Ví dụ: = COUNTBLANK(A2:A10)</a:t>
            </a:r>
          </a:p>
          <a:p>
            <a:pPr algn="l"/>
            <a:endParaRPr lang="en-US" sz="20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9823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395BE-C453-C9FD-AA21-A4548AB55DB5}"/>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BB752AE7-81B2-E257-E5E9-B8EEC6999AC5}"/>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 EXCEL</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3D12F3F0-56CF-6412-820C-59F52C4104EA}"/>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E8E24684-08E0-3C9C-77C1-0DD89F2A9B04}"/>
              </a:ext>
            </a:extLst>
          </p:cNvPr>
          <p:cNvSpPr txBox="1">
            <a:spLocks/>
          </p:cNvSpPr>
          <p:nvPr/>
        </p:nvSpPr>
        <p:spPr>
          <a:xfrm>
            <a:off x="457200" y="761000"/>
            <a:ext cx="11353800"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2 : Các hàm cơ bản trong excel</a:t>
            </a:r>
          </a:p>
          <a:p>
            <a:pPr algn="l"/>
            <a:r>
              <a:rPr lang="en-US" sz="2000" b="1">
                <a:latin typeface="Times New Roman" panose="02020603050405020304" pitchFamily="18" charset="0"/>
                <a:cs typeface="Times New Roman" panose="02020603050405020304" pitchFamily="18" charset="0"/>
              </a:rPr>
              <a:t>2.16 Hàm Countif</a:t>
            </a:r>
          </a:p>
          <a:p>
            <a:pPr algn="l"/>
            <a:r>
              <a:rPr lang="en-US" sz="2000">
                <a:latin typeface="Times New Roman" panose="02020603050405020304" pitchFamily="18" charset="0"/>
                <a:cs typeface="Times New Roman" panose="02020603050405020304" pitchFamily="18" charset="0"/>
              </a:rPr>
              <a:t>Ý nghĩa: D</a:t>
            </a:r>
            <a:r>
              <a:rPr lang="vi-VN" sz="2000">
                <a:latin typeface="Times New Roman" panose="02020603050405020304" pitchFamily="18" charset="0"/>
                <a:cs typeface="Times New Roman" panose="02020603050405020304" pitchFamily="18" charset="0"/>
              </a:rPr>
              <a:t>ùng để đếm số ô thỏa mãn một điều kiện cụ thể trong một phạm vi</a:t>
            </a:r>
            <a:endParaRPr lang="en-US" sz="2000">
              <a:latin typeface="Times New Roman" panose="02020603050405020304" pitchFamily="18" charset="0"/>
              <a:cs typeface="Times New Roman" panose="02020603050405020304" pitchFamily="18" charset="0"/>
            </a:endParaRPr>
          </a:p>
          <a:p>
            <a:pPr algn="l"/>
            <a:r>
              <a:rPr lang="en-US" sz="2000">
                <a:latin typeface="Times New Roman" panose="02020603050405020304" pitchFamily="18" charset="0"/>
                <a:cs typeface="Times New Roman" panose="02020603050405020304" pitchFamily="18" charset="0"/>
              </a:rPr>
              <a:t>Công thức: =COUNTIF(pham_vi, dieu_kien)</a:t>
            </a:r>
          </a:p>
          <a:p>
            <a:pPr algn="l"/>
            <a:r>
              <a:rPr lang="en-US" sz="2000">
                <a:latin typeface="Times New Roman" panose="02020603050405020304" pitchFamily="18" charset="0"/>
                <a:cs typeface="Times New Roman" panose="02020603050405020304" pitchFamily="18" charset="0"/>
              </a:rPr>
              <a:t>Ví dụ: =COUNTIF(B2:B10, "Laptop")</a:t>
            </a:r>
          </a:p>
          <a:p>
            <a:pPr algn="l"/>
            <a:r>
              <a:rPr lang="en-US" sz="2000" b="1">
                <a:latin typeface="Times New Roman" panose="02020603050405020304" pitchFamily="18" charset="0"/>
                <a:cs typeface="Times New Roman" panose="02020603050405020304" pitchFamily="18" charset="0"/>
              </a:rPr>
              <a:t>2.17 Hàm Today</a:t>
            </a:r>
          </a:p>
          <a:p>
            <a:pPr algn="l"/>
            <a:r>
              <a:rPr lang="en-US" sz="2000">
                <a:latin typeface="Times New Roman" panose="02020603050405020304" pitchFamily="18" charset="0"/>
                <a:cs typeface="Times New Roman" panose="02020603050405020304" pitchFamily="18" charset="0"/>
              </a:rPr>
              <a:t>Ý nghĩa: </a:t>
            </a:r>
            <a:r>
              <a:rPr lang="vi-VN" sz="2000">
                <a:latin typeface="Times New Roman" panose="02020603050405020304" pitchFamily="18" charset="0"/>
                <a:cs typeface="Times New Roman" panose="02020603050405020304" pitchFamily="18" charset="0"/>
              </a:rPr>
              <a:t>dùng để trả về ngày hiện tại của hệ thống</a:t>
            </a:r>
          </a:p>
          <a:p>
            <a:pPr algn="l"/>
            <a:r>
              <a:rPr lang="en-US" sz="2000">
                <a:latin typeface="Times New Roman" panose="02020603050405020304" pitchFamily="18" charset="0"/>
                <a:cs typeface="Times New Roman" panose="02020603050405020304" pitchFamily="18" charset="0"/>
              </a:rPr>
              <a:t>Công thức: =TODAY() =&gt; trả về ngày hiện tại : 12/17/2025</a:t>
            </a:r>
          </a:p>
          <a:p>
            <a:pPr algn="l"/>
            <a:endParaRPr lang="en-US" sz="2000">
              <a:latin typeface="Times New Roman" panose="02020603050405020304" pitchFamily="18" charset="0"/>
              <a:cs typeface="Times New Roman" panose="02020603050405020304" pitchFamily="18" charset="0"/>
            </a:endParaRPr>
          </a:p>
          <a:p>
            <a:pPr algn="l"/>
            <a:r>
              <a:rPr lang="en-US" sz="2000" b="1">
                <a:latin typeface="Times New Roman" panose="02020603050405020304" pitchFamily="18" charset="0"/>
                <a:cs typeface="Times New Roman" panose="02020603050405020304" pitchFamily="18" charset="0"/>
              </a:rPr>
              <a:t>2.18 Hàm Now</a:t>
            </a:r>
          </a:p>
          <a:p>
            <a:pPr algn="l"/>
            <a:r>
              <a:rPr lang="en-US" sz="2000">
                <a:latin typeface="Times New Roman" panose="02020603050405020304" pitchFamily="18" charset="0"/>
                <a:cs typeface="Times New Roman" panose="02020603050405020304" pitchFamily="18" charset="0"/>
              </a:rPr>
              <a:t>Ý nghĩa: </a:t>
            </a:r>
            <a:r>
              <a:rPr lang="vi-VN" sz="2000">
                <a:latin typeface="Times New Roman" panose="02020603050405020304" pitchFamily="18" charset="0"/>
                <a:cs typeface="Times New Roman" panose="02020603050405020304" pitchFamily="18" charset="0"/>
              </a:rPr>
              <a:t>dùng để trả về ngày và giờ hiện tại của hệ thống</a:t>
            </a:r>
            <a:endParaRPr lang="en-US" sz="2000">
              <a:latin typeface="Times New Roman" panose="02020603050405020304" pitchFamily="18" charset="0"/>
              <a:cs typeface="Times New Roman" panose="02020603050405020304" pitchFamily="18" charset="0"/>
            </a:endParaRPr>
          </a:p>
          <a:p>
            <a:pPr algn="l"/>
            <a:r>
              <a:rPr lang="en-US" sz="2000">
                <a:latin typeface="Times New Roman" panose="02020603050405020304" pitchFamily="18" charset="0"/>
                <a:cs typeface="Times New Roman" panose="02020603050405020304" pitchFamily="18" charset="0"/>
              </a:rPr>
              <a:t>Công thức: =NOW() =&gt; trả về ngày hiện tại : 12/17/2025 13:12</a:t>
            </a:r>
          </a:p>
          <a:p>
            <a:pPr algn="l"/>
            <a:endParaRPr lang="en-US" sz="2000">
              <a:latin typeface="Times New Roman" panose="02020603050405020304" pitchFamily="18" charset="0"/>
              <a:cs typeface="Times New Roman" panose="02020603050405020304" pitchFamily="18" charset="0"/>
            </a:endParaRPr>
          </a:p>
          <a:p>
            <a:pPr algn="l"/>
            <a:endParaRPr lang="en-US" sz="20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0581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36180-3A35-919B-DBBC-CE5912840C70}"/>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84757462-2967-CF37-CA8C-1AB3D183E039}"/>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 EXCEL</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8381B10D-35FF-0894-F7B3-836DF92B5DB8}"/>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59E75432-9599-3AAD-8AB5-DF175C6A9AB0}"/>
              </a:ext>
            </a:extLst>
          </p:cNvPr>
          <p:cNvSpPr txBox="1">
            <a:spLocks/>
          </p:cNvSpPr>
          <p:nvPr/>
        </p:nvSpPr>
        <p:spPr>
          <a:xfrm>
            <a:off x="457200" y="761000"/>
            <a:ext cx="11353800"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2 : Các hàm cơ bản trong excel</a:t>
            </a:r>
          </a:p>
          <a:p>
            <a:pPr algn="l"/>
            <a:r>
              <a:rPr lang="en-US" sz="2000" b="1">
                <a:latin typeface="Times New Roman" panose="02020603050405020304" pitchFamily="18" charset="0"/>
                <a:cs typeface="Times New Roman" panose="02020603050405020304" pitchFamily="18" charset="0"/>
              </a:rPr>
              <a:t>2.19 Hàm Day, Month, Year</a:t>
            </a:r>
          </a:p>
          <a:p>
            <a:pPr algn="l"/>
            <a:r>
              <a:rPr lang="en-US" sz="2000">
                <a:latin typeface="Times New Roman" panose="02020603050405020304" pitchFamily="18" charset="0"/>
                <a:cs typeface="Times New Roman" panose="02020603050405020304" pitchFamily="18" charset="0"/>
              </a:rPr>
              <a:t>Ý nghĩa: Dùng để lấy ngày từ một giá trị ngày, tháng, năm</a:t>
            </a:r>
          </a:p>
          <a:p>
            <a:pPr algn="l"/>
            <a:r>
              <a:rPr lang="en-US" sz="2000">
                <a:latin typeface="Times New Roman" panose="02020603050405020304" pitchFamily="18" charset="0"/>
                <a:cs typeface="Times New Roman" panose="02020603050405020304" pitchFamily="18" charset="0"/>
              </a:rPr>
              <a:t>Công thức: = DAY("12/16/2026")       =&gt; kết quả: 16</a:t>
            </a:r>
          </a:p>
          <a:p>
            <a:pPr algn="l"/>
            <a:r>
              <a:rPr lang="en-US" sz="2000">
                <a:latin typeface="Times New Roman" panose="02020603050405020304" pitchFamily="18" charset="0"/>
                <a:cs typeface="Times New Roman" panose="02020603050405020304" pitchFamily="18" charset="0"/>
              </a:rPr>
              <a:t>	    = MONTH("12/16/2026") =&gt; kết quả: 12</a:t>
            </a:r>
          </a:p>
          <a:p>
            <a:pPr algn="l"/>
            <a:r>
              <a:rPr lang="en-US" sz="2000">
                <a:latin typeface="Times New Roman" panose="02020603050405020304" pitchFamily="18" charset="0"/>
                <a:cs typeface="Times New Roman" panose="02020603050405020304" pitchFamily="18" charset="0"/>
              </a:rPr>
              <a:t>	    = YEAR("12/16/2026")     =&gt; kết quả: 2026</a:t>
            </a:r>
          </a:p>
        </p:txBody>
      </p:sp>
    </p:spTree>
    <p:extLst>
      <p:ext uri="{BB962C8B-B14F-4D97-AF65-F5344CB8AC3E}">
        <p14:creationId xmlns:p14="http://schemas.microsoft.com/office/powerpoint/2010/main" val="1003467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7EBF1-8DD2-E7E7-64CD-9FB6AA178836}"/>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6058AD77-331D-1B00-B518-D9D3B4ECA82F}"/>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 EXCEL</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716DF255-0579-4314-B053-33CE5378A38D}"/>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7001750E-D2FA-D43C-D88A-60A16A18A7B8}"/>
              </a:ext>
            </a:extLst>
          </p:cNvPr>
          <p:cNvSpPr txBox="1">
            <a:spLocks/>
          </p:cNvSpPr>
          <p:nvPr/>
        </p:nvSpPr>
        <p:spPr>
          <a:xfrm>
            <a:off x="457200" y="761000"/>
            <a:ext cx="11353800"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2 : Các hàm cơ bản trong excel</a:t>
            </a:r>
          </a:p>
          <a:p>
            <a:pPr algn="l"/>
            <a:r>
              <a:rPr lang="en-US" sz="2000" b="1">
                <a:latin typeface="Times New Roman" panose="02020603050405020304" pitchFamily="18" charset="0"/>
                <a:cs typeface="Times New Roman" panose="02020603050405020304" pitchFamily="18" charset="0"/>
              </a:rPr>
              <a:t>2.20 Hàm VLOOKUP</a:t>
            </a:r>
          </a:p>
          <a:p>
            <a:pPr algn="l"/>
            <a:r>
              <a:rPr lang="en-US" sz="2000">
                <a:latin typeface="Times New Roman" panose="02020603050405020304" pitchFamily="18" charset="0"/>
                <a:cs typeface="Times New Roman" panose="02020603050405020304" pitchFamily="18" charset="0"/>
              </a:rPr>
              <a:t>Ý nghĩa: </a:t>
            </a:r>
            <a:r>
              <a:rPr lang="vi-VN" sz="2000">
                <a:latin typeface="Times New Roman" panose="02020603050405020304" pitchFamily="18" charset="0"/>
                <a:cs typeface="Times New Roman" panose="02020603050405020304" pitchFamily="18" charset="0"/>
              </a:rPr>
              <a:t>Dùng để tìm kiếm dữ liệu theo cột và trả về giá trị tương ứng</a:t>
            </a:r>
            <a:endParaRPr lang="en-US" sz="2000">
              <a:latin typeface="Times New Roman" panose="02020603050405020304" pitchFamily="18" charset="0"/>
              <a:cs typeface="Times New Roman" panose="02020603050405020304" pitchFamily="18" charset="0"/>
            </a:endParaRPr>
          </a:p>
          <a:p>
            <a:pPr algn="l"/>
            <a:r>
              <a:rPr lang="en-US" sz="2000">
                <a:latin typeface="Times New Roman" panose="02020603050405020304" pitchFamily="18" charset="0"/>
                <a:cs typeface="Times New Roman" panose="02020603050405020304" pitchFamily="18" charset="0"/>
              </a:rPr>
              <a:t>Công thức: =VLOOKUP(lookup_value,table_array,col_index_num,[range_lookup])</a:t>
            </a:r>
          </a:p>
          <a:p>
            <a:pPr algn="l"/>
            <a:endParaRPr lang="en-US" sz="2000">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a:p>
            <a:pPr algn="l"/>
            <a:r>
              <a:rPr lang="en-US" sz="2000">
                <a:latin typeface="Times New Roman" panose="02020603050405020304" pitchFamily="18" charset="0"/>
                <a:cs typeface="Times New Roman" panose="02020603050405020304" pitchFamily="18" charset="0"/>
              </a:rPr>
              <a:t>Ví dụ: =VLOOKUP(A2,D2:E4,2,0)</a:t>
            </a:r>
          </a:p>
          <a:p>
            <a:pPr algn="l"/>
            <a:endParaRPr lang="en-US" sz="2000" b="1">
              <a:latin typeface="Times New Roman" panose="02020603050405020304" pitchFamily="18" charset="0"/>
              <a:cs typeface="Times New Roman" panose="02020603050405020304" pitchFamily="18" charset="0"/>
            </a:endParaRPr>
          </a:p>
          <a:p>
            <a:pPr algn="l"/>
            <a:endParaRPr lang="en-US" sz="2000" b="1">
              <a:latin typeface="Times New Roman" panose="02020603050405020304" pitchFamily="18" charset="0"/>
              <a:cs typeface="Times New Roman" panose="02020603050405020304" pitchFamily="18" charset="0"/>
            </a:endParaRPr>
          </a:p>
          <a:p>
            <a:pPr algn="l"/>
            <a:endParaRPr lang="en-US" sz="2000" b="1">
              <a:latin typeface="Times New Roman" panose="02020603050405020304" pitchFamily="18" charset="0"/>
              <a:cs typeface="Times New Roman" panose="02020603050405020304" pitchFamily="18" charset="0"/>
            </a:endParaRPr>
          </a:p>
          <a:p>
            <a:pPr algn="l"/>
            <a:endParaRPr lang="en-US" sz="2000" b="1">
              <a:latin typeface="Times New Roman" panose="02020603050405020304" pitchFamily="18" charset="0"/>
              <a:cs typeface="Times New Roman" panose="02020603050405020304" pitchFamily="18" charset="0"/>
            </a:endParaRPr>
          </a:p>
          <a:p>
            <a:pPr algn="l"/>
            <a:endParaRPr lang="en-US" sz="2000" b="1">
              <a:latin typeface="Times New Roman" panose="02020603050405020304" pitchFamily="18" charset="0"/>
              <a:cs typeface="Times New Roman" panose="02020603050405020304" pitchFamily="18" charset="0"/>
            </a:endParaRPr>
          </a:p>
          <a:p>
            <a:pPr algn="l"/>
            <a:endParaRPr lang="en-US"/>
          </a:p>
          <a:p>
            <a:pPr algn="l"/>
            <a:endParaRPr lang="en-US" sz="200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BB6F70B8-F286-5B89-FC5E-AFB39021E5D6}"/>
              </a:ext>
            </a:extLst>
          </p:cNvPr>
          <p:cNvGraphicFramePr>
            <a:graphicFrameLocks noGrp="1"/>
          </p:cNvGraphicFramePr>
          <p:nvPr>
            <p:extLst>
              <p:ext uri="{D42A27DB-BD31-4B8C-83A1-F6EECF244321}">
                <p14:modId xmlns:p14="http://schemas.microsoft.com/office/powerpoint/2010/main" val="3844623230"/>
              </p:ext>
            </p:extLst>
          </p:nvPr>
        </p:nvGraphicFramePr>
        <p:xfrm>
          <a:off x="457200" y="2438400"/>
          <a:ext cx="6519143" cy="1981200"/>
        </p:xfrm>
        <a:graphic>
          <a:graphicData uri="http://schemas.openxmlformats.org/drawingml/2006/table">
            <a:tbl>
              <a:tblPr/>
              <a:tblGrid>
                <a:gridCol w="1861065">
                  <a:extLst>
                    <a:ext uri="{9D8B030D-6E8A-4147-A177-3AD203B41FA5}">
                      <a16:colId xmlns:a16="http://schemas.microsoft.com/office/drawing/2014/main" val="3809595784"/>
                    </a:ext>
                  </a:extLst>
                </a:gridCol>
                <a:gridCol w="4658078">
                  <a:extLst>
                    <a:ext uri="{9D8B030D-6E8A-4147-A177-3AD203B41FA5}">
                      <a16:colId xmlns:a16="http://schemas.microsoft.com/office/drawing/2014/main" val="1684008144"/>
                    </a:ext>
                  </a:extLst>
                </a:gridCol>
              </a:tblGrid>
              <a:tr h="365760">
                <a:tc>
                  <a:txBody>
                    <a:bodyPr/>
                    <a:lstStyle/>
                    <a:p>
                      <a:pPr>
                        <a:buNone/>
                      </a:pPr>
                      <a:r>
                        <a:rPr lang="en-US" sz="2000" b="1">
                          <a:latin typeface="Times New Roman" panose="02020603050405020304" pitchFamily="18" charset="0"/>
                          <a:cs typeface="Times New Roman" panose="02020603050405020304" pitchFamily="18" charset="0"/>
                        </a:rPr>
                        <a:t>Thành phần</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en-US" sz="2000" b="1">
                          <a:latin typeface="Times New Roman" panose="02020603050405020304" pitchFamily="18" charset="0"/>
                          <a:cs typeface="Times New Roman" panose="02020603050405020304" pitchFamily="18" charset="0"/>
                        </a:rPr>
                        <a:t>Ý nghĩa</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83932403"/>
                  </a:ext>
                </a:extLst>
              </a:tr>
              <a:tr h="365760">
                <a:tc>
                  <a:txBody>
                    <a:bodyPr/>
                    <a:lstStyle/>
                    <a:p>
                      <a:pPr>
                        <a:buNone/>
                      </a:pPr>
                      <a:r>
                        <a:rPr lang="en-US" sz="2000">
                          <a:latin typeface="Times New Roman" panose="02020603050405020304" pitchFamily="18" charset="0"/>
                          <a:cs typeface="Times New Roman" panose="02020603050405020304" pitchFamily="18" charset="0"/>
                        </a:rPr>
                        <a:t>lookup_value</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en-US" sz="2000">
                          <a:latin typeface="Times New Roman" panose="02020603050405020304" pitchFamily="18" charset="0"/>
                          <a:cs typeface="Times New Roman" panose="02020603050405020304" pitchFamily="18" charset="0"/>
                        </a:rPr>
                        <a:t>Giá trị cần tìm</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4607621"/>
                  </a:ext>
                </a:extLst>
              </a:tr>
              <a:tr h="365760">
                <a:tc>
                  <a:txBody>
                    <a:bodyPr/>
                    <a:lstStyle/>
                    <a:p>
                      <a:pPr>
                        <a:buNone/>
                      </a:pPr>
                      <a:r>
                        <a:rPr lang="en-US" sz="2000">
                          <a:latin typeface="Times New Roman" panose="02020603050405020304" pitchFamily="18" charset="0"/>
                          <a:cs typeface="Times New Roman" panose="02020603050405020304" pitchFamily="18" charset="0"/>
                        </a:rPr>
                        <a:t>table_array</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en-US" sz="2000">
                          <a:latin typeface="Times New Roman" panose="02020603050405020304" pitchFamily="18" charset="0"/>
                          <a:cs typeface="Times New Roman" panose="02020603050405020304" pitchFamily="18" charset="0"/>
                        </a:rPr>
                        <a:t>Bảng chứa dữ liệu</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8054091"/>
                  </a:ext>
                </a:extLst>
              </a:tr>
              <a:tr h="365760">
                <a:tc>
                  <a:txBody>
                    <a:bodyPr/>
                    <a:lstStyle/>
                    <a:p>
                      <a:pPr>
                        <a:buNone/>
                      </a:pPr>
                      <a:r>
                        <a:rPr lang="en-US" sz="2000">
                          <a:latin typeface="Times New Roman" panose="02020603050405020304" pitchFamily="18" charset="0"/>
                          <a:cs typeface="Times New Roman" panose="02020603050405020304" pitchFamily="18" charset="0"/>
                        </a:rPr>
                        <a:t>col_index_num</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en-US" sz="2000">
                          <a:latin typeface="Times New Roman" panose="02020603050405020304" pitchFamily="18" charset="0"/>
                          <a:cs typeface="Times New Roman" panose="02020603050405020304" pitchFamily="18" charset="0"/>
                        </a:rPr>
                        <a:t>Số thứ tự cột cần lấy dữ liệu</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35301571"/>
                  </a:ext>
                </a:extLst>
              </a:tr>
              <a:tr h="365760">
                <a:tc>
                  <a:txBody>
                    <a:bodyPr/>
                    <a:lstStyle/>
                    <a:p>
                      <a:pPr>
                        <a:buNone/>
                      </a:pPr>
                      <a:r>
                        <a:rPr lang="en-US" sz="2000">
                          <a:latin typeface="Times New Roman" panose="02020603050405020304" pitchFamily="18" charset="0"/>
                          <a:cs typeface="Times New Roman" panose="02020603050405020304" pitchFamily="18" charset="0"/>
                        </a:rPr>
                        <a:t>range_lookup</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en-US" sz="2000">
                          <a:latin typeface="Times New Roman" panose="02020603050405020304" pitchFamily="18" charset="0"/>
                          <a:cs typeface="Times New Roman" panose="02020603050405020304" pitchFamily="18" charset="0"/>
                        </a:rPr>
                        <a:t>TRUE (1): gần đúng, FALSE (0): chính xác</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64680897"/>
                  </a:ext>
                </a:extLst>
              </a:tr>
            </a:tbl>
          </a:graphicData>
        </a:graphic>
      </p:graphicFrame>
    </p:spTree>
    <p:extLst>
      <p:ext uri="{BB962C8B-B14F-4D97-AF65-F5344CB8AC3E}">
        <p14:creationId xmlns:p14="http://schemas.microsoft.com/office/powerpoint/2010/main" val="39832832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077F7-8424-0EB2-4D8C-AD054A3DA20A}"/>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6F260E4F-ECAE-5A4F-8120-7EF405B8CA46}"/>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 EXCEL</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4FEA560D-796A-29DB-8411-DE118ECF6A41}"/>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F2DF2666-1360-80CF-1927-F641F89BA6AD}"/>
              </a:ext>
            </a:extLst>
          </p:cNvPr>
          <p:cNvSpPr txBox="1">
            <a:spLocks/>
          </p:cNvSpPr>
          <p:nvPr/>
        </p:nvSpPr>
        <p:spPr>
          <a:xfrm>
            <a:off x="457200" y="760999"/>
            <a:ext cx="11353800" cy="5732933"/>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2 : Các hàm cơ bản trong excel</a:t>
            </a:r>
          </a:p>
          <a:p>
            <a:pPr algn="l"/>
            <a:r>
              <a:rPr lang="en-US" sz="2000" b="1">
                <a:latin typeface="Times New Roman" panose="02020603050405020304" pitchFamily="18" charset="0"/>
                <a:cs typeface="Times New Roman" panose="02020603050405020304" pitchFamily="18" charset="0"/>
              </a:rPr>
              <a:t>2.21 Hàm DATE</a:t>
            </a:r>
          </a:p>
          <a:p>
            <a:pPr algn="l"/>
            <a:r>
              <a:rPr lang="en-US" sz="1800">
                <a:latin typeface="Times New Roman" panose="02020603050405020304" pitchFamily="18" charset="0"/>
                <a:cs typeface="Times New Roman" panose="02020603050405020304" pitchFamily="18" charset="0"/>
              </a:rPr>
              <a:t>Ý nghĩa: </a:t>
            </a:r>
            <a:r>
              <a:rPr lang="vi-VN" sz="1800">
                <a:latin typeface="Times New Roman" panose="02020603050405020304" pitchFamily="18" charset="0"/>
                <a:cs typeface="Times New Roman" panose="02020603050405020304" pitchFamily="18" charset="0"/>
              </a:rPr>
              <a:t>Dùng để tạo giá trị ngày tháng năm trong Excel</a:t>
            </a:r>
            <a:endParaRPr lang="en-US" sz="1800">
              <a:latin typeface="Times New Roman" panose="02020603050405020304" pitchFamily="18" charset="0"/>
              <a:cs typeface="Times New Roman" panose="02020603050405020304" pitchFamily="18" charset="0"/>
            </a:endParaRPr>
          </a:p>
          <a:p>
            <a:pPr algn="l"/>
            <a:r>
              <a:rPr lang="en-US" sz="1800">
                <a:latin typeface="Times New Roman" panose="02020603050405020304" pitchFamily="18" charset="0"/>
                <a:cs typeface="Times New Roman" panose="02020603050405020304" pitchFamily="18" charset="0"/>
              </a:rPr>
              <a:t>Công thức: = DATE(year,month,day)</a:t>
            </a:r>
          </a:p>
          <a:p>
            <a:pPr algn="l"/>
            <a:r>
              <a:rPr lang="en-US" sz="1800">
                <a:latin typeface="Times New Roman" panose="02020603050405020304" pitchFamily="18" charset="0"/>
                <a:cs typeface="Times New Roman" panose="02020603050405020304" pitchFamily="18" charset="0"/>
              </a:rPr>
              <a:t>Ví dụ: =DATE(2026,5,19)</a:t>
            </a:r>
          </a:p>
          <a:p>
            <a:pPr algn="l"/>
            <a:r>
              <a:rPr lang="en-US" sz="2000" b="1">
                <a:latin typeface="Times New Roman" panose="02020603050405020304" pitchFamily="18" charset="0"/>
                <a:cs typeface="Times New Roman" panose="02020603050405020304" pitchFamily="18" charset="0"/>
              </a:rPr>
              <a:t>2.22 Hàm TEXTBEFORE</a:t>
            </a:r>
          </a:p>
          <a:p>
            <a:pPr algn="l"/>
            <a:r>
              <a:rPr lang="en-US" sz="1800">
                <a:latin typeface="Times New Roman" panose="02020603050405020304" pitchFamily="18" charset="0"/>
                <a:cs typeface="Times New Roman" panose="02020603050405020304" pitchFamily="18" charset="0"/>
              </a:rPr>
              <a:t>Ý nghĩa: </a:t>
            </a:r>
            <a:r>
              <a:rPr lang="vi-VN" sz="1800">
                <a:latin typeface="Times New Roman" panose="02020603050405020304" pitchFamily="18" charset="0"/>
                <a:cs typeface="Times New Roman" panose="02020603050405020304" pitchFamily="18" charset="0"/>
              </a:rPr>
              <a:t>Dùng để lấy phần văn bản đứng trước một ký tự hoặc chuỗi ký tự xác định.</a:t>
            </a:r>
            <a:endParaRPr lang="en-US" sz="1800">
              <a:latin typeface="Times New Roman" panose="02020603050405020304" pitchFamily="18" charset="0"/>
              <a:cs typeface="Times New Roman" panose="02020603050405020304" pitchFamily="18" charset="0"/>
            </a:endParaRPr>
          </a:p>
          <a:p>
            <a:pPr algn="l"/>
            <a:r>
              <a:rPr lang="en-US" sz="1800">
                <a:latin typeface="Times New Roman" panose="02020603050405020304" pitchFamily="18" charset="0"/>
                <a:cs typeface="Times New Roman" panose="02020603050405020304" pitchFamily="18" charset="0"/>
              </a:rPr>
              <a:t>Công thức: =TEXTBEFORE(text, delimiter, [instance_num])</a:t>
            </a:r>
          </a:p>
          <a:p>
            <a:pPr marL="342900" indent="-342900" algn="l">
              <a:buFont typeface="Wingdings" panose="05000000000000000000" pitchFamily="2" charset="2"/>
              <a:buChar char="q"/>
            </a:pPr>
            <a:r>
              <a:rPr lang="en-US" sz="1800">
                <a:latin typeface="Times New Roman" panose="02020603050405020304" pitchFamily="18" charset="0"/>
                <a:cs typeface="Times New Roman" panose="02020603050405020304" pitchFamily="18" charset="0"/>
              </a:rPr>
              <a:t>Text: Chuỗi cần xử lý</a:t>
            </a:r>
          </a:p>
          <a:p>
            <a:pPr marL="342900" indent="-342900" algn="l">
              <a:buFont typeface="Wingdings" panose="05000000000000000000" pitchFamily="2" charset="2"/>
              <a:buChar char="q"/>
            </a:pPr>
            <a:r>
              <a:rPr lang="en-US" sz="1800">
                <a:latin typeface="Times New Roman" panose="02020603050405020304" pitchFamily="18" charset="0"/>
                <a:cs typeface="Times New Roman" panose="02020603050405020304" pitchFamily="18" charset="0"/>
              </a:rPr>
              <a:t>Delimiter: Ký tự hoặc chuỗi dùng để phân tách</a:t>
            </a:r>
          </a:p>
          <a:p>
            <a:pPr marL="342900" indent="-342900" algn="l">
              <a:buFont typeface="Wingdings" panose="05000000000000000000" pitchFamily="2" charset="2"/>
              <a:buChar char="q"/>
            </a:pPr>
            <a:r>
              <a:rPr lang="en-US" sz="1800">
                <a:latin typeface="Times New Roman" panose="02020603050405020304" pitchFamily="18" charset="0"/>
                <a:cs typeface="Times New Roman" panose="02020603050405020304" pitchFamily="18" charset="0"/>
              </a:rPr>
              <a:t>instance_num: Lần xuất hiện thứ mấy của delimiter (mặc định = 1, theo chiều từ phải qua trái: -1)</a:t>
            </a:r>
          </a:p>
          <a:p>
            <a:pPr algn="l"/>
            <a:r>
              <a:rPr lang="en-US" sz="1800">
                <a:latin typeface="Times New Roman" panose="02020603050405020304" pitchFamily="18" charset="0"/>
                <a:cs typeface="Times New Roman" panose="02020603050405020304" pitchFamily="18" charset="0"/>
              </a:rPr>
              <a:t>Ví dụ: </a:t>
            </a:r>
            <a:r>
              <a:rPr lang="de-DE" sz="1800">
                <a:latin typeface="Times New Roman" panose="02020603050405020304" pitchFamily="18" charset="0"/>
                <a:cs typeface="Times New Roman" panose="02020603050405020304" pitchFamily="18" charset="0"/>
              </a:rPr>
              <a:t>=</a:t>
            </a:r>
            <a:r>
              <a:rPr lang="en-US" sz="1800" b="1">
                <a:latin typeface="Times New Roman" panose="02020603050405020304" pitchFamily="18" charset="0"/>
                <a:cs typeface="Times New Roman" panose="02020603050405020304" pitchFamily="18" charset="0"/>
              </a:rPr>
              <a:t> </a:t>
            </a:r>
            <a:r>
              <a:rPr lang="en-US" sz="1800">
                <a:latin typeface="Times New Roman" panose="02020603050405020304" pitchFamily="18" charset="0"/>
                <a:cs typeface="Times New Roman" panose="02020603050405020304" pitchFamily="18" charset="0"/>
              </a:rPr>
              <a:t>TEXTBEFORE</a:t>
            </a:r>
            <a:r>
              <a:rPr lang="de-DE" sz="1800">
                <a:latin typeface="Times New Roman" panose="02020603050405020304" pitchFamily="18" charset="0"/>
                <a:cs typeface="Times New Roman" panose="02020603050405020304" pitchFamily="18" charset="0"/>
              </a:rPr>
              <a:t>("Nguyễn Văn An"," ",-1)</a:t>
            </a:r>
            <a:r>
              <a:rPr lang="en-US" sz="1800">
                <a:latin typeface="Times New Roman" panose="02020603050405020304" pitchFamily="18" charset="0"/>
                <a:cs typeface="Times New Roman" panose="02020603050405020304" pitchFamily="18" charset="0"/>
              </a:rPr>
              <a:t>. Kết quả: Nguyễn Văn</a:t>
            </a:r>
            <a:endParaRPr lang="en-US" sz="1800" b="1">
              <a:latin typeface="Times New Roman" panose="02020603050405020304" pitchFamily="18" charset="0"/>
              <a:cs typeface="Times New Roman" panose="02020603050405020304" pitchFamily="18" charset="0"/>
            </a:endParaRPr>
          </a:p>
          <a:p>
            <a:pPr algn="l"/>
            <a:r>
              <a:rPr lang="en-US" sz="2000" b="1">
                <a:latin typeface="Times New Roman" panose="02020603050405020304" pitchFamily="18" charset="0"/>
                <a:cs typeface="Times New Roman" panose="02020603050405020304" pitchFamily="18" charset="0"/>
              </a:rPr>
              <a:t>2.23 Hàm TEXTAFTER</a:t>
            </a:r>
          </a:p>
          <a:p>
            <a:pPr algn="l"/>
            <a:r>
              <a:rPr lang="en-US" sz="1800">
                <a:latin typeface="Times New Roman" panose="02020603050405020304" pitchFamily="18" charset="0"/>
                <a:cs typeface="Times New Roman" panose="02020603050405020304" pitchFamily="18" charset="0"/>
              </a:rPr>
              <a:t>Ý nghĩa: Dùng để lấy phần văn bản đứng sau một ký tự hoặc chuỗi ký tự xác định.</a:t>
            </a:r>
          </a:p>
          <a:p>
            <a:pPr algn="l"/>
            <a:r>
              <a:rPr lang="en-US" sz="1800">
                <a:latin typeface="Times New Roman" panose="02020603050405020304" pitchFamily="18" charset="0"/>
                <a:cs typeface="Times New Roman" panose="02020603050405020304" pitchFamily="18" charset="0"/>
              </a:rPr>
              <a:t>Ví dụ: </a:t>
            </a:r>
            <a:r>
              <a:rPr lang="de-DE" sz="1800">
                <a:latin typeface="Times New Roman" panose="02020603050405020304" pitchFamily="18" charset="0"/>
                <a:cs typeface="Times New Roman" panose="02020603050405020304" pitchFamily="18" charset="0"/>
              </a:rPr>
              <a:t>=TEXTAFTER("Nguyễn Văn An"," ",-1)</a:t>
            </a:r>
            <a:r>
              <a:rPr lang="en-US" sz="1800">
                <a:latin typeface="Times New Roman" panose="02020603050405020304" pitchFamily="18" charset="0"/>
                <a:cs typeface="Times New Roman" panose="02020603050405020304" pitchFamily="18" charset="0"/>
              </a:rPr>
              <a:t>. Kết quả: An</a:t>
            </a:r>
            <a:endParaRPr lang="en-US" sz="1800" b="1">
              <a:latin typeface="Times New Roman" panose="02020603050405020304" pitchFamily="18" charset="0"/>
              <a:cs typeface="Times New Roman" panose="02020603050405020304" pitchFamily="18" charset="0"/>
            </a:endParaRPr>
          </a:p>
          <a:p>
            <a:pPr algn="l"/>
            <a:endParaRPr lang="en-US" sz="2000" b="1">
              <a:latin typeface="Times New Roman" panose="02020603050405020304" pitchFamily="18" charset="0"/>
              <a:cs typeface="Times New Roman" panose="02020603050405020304" pitchFamily="18" charset="0"/>
            </a:endParaRPr>
          </a:p>
          <a:p>
            <a:pPr algn="l"/>
            <a:endParaRPr lang="en-US" sz="2000" b="1">
              <a:latin typeface="Times New Roman" panose="02020603050405020304" pitchFamily="18" charset="0"/>
              <a:cs typeface="Times New Roman" panose="02020603050405020304" pitchFamily="18" charset="0"/>
            </a:endParaRPr>
          </a:p>
          <a:p>
            <a:pPr algn="l"/>
            <a:endParaRPr lang="en-US" sz="2000" b="1">
              <a:latin typeface="Times New Roman" panose="02020603050405020304" pitchFamily="18" charset="0"/>
              <a:cs typeface="Times New Roman" panose="02020603050405020304" pitchFamily="18" charset="0"/>
            </a:endParaRPr>
          </a:p>
          <a:p>
            <a:pPr algn="l"/>
            <a:endParaRPr lang="en-US" sz="2000" b="1">
              <a:latin typeface="Times New Roman" panose="02020603050405020304" pitchFamily="18" charset="0"/>
              <a:cs typeface="Times New Roman" panose="02020603050405020304" pitchFamily="18" charset="0"/>
            </a:endParaRPr>
          </a:p>
          <a:p>
            <a:pPr algn="l"/>
            <a:endParaRPr lang="en-US" sz="2000" b="1">
              <a:latin typeface="Times New Roman" panose="02020603050405020304" pitchFamily="18" charset="0"/>
              <a:cs typeface="Times New Roman" panose="02020603050405020304" pitchFamily="18" charset="0"/>
            </a:endParaRPr>
          </a:p>
          <a:p>
            <a:pPr algn="l"/>
            <a:endParaRPr lang="en-US"/>
          </a:p>
          <a:p>
            <a:pPr algn="l"/>
            <a:endParaRPr lang="en-US"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60391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B117B-38F8-EEC7-D353-BA4F8C80DE23}"/>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03105004-5681-ED6E-C6FA-4D02C2F1BFE2}"/>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 EXCEL</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452DDF50-FDE1-21DD-B5BD-84EE1DC89F29}"/>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4672733A-32E7-94BE-C2DE-92FF19FEF9DA}"/>
              </a:ext>
            </a:extLst>
          </p:cNvPr>
          <p:cNvSpPr txBox="1">
            <a:spLocks/>
          </p:cNvSpPr>
          <p:nvPr/>
        </p:nvSpPr>
        <p:spPr>
          <a:xfrm>
            <a:off x="457200" y="761000"/>
            <a:ext cx="11353800"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3 : Định dạng dữ liệu</a:t>
            </a:r>
          </a:p>
          <a:p>
            <a:pPr algn="l"/>
            <a:r>
              <a:rPr lang="en-US" sz="2000" b="1">
                <a:latin typeface="Times New Roman" panose="02020603050405020304" pitchFamily="18" charset="0"/>
                <a:cs typeface="Times New Roman" panose="02020603050405020304" pitchFamily="18" charset="0"/>
              </a:rPr>
              <a:t>3.1. Định dạng dữ liệu                          3.2. Gộp ô (Merge Cells)</a:t>
            </a:r>
          </a:p>
          <a:p>
            <a:pPr algn="l"/>
            <a:r>
              <a:rPr lang="en-US" sz="2000" b="1">
                <a:latin typeface="Times New Roman" panose="02020603050405020304" pitchFamily="18" charset="0"/>
                <a:cs typeface="Times New Roman" panose="02020603050405020304" pitchFamily="18" charset="0"/>
              </a:rPr>
              <a:t> </a:t>
            </a:r>
          </a:p>
          <a:p>
            <a:pPr algn="l"/>
            <a:endParaRPr lang="en-US" sz="200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AA73261-A1E5-74E0-4205-40CA3CE6D274}"/>
              </a:ext>
            </a:extLst>
          </p:cNvPr>
          <p:cNvPicPr>
            <a:picLocks noChangeAspect="1"/>
          </p:cNvPicPr>
          <p:nvPr/>
        </p:nvPicPr>
        <p:blipFill>
          <a:blip r:embed="rId2"/>
          <a:stretch>
            <a:fillRect/>
          </a:stretch>
        </p:blipFill>
        <p:spPr>
          <a:xfrm>
            <a:off x="1387420" y="1497606"/>
            <a:ext cx="2106278" cy="5262514"/>
          </a:xfrm>
          <a:prstGeom prst="rect">
            <a:avLst/>
          </a:prstGeom>
          <a:ln>
            <a:solidFill>
              <a:srgbClr val="A9A9A9"/>
            </a:solidFill>
          </a:ln>
        </p:spPr>
      </p:pic>
      <p:pic>
        <p:nvPicPr>
          <p:cNvPr id="8" name="Picture 7">
            <a:extLst>
              <a:ext uri="{FF2B5EF4-FFF2-40B4-BE49-F238E27FC236}">
                <a16:creationId xmlns:a16="http://schemas.microsoft.com/office/drawing/2014/main" id="{6E9D5206-C48C-9D63-3965-B151FA5F27F4}"/>
              </a:ext>
            </a:extLst>
          </p:cNvPr>
          <p:cNvPicPr>
            <a:picLocks noChangeAspect="1"/>
          </p:cNvPicPr>
          <p:nvPr/>
        </p:nvPicPr>
        <p:blipFill>
          <a:blip r:embed="rId3"/>
          <a:stretch>
            <a:fillRect/>
          </a:stretch>
        </p:blipFill>
        <p:spPr>
          <a:xfrm>
            <a:off x="3700820" y="1497606"/>
            <a:ext cx="8223673" cy="2171812"/>
          </a:xfrm>
          <a:prstGeom prst="rect">
            <a:avLst/>
          </a:prstGeom>
          <a:ln>
            <a:solidFill>
              <a:srgbClr val="A9A9A9"/>
            </a:solidFill>
          </a:ln>
        </p:spPr>
      </p:pic>
      <p:sp>
        <p:nvSpPr>
          <p:cNvPr id="9" name="Rectangle 8">
            <a:extLst>
              <a:ext uri="{FF2B5EF4-FFF2-40B4-BE49-F238E27FC236}">
                <a16:creationId xmlns:a16="http://schemas.microsoft.com/office/drawing/2014/main" id="{E7AC3513-D95D-C699-06AE-334793681281}"/>
              </a:ext>
            </a:extLst>
          </p:cNvPr>
          <p:cNvSpPr/>
          <p:nvPr/>
        </p:nvSpPr>
        <p:spPr>
          <a:xfrm>
            <a:off x="8341743" y="2130725"/>
            <a:ext cx="629729" cy="37093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CD31B65B-FB58-9D04-53C9-CD70A260FF8C}"/>
              </a:ext>
            </a:extLst>
          </p:cNvPr>
          <p:cNvCxnSpPr/>
          <p:nvPr/>
        </p:nvCxnSpPr>
        <p:spPr>
          <a:xfrm>
            <a:off x="8971472" y="2501660"/>
            <a:ext cx="595222" cy="77637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10829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016CF-E4E2-5991-A947-43635446C42C}"/>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E8D9556A-C9AE-C45B-2792-1104FBF786BD}"/>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 EXCEL</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BE2DD753-4F2C-3933-DFCC-9DD409A717B6}"/>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73D69977-86CB-4186-7E69-1E81F980A639}"/>
              </a:ext>
            </a:extLst>
          </p:cNvPr>
          <p:cNvSpPr txBox="1">
            <a:spLocks/>
          </p:cNvSpPr>
          <p:nvPr/>
        </p:nvSpPr>
        <p:spPr>
          <a:xfrm>
            <a:off x="457200" y="761000"/>
            <a:ext cx="11353800"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4 : Xử lý vùng dữ liệu</a:t>
            </a:r>
          </a:p>
          <a:p>
            <a:pPr algn="l"/>
            <a:r>
              <a:rPr lang="en-US" sz="2000" b="1">
                <a:latin typeface="Times New Roman" panose="02020603050405020304" pitchFamily="18" charset="0"/>
                <a:cs typeface="Times New Roman" panose="02020603050405020304" pitchFamily="18" charset="0"/>
              </a:rPr>
              <a:t>4.1 Filter – lọc dữ liệu </a:t>
            </a:r>
            <a:r>
              <a:rPr lang="en-US" sz="2000">
                <a:latin typeface="Times New Roman" panose="02020603050405020304" pitchFamily="18" charset="0"/>
                <a:cs typeface="Times New Roman" panose="02020603050405020304" pitchFamily="18" charset="0"/>
              </a:rPr>
              <a:t>(Chọn theo thứ tự: Home/Sort &amp; filter/Filter)</a:t>
            </a:r>
          </a:p>
          <a:p>
            <a:pPr algn="l"/>
            <a:endParaRPr lang="en-US" sz="2000">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a:p>
            <a:pPr algn="l"/>
            <a:r>
              <a:rPr lang="en-US" sz="2000" b="1">
                <a:latin typeface="Times New Roman" panose="02020603050405020304" pitchFamily="18" charset="0"/>
                <a:cs typeface="Times New Roman" panose="02020603050405020304" pitchFamily="18" charset="0"/>
              </a:rPr>
              <a:t>4.2. Sắp xếp dữ liệu theo 2 cột trở lên</a:t>
            </a:r>
          </a:p>
          <a:p>
            <a:pPr algn="l"/>
            <a:r>
              <a:rPr lang="en-US" sz="2000">
                <a:latin typeface="Times New Roman" panose="02020603050405020304" pitchFamily="18" charset="0"/>
                <a:cs typeface="Times New Roman" panose="02020603050405020304" pitchFamily="18" charset="0"/>
              </a:rPr>
              <a:t>Chọn theo thứ tự: Home/Sort &amp; filter/Custom Sort…</a:t>
            </a:r>
          </a:p>
          <a:p>
            <a:pPr algn="l"/>
            <a:r>
              <a:rPr lang="en-US" sz="2000">
                <a:latin typeface="Times New Roman" panose="02020603050405020304" pitchFamily="18" charset="0"/>
                <a:cs typeface="Times New Roman" panose="02020603050405020304" pitchFamily="18" charset="0"/>
              </a:rPr>
              <a:t>Nhấn “Add level” để thêm cột cần sắp xếp =&gt; Tùy chọn tại Order và nhấn “OK”</a:t>
            </a:r>
            <a:endParaRPr lang="en-US"/>
          </a:p>
          <a:p>
            <a:pPr fontAlgn="ctr"/>
            <a:endParaRPr lang="en-US"/>
          </a:p>
          <a:p>
            <a:pPr fontAlgn="ctr"/>
            <a:endParaRPr lang="en-US"/>
          </a:p>
          <a:p>
            <a:pPr fontAlgn="ctr"/>
            <a:endParaRPr lang="en-US"/>
          </a:p>
          <a:p>
            <a:pPr fontAlgn="ctr"/>
            <a:endParaRPr lang="en-US"/>
          </a:p>
          <a:p>
            <a:pPr fontAlgn="ctr"/>
            <a:endParaRPr lang="en-US"/>
          </a:p>
          <a:p>
            <a:pPr fontAlgn="ctr"/>
            <a:endParaRPr lang="en-US"/>
          </a:p>
          <a:p>
            <a:pPr fontAlgn="ctr"/>
            <a:endParaRPr lang="en-US"/>
          </a:p>
          <a:p>
            <a:pPr algn="l"/>
            <a:endParaRPr lang="en-US" sz="200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4ED29F1-A0FB-E2CB-52B9-AF395B5A07AD}"/>
              </a:ext>
            </a:extLst>
          </p:cNvPr>
          <p:cNvPicPr>
            <a:picLocks noChangeAspect="1"/>
          </p:cNvPicPr>
          <p:nvPr/>
        </p:nvPicPr>
        <p:blipFill>
          <a:blip r:embed="rId2"/>
          <a:srcRect b="33949"/>
          <a:stretch>
            <a:fillRect/>
          </a:stretch>
        </p:blipFill>
        <p:spPr>
          <a:xfrm>
            <a:off x="457200" y="4747264"/>
            <a:ext cx="2171812" cy="1686167"/>
          </a:xfrm>
          <a:prstGeom prst="rect">
            <a:avLst/>
          </a:prstGeom>
          <a:ln>
            <a:solidFill>
              <a:srgbClr val="A9A9A9"/>
            </a:solidFill>
          </a:ln>
        </p:spPr>
      </p:pic>
      <p:pic>
        <p:nvPicPr>
          <p:cNvPr id="8" name="Picture 7">
            <a:extLst>
              <a:ext uri="{FF2B5EF4-FFF2-40B4-BE49-F238E27FC236}">
                <a16:creationId xmlns:a16="http://schemas.microsoft.com/office/drawing/2014/main" id="{FD85FFA2-233E-F213-7C3F-7E11A9B35375}"/>
              </a:ext>
            </a:extLst>
          </p:cNvPr>
          <p:cNvPicPr>
            <a:picLocks noChangeAspect="1"/>
          </p:cNvPicPr>
          <p:nvPr/>
        </p:nvPicPr>
        <p:blipFill>
          <a:blip r:embed="rId3"/>
          <a:srcRect b="38678"/>
          <a:stretch>
            <a:fillRect/>
          </a:stretch>
        </p:blipFill>
        <p:spPr>
          <a:xfrm>
            <a:off x="2775766" y="4755890"/>
            <a:ext cx="7696596" cy="1686167"/>
          </a:xfrm>
          <a:prstGeom prst="rect">
            <a:avLst/>
          </a:prstGeom>
          <a:ln>
            <a:solidFill>
              <a:srgbClr val="A9A9A9"/>
            </a:solidFill>
          </a:ln>
        </p:spPr>
      </p:pic>
      <p:pic>
        <p:nvPicPr>
          <p:cNvPr id="10" name="Picture 9">
            <a:extLst>
              <a:ext uri="{FF2B5EF4-FFF2-40B4-BE49-F238E27FC236}">
                <a16:creationId xmlns:a16="http://schemas.microsoft.com/office/drawing/2014/main" id="{93FECD24-BAC7-6D42-E5C1-0AEF66F60F51}"/>
              </a:ext>
            </a:extLst>
          </p:cNvPr>
          <p:cNvPicPr>
            <a:picLocks noChangeAspect="1"/>
          </p:cNvPicPr>
          <p:nvPr/>
        </p:nvPicPr>
        <p:blipFill>
          <a:blip r:embed="rId4"/>
          <a:stretch>
            <a:fillRect/>
          </a:stretch>
        </p:blipFill>
        <p:spPr>
          <a:xfrm>
            <a:off x="457200" y="1441348"/>
            <a:ext cx="2044805" cy="1987652"/>
          </a:xfrm>
          <a:prstGeom prst="rect">
            <a:avLst/>
          </a:prstGeom>
          <a:ln>
            <a:solidFill>
              <a:srgbClr val="A9A9A9"/>
            </a:solidFill>
          </a:ln>
        </p:spPr>
      </p:pic>
    </p:spTree>
    <p:extLst>
      <p:ext uri="{BB962C8B-B14F-4D97-AF65-F5344CB8AC3E}">
        <p14:creationId xmlns:p14="http://schemas.microsoft.com/office/powerpoint/2010/main" val="20327001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A8DBC-01E2-665A-4209-706ACDCE3540}"/>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03B1406B-5F5F-9907-876C-DB03EBB7BD35}"/>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 EXCEL</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77D57B38-C0E8-B31F-64BE-FCCB18BF0590}"/>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A767D0B7-D23B-530C-387C-CAC3AD9DDE46}"/>
              </a:ext>
            </a:extLst>
          </p:cNvPr>
          <p:cNvSpPr txBox="1">
            <a:spLocks/>
          </p:cNvSpPr>
          <p:nvPr/>
        </p:nvSpPr>
        <p:spPr>
          <a:xfrm>
            <a:off x="457200" y="761000"/>
            <a:ext cx="11353800"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5 : Đóng băng dòng, cột</a:t>
            </a:r>
          </a:p>
          <a:p>
            <a:pPr algn="l"/>
            <a:r>
              <a:rPr lang="en-US" sz="2000">
                <a:latin typeface="Times New Roman" panose="02020603050405020304" pitchFamily="18" charset="0"/>
                <a:cs typeface="Times New Roman" panose="02020603050405020304" pitchFamily="18" charset="0"/>
              </a:rPr>
              <a:t>Chọn vị trí cần đóng băng (1) =&gt; chọn View/Freeze Panes/Freeze Panes (2): Đóng băng cả dòng và cột.</a:t>
            </a:r>
          </a:p>
          <a:p>
            <a:pPr algn="l"/>
            <a:endParaRPr lang="en-US" sz="2000" b="1" u="sng">
              <a:latin typeface="Times New Roman" panose="02020603050405020304" pitchFamily="18" charset="0"/>
              <a:cs typeface="Times New Roman" panose="02020603050405020304" pitchFamily="18" charset="0"/>
            </a:endParaRPr>
          </a:p>
          <a:p>
            <a:pPr algn="l"/>
            <a:r>
              <a:rPr lang="en-US" sz="2000" b="1" u="sng">
                <a:latin typeface="Times New Roman" panose="02020603050405020304" pitchFamily="18" charset="0"/>
                <a:cs typeface="Times New Roman" panose="02020603050405020304" pitchFamily="18" charset="0"/>
              </a:rPr>
              <a:t>Note:</a:t>
            </a:r>
          </a:p>
          <a:p>
            <a:pPr marL="342900" indent="-342900" algn="l">
              <a:buFont typeface="Wingdings" panose="05000000000000000000" pitchFamily="2" charset="2"/>
              <a:buChar char="q"/>
            </a:pPr>
            <a:r>
              <a:rPr lang="en-US" sz="2000">
                <a:latin typeface="Times New Roman" panose="02020603050405020304" pitchFamily="18" charset="0"/>
                <a:cs typeface="Times New Roman" panose="02020603050405020304" pitchFamily="18" charset="0"/>
              </a:rPr>
              <a:t>Freeze Top Row: Chỉ đóng băng theo dòng</a:t>
            </a:r>
          </a:p>
          <a:p>
            <a:pPr marL="342900" indent="-342900" algn="l">
              <a:buFont typeface="Wingdings" panose="05000000000000000000" pitchFamily="2" charset="2"/>
              <a:buChar char="q"/>
            </a:pPr>
            <a:r>
              <a:rPr lang="en-US" sz="2000">
                <a:latin typeface="Times New Roman" panose="02020603050405020304" pitchFamily="18" charset="0"/>
                <a:cs typeface="Times New Roman" panose="02020603050405020304" pitchFamily="18" charset="0"/>
              </a:rPr>
              <a:t>Freeze Top Column: Chỉ đóng băng theo cột</a:t>
            </a:r>
          </a:p>
          <a:p>
            <a:pPr algn="l"/>
            <a:endParaRPr lang="en-US" sz="200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49D4841-48B7-A7C0-7580-4B0E815C507B}"/>
              </a:ext>
            </a:extLst>
          </p:cNvPr>
          <p:cNvPicPr>
            <a:picLocks noChangeAspect="1"/>
          </p:cNvPicPr>
          <p:nvPr/>
        </p:nvPicPr>
        <p:blipFill>
          <a:blip r:embed="rId2"/>
          <a:srcRect t="1367"/>
          <a:stretch>
            <a:fillRect/>
          </a:stretch>
        </p:blipFill>
        <p:spPr>
          <a:xfrm>
            <a:off x="462971" y="3238116"/>
            <a:ext cx="11271829" cy="3087918"/>
          </a:xfrm>
          <a:prstGeom prst="rect">
            <a:avLst/>
          </a:prstGeom>
          <a:ln>
            <a:solidFill>
              <a:srgbClr val="A9A9A9"/>
            </a:solidFill>
          </a:ln>
        </p:spPr>
      </p:pic>
      <p:sp>
        <p:nvSpPr>
          <p:cNvPr id="7" name="Oval 6">
            <a:extLst>
              <a:ext uri="{FF2B5EF4-FFF2-40B4-BE49-F238E27FC236}">
                <a16:creationId xmlns:a16="http://schemas.microsoft.com/office/drawing/2014/main" id="{E5205C26-2D0D-9A1C-B417-7E7868E9E302}"/>
              </a:ext>
            </a:extLst>
          </p:cNvPr>
          <p:cNvSpPr/>
          <p:nvPr/>
        </p:nvSpPr>
        <p:spPr>
          <a:xfrm>
            <a:off x="1633417" y="5116473"/>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sp>
        <p:nvSpPr>
          <p:cNvPr id="8" name="Oval 7">
            <a:extLst>
              <a:ext uri="{FF2B5EF4-FFF2-40B4-BE49-F238E27FC236}">
                <a16:creationId xmlns:a16="http://schemas.microsoft.com/office/drawing/2014/main" id="{6425A838-120D-F3A0-D60C-926C13FC866C}"/>
              </a:ext>
            </a:extLst>
          </p:cNvPr>
          <p:cNvSpPr/>
          <p:nvPr/>
        </p:nvSpPr>
        <p:spPr>
          <a:xfrm>
            <a:off x="9497832" y="4112934"/>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Tree>
    <p:extLst>
      <p:ext uri="{BB962C8B-B14F-4D97-AF65-F5344CB8AC3E}">
        <p14:creationId xmlns:p14="http://schemas.microsoft.com/office/powerpoint/2010/main" val="2849777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C8B4E-F959-CCB6-C2F9-4FC53F829C70}"/>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A525D269-2BD5-0D7B-3BAD-D44DB817F895}"/>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 EXCEL</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BD05AF46-C4AE-4352-33C9-14FAF02E5395}"/>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1A037D4F-DBE8-8E51-CB95-6A87447EDF3B}"/>
              </a:ext>
            </a:extLst>
          </p:cNvPr>
          <p:cNvSpPr txBox="1">
            <a:spLocks/>
          </p:cNvSpPr>
          <p:nvPr/>
        </p:nvSpPr>
        <p:spPr>
          <a:xfrm>
            <a:off x="457200" y="761000"/>
            <a:ext cx="11353800"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6 : Định dạng trang in</a:t>
            </a:r>
          </a:p>
          <a:p>
            <a:pPr algn="l"/>
            <a:r>
              <a:rPr lang="en-US" sz="2000" b="1">
                <a:latin typeface="Times New Roman" panose="02020603050405020304" pitchFamily="18" charset="0"/>
                <a:cs typeface="Times New Roman" panose="02020603050405020304" pitchFamily="18" charset="0"/>
              </a:rPr>
              <a:t>6.1 </a:t>
            </a:r>
            <a:r>
              <a:rPr lang="vi-VN" sz="2000" b="1">
                <a:latin typeface="Times New Roman" panose="02020603050405020304" pitchFamily="18" charset="0"/>
                <a:cs typeface="Times New Roman" panose="02020603050405020304" pitchFamily="18" charset="0"/>
              </a:rPr>
              <a:t>Thiết lập khổ giấy và hướng in</a:t>
            </a:r>
          </a:p>
          <a:p>
            <a:pPr algn="l"/>
            <a:r>
              <a:rPr lang="vi-VN" sz="2000">
                <a:latin typeface="Times New Roman" panose="02020603050405020304" pitchFamily="18" charset="0"/>
                <a:cs typeface="Times New Roman" panose="02020603050405020304" pitchFamily="18" charset="0"/>
              </a:rPr>
              <a:t>Vào Page Layout → Page Setup:</a:t>
            </a:r>
          </a:p>
          <a:p>
            <a:pPr marL="342900" indent="-342900" algn="l">
              <a:buFont typeface="Wingdings" panose="05000000000000000000" pitchFamily="2" charset="2"/>
              <a:buChar char="q"/>
            </a:pPr>
            <a:r>
              <a:rPr lang="vi-VN" sz="2000" b="1">
                <a:latin typeface="Times New Roman" panose="02020603050405020304" pitchFamily="18" charset="0"/>
                <a:cs typeface="Times New Roman" panose="02020603050405020304" pitchFamily="18" charset="0"/>
              </a:rPr>
              <a:t>Size (Khổ giấy)</a:t>
            </a:r>
            <a:r>
              <a:rPr lang="vi-VN" sz="2000">
                <a:latin typeface="Times New Roman" panose="02020603050405020304" pitchFamily="18" charset="0"/>
                <a:cs typeface="Times New Roman" panose="02020603050405020304" pitchFamily="18" charset="0"/>
              </a:rPr>
              <a:t>: thường dùng A4 </a:t>
            </a:r>
          </a:p>
          <a:p>
            <a:pPr marL="342900" indent="-342900" algn="l">
              <a:buFont typeface="Wingdings" panose="05000000000000000000" pitchFamily="2" charset="2"/>
              <a:buChar char="q"/>
            </a:pPr>
            <a:r>
              <a:rPr lang="vi-VN" sz="2000" b="1">
                <a:latin typeface="Times New Roman" panose="02020603050405020304" pitchFamily="18" charset="0"/>
                <a:cs typeface="Times New Roman" panose="02020603050405020304" pitchFamily="18" charset="0"/>
              </a:rPr>
              <a:t>Orientation (Hướng giấy)</a:t>
            </a:r>
            <a:r>
              <a:rPr lang="vi-VN" sz="2000">
                <a:latin typeface="Times New Roman" panose="02020603050405020304" pitchFamily="18" charset="0"/>
                <a:cs typeface="Times New Roman" panose="02020603050405020304" pitchFamily="18" charset="0"/>
              </a:rPr>
              <a:t>: </a:t>
            </a:r>
          </a:p>
          <a:p>
            <a:pPr marL="800100" lvl="1" indent="-342900" algn="l">
              <a:buFont typeface="Wingdings" panose="05000000000000000000" pitchFamily="2" charset="2"/>
              <a:buChar char="Ø"/>
            </a:pPr>
            <a:r>
              <a:rPr lang="vi-VN">
                <a:latin typeface="Times New Roman" panose="02020603050405020304" pitchFamily="18" charset="0"/>
                <a:cs typeface="Times New Roman" panose="02020603050405020304" pitchFamily="18" charset="0"/>
              </a:rPr>
              <a:t>Portrait (dọc)</a:t>
            </a:r>
          </a:p>
          <a:p>
            <a:pPr marL="800100" lvl="1" indent="-342900" algn="l">
              <a:buFont typeface="Wingdings" panose="05000000000000000000" pitchFamily="2" charset="2"/>
              <a:buChar char="Ø"/>
            </a:pPr>
            <a:r>
              <a:rPr lang="vi-VN">
                <a:latin typeface="Times New Roman" panose="02020603050405020304" pitchFamily="18" charset="0"/>
                <a:cs typeface="Times New Roman" panose="02020603050405020304" pitchFamily="18" charset="0"/>
              </a:rPr>
              <a:t>Landscape (ngang)</a:t>
            </a:r>
          </a:p>
          <a:p>
            <a:pPr marL="342900" indent="-342900" algn="l">
              <a:buFont typeface="Wingdings" panose="05000000000000000000" pitchFamily="2" charset="2"/>
              <a:buChar char="q"/>
            </a:pPr>
            <a:r>
              <a:rPr lang="vi-VN" sz="2000" b="1">
                <a:latin typeface="Times New Roman" panose="02020603050405020304" pitchFamily="18" charset="0"/>
                <a:cs typeface="Times New Roman" panose="02020603050405020304" pitchFamily="18" charset="0"/>
              </a:rPr>
              <a:t>Margins (Lề)</a:t>
            </a:r>
            <a:r>
              <a:rPr lang="vi-VN" sz="2000">
                <a:latin typeface="Times New Roman" panose="02020603050405020304" pitchFamily="18" charset="0"/>
                <a:cs typeface="Times New Roman" panose="02020603050405020304" pitchFamily="18" charset="0"/>
              </a:rPr>
              <a:t>: </a:t>
            </a:r>
          </a:p>
          <a:p>
            <a:pPr marL="742950" lvl="1" indent="-285750" algn="l">
              <a:buFont typeface="Arial" panose="020B0604020202020204" pitchFamily="34" charset="0"/>
              <a:buChar char="•"/>
            </a:pPr>
            <a:r>
              <a:rPr lang="vi-VN">
                <a:latin typeface="Times New Roman" panose="02020603050405020304" pitchFamily="18" charset="0"/>
                <a:cs typeface="Times New Roman" panose="02020603050405020304" pitchFamily="18" charset="0"/>
              </a:rPr>
              <a:t>Normal: mặc định </a:t>
            </a:r>
          </a:p>
          <a:p>
            <a:pPr marL="742950" lvl="1" indent="-285750" algn="l">
              <a:buFont typeface="Arial" panose="020B0604020202020204" pitchFamily="34" charset="0"/>
              <a:buChar char="•"/>
            </a:pPr>
            <a:r>
              <a:rPr lang="vi-VN">
                <a:latin typeface="Times New Roman" panose="02020603050405020304" pitchFamily="18" charset="0"/>
                <a:cs typeface="Times New Roman" panose="02020603050405020304" pitchFamily="18" charset="0"/>
              </a:rPr>
              <a:t>Narrow: dùng khi cần nhiều nội dung hơn</a:t>
            </a:r>
            <a:endParaRPr lang="en-US">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AC5F59EB-38FE-0B64-DBE1-DB57A079E3DD}"/>
              </a:ext>
            </a:extLst>
          </p:cNvPr>
          <p:cNvPicPr>
            <a:picLocks noChangeAspect="1"/>
          </p:cNvPicPr>
          <p:nvPr/>
        </p:nvPicPr>
        <p:blipFill>
          <a:blip r:embed="rId2"/>
          <a:srcRect l="3990" r="8111"/>
          <a:stretch>
            <a:fillRect/>
          </a:stretch>
        </p:blipFill>
        <p:spPr>
          <a:xfrm>
            <a:off x="5633048" y="1194260"/>
            <a:ext cx="1864352" cy="5658141"/>
          </a:xfrm>
          <a:prstGeom prst="rect">
            <a:avLst/>
          </a:prstGeom>
          <a:ln>
            <a:solidFill>
              <a:srgbClr val="A9A9A9"/>
            </a:solidFill>
          </a:ln>
        </p:spPr>
      </p:pic>
      <p:pic>
        <p:nvPicPr>
          <p:cNvPr id="10" name="Picture 9">
            <a:extLst>
              <a:ext uri="{FF2B5EF4-FFF2-40B4-BE49-F238E27FC236}">
                <a16:creationId xmlns:a16="http://schemas.microsoft.com/office/drawing/2014/main" id="{1FBF676B-E5B6-099F-EF3C-8CE4696E5328}"/>
              </a:ext>
            </a:extLst>
          </p:cNvPr>
          <p:cNvPicPr>
            <a:picLocks noChangeAspect="1"/>
          </p:cNvPicPr>
          <p:nvPr/>
        </p:nvPicPr>
        <p:blipFill>
          <a:blip r:embed="rId3"/>
          <a:stretch>
            <a:fillRect/>
          </a:stretch>
        </p:blipFill>
        <p:spPr>
          <a:xfrm>
            <a:off x="7796069" y="1175170"/>
            <a:ext cx="1428823" cy="1778091"/>
          </a:xfrm>
          <a:prstGeom prst="rect">
            <a:avLst/>
          </a:prstGeom>
          <a:ln>
            <a:solidFill>
              <a:srgbClr val="A9A9A9"/>
            </a:solidFill>
          </a:ln>
        </p:spPr>
      </p:pic>
      <p:pic>
        <p:nvPicPr>
          <p:cNvPr id="12" name="Picture 11">
            <a:extLst>
              <a:ext uri="{FF2B5EF4-FFF2-40B4-BE49-F238E27FC236}">
                <a16:creationId xmlns:a16="http://schemas.microsoft.com/office/drawing/2014/main" id="{90571085-AACD-24C1-608B-348723AD88EA}"/>
              </a:ext>
            </a:extLst>
          </p:cNvPr>
          <p:cNvPicPr>
            <a:picLocks noChangeAspect="1"/>
          </p:cNvPicPr>
          <p:nvPr/>
        </p:nvPicPr>
        <p:blipFill>
          <a:blip r:embed="rId4"/>
          <a:srcRect l="1463" r="2933"/>
          <a:stretch>
            <a:fillRect/>
          </a:stretch>
        </p:blipFill>
        <p:spPr>
          <a:xfrm>
            <a:off x="9523561" y="1175170"/>
            <a:ext cx="2562045" cy="4680191"/>
          </a:xfrm>
          <a:prstGeom prst="rect">
            <a:avLst/>
          </a:prstGeom>
          <a:ln>
            <a:solidFill>
              <a:srgbClr val="A9A9A9"/>
            </a:solidFill>
          </a:ln>
        </p:spPr>
      </p:pic>
      <p:sp>
        <p:nvSpPr>
          <p:cNvPr id="13" name="TextBox 12">
            <a:extLst>
              <a:ext uri="{FF2B5EF4-FFF2-40B4-BE49-F238E27FC236}">
                <a16:creationId xmlns:a16="http://schemas.microsoft.com/office/drawing/2014/main" id="{F2D44477-6CFE-6215-36A7-B8A296CE61F1}"/>
              </a:ext>
            </a:extLst>
          </p:cNvPr>
          <p:cNvSpPr txBox="1"/>
          <p:nvPr/>
        </p:nvSpPr>
        <p:spPr>
          <a:xfrm>
            <a:off x="5633048" y="819509"/>
            <a:ext cx="1864352" cy="400110"/>
          </a:xfrm>
          <a:prstGeom prst="rect">
            <a:avLst/>
          </a:prstGeom>
          <a:noFill/>
        </p:spPr>
        <p:txBody>
          <a:bodyPr wrap="square" rtlCol="0">
            <a:spAutoFit/>
          </a:bodyPr>
          <a:lstStyle/>
          <a:p>
            <a:r>
              <a:rPr lang="vi-VN" sz="2000" b="1">
                <a:latin typeface="Times New Roman" panose="02020603050405020304" pitchFamily="18" charset="0"/>
                <a:cs typeface="Times New Roman" panose="02020603050405020304" pitchFamily="18" charset="0"/>
              </a:rPr>
              <a:t>Khổ giấy</a:t>
            </a:r>
            <a:endParaRPr lang="en-US" sz="2000" b="1">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94C09F8B-9C18-984C-76DC-4CE3D11C2C61}"/>
              </a:ext>
            </a:extLst>
          </p:cNvPr>
          <p:cNvSpPr txBox="1"/>
          <p:nvPr/>
        </p:nvSpPr>
        <p:spPr>
          <a:xfrm>
            <a:off x="7713648" y="808527"/>
            <a:ext cx="1864352" cy="400110"/>
          </a:xfrm>
          <a:prstGeom prst="rect">
            <a:avLst/>
          </a:prstGeom>
          <a:noFill/>
        </p:spPr>
        <p:txBody>
          <a:bodyPr wrap="square" rtlCol="0">
            <a:spAutoFit/>
          </a:bodyPr>
          <a:lstStyle/>
          <a:p>
            <a:r>
              <a:rPr lang="vi-VN" sz="2000" b="1">
                <a:latin typeface="Times New Roman" panose="02020603050405020304" pitchFamily="18" charset="0"/>
                <a:cs typeface="Times New Roman" panose="02020603050405020304" pitchFamily="18" charset="0"/>
              </a:rPr>
              <a:t>Hướng giấy</a:t>
            </a:r>
            <a:endParaRPr lang="en-US" sz="2000" b="1">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D29919AA-7683-2690-0139-5B8C34DF35C5}"/>
              </a:ext>
            </a:extLst>
          </p:cNvPr>
          <p:cNvSpPr txBox="1"/>
          <p:nvPr/>
        </p:nvSpPr>
        <p:spPr>
          <a:xfrm>
            <a:off x="9386701" y="788590"/>
            <a:ext cx="1864352" cy="400110"/>
          </a:xfrm>
          <a:prstGeom prst="rect">
            <a:avLst/>
          </a:prstGeom>
          <a:noFill/>
        </p:spPr>
        <p:txBody>
          <a:bodyPr wrap="square" rtlCol="0">
            <a:spAutoFit/>
          </a:bodyPr>
          <a:lstStyle/>
          <a:p>
            <a:r>
              <a:rPr lang="vi-VN" sz="2000" b="1">
                <a:latin typeface="Times New Roman" panose="02020603050405020304" pitchFamily="18" charset="0"/>
                <a:cs typeface="Times New Roman" panose="02020603050405020304" pitchFamily="18" charset="0"/>
              </a:rPr>
              <a:t>Margins</a:t>
            </a:r>
            <a:endParaRPr lang="en-US" sz="20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37793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F2FAD-02F4-A17C-F963-0C9A62EC06D9}"/>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81F00540-5389-F3A6-34B9-A88A73D0CA13}"/>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 EXCEL</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C2A1C706-659C-1F04-4695-4BE3BCFB15E7}"/>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9DECFC95-0E4C-BD51-1F5C-75095F4BF35C}"/>
              </a:ext>
            </a:extLst>
          </p:cNvPr>
          <p:cNvSpPr txBox="1">
            <a:spLocks/>
          </p:cNvSpPr>
          <p:nvPr/>
        </p:nvSpPr>
        <p:spPr>
          <a:xfrm>
            <a:off x="457200" y="761000"/>
            <a:ext cx="11353800"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6: Định dạng trang in</a:t>
            </a:r>
          </a:p>
          <a:p>
            <a:pPr algn="l"/>
            <a:r>
              <a:rPr lang="en-US" sz="2000" b="1">
                <a:latin typeface="Times New Roman" panose="02020603050405020304" pitchFamily="18" charset="0"/>
                <a:cs typeface="Times New Roman" panose="02020603050405020304" pitchFamily="18" charset="0"/>
              </a:rPr>
              <a:t>6.1 Thêm Header / Footer (đầu trang / chân trang)</a:t>
            </a:r>
            <a:endParaRPr lang="vi-VN" sz="2000" b="1">
              <a:latin typeface="Times New Roman" panose="02020603050405020304" pitchFamily="18" charset="0"/>
              <a:cs typeface="Times New Roman" panose="02020603050405020304" pitchFamily="18" charset="0"/>
            </a:endParaRPr>
          </a:p>
          <a:p>
            <a:pPr algn="l"/>
            <a:r>
              <a:rPr lang="vi-VN" sz="2000">
                <a:latin typeface="Times New Roman" panose="02020603050405020304" pitchFamily="18" charset="0"/>
                <a:cs typeface="Times New Roman" panose="02020603050405020304" pitchFamily="18" charset="0"/>
              </a:rPr>
              <a:t>Insert → Header &amp; Footer</a:t>
            </a:r>
            <a:endParaRPr lang="en-US" sz="2000">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a:p>
            <a:pPr algn="l"/>
            <a:r>
              <a:rPr lang="en-US" sz="2000" b="1">
                <a:latin typeface="Times New Roman" panose="02020603050405020304" pitchFamily="18" charset="0"/>
                <a:cs typeface="Times New Roman" panose="02020603050405020304" pitchFamily="18" charset="0"/>
              </a:rPr>
              <a:t>6.2 Đánh số trang </a:t>
            </a:r>
            <a:r>
              <a:rPr lang="en-US" sz="2000">
                <a:latin typeface="Times New Roman" panose="02020603050405020304" pitchFamily="18" charset="0"/>
                <a:cs typeface="Times New Roman" panose="02020603050405020304" pitchFamily="18" charset="0"/>
              </a:rPr>
              <a:t>(chọn vị trí cần hiển thị sau đó chọn Header &amp; Footer / Page Number (trang hiện tại), Number of pages (tổng số trang)</a:t>
            </a:r>
          </a:p>
        </p:txBody>
      </p:sp>
      <p:pic>
        <p:nvPicPr>
          <p:cNvPr id="5" name="Picture 4">
            <a:extLst>
              <a:ext uri="{FF2B5EF4-FFF2-40B4-BE49-F238E27FC236}">
                <a16:creationId xmlns:a16="http://schemas.microsoft.com/office/drawing/2014/main" id="{E9E88C04-E601-D8C5-DA97-177995529327}"/>
              </a:ext>
            </a:extLst>
          </p:cNvPr>
          <p:cNvPicPr>
            <a:picLocks noChangeAspect="1"/>
          </p:cNvPicPr>
          <p:nvPr/>
        </p:nvPicPr>
        <p:blipFill>
          <a:blip r:embed="rId2"/>
          <a:stretch>
            <a:fillRect/>
          </a:stretch>
        </p:blipFill>
        <p:spPr>
          <a:xfrm>
            <a:off x="443346" y="1989907"/>
            <a:ext cx="11208326" cy="2101958"/>
          </a:xfrm>
          <a:prstGeom prst="rect">
            <a:avLst/>
          </a:prstGeom>
          <a:ln>
            <a:solidFill>
              <a:srgbClr val="A9A9A9"/>
            </a:solidFill>
          </a:ln>
        </p:spPr>
      </p:pic>
      <p:pic>
        <p:nvPicPr>
          <p:cNvPr id="9" name="Picture 8">
            <a:extLst>
              <a:ext uri="{FF2B5EF4-FFF2-40B4-BE49-F238E27FC236}">
                <a16:creationId xmlns:a16="http://schemas.microsoft.com/office/drawing/2014/main" id="{DDFD3B76-E6CE-59B7-AC1B-803D2E0B183F}"/>
              </a:ext>
            </a:extLst>
          </p:cNvPr>
          <p:cNvPicPr>
            <a:picLocks noChangeAspect="1"/>
          </p:cNvPicPr>
          <p:nvPr/>
        </p:nvPicPr>
        <p:blipFill>
          <a:blip r:embed="rId3"/>
          <a:stretch>
            <a:fillRect/>
          </a:stretch>
        </p:blipFill>
        <p:spPr>
          <a:xfrm>
            <a:off x="381000" y="4970135"/>
            <a:ext cx="9919210" cy="1352620"/>
          </a:xfrm>
          <a:prstGeom prst="rect">
            <a:avLst/>
          </a:prstGeom>
          <a:ln>
            <a:solidFill>
              <a:srgbClr val="A9A9A9"/>
            </a:solidFill>
          </a:ln>
        </p:spPr>
      </p:pic>
      <p:sp>
        <p:nvSpPr>
          <p:cNvPr id="4" name="Rectangle 3">
            <a:extLst>
              <a:ext uri="{FF2B5EF4-FFF2-40B4-BE49-F238E27FC236}">
                <a16:creationId xmlns:a16="http://schemas.microsoft.com/office/drawing/2014/main" id="{F60AD783-7782-FFE3-5A73-2C6D35A7AEE2}"/>
              </a:ext>
            </a:extLst>
          </p:cNvPr>
          <p:cNvSpPr/>
          <p:nvPr/>
        </p:nvSpPr>
        <p:spPr>
          <a:xfrm>
            <a:off x="2001329" y="5275510"/>
            <a:ext cx="534838" cy="82149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156938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1E4FB-8A61-9A2D-0992-BE3E3584E03D}"/>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BDDDECF3-26D2-F0C3-FDDB-806462AA1A1F}"/>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 EXCEL</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302BDC67-92FC-5982-3326-614F1CAED7DC}"/>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C051A6B0-9348-A9A7-3A95-7593952D787D}"/>
              </a:ext>
            </a:extLst>
          </p:cNvPr>
          <p:cNvSpPr txBox="1">
            <a:spLocks/>
          </p:cNvSpPr>
          <p:nvPr/>
        </p:nvSpPr>
        <p:spPr>
          <a:xfrm>
            <a:off x="457200" y="761000"/>
            <a:ext cx="11353800"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7 : Định dạng dữ liệu theo điều kiện</a:t>
            </a:r>
          </a:p>
          <a:p>
            <a:pPr algn="l"/>
            <a:r>
              <a:rPr lang="en-US" sz="2000">
                <a:latin typeface="Times New Roman" panose="02020603050405020304" pitchFamily="18" charset="0"/>
                <a:cs typeface="Times New Roman" panose="02020603050405020304" pitchFamily="18" charset="0"/>
              </a:rPr>
              <a:t>Home → Conditional Formatting: Định dạng dữ liệu theo điều kiện</a:t>
            </a:r>
          </a:p>
          <a:p>
            <a:pPr algn="l"/>
            <a:r>
              <a:rPr lang="en-US" sz="2000" b="1">
                <a:latin typeface="Times New Roman" panose="02020603050405020304" pitchFamily="18" charset="0"/>
                <a:cs typeface="Times New Roman" panose="02020603050405020304" pitchFamily="18" charset="0"/>
              </a:rPr>
              <a:t>7.1 Bôi đỏ dữ liệu trùng </a:t>
            </a:r>
          </a:p>
          <a:p>
            <a:pPr algn="l"/>
            <a:r>
              <a:rPr lang="en-US" sz="2000">
                <a:latin typeface="Times New Roman" panose="02020603050405020304" pitchFamily="18" charset="0"/>
                <a:cs typeface="Times New Roman" panose="02020603050405020304" pitchFamily="18" charset="0"/>
              </a:rPr>
              <a:t>Hightlight Cells Rules/Duplicate Values</a:t>
            </a:r>
          </a:p>
          <a:p>
            <a:pPr algn="l"/>
            <a:endParaRPr lang="en-US" sz="200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E183C3C-92DF-324E-782B-988E0C94F37B}"/>
              </a:ext>
            </a:extLst>
          </p:cNvPr>
          <p:cNvPicPr>
            <a:picLocks noChangeAspect="1"/>
          </p:cNvPicPr>
          <p:nvPr/>
        </p:nvPicPr>
        <p:blipFill>
          <a:blip r:embed="rId2"/>
          <a:stretch>
            <a:fillRect/>
          </a:stretch>
        </p:blipFill>
        <p:spPr>
          <a:xfrm>
            <a:off x="381000" y="2464613"/>
            <a:ext cx="3924502" cy="3632387"/>
          </a:xfrm>
          <a:prstGeom prst="rect">
            <a:avLst/>
          </a:prstGeom>
          <a:ln>
            <a:solidFill>
              <a:srgbClr val="A9A9A9"/>
            </a:solidFill>
          </a:ln>
        </p:spPr>
      </p:pic>
      <p:pic>
        <p:nvPicPr>
          <p:cNvPr id="8" name="Picture 7">
            <a:extLst>
              <a:ext uri="{FF2B5EF4-FFF2-40B4-BE49-F238E27FC236}">
                <a16:creationId xmlns:a16="http://schemas.microsoft.com/office/drawing/2014/main" id="{E7D1F8CB-04D6-9B78-3D77-DEAF007A96ED}"/>
              </a:ext>
            </a:extLst>
          </p:cNvPr>
          <p:cNvPicPr>
            <a:picLocks noChangeAspect="1"/>
          </p:cNvPicPr>
          <p:nvPr/>
        </p:nvPicPr>
        <p:blipFill>
          <a:blip r:embed="rId3"/>
          <a:stretch>
            <a:fillRect/>
          </a:stretch>
        </p:blipFill>
        <p:spPr>
          <a:xfrm>
            <a:off x="7300542" y="2473240"/>
            <a:ext cx="3905451" cy="1822544"/>
          </a:xfrm>
          <a:prstGeom prst="rect">
            <a:avLst/>
          </a:prstGeom>
          <a:ln>
            <a:solidFill>
              <a:srgbClr val="A9A9A9"/>
            </a:solidFill>
          </a:ln>
        </p:spPr>
      </p:pic>
      <p:sp>
        <p:nvSpPr>
          <p:cNvPr id="9" name="TextBox 8">
            <a:extLst>
              <a:ext uri="{FF2B5EF4-FFF2-40B4-BE49-F238E27FC236}">
                <a16:creationId xmlns:a16="http://schemas.microsoft.com/office/drawing/2014/main" id="{8C682591-7D62-3879-9F9D-56C7370C58B6}"/>
              </a:ext>
            </a:extLst>
          </p:cNvPr>
          <p:cNvSpPr txBox="1"/>
          <p:nvPr/>
        </p:nvSpPr>
        <p:spPr>
          <a:xfrm>
            <a:off x="7205652" y="1520578"/>
            <a:ext cx="3784402" cy="707886"/>
          </a:xfrm>
          <a:prstGeom prst="rect">
            <a:avLst/>
          </a:prstGeom>
          <a:noFill/>
        </p:spPr>
        <p:txBody>
          <a:bodyPr wrap="square" rtlCol="0">
            <a:spAutoFit/>
          </a:bodyPr>
          <a:lstStyle/>
          <a:p>
            <a:r>
              <a:rPr lang="en-US" sz="2000" b="1">
                <a:latin typeface="Times New Roman" panose="02020603050405020304" pitchFamily="18" charset="0"/>
                <a:cs typeface="Times New Roman" panose="02020603050405020304" pitchFamily="18" charset="0"/>
              </a:rPr>
              <a:t>7.2 So sánh với giá trị cố định</a:t>
            </a:r>
          </a:p>
          <a:p>
            <a:r>
              <a:rPr lang="en-US" sz="2000">
                <a:latin typeface="Times New Roman" panose="02020603050405020304" pitchFamily="18" charset="0"/>
                <a:cs typeface="Times New Roman" panose="02020603050405020304" pitchFamily="18" charset="0"/>
              </a:rPr>
              <a:t>Ví dụ bôi xanh khi ô &gt; 80</a:t>
            </a:r>
          </a:p>
        </p:txBody>
      </p:sp>
    </p:spTree>
    <p:extLst>
      <p:ext uri="{BB962C8B-B14F-4D97-AF65-F5344CB8AC3E}">
        <p14:creationId xmlns:p14="http://schemas.microsoft.com/office/powerpoint/2010/main" val="34631370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A973B-7296-D1A6-E3CE-424619846110}"/>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FD665F3D-466B-04BC-BF27-FD46A7C25385}"/>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 EXCEL</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F1B4C4F8-F3AE-98BB-127D-9E0ABF0D1F68}"/>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9CB8F13B-4EE0-07BB-21C5-219E993A80F0}"/>
              </a:ext>
            </a:extLst>
          </p:cNvPr>
          <p:cNvSpPr txBox="1">
            <a:spLocks/>
          </p:cNvSpPr>
          <p:nvPr/>
        </p:nvSpPr>
        <p:spPr>
          <a:xfrm>
            <a:off x="457200" y="761000"/>
            <a:ext cx="11353800"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7 : Định dạng dữ liệu theo điều kiện</a:t>
            </a:r>
          </a:p>
          <a:p>
            <a:pPr algn="l"/>
            <a:r>
              <a:rPr lang="en-US" sz="2000">
                <a:latin typeface="Times New Roman" panose="02020603050405020304" pitchFamily="18" charset="0"/>
                <a:cs typeface="Times New Roman" panose="02020603050405020304" pitchFamily="18" charset="0"/>
              </a:rPr>
              <a:t>Home → Conditional Formatting: Định dạng dữ liệu theo điều kiện</a:t>
            </a:r>
          </a:p>
          <a:p>
            <a:pPr algn="l"/>
            <a:r>
              <a:rPr lang="en-US" sz="2000" b="1">
                <a:latin typeface="Times New Roman" panose="02020603050405020304" pitchFamily="18" charset="0"/>
                <a:cs typeface="Times New Roman" panose="02020603050405020304" pitchFamily="18" charset="0"/>
              </a:rPr>
              <a:t>7.3 Định dạng theo Data bars</a:t>
            </a:r>
          </a:p>
          <a:p>
            <a:pPr algn="l"/>
            <a:r>
              <a:rPr lang="en-US" sz="2000">
                <a:latin typeface="Times New Roman" panose="02020603050405020304" pitchFamily="18" charset="0"/>
                <a:cs typeface="Times New Roman" panose="02020603050405020304" pitchFamily="18" charset="0"/>
              </a:rPr>
              <a:t>Conditional Formatting/Data Bars</a:t>
            </a:r>
          </a:p>
        </p:txBody>
      </p:sp>
      <p:pic>
        <p:nvPicPr>
          <p:cNvPr id="11" name="Picture 10">
            <a:extLst>
              <a:ext uri="{FF2B5EF4-FFF2-40B4-BE49-F238E27FC236}">
                <a16:creationId xmlns:a16="http://schemas.microsoft.com/office/drawing/2014/main" id="{1E2FCA5C-438D-5257-5634-F72FFE1BFBE6}"/>
              </a:ext>
            </a:extLst>
          </p:cNvPr>
          <p:cNvPicPr>
            <a:picLocks noChangeAspect="1"/>
          </p:cNvPicPr>
          <p:nvPr/>
        </p:nvPicPr>
        <p:blipFill>
          <a:blip r:embed="rId2"/>
          <a:stretch>
            <a:fillRect/>
          </a:stretch>
        </p:blipFill>
        <p:spPr>
          <a:xfrm>
            <a:off x="366342" y="2459201"/>
            <a:ext cx="5143764" cy="2521080"/>
          </a:xfrm>
          <a:prstGeom prst="rect">
            <a:avLst/>
          </a:prstGeom>
          <a:ln>
            <a:solidFill>
              <a:srgbClr val="A9A9A9"/>
            </a:solidFill>
          </a:ln>
        </p:spPr>
      </p:pic>
      <p:pic>
        <p:nvPicPr>
          <p:cNvPr id="14" name="Picture 13">
            <a:extLst>
              <a:ext uri="{FF2B5EF4-FFF2-40B4-BE49-F238E27FC236}">
                <a16:creationId xmlns:a16="http://schemas.microsoft.com/office/drawing/2014/main" id="{3B1DF7D4-574E-846F-5711-B468BDD0B6FE}"/>
              </a:ext>
            </a:extLst>
          </p:cNvPr>
          <p:cNvPicPr>
            <a:picLocks noChangeAspect="1"/>
          </p:cNvPicPr>
          <p:nvPr/>
        </p:nvPicPr>
        <p:blipFill>
          <a:blip r:embed="rId3"/>
          <a:stretch>
            <a:fillRect/>
          </a:stretch>
        </p:blipFill>
        <p:spPr>
          <a:xfrm>
            <a:off x="6134100" y="2209714"/>
            <a:ext cx="5181866" cy="3352972"/>
          </a:xfrm>
          <a:prstGeom prst="rect">
            <a:avLst/>
          </a:prstGeom>
          <a:ln>
            <a:solidFill>
              <a:srgbClr val="A9A9A9"/>
            </a:solidFill>
          </a:ln>
        </p:spPr>
      </p:pic>
    </p:spTree>
    <p:extLst>
      <p:ext uri="{BB962C8B-B14F-4D97-AF65-F5344CB8AC3E}">
        <p14:creationId xmlns:p14="http://schemas.microsoft.com/office/powerpoint/2010/main" val="34201920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14D0B-853B-ECF4-B6D3-94B655141C91}"/>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FB902FFB-B184-40AD-48D8-AA54A2831D03}"/>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 EXCEL</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D839E2BF-82FF-BF25-985D-5B9FE53BE21E}"/>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892F45BC-F586-87D9-FE06-2E23E7E39CDE}"/>
              </a:ext>
            </a:extLst>
          </p:cNvPr>
          <p:cNvSpPr txBox="1">
            <a:spLocks/>
          </p:cNvSpPr>
          <p:nvPr/>
        </p:nvSpPr>
        <p:spPr>
          <a:xfrm>
            <a:off x="457200" y="761000"/>
            <a:ext cx="11353800"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7 : Định dạng dữ liệu theo điều kiện</a:t>
            </a:r>
          </a:p>
          <a:p>
            <a:pPr algn="l"/>
            <a:r>
              <a:rPr lang="en-US" sz="2000" b="1">
                <a:latin typeface="Times New Roman" panose="02020603050405020304" pitchFamily="18" charset="0"/>
                <a:cs typeface="Times New Roman" panose="02020603050405020304" pitchFamily="18" charset="0"/>
              </a:rPr>
              <a:t>7.4 Định dạng theo Icon Sets</a:t>
            </a:r>
          </a:p>
          <a:p>
            <a:pPr algn="l"/>
            <a:r>
              <a:rPr lang="en-US" sz="2000">
                <a:latin typeface="Times New Roman" panose="02020603050405020304" pitchFamily="18" charset="0"/>
                <a:cs typeface="Times New Roman" panose="02020603050405020304" pitchFamily="18" charset="0"/>
              </a:rPr>
              <a:t>Conditional Formatting/Icon Sets</a:t>
            </a:r>
          </a:p>
        </p:txBody>
      </p:sp>
      <p:pic>
        <p:nvPicPr>
          <p:cNvPr id="7" name="Picture 6">
            <a:extLst>
              <a:ext uri="{FF2B5EF4-FFF2-40B4-BE49-F238E27FC236}">
                <a16:creationId xmlns:a16="http://schemas.microsoft.com/office/drawing/2014/main" id="{89785274-17C3-EE43-9752-9F61B9F751B9}"/>
              </a:ext>
            </a:extLst>
          </p:cNvPr>
          <p:cNvPicPr>
            <a:picLocks noChangeAspect="1"/>
          </p:cNvPicPr>
          <p:nvPr/>
        </p:nvPicPr>
        <p:blipFill>
          <a:blip r:embed="rId2"/>
          <a:stretch>
            <a:fillRect/>
          </a:stretch>
        </p:blipFill>
        <p:spPr>
          <a:xfrm>
            <a:off x="5391510" y="761000"/>
            <a:ext cx="5569236" cy="5842300"/>
          </a:xfrm>
          <a:prstGeom prst="rect">
            <a:avLst/>
          </a:prstGeom>
          <a:ln>
            <a:solidFill>
              <a:srgbClr val="A9A9A9"/>
            </a:solidFill>
          </a:ln>
        </p:spPr>
      </p:pic>
      <p:sp>
        <p:nvSpPr>
          <p:cNvPr id="4" name="Rectangle 3">
            <a:extLst>
              <a:ext uri="{FF2B5EF4-FFF2-40B4-BE49-F238E27FC236}">
                <a16:creationId xmlns:a16="http://schemas.microsoft.com/office/drawing/2014/main" id="{F41678DA-F373-14C7-197F-EF69121333B1}"/>
              </a:ext>
            </a:extLst>
          </p:cNvPr>
          <p:cNvSpPr/>
          <p:nvPr/>
        </p:nvSpPr>
        <p:spPr>
          <a:xfrm>
            <a:off x="5529531" y="2475781"/>
            <a:ext cx="1216325" cy="115593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68549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2B0DF-2E64-5EFD-FE4C-77EB3E05A91E}"/>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E282ABAD-A5BC-0343-4E34-16BAC3D77324}"/>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 EXCEL</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16541BC2-63A6-B6C1-DC1E-E75F8431B130}"/>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408BEF13-79D2-8C52-0141-8280532B572E}"/>
              </a:ext>
            </a:extLst>
          </p:cNvPr>
          <p:cNvSpPr txBox="1">
            <a:spLocks/>
          </p:cNvSpPr>
          <p:nvPr/>
        </p:nvSpPr>
        <p:spPr>
          <a:xfrm>
            <a:off x="457200" y="761000"/>
            <a:ext cx="11353800"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7: Định dạng dữ liệu theo điều kiện</a:t>
            </a:r>
          </a:p>
          <a:p>
            <a:pPr algn="l"/>
            <a:r>
              <a:rPr lang="en-US" sz="2000" b="1">
                <a:latin typeface="Times New Roman" panose="02020603050405020304" pitchFamily="18" charset="0"/>
                <a:cs typeface="Times New Roman" panose="02020603050405020304" pitchFamily="18" charset="0"/>
              </a:rPr>
              <a:t>7.5 Định dạng ô theo giá trị ô khác </a:t>
            </a:r>
            <a:r>
              <a:rPr lang="en-US" sz="1800">
                <a:latin typeface="Times New Roman" panose="02020603050405020304" pitchFamily="18" charset="0"/>
                <a:cs typeface="Times New Roman" panose="02020603050405020304" pitchFamily="18" charset="0"/>
              </a:rPr>
              <a:t>(ví dụ bôi xanh ô B14 nếu ô C14 = “Đạt”) – Thực hiện các bước (1) =&gt; (7)</a:t>
            </a:r>
          </a:p>
        </p:txBody>
      </p:sp>
      <p:pic>
        <p:nvPicPr>
          <p:cNvPr id="8" name="Picture 7">
            <a:extLst>
              <a:ext uri="{FF2B5EF4-FFF2-40B4-BE49-F238E27FC236}">
                <a16:creationId xmlns:a16="http://schemas.microsoft.com/office/drawing/2014/main" id="{75DC9F1B-EF38-AF16-D7EC-CBFBC7C62184}"/>
              </a:ext>
            </a:extLst>
          </p:cNvPr>
          <p:cNvPicPr>
            <a:picLocks noChangeAspect="1"/>
          </p:cNvPicPr>
          <p:nvPr/>
        </p:nvPicPr>
        <p:blipFill>
          <a:blip r:embed="rId2"/>
          <a:stretch>
            <a:fillRect/>
          </a:stretch>
        </p:blipFill>
        <p:spPr>
          <a:xfrm>
            <a:off x="457200" y="1473009"/>
            <a:ext cx="2032104" cy="3448227"/>
          </a:xfrm>
          <a:prstGeom prst="rect">
            <a:avLst/>
          </a:prstGeom>
          <a:ln>
            <a:solidFill>
              <a:srgbClr val="A9A9A9"/>
            </a:solidFill>
          </a:ln>
        </p:spPr>
      </p:pic>
      <p:pic>
        <p:nvPicPr>
          <p:cNvPr id="9" name="Picture 8">
            <a:extLst>
              <a:ext uri="{FF2B5EF4-FFF2-40B4-BE49-F238E27FC236}">
                <a16:creationId xmlns:a16="http://schemas.microsoft.com/office/drawing/2014/main" id="{ABD981D8-566D-C9A2-92BC-5E9A9C3D257C}"/>
              </a:ext>
            </a:extLst>
          </p:cNvPr>
          <p:cNvPicPr>
            <a:picLocks noChangeAspect="1"/>
          </p:cNvPicPr>
          <p:nvPr/>
        </p:nvPicPr>
        <p:blipFill>
          <a:blip r:embed="rId3"/>
          <a:stretch>
            <a:fillRect/>
          </a:stretch>
        </p:blipFill>
        <p:spPr>
          <a:xfrm>
            <a:off x="164275" y="5026493"/>
            <a:ext cx="3454578" cy="1378021"/>
          </a:xfrm>
          <a:prstGeom prst="rect">
            <a:avLst/>
          </a:prstGeom>
          <a:ln>
            <a:solidFill>
              <a:srgbClr val="A9A9A9"/>
            </a:solidFill>
          </a:ln>
        </p:spPr>
      </p:pic>
      <p:pic>
        <p:nvPicPr>
          <p:cNvPr id="11" name="Picture 10">
            <a:extLst>
              <a:ext uri="{FF2B5EF4-FFF2-40B4-BE49-F238E27FC236}">
                <a16:creationId xmlns:a16="http://schemas.microsoft.com/office/drawing/2014/main" id="{AC85A646-B703-C4ED-53DF-DCD1425B78EB}"/>
              </a:ext>
            </a:extLst>
          </p:cNvPr>
          <p:cNvPicPr>
            <a:picLocks noChangeAspect="1"/>
          </p:cNvPicPr>
          <p:nvPr/>
        </p:nvPicPr>
        <p:blipFill>
          <a:blip r:embed="rId4"/>
          <a:srcRect l="1755"/>
          <a:stretch>
            <a:fillRect/>
          </a:stretch>
        </p:blipFill>
        <p:spPr>
          <a:xfrm>
            <a:off x="3847381" y="1473009"/>
            <a:ext cx="4991121" cy="3962604"/>
          </a:xfrm>
          <a:prstGeom prst="rect">
            <a:avLst/>
          </a:prstGeom>
          <a:ln>
            <a:solidFill>
              <a:srgbClr val="A9A9A9"/>
            </a:solidFill>
          </a:ln>
        </p:spPr>
      </p:pic>
      <p:pic>
        <p:nvPicPr>
          <p:cNvPr id="13" name="Picture 12">
            <a:extLst>
              <a:ext uri="{FF2B5EF4-FFF2-40B4-BE49-F238E27FC236}">
                <a16:creationId xmlns:a16="http://schemas.microsoft.com/office/drawing/2014/main" id="{750126E1-95D7-D040-ED87-232886238407}"/>
              </a:ext>
            </a:extLst>
          </p:cNvPr>
          <p:cNvPicPr>
            <a:picLocks noChangeAspect="1"/>
          </p:cNvPicPr>
          <p:nvPr/>
        </p:nvPicPr>
        <p:blipFill>
          <a:blip r:embed="rId5"/>
          <a:srcRect l="1012"/>
          <a:stretch>
            <a:fillRect/>
          </a:stretch>
        </p:blipFill>
        <p:spPr>
          <a:xfrm>
            <a:off x="7036604" y="2441910"/>
            <a:ext cx="4991121" cy="3962604"/>
          </a:xfrm>
          <a:prstGeom prst="rect">
            <a:avLst/>
          </a:prstGeom>
          <a:ln>
            <a:solidFill>
              <a:srgbClr val="A9A9A9"/>
            </a:solidFill>
          </a:ln>
        </p:spPr>
      </p:pic>
      <p:sp>
        <p:nvSpPr>
          <p:cNvPr id="14" name="Oval 13">
            <a:extLst>
              <a:ext uri="{FF2B5EF4-FFF2-40B4-BE49-F238E27FC236}">
                <a16:creationId xmlns:a16="http://schemas.microsoft.com/office/drawing/2014/main" id="{BC790914-351B-6FA0-E213-44B5A378A566}"/>
              </a:ext>
            </a:extLst>
          </p:cNvPr>
          <p:cNvSpPr/>
          <p:nvPr/>
        </p:nvSpPr>
        <p:spPr>
          <a:xfrm>
            <a:off x="1976078" y="1674537"/>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sp>
        <p:nvSpPr>
          <p:cNvPr id="15" name="Oval 14">
            <a:extLst>
              <a:ext uri="{FF2B5EF4-FFF2-40B4-BE49-F238E27FC236}">
                <a16:creationId xmlns:a16="http://schemas.microsoft.com/office/drawing/2014/main" id="{43E1DA32-944C-FDF2-D2D3-07C28DC482B4}"/>
              </a:ext>
            </a:extLst>
          </p:cNvPr>
          <p:cNvSpPr/>
          <p:nvPr/>
        </p:nvSpPr>
        <p:spPr>
          <a:xfrm>
            <a:off x="1799865" y="4517954"/>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
        <p:nvSpPr>
          <p:cNvPr id="16" name="Oval 15">
            <a:extLst>
              <a:ext uri="{FF2B5EF4-FFF2-40B4-BE49-F238E27FC236}">
                <a16:creationId xmlns:a16="http://schemas.microsoft.com/office/drawing/2014/main" id="{A59D2720-33C2-21A3-3816-FE3F5AA9DF96}"/>
              </a:ext>
            </a:extLst>
          </p:cNvPr>
          <p:cNvSpPr/>
          <p:nvPr/>
        </p:nvSpPr>
        <p:spPr>
          <a:xfrm>
            <a:off x="1094949" y="5844809"/>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3</a:t>
            </a:r>
          </a:p>
        </p:txBody>
      </p:sp>
      <p:sp>
        <p:nvSpPr>
          <p:cNvPr id="17" name="Oval 16">
            <a:extLst>
              <a:ext uri="{FF2B5EF4-FFF2-40B4-BE49-F238E27FC236}">
                <a16:creationId xmlns:a16="http://schemas.microsoft.com/office/drawing/2014/main" id="{84F8FDD5-20F3-350A-F0CF-213337695093}"/>
              </a:ext>
            </a:extLst>
          </p:cNvPr>
          <p:cNvSpPr/>
          <p:nvPr/>
        </p:nvSpPr>
        <p:spPr>
          <a:xfrm>
            <a:off x="6342941" y="3252787"/>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4</a:t>
            </a:r>
          </a:p>
        </p:txBody>
      </p:sp>
      <p:sp>
        <p:nvSpPr>
          <p:cNvPr id="18" name="Oval 17">
            <a:extLst>
              <a:ext uri="{FF2B5EF4-FFF2-40B4-BE49-F238E27FC236}">
                <a16:creationId xmlns:a16="http://schemas.microsoft.com/office/drawing/2014/main" id="{F1A3A300-48F4-3BA7-BB22-059BD0116271}"/>
              </a:ext>
            </a:extLst>
          </p:cNvPr>
          <p:cNvSpPr/>
          <p:nvPr/>
        </p:nvSpPr>
        <p:spPr>
          <a:xfrm>
            <a:off x="8008338" y="4985033"/>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5</a:t>
            </a:r>
          </a:p>
        </p:txBody>
      </p:sp>
      <p:sp>
        <p:nvSpPr>
          <p:cNvPr id="19" name="Oval 18">
            <a:extLst>
              <a:ext uri="{FF2B5EF4-FFF2-40B4-BE49-F238E27FC236}">
                <a16:creationId xmlns:a16="http://schemas.microsoft.com/office/drawing/2014/main" id="{0B21D350-3AAB-E57A-2561-995CD687DDB2}"/>
              </a:ext>
            </a:extLst>
          </p:cNvPr>
          <p:cNvSpPr/>
          <p:nvPr/>
        </p:nvSpPr>
        <p:spPr>
          <a:xfrm>
            <a:off x="10837802" y="5539290"/>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6</a:t>
            </a:r>
          </a:p>
        </p:txBody>
      </p:sp>
      <p:sp>
        <p:nvSpPr>
          <p:cNvPr id="20" name="Oval 19">
            <a:extLst>
              <a:ext uri="{FF2B5EF4-FFF2-40B4-BE49-F238E27FC236}">
                <a16:creationId xmlns:a16="http://schemas.microsoft.com/office/drawing/2014/main" id="{2F302C9C-2BCA-BA65-5351-8088E6341683}"/>
              </a:ext>
            </a:extLst>
          </p:cNvPr>
          <p:cNvSpPr/>
          <p:nvPr/>
        </p:nvSpPr>
        <p:spPr>
          <a:xfrm>
            <a:off x="10130436" y="6021021"/>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7</a:t>
            </a:r>
          </a:p>
        </p:txBody>
      </p:sp>
    </p:spTree>
    <p:extLst>
      <p:ext uri="{BB962C8B-B14F-4D97-AF65-F5344CB8AC3E}">
        <p14:creationId xmlns:p14="http://schemas.microsoft.com/office/powerpoint/2010/main" val="38118394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CA0CC-EABE-8946-118A-72178FEE69C6}"/>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F3291413-21B9-4EE8-CB24-029314539DF0}"/>
              </a:ext>
            </a:extLst>
          </p:cNvPr>
          <p:cNvPicPr>
            <a:picLocks noChangeAspect="1"/>
          </p:cNvPicPr>
          <p:nvPr/>
        </p:nvPicPr>
        <p:blipFill>
          <a:blip r:embed="rId2"/>
          <a:stretch>
            <a:fillRect/>
          </a:stretch>
        </p:blipFill>
        <p:spPr>
          <a:xfrm>
            <a:off x="0" y="1616455"/>
            <a:ext cx="8884107" cy="2933851"/>
          </a:xfrm>
          <a:prstGeom prst="rect">
            <a:avLst/>
          </a:prstGeom>
          <a:ln>
            <a:solidFill>
              <a:srgbClr val="A9A9A9"/>
            </a:solidFill>
          </a:ln>
        </p:spPr>
      </p:pic>
      <p:sp>
        <p:nvSpPr>
          <p:cNvPr id="3" name="Title 1">
            <a:extLst>
              <a:ext uri="{FF2B5EF4-FFF2-40B4-BE49-F238E27FC236}">
                <a16:creationId xmlns:a16="http://schemas.microsoft.com/office/drawing/2014/main" id="{F0BA7FE2-0973-322C-F635-4397C5381127}"/>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 EXCEL</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AE48D229-BDF2-2446-68CC-6AB4A7064857}"/>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402C4D31-CBBD-CDC1-3687-2DAD8111F5BB}"/>
              </a:ext>
            </a:extLst>
          </p:cNvPr>
          <p:cNvSpPr txBox="1">
            <a:spLocks/>
          </p:cNvSpPr>
          <p:nvPr/>
        </p:nvSpPr>
        <p:spPr>
          <a:xfrm>
            <a:off x="457200" y="761000"/>
            <a:ext cx="11353800"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8 : Pivot</a:t>
            </a:r>
          </a:p>
          <a:p>
            <a:pPr algn="l"/>
            <a:r>
              <a:rPr lang="en-US" sz="1800">
                <a:latin typeface="Times New Roman" panose="02020603050405020304" pitchFamily="18" charset="0"/>
                <a:cs typeface="Times New Roman" panose="02020603050405020304" pitchFamily="18" charset="0"/>
              </a:rPr>
              <a:t>Chọn vùng dữ liệu (1), chọn Insert (2)/PivotTable (3). </a:t>
            </a:r>
          </a:p>
          <a:p>
            <a:pPr algn="l"/>
            <a:endParaRPr lang="en-US" sz="2000">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a:p>
            <a:pPr algn="l"/>
            <a:r>
              <a:rPr lang="en-US" sz="1800">
                <a:latin typeface="Times New Roman" panose="02020603050405020304" pitchFamily="18" charset="0"/>
                <a:cs typeface="Times New Roman" panose="02020603050405020304" pitchFamily="18" charset="0"/>
              </a:rPr>
              <a:t>Di chuyển các ô vào bảng pivotable Fields</a:t>
            </a:r>
          </a:p>
          <a:p>
            <a:pPr algn="l"/>
            <a:r>
              <a:rPr lang="en-US" sz="1800">
                <a:latin typeface="Times New Roman" panose="02020603050405020304" pitchFamily="18" charset="0"/>
                <a:cs typeface="Times New Roman" panose="02020603050405020304" pitchFamily="18" charset="0"/>
              </a:rPr>
              <a:t>Ví dụ lấy số mã linh kiện theo từng thành viên</a:t>
            </a:r>
          </a:p>
        </p:txBody>
      </p:sp>
      <p:pic>
        <p:nvPicPr>
          <p:cNvPr id="5" name="Picture 4">
            <a:extLst>
              <a:ext uri="{FF2B5EF4-FFF2-40B4-BE49-F238E27FC236}">
                <a16:creationId xmlns:a16="http://schemas.microsoft.com/office/drawing/2014/main" id="{6CC6B9B7-B30B-2942-BBDC-681DAD39C0F3}"/>
              </a:ext>
            </a:extLst>
          </p:cNvPr>
          <p:cNvPicPr>
            <a:picLocks noChangeAspect="1"/>
          </p:cNvPicPr>
          <p:nvPr/>
        </p:nvPicPr>
        <p:blipFill>
          <a:blip r:embed="rId3"/>
          <a:stretch>
            <a:fillRect/>
          </a:stretch>
        </p:blipFill>
        <p:spPr>
          <a:xfrm>
            <a:off x="457200" y="1448817"/>
            <a:ext cx="3391074" cy="1162110"/>
          </a:xfrm>
          <a:prstGeom prst="rect">
            <a:avLst/>
          </a:prstGeom>
          <a:ln>
            <a:solidFill>
              <a:srgbClr val="A9A9A9"/>
            </a:solidFill>
          </a:ln>
        </p:spPr>
      </p:pic>
      <p:pic>
        <p:nvPicPr>
          <p:cNvPr id="10" name="Picture 9">
            <a:extLst>
              <a:ext uri="{FF2B5EF4-FFF2-40B4-BE49-F238E27FC236}">
                <a16:creationId xmlns:a16="http://schemas.microsoft.com/office/drawing/2014/main" id="{0578D3B1-07FC-D866-923F-9F33130BF76A}"/>
              </a:ext>
            </a:extLst>
          </p:cNvPr>
          <p:cNvPicPr>
            <a:picLocks noChangeAspect="1"/>
          </p:cNvPicPr>
          <p:nvPr/>
        </p:nvPicPr>
        <p:blipFill>
          <a:blip r:embed="rId4"/>
          <a:stretch>
            <a:fillRect/>
          </a:stretch>
        </p:blipFill>
        <p:spPr>
          <a:xfrm>
            <a:off x="8683955" y="2241734"/>
            <a:ext cx="3251367" cy="4299171"/>
          </a:xfrm>
          <a:prstGeom prst="rect">
            <a:avLst/>
          </a:prstGeom>
          <a:ln>
            <a:solidFill>
              <a:srgbClr val="A9A9A9"/>
            </a:solidFill>
          </a:ln>
        </p:spPr>
      </p:pic>
      <p:sp>
        <p:nvSpPr>
          <p:cNvPr id="11" name="Oval 10">
            <a:extLst>
              <a:ext uri="{FF2B5EF4-FFF2-40B4-BE49-F238E27FC236}">
                <a16:creationId xmlns:a16="http://schemas.microsoft.com/office/drawing/2014/main" id="{31512459-8E54-2622-F79F-A9FD25B906EB}"/>
              </a:ext>
            </a:extLst>
          </p:cNvPr>
          <p:cNvSpPr/>
          <p:nvPr/>
        </p:nvSpPr>
        <p:spPr>
          <a:xfrm>
            <a:off x="3744493" y="1440243"/>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
        <p:nvSpPr>
          <p:cNvPr id="12" name="Oval 11">
            <a:extLst>
              <a:ext uri="{FF2B5EF4-FFF2-40B4-BE49-F238E27FC236}">
                <a16:creationId xmlns:a16="http://schemas.microsoft.com/office/drawing/2014/main" id="{D9731C19-8DF4-5F49-6631-B12E2D45AD4E}"/>
              </a:ext>
            </a:extLst>
          </p:cNvPr>
          <p:cNvSpPr/>
          <p:nvPr/>
        </p:nvSpPr>
        <p:spPr>
          <a:xfrm>
            <a:off x="777006" y="2258502"/>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3</a:t>
            </a:r>
          </a:p>
        </p:txBody>
      </p:sp>
      <p:sp>
        <p:nvSpPr>
          <p:cNvPr id="13" name="Oval 12">
            <a:extLst>
              <a:ext uri="{FF2B5EF4-FFF2-40B4-BE49-F238E27FC236}">
                <a16:creationId xmlns:a16="http://schemas.microsoft.com/office/drawing/2014/main" id="{BCA50735-8CA2-43FE-9B44-9DF5FEF0EC79}"/>
              </a:ext>
            </a:extLst>
          </p:cNvPr>
          <p:cNvSpPr/>
          <p:nvPr/>
        </p:nvSpPr>
        <p:spPr>
          <a:xfrm>
            <a:off x="2240621" y="3252787"/>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pic>
        <p:nvPicPr>
          <p:cNvPr id="15" name="Picture 14">
            <a:extLst>
              <a:ext uri="{FF2B5EF4-FFF2-40B4-BE49-F238E27FC236}">
                <a16:creationId xmlns:a16="http://schemas.microsoft.com/office/drawing/2014/main" id="{909E99A1-044F-726F-4A9F-889F9A66A052}"/>
              </a:ext>
            </a:extLst>
          </p:cNvPr>
          <p:cNvPicPr>
            <a:picLocks noChangeAspect="1"/>
          </p:cNvPicPr>
          <p:nvPr/>
        </p:nvPicPr>
        <p:blipFill>
          <a:blip r:embed="rId5"/>
          <a:stretch>
            <a:fillRect/>
          </a:stretch>
        </p:blipFill>
        <p:spPr>
          <a:xfrm>
            <a:off x="520753" y="5468069"/>
            <a:ext cx="1905098" cy="977950"/>
          </a:xfrm>
          <a:prstGeom prst="rect">
            <a:avLst/>
          </a:prstGeom>
          <a:ln>
            <a:solidFill>
              <a:srgbClr val="A9A9A9"/>
            </a:solidFill>
          </a:ln>
        </p:spPr>
      </p:pic>
    </p:spTree>
    <p:extLst>
      <p:ext uri="{BB962C8B-B14F-4D97-AF65-F5344CB8AC3E}">
        <p14:creationId xmlns:p14="http://schemas.microsoft.com/office/powerpoint/2010/main" val="33079626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8C4BD-9C6F-3DD5-76A2-9EC9170A27EC}"/>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E5B70A9E-0AD3-F72F-4DE9-0E7D1384B644}"/>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 EXCEL</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E59347DF-A307-461E-9C3F-DCF137DC1A6E}"/>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4FEDD49A-9527-7E36-20BD-593A65B99C1E}"/>
              </a:ext>
            </a:extLst>
          </p:cNvPr>
          <p:cNvSpPr txBox="1">
            <a:spLocks/>
          </p:cNvSpPr>
          <p:nvPr/>
        </p:nvSpPr>
        <p:spPr>
          <a:xfrm>
            <a:off x="457200" y="761000"/>
            <a:ext cx="11353800"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9 : Chia sẻ file</a:t>
            </a:r>
          </a:p>
          <a:p>
            <a:pPr algn="l"/>
            <a:r>
              <a:rPr lang="en-US" sz="1800" b="1">
                <a:latin typeface="Times New Roman" panose="02020603050405020304" pitchFamily="18" charset="0"/>
                <a:cs typeface="Times New Roman" panose="02020603050405020304" pitchFamily="18" charset="0"/>
              </a:rPr>
              <a:t>9.1 Thêm nút share nếu excel chưa có</a:t>
            </a:r>
          </a:p>
          <a:p>
            <a:pPr algn="l"/>
            <a:r>
              <a:rPr lang="en-US" sz="1800">
                <a:latin typeface="Times New Roman" panose="02020603050405020304" pitchFamily="18" charset="0"/>
                <a:cs typeface="Times New Roman" panose="02020603050405020304" pitchFamily="18" charset="0"/>
              </a:rPr>
              <a:t>Tại vị trí trống trên thanh công cụ chọn </a:t>
            </a:r>
          </a:p>
          <a:p>
            <a:pPr marL="342900" indent="-342900" algn="l">
              <a:buAutoNum type="arabicParenBoth"/>
            </a:pPr>
            <a:r>
              <a:rPr lang="en-US" sz="1800">
                <a:latin typeface="Times New Roman" panose="02020603050405020304" pitchFamily="18" charset="0"/>
                <a:cs typeface="Times New Roman" panose="02020603050405020304" pitchFamily="18" charset="0"/>
              </a:rPr>
              <a:t>=&gt; (2) chọn all commands =&gt;</a:t>
            </a:r>
          </a:p>
          <a:p>
            <a:pPr algn="l"/>
            <a:r>
              <a:rPr lang="en-US" sz="1800">
                <a:latin typeface="Times New Roman" panose="02020603050405020304" pitchFamily="18" charset="0"/>
                <a:cs typeface="Times New Roman" panose="02020603050405020304" pitchFamily="18" charset="0"/>
              </a:rPr>
              <a:t>(3) chọn share workbook (Legacy) =&gt;</a:t>
            </a:r>
          </a:p>
          <a:p>
            <a:pPr algn="l"/>
            <a:r>
              <a:rPr lang="en-US" sz="1800">
                <a:latin typeface="Times New Roman" panose="02020603050405020304" pitchFamily="18" charset="0"/>
                <a:cs typeface="Times New Roman" panose="02020603050405020304" pitchFamily="18" charset="0"/>
              </a:rPr>
              <a:t>(4) =&gt; 5 (vị trí hiển thị) =&gt; (6)</a:t>
            </a:r>
          </a:p>
          <a:p>
            <a:pPr algn="l"/>
            <a:endParaRPr lang="en-US" sz="1800">
              <a:latin typeface="Times New Roman" panose="02020603050405020304" pitchFamily="18" charset="0"/>
              <a:cs typeface="Times New Roman" panose="02020603050405020304" pitchFamily="18" charset="0"/>
            </a:endParaRPr>
          </a:p>
          <a:p>
            <a:pPr algn="l"/>
            <a:endParaRPr lang="en-US" sz="1800" b="1">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9CE5ACC-4673-1095-9AE3-89E8DB426693}"/>
              </a:ext>
            </a:extLst>
          </p:cNvPr>
          <p:cNvPicPr>
            <a:picLocks noChangeAspect="1"/>
          </p:cNvPicPr>
          <p:nvPr/>
        </p:nvPicPr>
        <p:blipFill>
          <a:blip r:embed="rId2"/>
          <a:srcRect l="41081"/>
          <a:stretch>
            <a:fillRect/>
          </a:stretch>
        </p:blipFill>
        <p:spPr>
          <a:xfrm>
            <a:off x="457200" y="3429000"/>
            <a:ext cx="3610590" cy="1466925"/>
          </a:xfrm>
          <a:prstGeom prst="rect">
            <a:avLst/>
          </a:prstGeom>
          <a:ln>
            <a:solidFill>
              <a:srgbClr val="A9A9A9"/>
            </a:solidFill>
          </a:ln>
        </p:spPr>
      </p:pic>
      <p:pic>
        <p:nvPicPr>
          <p:cNvPr id="8" name="Picture 7">
            <a:extLst>
              <a:ext uri="{FF2B5EF4-FFF2-40B4-BE49-F238E27FC236}">
                <a16:creationId xmlns:a16="http://schemas.microsoft.com/office/drawing/2014/main" id="{89C5BE00-40F5-D7E3-0638-2501C52B411B}"/>
              </a:ext>
            </a:extLst>
          </p:cNvPr>
          <p:cNvPicPr>
            <a:picLocks noChangeAspect="1"/>
          </p:cNvPicPr>
          <p:nvPr/>
        </p:nvPicPr>
        <p:blipFill>
          <a:blip r:embed="rId3"/>
          <a:stretch>
            <a:fillRect/>
          </a:stretch>
        </p:blipFill>
        <p:spPr>
          <a:xfrm>
            <a:off x="4433976" y="761000"/>
            <a:ext cx="7084309" cy="5812328"/>
          </a:xfrm>
          <a:prstGeom prst="rect">
            <a:avLst/>
          </a:prstGeom>
          <a:ln>
            <a:solidFill>
              <a:srgbClr val="A9A9A9"/>
            </a:solidFill>
          </a:ln>
        </p:spPr>
      </p:pic>
      <p:sp>
        <p:nvSpPr>
          <p:cNvPr id="9" name="Oval 8">
            <a:extLst>
              <a:ext uri="{FF2B5EF4-FFF2-40B4-BE49-F238E27FC236}">
                <a16:creationId xmlns:a16="http://schemas.microsoft.com/office/drawing/2014/main" id="{FAF48E75-498A-FBA5-E95C-AAAE5FCDAC22}"/>
              </a:ext>
            </a:extLst>
          </p:cNvPr>
          <p:cNvSpPr/>
          <p:nvPr/>
        </p:nvSpPr>
        <p:spPr>
          <a:xfrm>
            <a:off x="3390810" y="4295963"/>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sp>
        <p:nvSpPr>
          <p:cNvPr id="10" name="Oval 9">
            <a:extLst>
              <a:ext uri="{FF2B5EF4-FFF2-40B4-BE49-F238E27FC236}">
                <a16:creationId xmlns:a16="http://schemas.microsoft.com/office/drawing/2014/main" id="{1E7EA2EA-1036-04C9-19AC-1DDF2B2B142D}"/>
              </a:ext>
            </a:extLst>
          </p:cNvPr>
          <p:cNvSpPr/>
          <p:nvPr/>
        </p:nvSpPr>
        <p:spPr>
          <a:xfrm>
            <a:off x="6752236" y="1574935"/>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
        <p:nvSpPr>
          <p:cNvPr id="11" name="Oval 10">
            <a:extLst>
              <a:ext uri="{FF2B5EF4-FFF2-40B4-BE49-F238E27FC236}">
                <a16:creationId xmlns:a16="http://schemas.microsoft.com/office/drawing/2014/main" id="{92C8A318-0B9F-D87A-CC4D-8CE8484A5583}"/>
              </a:ext>
            </a:extLst>
          </p:cNvPr>
          <p:cNvSpPr/>
          <p:nvPr/>
        </p:nvSpPr>
        <p:spPr>
          <a:xfrm>
            <a:off x="7312953" y="2284137"/>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3</a:t>
            </a:r>
          </a:p>
        </p:txBody>
      </p:sp>
      <p:sp>
        <p:nvSpPr>
          <p:cNvPr id="12" name="Oval 11">
            <a:extLst>
              <a:ext uri="{FF2B5EF4-FFF2-40B4-BE49-F238E27FC236}">
                <a16:creationId xmlns:a16="http://schemas.microsoft.com/office/drawing/2014/main" id="{2042C944-0CBC-CEF6-7CDC-9D9D568D641E}"/>
              </a:ext>
            </a:extLst>
          </p:cNvPr>
          <p:cNvSpPr/>
          <p:nvPr/>
        </p:nvSpPr>
        <p:spPr>
          <a:xfrm>
            <a:off x="8612666" y="3599486"/>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4</a:t>
            </a:r>
          </a:p>
        </p:txBody>
      </p:sp>
      <p:sp>
        <p:nvSpPr>
          <p:cNvPr id="13" name="Oval 12">
            <a:extLst>
              <a:ext uri="{FF2B5EF4-FFF2-40B4-BE49-F238E27FC236}">
                <a16:creationId xmlns:a16="http://schemas.microsoft.com/office/drawing/2014/main" id="{1145E4AC-D41B-D2A0-057F-EBF2DD679B61}"/>
              </a:ext>
            </a:extLst>
          </p:cNvPr>
          <p:cNvSpPr/>
          <p:nvPr/>
        </p:nvSpPr>
        <p:spPr>
          <a:xfrm>
            <a:off x="10740515" y="3642197"/>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5</a:t>
            </a:r>
          </a:p>
        </p:txBody>
      </p:sp>
      <p:sp>
        <p:nvSpPr>
          <p:cNvPr id="14" name="Oval 13">
            <a:extLst>
              <a:ext uri="{FF2B5EF4-FFF2-40B4-BE49-F238E27FC236}">
                <a16:creationId xmlns:a16="http://schemas.microsoft.com/office/drawing/2014/main" id="{C6B52D8F-C09A-B525-022B-5A5DB953562A}"/>
              </a:ext>
            </a:extLst>
          </p:cNvPr>
          <p:cNvSpPr/>
          <p:nvPr/>
        </p:nvSpPr>
        <p:spPr>
          <a:xfrm>
            <a:off x="9702469" y="6248400"/>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6</a:t>
            </a:r>
          </a:p>
        </p:txBody>
      </p:sp>
    </p:spTree>
    <p:extLst>
      <p:ext uri="{BB962C8B-B14F-4D97-AF65-F5344CB8AC3E}">
        <p14:creationId xmlns:p14="http://schemas.microsoft.com/office/powerpoint/2010/main" val="17839523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45BF1-44DD-BECA-AD93-7615250D6095}"/>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EADDE255-49EE-57F4-A4FA-8DB52BBB2AD9}"/>
              </a:ext>
            </a:extLst>
          </p:cNvPr>
          <p:cNvPicPr>
            <a:picLocks noChangeAspect="1"/>
          </p:cNvPicPr>
          <p:nvPr/>
        </p:nvPicPr>
        <p:blipFill>
          <a:blip r:embed="rId2"/>
          <a:stretch>
            <a:fillRect/>
          </a:stretch>
        </p:blipFill>
        <p:spPr>
          <a:xfrm>
            <a:off x="5534693" y="1531866"/>
            <a:ext cx="3497164" cy="5007612"/>
          </a:xfrm>
          <a:prstGeom prst="rect">
            <a:avLst/>
          </a:prstGeom>
          <a:ln>
            <a:solidFill>
              <a:srgbClr val="A9A9A9"/>
            </a:solidFill>
          </a:ln>
        </p:spPr>
      </p:pic>
      <p:sp>
        <p:nvSpPr>
          <p:cNvPr id="3" name="Title 1">
            <a:extLst>
              <a:ext uri="{FF2B5EF4-FFF2-40B4-BE49-F238E27FC236}">
                <a16:creationId xmlns:a16="http://schemas.microsoft.com/office/drawing/2014/main" id="{C8F91EE3-62F3-3460-D19F-61C2A0092E08}"/>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 EXCEL</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B3ECD525-639D-6A05-D929-78B7CD984405}"/>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9AEBA026-9FA4-3CF8-7E59-33BCA28AB00A}"/>
              </a:ext>
            </a:extLst>
          </p:cNvPr>
          <p:cNvSpPr txBox="1">
            <a:spLocks/>
          </p:cNvSpPr>
          <p:nvPr/>
        </p:nvSpPr>
        <p:spPr>
          <a:xfrm>
            <a:off x="457200" y="761000"/>
            <a:ext cx="4917057"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9 : Chia sẻ file</a:t>
            </a:r>
          </a:p>
          <a:p>
            <a:pPr algn="l"/>
            <a:r>
              <a:rPr lang="en-US" sz="1800" b="1">
                <a:latin typeface="Times New Roman" panose="02020603050405020304" pitchFamily="18" charset="0"/>
                <a:cs typeface="Times New Roman" panose="02020603050405020304" pitchFamily="18" charset="0"/>
              </a:rPr>
              <a:t>9.2 Chia sẻ file</a:t>
            </a:r>
          </a:p>
          <a:p>
            <a:pPr algn="l"/>
            <a:r>
              <a:rPr lang="en-US" sz="1800">
                <a:latin typeface="Times New Roman" panose="02020603050405020304" pitchFamily="18" charset="0"/>
                <a:cs typeface="Times New Roman" panose="02020603050405020304" pitchFamily="18" charset="0"/>
              </a:rPr>
              <a:t>Chọn Share workbook (1) (nút bấm đã được thêm tại bước 9.1.</a:t>
            </a:r>
          </a:p>
          <a:p>
            <a:pPr algn="l"/>
            <a:r>
              <a:rPr lang="en-US" sz="1800">
                <a:latin typeface="Times New Roman" panose="02020603050405020304" pitchFamily="18" charset="0"/>
                <a:cs typeface="Times New Roman" panose="02020603050405020304" pitchFamily="18" charset="0"/>
              </a:rPr>
              <a:t>Chọn 2 =&gt; (3) để share tài liệu</a:t>
            </a:r>
          </a:p>
        </p:txBody>
      </p:sp>
      <p:sp>
        <p:nvSpPr>
          <p:cNvPr id="10" name="Oval 9">
            <a:extLst>
              <a:ext uri="{FF2B5EF4-FFF2-40B4-BE49-F238E27FC236}">
                <a16:creationId xmlns:a16="http://schemas.microsoft.com/office/drawing/2014/main" id="{DEC9BB05-4D7E-C692-E97B-407E2C197A29}"/>
              </a:ext>
            </a:extLst>
          </p:cNvPr>
          <p:cNvSpPr/>
          <p:nvPr/>
        </p:nvSpPr>
        <p:spPr>
          <a:xfrm>
            <a:off x="5254745" y="2550363"/>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
        <p:nvSpPr>
          <p:cNvPr id="11" name="Oval 10">
            <a:extLst>
              <a:ext uri="{FF2B5EF4-FFF2-40B4-BE49-F238E27FC236}">
                <a16:creationId xmlns:a16="http://schemas.microsoft.com/office/drawing/2014/main" id="{66E9FAF7-A82C-8AD7-E20C-7D695B2A5014}"/>
              </a:ext>
            </a:extLst>
          </p:cNvPr>
          <p:cNvSpPr/>
          <p:nvPr/>
        </p:nvSpPr>
        <p:spPr>
          <a:xfrm>
            <a:off x="6838500" y="6041514"/>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3</a:t>
            </a:r>
          </a:p>
        </p:txBody>
      </p:sp>
      <p:sp>
        <p:nvSpPr>
          <p:cNvPr id="9" name="Oval 8">
            <a:extLst>
              <a:ext uri="{FF2B5EF4-FFF2-40B4-BE49-F238E27FC236}">
                <a16:creationId xmlns:a16="http://schemas.microsoft.com/office/drawing/2014/main" id="{6DBA3F5C-425C-8A31-7B2D-A0D15B5384BF}"/>
              </a:ext>
            </a:extLst>
          </p:cNvPr>
          <p:cNvSpPr/>
          <p:nvPr/>
        </p:nvSpPr>
        <p:spPr>
          <a:xfrm>
            <a:off x="7078621" y="1780120"/>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spTree>
    <p:extLst>
      <p:ext uri="{BB962C8B-B14F-4D97-AF65-F5344CB8AC3E}">
        <p14:creationId xmlns:p14="http://schemas.microsoft.com/office/powerpoint/2010/main" val="22288311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6C778-16B6-2ED3-4709-D234D0CD1990}"/>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2C42292D-70DB-4578-25D8-7138C2CF17F4}"/>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 EXCEL</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2E33E366-2602-5530-5444-65DE1BBA27F8}"/>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35D7BAD8-7D5B-8D78-275C-7932C9908DCE}"/>
              </a:ext>
            </a:extLst>
          </p:cNvPr>
          <p:cNvSpPr txBox="1">
            <a:spLocks/>
          </p:cNvSpPr>
          <p:nvPr/>
        </p:nvSpPr>
        <p:spPr>
          <a:xfrm>
            <a:off x="457201" y="760999"/>
            <a:ext cx="4316120" cy="5656733"/>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10 : Khóa file bằng mật khẩu</a:t>
            </a:r>
          </a:p>
          <a:p>
            <a:pPr algn="l"/>
            <a:r>
              <a:rPr lang="en-US" sz="1800">
                <a:latin typeface="Times New Roman" panose="02020603050405020304" pitchFamily="18" charset="0"/>
                <a:cs typeface="Times New Roman" panose="02020603050405020304" pitchFamily="18" charset="0"/>
              </a:rPr>
              <a:t>Chọn file/Save As/ Tại màn hình đặt tên file chọn Tools(1) /General Options (2) </a:t>
            </a:r>
          </a:p>
          <a:p>
            <a:pPr marL="285750" indent="-285750" algn="l">
              <a:buFont typeface="Wingdings" panose="05000000000000000000" pitchFamily="2" charset="2"/>
              <a:buChar char="q"/>
            </a:pPr>
            <a:r>
              <a:rPr lang="en-US" sz="1800">
                <a:latin typeface="Times New Roman" panose="02020603050405020304" pitchFamily="18" charset="0"/>
                <a:cs typeface="Times New Roman" panose="02020603050405020304" pitchFamily="18" charset="0"/>
              </a:rPr>
              <a:t>Chọn (3) – đặt mật khẩu mở file</a:t>
            </a:r>
          </a:p>
          <a:p>
            <a:pPr marL="285750" indent="-285750" algn="l">
              <a:buFont typeface="Wingdings" panose="05000000000000000000" pitchFamily="2" charset="2"/>
              <a:buChar char="q"/>
            </a:pPr>
            <a:r>
              <a:rPr lang="en-US" sz="1800">
                <a:latin typeface="Times New Roman" panose="02020603050405020304" pitchFamily="18" charset="0"/>
                <a:cs typeface="Times New Roman" panose="02020603050405020304" pitchFamily="18" charset="0"/>
              </a:rPr>
              <a:t>Chọn (4) - đặt mật khẩu chỉnh sửa file</a:t>
            </a:r>
          </a:p>
          <a:p>
            <a:pPr algn="l"/>
            <a:endParaRPr lang="en-US" sz="180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C0DAFDC-9283-9CB7-F851-5F82F948D90E}"/>
              </a:ext>
            </a:extLst>
          </p:cNvPr>
          <p:cNvPicPr>
            <a:picLocks noChangeAspect="1"/>
          </p:cNvPicPr>
          <p:nvPr/>
        </p:nvPicPr>
        <p:blipFill>
          <a:blip r:embed="rId2"/>
          <a:stretch>
            <a:fillRect/>
          </a:stretch>
        </p:blipFill>
        <p:spPr>
          <a:xfrm>
            <a:off x="4612256" y="1460814"/>
            <a:ext cx="4917056" cy="5113738"/>
          </a:xfrm>
          <a:prstGeom prst="rect">
            <a:avLst/>
          </a:prstGeom>
        </p:spPr>
      </p:pic>
      <p:pic>
        <p:nvPicPr>
          <p:cNvPr id="12" name="Picture 11">
            <a:extLst>
              <a:ext uri="{FF2B5EF4-FFF2-40B4-BE49-F238E27FC236}">
                <a16:creationId xmlns:a16="http://schemas.microsoft.com/office/drawing/2014/main" id="{497C9982-C472-850A-77FA-E7EFCB86EB28}"/>
              </a:ext>
            </a:extLst>
          </p:cNvPr>
          <p:cNvPicPr>
            <a:picLocks noChangeAspect="1"/>
          </p:cNvPicPr>
          <p:nvPr/>
        </p:nvPicPr>
        <p:blipFill>
          <a:blip r:embed="rId3"/>
          <a:stretch>
            <a:fillRect/>
          </a:stretch>
        </p:blipFill>
        <p:spPr>
          <a:xfrm>
            <a:off x="9116738" y="2897671"/>
            <a:ext cx="2521080" cy="1790792"/>
          </a:xfrm>
          <a:prstGeom prst="rect">
            <a:avLst/>
          </a:prstGeom>
        </p:spPr>
      </p:pic>
      <p:sp>
        <p:nvSpPr>
          <p:cNvPr id="13" name="Oval 12">
            <a:extLst>
              <a:ext uri="{FF2B5EF4-FFF2-40B4-BE49-F238E27FC236}">
                <a16:creationId xmlns:a16="http://schemas.microsoft.com/office/drawing/2014/main" id="{177E73FF-B230-E258-3A61-FDFB02F6056F}"/>
              </a:ext>
            </a:extLst>
          </p:cNvPr>
          <p:cNvSpPr/>
          <p:nvPr/>
        </p:nvSpPr>
        <p:spPr>
          <a:xfrm>
            <a:off x="7896345" y="5886229"/>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
        <p:nvSpPr>
          <p:cNvPr id="14" name="Oval 13">
            <a:extLst>
              <a:ext uri="{FF2B5EF4-FFF2-40B4-BE49-F238E27FC236}">
                <a16:creationId xmlns:a16="http://schemas.microsoft.com/office/drawing/2014/main" id="{4F07221B-995F-FC58-5BA7-4559063DA360}"/>
              </a:ext>
            </a:extLst>
          </p:cNvPr>
          <p:cNvSpPr/>
          <p:nvPr/>
        </p:nvSpPr>
        <p:spPr>
          <a:xfrm>
            <a:off x="10529966" y="3413152"/>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3</a:t>
            </a:r>
          </a:p>
        </p:txBody>
      </p:sp>
      <p:sp>
        <p:nvSpPr>
          <p:cNvPr id="15" name="Oval 14">
            <a:extLst>
              <a:ext uri="{FF2B5EF4-FFF2-40B4-BE49-F238E27FC236}">
                <a16:creationId xmlns:a16="http://schemas.microsoft.com/office/drawing/2014/main" id="{D4B54262-8638-D9DE-6EFB-D0C659D65A39}"/>
              </a:ext>
            </a:extLst>
          </p:cNvPr>
          <p:cNvSpPr/>
          <p:nvPr/>
        </p:nvSpPr>
        <p:spPr>
          <a:xfrm>
            <a:off x="6975104" y="5091131"/>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sp>
        <p:nvSpPr>
          <p:cNvPr id="16" name="Oval 15">
            <a:extLst>
              <a:ext uri="{FF2B5EF4-FFF2-40B4-BE49-F238E27FC236}">
                <a16:creationId xmlns:a16="http://schemas.microsoft.com/office/drawing/2014/main" id="{67D1E253-60DD-5F22-87B6-44272F76A86F}"/>
              </a:ext>
            </a:extLst>
          </p:cNvPr>
          <p:cNvSpPr/>
          <p:nvPr/>
        </p:nvSpPr>
        <p:spPr>
          <a:xfrm>
            <a:off x="11461605" y="3841471"/>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4</a:t>
            </a:r>
          </a:p>
        </p:txBody>
      </p:sp>
      <p:sp>
        <p:nvSpPr>
          <p:cNvPr id="17" name="Oval 16">
            <a:extLst>
              <a:ext uri="{FF2B5EF4-FFF2-40B4-BE49-F238E27FC236}">
                <a16:creationId xmlns:a16="http://schemas.microsoft.com/office/drawing/2014/main" id="{B7505BED-6D92-D054-6113-E129DD5E7818}"/>
              </a:ext>
            </a:extLst>
          </p:cNvPr>
          <p:cNvSpPr/>
          <p:nvPr/>
        </p:nvSpPr>
        <p:spPr>
          <a:xfrm>
            <a:off x="10284739" y="4621268"/>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5</a:t>
            </a:r>
          </a:p>
        </p:txBody>
      </p:sp>
    </p:spTree>
    <p:extLst>
      <p:ext uri="{BB962C8B-B14F-4D97-AF65-F5344CB8AC3E}">
        <p14:creationId xmlns:p14="http://schemas.microsoft.com/office/powerpoint/2010/main" val="19164615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E7E85-BD8F-B701-8C39-E4AEB7109B9D}"/>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7EC2DEEF-857B-52EA-0678-0CC043F03604}"/>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 EXCEL</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A21D99AF-AEC2-B64A-BBC5-5FAB06736883}"/>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81A31465-6AC4-F9BE-CE05-3AB7D2F43B6E}"/>
              </a:ext>
            </a:extLst>
          </p:cNvPr>
          <p:cNvSpPr txBox="1">
            <a:spLocks/>
          </p:cNvSpPr>
          <p:nvPr/>
        </p:nvSpPr>
        <p:spPr>
          <a:xfrm>
            <a:off x="457201" y="760999"/>
            <a:ext cx="11319932" cy="5656733"/>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11 : Loại bỏ dữ liệu trùng lặp</a:t>
            </a:r>
          </a:p>
          <a:p>
            <a:pPr algn="l"/>
            <a:r>
              <a:rPr lang="en-US" sz="1800">
                <a:latin typeface="Times New Roman" panose="02020603050405020304" pitchFamily="18" charset="0"/>
                <a:cs typeface="Times New Roman" panose="02020603050405020304" pitchFamily="18" charset="0"/>
              </a:rPr>
              <a:t>Chọn vùng dữ liệu cần loại bỏ trùng lặp/Data (1)/(2)/nhấn OK (3)</a:t>
            </a:r>
          </a:p>
          <a:p>
            <a:pPr algn="l"/>
            <a:endParaRPr lang="en-US" sz="180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53C0541D-1F9D-7761-8844-E0200AFE4B93}"/>
              </a:ext>
            </a:extLst>
          </p:cNvPr>
          <p:cNvPicPr>
            <a:picLocks noChangeAspect="1"/>
          </p:cNvPicPr>
          <p:nvPr/>
        </p:nvPicPr>
        <p:blipFill>
          <a:blip r:embed="rId2"/>
          <a:stretch>
            <a:fillRect/>
          </a:stretch>
        </p:blipFill>
        <p:spPr>
          <a:xfrm>
            <a:off x="499534" y="1717579"/>
            <a:ext cx="8712648" cy="3676839"/>
          </a:xfrm>
          <a:prstGeom prst="rect">
            <a:avLst/>
          </a:prstGeom>
          <a:ln>
            <a:solidFill>
              <a:srgbClr val="A9A9A9"/>
            </a:solidFill>
          </a:ln>
        </p:spPr>
      </p:pic>
      <p:pic>
        <p:nvPicPr>
          <p:cNvPr id="9" name="Picture 8">
            <a:extLst>
              <a:ext uri="{FF2B5EF4-FFF2-40B4-BE49-F238E27FC236}">
                <a16:creationId xmlns:a16="http://schemas.microsoft.com/office/drawing/2014/main" id="{39FD9B93-C689-BE4D-C7CE-CC1AD11F879C}"/>
              </a:ext>
            </a:extLst>
          </p:cNvPr>
          <p:cNvPicPr>
            <a:picLocks noChangeAspect="1"/>
          </p:cNvPicPr>
          <p:nvPr/>
        </p:nvPicPr>
        <p:blipFill>
          <a:blip r:embed="rId3"/>
          <a:stretch>
            <a:fillRect/>
          </a:stretch>
        </p:blipFill>
        <p:spPr>
          <a:xfrm>
            <a:off x="8766848" y="3324135"/>
            <a:ext cx="3010285" cy="2576053"/>
          </a:xfrm>
          <a:prstGeom prst="rect">
            <a:avLst/>
          </a:prstGeom>
        </p:spPr>
      </p:pic>
      <p:sp>
        <p:nvSpPr>
          <p:cNvPr id="10" name="Oval 9">
            <a:extLst>
              <a:ext uri="{FF2B5EF4-FFF2-40B4-BE49-F238E27FC236}">
                <a16:creationId xmlns:a16="http://schemas.microsoft.com/office/drawing/2014/main" id="{3B48BFD5-3A52-C8E8-4B02-A17C0FD0CD6B}"/>
              </a:ext>
            </a:extLst>
          </p:cNvPr>
          <p:cNvSpPr/>
          <p:nvPr/>
        </p:nvSpPr>
        <p:spPr>
          <a:xfrm>
            <a:off x="9212182" y="2674942"/>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
        <p:nvSpPr>
          <p:cNvPr id="11" name="Oval 10">
            <a:extLst>
              <a:ext uri="{FF2B5EF4-FFF2-40B4-BE49-F238E27FC236}">
                <a16:creationId xmlns:a16="http://schemas.microsoft.com/office/drawing/2014/main" id="{ADDDB0D8-A9C2-7819-4172-CB60347DA8B6}"/>
              </a:ext>
            </a:extLst>
          </p:cNvPr>
          <p:cNvSpPr/>
          <p:nvPr/>
        </p:nvSpPr>
        <p:spPr>
          <a:xfrm>
            <a:off x="10339612" y="5268597"/>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3</a:t>
            </a:r>
          </a:p>
        </p:txBody>
      </p:sp>
      <p:sp>
        <p:nvSpPr>
          <p:cNvPr id="18" name="Oval 17">
            <a:extLst>
              <a:ext uri="{FF2B5EF4-FFF2-40B4-BE49-F238E27FC236}">
                <a16:creationId xmlns:a16="http://schemas.microsoft.com/office/drawing/2014/main" id="{A5D99B09-58E9-D20C-9522-665E38AD3ED7}"/>
              </a:ext>
            </a:extLst>
          </p:cNvPr>
          <p:cNvSpPr/>
          <p:nvPr/>
        </p:nvSpPr>
        <p:spPr>
          <a:xfrm>
            <a:off x="5807076" y="1865330"/>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spTree>
    <p:extLst>
      <p:ext uri="{BB962C8B-B14F-4D97-AF65-F5344CB8AC3E}">
        <p14:creationId xmlns:p14="http://schemas.microsoft.com/office/powerpoint/2010/main" val="12217349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D7694-D29A-28BB-FE4F-E064F80B3DF7}"/>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00115DFA-FDE7-257F-D182-DC7B5C653DCA}"/>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 EXCEL</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52652505-C919-0D9E-23DB-161F2104C148}"/>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6DC8D946-925C-143D-7A6F-DF60A5F075C0}"/>
              </a:ext>
            </a:extLst>
          </p:cNvPr>
          <p:cNvSpPr txBox="1">
            <a:spLocks/>
          </p:cNvSpPr>
          <p:nvPr/>
        </p:nvSpPr>
        <p:spPr>
          <a:xfrm>
            <a:off x="457200" y="761000"/>
            <a:ext cx="4735902"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12 : Các thông báo &amp; cài đặt mặc định</a:t>
            </a:r>
          </a:p>
          <a:p>
            <a:pPr algn="l"/>
            <a:r>
              <a:rPr lang="en-US" sz="1800" b="1">
                <a:latin typeface="Times New Roman" panose="02020603050405020304" pitchFamily="18" charset="0"/>
                <a:cs typeface="Times New Roman" panose="02020603050405020304" pitchFamily="18" charset="0"/>
              </a:rPr>
              <a:t>12.1. Thông báo xin cho phép macro chạy</a:t>
            </a:r>
          </a:p>
          <a:p>
            <a:pPr algn="l"/>
            <a:r>
              <a:rPr lang="en-US" sz="1800">
                <a:latin typeface="Times New Roman" panose="02020603050405020304" pitchFamily="18" charset="0"/>
                <a:cs typeface="Times New Roman" panose="02020603050405020304" pitchFamily="18" charset="0"/>
              </a:rPr>
              <a:t>(Nếu macro do IQC phát triển cần nhấn Enable content)</a:t>
            </a:r>
          </a:p>
          <a:p>
            <a:pPr algn="l"/>
            <a:endParaRPr lang="en-US" sz="2000">
              <a:latin typeface="Times New Roman" panose="02020603050405020304" pitchFamily="18" charset="0"/>
              <a:cs typeface="Times New Roman" panose="02020603050405020304" pitchFamily="18" charset="0"/>
            </a:endParaRPr>
          </a:p>
        </p:txBody>
      </p:sp>
      <p:pic>
        <p:nvPicPr>
          <p:cNvPr id="2056" name="Picture 8">
            <a:extLst>
              <a:ext uri="{FF2B5EF4-FFF2-40B4-BE49-F238E27FC236}">
                <a16:creationId xmlns:a16="http://schemas.microsoft.com/office/drawing/2014/main" id="{236C52FB-C6BD-BEEF-691C-67C119A492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1040"/>
          <a:stretch>
            <a:fillRect/>
          </a:stretch>
        </p:blipFill>
        <p:spPr bwMode="auto">
          <a:xfrm>
            <a:off x="457200" y="2200160"/>
            <a:ext cx="4675517" cy="1626168"/>
          </a:xfrm>
          <a:prstGeom prst="rect">
            <a:avLst/>
          </a:prstGeom>
          <a:ln>
            <a:solidFill>
              <a:srgbClr val="A9A9A9"/>
            </a:solidFill>
          </a:ln>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76D73CC1-7A26-0541-BD3E-9E966CE1F230}"/>
              </a:ext>
            </a:extLst>
          </p:cNvPr>
          <p:cNvPicPr>
            <a:picLocks noChangeAspect="1"/>
          </p:cNvPicPr>
          <p:nvPr/>
        </p:nvPicPr>
        <p:blipFill>
          <a:blip r:embed="rId3"/>
          <a:srcRect r="9788" b="62511"/>
          <a:stretch>
            <a:fillRect/>
          </a:stretch>
        </p:blipFill>
        <p:spPr>
          <a:xfrm>
            <a:off x="5610557" y="4100584"/>
            <a:ext cx="6134820" cy="2070772"/>
          </a:xfrm>
          <a:prstGeom prst="rect">
            <a:avLst/>
          </a:prstGeom>
          <a:ln>
            <a:solidFill>
              <a:srgbClr val="A9A9A9"/>
            </a:solidFill>
          </a:ln>
        </p:spPr>
      </p:pic>
      <p:sp>
        <p:nvSpPr>
          <p:cNvPr id="10" name="TextBox 9">
            <a:extLst>
              <a:ext uri="{FF2B5EF4-FFF2-40B4-BE49-F238E27FC236}">
                <a16:creationId xmlns:a16="http://schemas.microsoft.com/office/drawing/2014/main" id="{E80B7BF1-1A4B-D4A5-5B9D-C6ADAC95F52C}"/>
              </a:ext>
            </a:extLst>
          </p:cNvPr>
          <p:cNvSpPr txBox="1"/>
          <p:nvPr/>
        </p:nvSpPr>
        <p:spPr>
          <a:xfrm>
            <a:off x="5521690" y="1074070"/>
            <a:ext cx="6116128" cy="1200329"/>
          </a:xfrm>
          <a:prstGeom prst="rect">
            <a:avLst/>
          </a:prstGeom>
          <a:noFill/>
        </p:spPr>
        <p:txBody>
          <a:bodyPr wrap="square">
            <a:spAutoFit/>
          </a:bodyPr>
          <a:lstStyle/>
          <a:p>
            <a:pPr algn="l"/>
            <a:r>
              <a:rPr lang="en-US" sz="1800" b="1">
                <a:latin typeface="Times New Roman" panose="02020603050405020304" pitchFamily="18" charset="0"/>
                <a:cs typeface="Times New Roman" panose="02020603050405020304" pitchFamily="18" charset="0"/>
              </a:rPr>
              <a:t>12.2. Tự động cập nhật công thức</a:t>
            </a:r>
          </a:p>
          <a:p>
            <a:pPr algn="l"/>
            <a:r>
              <a:rPr lang="en-US">
                <a:latin typeface="Times New Roman" panose="02020603050405020304" pitchFamily="18" charset="0"/>
                <a:cs typeface="Times New Roman" panose="02020603050405020304" pitchFamily="18" charset="0"/>
              </a:rPr>
              <a:t>Chọn File/Option/Formulas/Calculation options : </a:t>
            </a:r>
          </a:p>
          <a:p>
            <a:pPr marL="285750" indent="-285750" algn="l">
              <a:buFont typeface="Wingdings" panose="05000000000000000000" pitchFamily="2" charset="2"/>
              <a:buChar char="q"/>
            </a:pPr>
            <a:r>
              <a:rPr lang="en-US" b="1">
                <a:latin typeface="Times New Roman" panose="02020603050405020304" pitchFamily="18" charset="0"/>
                <a:cs typeface="Times New Roman" panose="02020603050405020304" pitchFamily="18" charset="0"/>
              </a:rPr>
              <a:t>Automatic</a:t>
            </a:r>
            <a:r>
              <a:rPr lang="en-US">
                <a:latin typeface="Times New Roman" panose="02020603050405020304" pitchFamily="18" charset="0"/>
                <a:cs typeface="Times New Roman" panose="02020603050405020304" pitchFamily="18" charset="0"/>
              </a:rPr>
              <a:t>: tự động cập nhật kết quả cho các ô công thức</a:t>
            </a:r>
          </a:p>
          <a:p>
            <a:pPr marL="285750" indent="-285750" algn="l">
              <a:buFont typeface="Wingdings" panose="05000000000000000000" pitchFamily="2" charset="2"/>
              <a:buChar char="q"/>
            </a:pPr>
            <a:r>
              <a:rPr lang="en-US" sz="1800" b="1">
                <a:latin typeface="Times New Roman" panose="02020603050405020304" pitchFamily="18" charset="0"/>
                <a:cs typeface="Times New Roman" panose="02020603050405020304" pitchFamily="18" charset="0"/>
              </a:rPr>
              <a:t>Manual</a:t>
            </a:r>
            <a:r>
              <a:rPr lang="en-US" sz="1800">
                <a:latin typeface="Times New Roman" panose="02020603050405020304" pitchFamily="18" charset="0"/>
                <a:cs typeface="Times New Roman" panose="02020603050405020304" pitchFamily="18" charset="0"/>
              </a:rPr>
              <a:t>: kết quả các ô công thức được cập nhật thủ công</a:t>
            </a:r>
          </a:p>
        </p:txBody>
      </p:sp>
      <p:pic>
        <p:nvPicPr>
          <p:cNvPr id="12" name="Picture 11">
            <a:extLst>
              <a:ext uri="{FF2B5EF4-FFF2-40B4-BE49-F238E27FC236}">
                <a16:creationId xmlns:a16="http://schemas.microsoft.com/office/drawing/2014/main" id="{F5D5B032-D501-259B-2817-B5B7B096FDA5}"/>
              </a:ext>
            </a:extLst>
          </p:cNvPr>
          <p:cNvPicPr>
            <a:picLocks noChangeAspect="1"/>
          </p:cNvPicPr>
          <p:nvPr/>
        </p:nvPicPr>
        <p:blipFill>
          <a:blip r:embed="rId4"/>
          <a:stretch>
            <a:fillRect/>
          </a:stretch>
        </p:blipFill>
        <p:spPr>
          <a:xfrm>
            <a:off x="5789249" y="2512830"/>
            <a:ext cx="1320868" cy="1270065"/>
          </a:xfrm>
          <a:prstGeom prst="rect">
            <a:avLst/>
          </a:prstGeom>
          <a:ln>
            <a:solidFill>
              <a:srgbClr val="A9A9A9"/>
            </a:solidFill>
          </a:ln>
        </p:spPr>
      </p:pic>
      <p:pic>
        <p:nvPicPr>
          <p:cNvPr id="14" name="Picture 13">
            <a:extLst>
              <a:ext uri="{FF2B5EF4-FFF2-40B4-BE49-F238E27FC236}">
                <a16:creationId xmlns:a16="http://schemas.microsoft.com/office/drawing/2014/main" id="{F50D9E3F-0D8C-399C-A920-7FCC51A7329E}"/>
              </a:ext>
            </a:extLst>
          </p:cNvPr>
          <p:cNvPicPr>
            <a:picLocks noChangeAspect="1"/>
          </p:cNvPicPr>
          <p:nvPr/>
        </p:nvPicPr>
        <p:blipFill>
          <a:blip r:embed="rId5"/>
          <a:stretch>
            <a:fillRect/>
          </a:stretch>
        </p:blipFill>
        <p:spPr>
          <a:xfrm>
            <a:off x="7573010" y="2500129"/>
            <a:ext cx="1104957" cy="1282766"/>
          </a:xfrm>
          <a:prstGeom prst="rect">
            <a:avLst/>
          </a:prstGeom>
          <a:ln>
            <a:solidFill>
              <a:srgbClr val="A9A9A9"/>
            </a:solidFill>
          </a:ln>
        </p:spPr>
      </p:pic>
      <p:sp>
        <p:nvSpPr>
          <p:cNvPr id="15" name="Oval 14">
            <a:extLst>
              <a:ext uri="{FF2B5EF4-FFF2-40B4-BE49-F238E27FC236}">
                <a16:creationId xmlns:a16="http://schemas.microsoft.com/office/drawing/2014/main" id="{0C291745-FAAD-7F0A-48E7-C162949240A9}"/>
              </a:ext>
            </a:extLst>
          </p:cNvPr>
          <p:cNvSpPr/>
          <p:nvPr/>
        </p:nvSpPr>
        <p:spPr>
          <a:xfrm>
            <a:off x="8501754" y="3328487"/>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
        <p:nvSpPr>
          <p:cNvPr id="16" name="Oval 15">
            <a:extLst>
              <a:ext uri="{FF2B5EF4-FFF2-40B4-BE49-F238E27FC236}">
                <a16:creationId xmlns:a16="http://schemas.microsoft.com/office/drawing/2014/main" id="{E9A9F3D4-BDCE-10D6-8734-F7157C364C78}"/>
              </a:ext>
            </a:extLst>
          </p:cNvPr>
          <p:cNvSpPr/>
          <p:nvPr/>
        </p:nvSpPr>
        <p:spPr>
          <a:xfrm>
            <a:off x="6355420" y="4540518"/>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3</a:t>
            </a:r>
          </a:p>
        </p:txBody>
      </p:sp>
      <p:sp>
        <p:nvSpPr>
          <p:cNvPr id="17" name="Oval 16">
            <a:extLst>
              <a:ext uri="{FF2B5EF4-FFF2-40B4-BE49-F238E27FC236}">
                <a16:creationId xmlns:a16="http://schemas.microsoft.com/office/drawing/2014/main" id="{5DEE0884-F3F6-78F1-0866-BC7E892DFA18}"/>
              </a:ext>
            </a:extLst>
          </p:cNvPr>
          <p:cNvSpPr/>
          <p:nvPr/>
        </p:nvSpPr>
        <p:spPr>
          <a:xfrm>
            <a:off x="5893850" y="2658854"/>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spTree>
    <p:extLst>
      <p:ext uri="{BB962C8B-B14F-4D97-AF65-F5344CB8AC3E}">
        <p14:creationId xmlns:p14="http://schemas.microsoft.com/office/powerpoint/2010/main" val="42722368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09604-1851-DDFB-D150-2F5245945EB5}"/>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C8083BD4-B5DD-314E-03D2-E45C6C3DEEE4}"/>
              </a:ext>
            </a:extLst>
          </p:cNvPr>
          <p:cNvPicPr>
            <a:picLocks noChangeAspect="1"/>
          </p:cNvPicPr>
          <p:nvPr/>
        </p:nvPicPr>
        <p:blipFill>
          <a:blip r:embed="rId2"/>
          <a:srcRect t="4536"/>
          <a:stretch>
            <a:fillRect/>
          </a:stretch>
        </p:blipFill>
        <p:spPr>
          <a:xfrm>
            <a:off x="5269626" y="1157883"/>
            <a:ext cx="6800491" cy="5273109"/>
          </a:xfrm>
          <a:prstGeom prst="rect">
            <a:avLst/>
          </a:prstGeom>
          <a:ln>
            <a:solidFill>
              <a:srgbClr val="A9A9A9"/>
            </a:solidFill>
          </a:ln>
        </p:spPr>
      </p:pic>
      <p:sp>
        <p:nvSpPr>
          <p:cNvPr id="3" name="Title 1">
            <a:extLst>
              <a:ext uri="{FF2B5EF4-FFF2-40B4-BE49-F238E27FC236}">
                <a16:creationId xmlns:a16="http://schemas.microsoft.com/office/drawing/2014/main" id="{422B4320-9A81-49C5-2052-F0D19DB797C9}"/>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 EXCEL</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DB46A6CC-A18D-51EF-3BC5-76B2B764A764}"/>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1827CB7B-70FB-1ABB-B2A7-39B60431A6DA}"/>
              </a:ext>
            </a:extLst>
          </p:cNvPr>
          <p:cNvSpPr txBox="1">
            <a:spLocks/>
          </p:cNvSpPr>
          <p:nvPr/>
        </p:nvSpPr>
        <p:spPr>
          <a:xfrm>
            <a:off x="465826" y="761000"/>
            <a:ext cx="4684143"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12 : Các thông báo &amp; cài đặt mặc định</a:t>
            </a:r>
          </a:p>
          <a:p>
            <a:pPr algn="l"/>
            <a:r>
              <a:rPr lang="en-US" sz="1800" b="1">
                <a:latin typeface="Times New Roman" panose="02020603050405020304" pitchFamily="18" charset="0"/>
                <a:cs typeface="Times New Roman" panose="02020603050405020304" pitchFamily="18" charset="0"/>
              </a:rPr>
              <a:t>12.3. Hiển thị cột A, B, C… hoặc 1,2,3</a:t>
            </a:r>
          </a:p>
          <a:p>
            <a:pPr algn="l"/>
            <a:r>
              <a:rPr lang="en-US" sz="1800">
                <a:latin typeface="Times New Roman" panose="02020603050405020304" pitchFamily="18" charset="0"/>
                <a:cs typeface="Times New Roman" panose="02020603050405020304" pitchFamily="18" charset="0"/>
              </a:rPr>
              <a:t>Chọn File/Option/Formulas/R1C1 reference style </a:t>
            </a:r>
          </a:p>
          <a:p>
            <a:pPr algn="l"/>
            <a:endParaRPr lang="en-US" sz="1800">
              <a:latin typeface="Times New Roman" panose="02020603050405020304" pitchFamily="18" charset="0"/>
              <a:cs typeface="Times New Roman" panose="02020603050405020304" pitchFamily="18" charset="0"/>
            </a:endParaRPr>
          </a:p>
          <a:p>
            <a:pPr algn="l"/>
            <a:endParaRPr lang="en-US" sz="1800">
              <a:latin typeface="Times New Roman" panose="02020603050405020304" pitchFamily="18" charset="0"/>
              <a:cs typeface="Times New Roman" panose="02020603050405020304" pitchFamily="18" charset="0"/>
            </a:endParaRPr>
          </a:p>
          <a:p>
            <a:pPr algn="l"/>
            <a:endParaRPr lang="en-US" sz="1800">
              <a:latin typeface="Times New Roman" panose="02020603050405020304" pitchFamily="18" charset="0"/>
              <a:cs typeface="Times New Roman" panose="02020603050405020304" pitchFamily="18" charset="0"/>
            </a:endParaRPr>
          </a:p>
          <a:p>
            <a:pPr algn="l"/>
            <a:endParaRPr lang="en-US" sz="1800">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q"/>
            </a:pPr>
            <a:r>
              <a:rPr lang="en-US" sz="1800">
                <a:latin typeface="Times New Roman" panose="02020603050405020304" pitchFamily="18" charset="0"/>
                <a:cs typeface="Times New Roman" panose="02020603050405020304" pitchFamily="18" charset="0"/>
              </a:rPr>
              <a:t>Tick chọn: Cột sẽ hiển thị 1, 2, 3</a:t>
            </a:r>
          </a:p>
          <a:p>
            <a:pPr marL="285750" indent="-285750" algn="l">
              <a:buFont typeface="Wingdings" panose="05000000000000000000" pitchFamily="2" charset="2"/>
              <a:buChar char="q"/>
            </a:pPr>
            <a:endParaRPr lang="en-US" sz="1800">
              <a:latin typeface="Times New Roman" panose="02020603050405020304" pitchFamily="18" charset="0"/>
              <a:cs typeface="Times New Roman" panose="02020603050405020304" pitchFamily="18" charset="0"/>
            </a:endParaRPr>
          </a:p>
          <a:p>
            <a:pPr algn="l"/>
            <a:endParaRPr lang="en-US" sz="1800">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q"/>
            </a:pPr>
            <a:r>
              <a:rPr lang="en-US" sz="1800">
                <a:latin typeface="Times New Roman" panose="02020603050405020304" pitchFamily="18" charset="0"/>
                <a:cs typeface="Times New Roman" panose="02020603050405020304" pitchFamily="18" charset="0"/>
              </a:rPr>
              <a:t>Bỏ chọn: Cột hiển thị A, B, C</a:t>
            </a:r>
          </a:p>
        </p:txBody>
      </p:sp>
      <p:pic>
        <p:nvPicPr>
          <p:cNvPr id="4" name="Picture 3">
            <a:extLst>
              <a:ext uri="{FF2B5EF4-FFF2-40B4-BE49-F238E27FC236}">
                <a16:creationId xmlns:a16="http://schemas.microsoft.com/office/drawing/2014/main" id="{0D71CE76-81ED-2C3C-2039-70E837E414D4}"/>
              </a:ext>
            </a:extLst>
          </p:cNvPr>
          <p:cNvPicPr>
            <a:picLocks noChangeAspect="1"/>
          </p:cNvPicPr>
          <p:nvPr/>
        </p:nvPicPr>
        <p:blipFill>
          <a:blip r:embed="rId3"/>
          <a:stretch>
            <a:fillRect/>
          </a:stretch>
        </p:blipFill>
        <p:spPr>
          <a:xfrm>
            <a:off x="465826" y="1922699"/>
            <a:ext cx="1320868" cy="1270065"/>
          </a:xfrm>
          <a:prstGeom prst="rect">
            <a:avLst/>
          </a:prstGeom>
          <a:ln>
            <a:solidFill>
              <a:srgbClr val="A9A9A9"/>
            </a:solidFill>
          </a:ln>
        </p:spPr>
      </p:pic>
      <p:pic>
        <p:nvPicPr>
          <p:cNvPr id="5" name="Picture 4">
            <a:extLst>
              <a:ext uri="{FF2B5EF4-FFF2-40B4-BE49-F238E27FC236}">
                <a16:creationId xmlns:a16="http://schemas.microsoft.com/office/drawing/2014/main" id="{FC4C3A48-6164-9FA4-24A0-7787C55D0E78}"/>
              </a:ext>
            </a:extLst>
          </p:cNvPr>
          <p:cNvPicPr>
            <a:picLocks noChangeAspect="1"/>
          </p:cNvPicPr>
          <p:nvPr/>
        </p:nvPicPr>
        <p:blipFill>
          <a:blip r:embed="rId4"/>
          <a:stretch>
            <a:fillRect/>
          </a:stretch>
        </p:blipFill>
        <p:spPr>
          <a:xfrm>
            <a:off x="2249587" y="1909998"/>
            <a:ext cx="1104957" cy="1282766"/>
          </a:xfrm>
          <a:prstGeom prst="rect">
            <a:avLst/>
          </a:prstGeom>
          <a:ln>
            <a:solidFill>
              <a:srgbClr val="A9A9A9"/>
            </a:solidFill>
          </a:ln>
        </p:spPr>
      </p:pic>
      <p:sp>
        <p:nvSpPr>
          <p:cNvPr id="7" name="Oval 6">
            <a:extLst>
              <a:ext uri="{FF2B5EF4-FFF2-40B4-BE49-F238E27FC236}">
                <a16:creationId xmlns:a16="http://schemas.microsoft.com/office/drawing/2014/main" id="{9D7369F7-8046-F6DB-E9AD-408196F968A6}"/>
              </a:ext>
            </a:extLst>
          </p:cNvPr>
          <p:cNvSpPr/>
          <p:nvPr/>
        </p:nvSpPr>
        <p:spPr>
          <a:xfrm>
            <a:off x="3178331" y="2738356"/>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
        <p:nvSpPr>
          <p:cNvPr id="9" name="Oval 8">
            <a:extLst>
              <a:ext uri="{FF2B5EF4-FFF2-40B4-BE49-F238E27FC236}">
                <a16:creationId xmlns:a16="http://schemas.microsoft.com/office/drawing/2014/main" id="{0EE3C7DB-37C7-00E2-D195-F76892D092E8}"/>
              </a:ext>
            </a:extLst>
          </p:cNvPr>
          <p:cNvSpPr/>
          <p:nvPr/>
        </p:nvSpPr>
        <p:spPr>
          <a:xfrm>
            <a:off x="7924503" y="3076575"/>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3</a:t>
            </a:r>
          </a:p>
        </p:txBody>
      </p:sp>
      <p:sp>
        <p:nvSpPr>
          <p:cNvPr id="10" name="Oval 9">
            <a:extLst>
              <a:ext uri="{FF2B5EF4-FFF2-40B4-BE49-F238E27FC236}">
                <a16:creationId xmlns:a16="http://schemas.microsoft.com/office/drawing/2014/main" id="{B0505274-22D3-0650-2966-3FD08D7A8DE7}"/>
              </a:ext>
            </a:extLst>
          </p:cNvPr>
          <p:cNvSpPr/>
          <p:nvPr/>
        </p:nvSpPr>
        <p:spPr>
          <a:xfrm>
            <a:off x="570427" y="2068723"/>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pic>
        <p:nvPicPr>
          <p:cNvPr id="12" name="Picture 11">
            <a:extLst>
              <a:ext uri="{FF2B5EF4-FFF2-40B4-BE49-F238E27FC236}">
                <a16:creationId xmlns:a16="http://schemas.microsoft.com/office/drawing/2014/main" id="{586DC2EC-843C-7275-CF58-65B92BD73416}"/>
              </a:ext>
            </a:extLst>
          </p:cNvPr>
          <p:cNvPicPr>
            <a:picLocks noChangeAspect="1"/>
          </p:cNvPicPr>
          <p:nvPr/>
        </p:nvPicPr>
        <p:blipFill>
          <a:blip r:embed="rId5"/>
          <a:stretch>
            <a:fillRect/>
          </a:stretch>
        </p:blipFill>
        <p:spPr>
          <a:xfrm>
            <a:off x="465826" y="4834489"/>
            <a:ext cx="4305918" cy="669163"/>
          </a:xfrm>
          <a:prstGeom prst="rect">
            <a:avLst/>
          </a:prstGeom>
          <a:ln>
            <a:solidFill>
              <a:srgbClr val="A9A9A9"/>
            </a:solidFill>
          </a:ln>
        </p:spPr>
      </p:pic>
      <p:pic>
        <p:nvPicPr>
          <p:cNvPr id="14" name="Picture 13">
            <a:extLst>
              <a:ext uri="{FF2B5EF4-FFF2-40B4-BE49-F238E27FC236}">
                <a16:creationId xmlns:a16="http://schemas.microsoft.com/office/drawing/2014/main" id="{CF823229-08D7-6F0C-4F2C-F84879155DCC}"/>
              </a:ext>
            </a:extLst>
          </p:cNvPr>
          <p:cNvPicPr>
            <a:picLocks noChangeAspect="1"/>
          </p:cNvPicPr>
          <p:nvPr/>
        </p:nvPicPr>
        <p:blipFill>
          <a:blip r:embed="rId6"/>
          <a:stretch>
            <a:fillRect/>
          </a:stretch>
        </p:blipFill>
        <p:spPr>
          <a:xfrm>
            <a:off x="457200" y="3725780"/>
            <a:ext cx="3415241" cy="731837"/>
          </a:xfrm>
          <a:prstGeom prst="rect">
            <a:avLst/>
          </a:prstGeom>
          <a:ln>
            <a:solidFill>
              <a:srgbClr val="A9A9A9"/>
            </a:solidFill>
          </a:ln>
        </p:spPr>
      </p:pic>
    </p:spTree>
    <p:extLst>
      <p:ext uri="{BB962C8B-B14F-4D97-AF65-F5344CB8AC3E}">
        <p14:creationId xmlns:p14="http://schemas.microsoft.com/office/powerpoint/2010/main" val="25057031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82E6F-3914-3075-F67C-B2551E3A12F8}"/>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A92FB48B-4079-8FB4-3643-5FD1B9FD9C08}"/>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II. POWERPOINT</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2E57AF79-31AF-F993-D73A-FF76A817C13A}"/>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B33CCD6B-B6BA-BC0E-0683-F8D748CD6C7E}"/>
              </a:ext>
            </a:extLst>
          </p:cNvPr>
          <p:cNvSpPr txBox="1">
            <a:spLocks/>
          </p:cNvSpPr>
          <p:nvPr/>
        </p:nvSpPr>
        <p:spPr>
          <a:xfrm>
            <a:off x="457200" y="761000"/>
            <a:ext cx="11353800"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13 : Thêm tài nguyên</a:t>
            </a:r>
          </a:p>
          <a:p>
            <a:pPr algn="l"/>
            <a:r>
              <a:rPr lang="en-US" sz="1800" b="1">
                <a:latin typeface="Times New Roman" panose="02020603050405020304" pitchFamily="18" charset="0"/>
                <a:cs typeface="Times New Roman" panose="02020603050405020304" pitchFamily="18" charset="0"/>
              </a:rPr>
              <a:t>13.1 SmartArt</a:t>
            </a:r>
          </a:p>
          <a:p>
            <a:pPr algn="l"/>
            <a:r>
              <a:rPr lang="en-US" sz="1800">
                <a:latin typeface="Times New Roman" panose="02020603050405020304" pitchFamily="18" charset="0"/>
                <a:cs typeface="Times New Roman" panose="02020603050405020304" pitchFamily="18" charset="0"/>
              </a:rPr>
              <a:t>Chọn Insert/SmartArt/ chọn SmartArt phù hợp và nhấn OK </a:t>
            </a:r>
          </a:p>
          <a:p>
            <a:pPr algn="l"/>
            <a:endParaRPr lang="en-US" sz="1800" b="1">
              <a:latin typeface="Times New Roman" panose="02020603050405020304" pitchFamily="18" charset="0"/>
              <a:cs typeface="Times New Roman" panose="02020603050405020304" pitchFamily="18" charset="0"/>
            </a:endParaRPr>
          </a:p>
          <a:p>
            <a:pPr algn="l"/>
            <a:endParaRPr lang="en-US" sz="2000" b="1">
              <a:latin typeface="Times New Roman" panose="02020603050405020304" pitchFamily="18" charset="0"/>
              <a:cs typeface="Times New Roman" panose="02020603050405020304" pitchFamily="18" charset="0"/>
            </a:endParaRPr>
          </a:p>
          <a:p>
            <a:pPr algn="l"/>
            <a:endParaRPr lang="en-US" sz="2000" b="1">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9B00779-F80F-75F2-98F1-14E281375A4B}"/>
              </a:ext>
            </a:extLst>
          </p:cNvPr>
          <p:cNvPicPr>
            <a:picLocks noChangeAspect="1"/>
          </p:cNvPicPr>
          <p:nvPr/>
        </p:nvPicPr>
        <p:blipFill>
          <a:blip r:embed="rId2"/>
          <a:stretch>
            <a:fillRect/>
          </a:stretch>
        </p:blipFill>
        <p:spPr>
          <a:xfrm>
            <a:off x="2885908" y="1882080"/>
            <a:ext cx="6496384" cy="3714941"/>
          </a:xfrm>
          <a:prstGeom prst="rect">
            <a:avLst/>
          </a:prstGeom>
        </p:spPr>
      </p:pic>
    </p:spTree>
    <p:extLst>
      <p:ext uri="{BB962C8B-B14F-4D97-AF65-F5344CB8AC3E}">
        <p14:creationId xmlns:p14="http://schemas.microsoft.com/office/powerpoint/2010/main" val="3909728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0541B-5BB8-65B0-3D0F-335D61F01A86}"/>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69A03C7F-E8CC-50ED-A919-ED5C123E986B}"/>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II. POWERPOINT</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D95F1885-A0E1-16BF-6E6E-E45BF85A87BF}"/>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F6366EF6-BC15-D195-F2ED-8049040CE1CF}"/>
              </a:ext>
            </a:extLst>
          </p:cNvPr>
          <p:cNvSpPr txBox="1">
            <a:spLocks/>
          </p:cNvSpPr>
          <p:nvPr/>
        </p:nvSpPr>
        <p:spPr>
          <a:xfrm>
            <a:off x="457200" y="761000"/>
            <a:ext cx="11353800"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13 : Thêm tài nguyên</a:t>
            </a:r>
          </a:p>
          <a:p>
            <a:pPr algn="l"/>
            <a:r>
              <a:rPr lang="en-US" sz="1800" b="1">
                <a:latin typeface="Times New Roman" panose="02020603050405020304" pitchFamily="18" charset="0"/>
                <a:cs typeface="Times New Roman" panose="02020603050405020304" pitchFamily="18" charset="0"/>
              </a:rPr>
              <a:t>13.2 Thêm biểu thức toán học</a:t>
            </a:r>
          </a:p>
          <a:p>
            <a:pPr algn="l"/>
            <a:r>
              <a:rPr lang="en-US" sz="1800">
                <a:latin typeface="Times New Roman" panose="02020603050405020304" pitchFamily="18" charset="0"/>
                <a:cs typeface="Times New Roman" panose="02020603050405020304" pitchFamily="18" charset="0"/>
              </a:rPr>
              <a:t>Chọn Insert (1)/Symbols (2)/Equation (3) chọn biểu thức phù hợp</a:t>
            </a:r>
          </a:p>
          <a:p>
            <a:pPr algn="l"/>
            <a:endParaRPr lang="en-US" sz="1800" b="1">
              <a:latin typeface="Times New Roman" panose="02020603050405020304" pitchFamily="18" charset="0"/>
              <a:cs typeface="Times New Roman" panose="02020603050405020304" pitchFamily="18" charset="0"/>
            </a:endParaRPr>
          </a:p>
          <a:p>
            <a:pPr algn="l"/>
            <a:endParaRPr lang="en-US" sz="2000" b="1">
              <a:latin typeface="Times New Roman" panose="02020603050405020304" pitchFamily="18" charset="0"/>
              <a:cs typeface="Times New Roman" panose="02020603050405020304" pitchFamily="18" charset="0"/>
            </a:endParaRPr>
          </a:p>
          <a:p>
            <a:pPr algn="l"/>
            <a:endParaRPr lang="en-US" sz="2000" b="1">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55C2370-EEF7-3D09-7157-FB52EE27E56F}"/>
              </a:ext>
            </a:extLst>
          </p:cNvPr>
          <p:cNvPicPr>
            <a:picLocks noChangeAspect="1"/>
          </p:cNvPicPr>
          <p:nvPr/>
        </p:nvPicPr>
        <p:blipFill>
          <a:blip r:embed="rId2"/>
          <a:stretch>
            <a:fillRect/>
          </a:stretch>
        </p:blipFill>
        <p:spPr>
          <a:xfrm>
            <a:off x="2929042" y="2417471"/>
            <a:ext cx="6496384" cy="3714941"/>
          </a:xfrm>
          <a:prstGeom prst="rect">
            <a:avLst/>
          </a:prstGeom>
        </p:spPr>
      </p:pic>
      <p:pic>
        <p:nvPicPr>
          <p:cNvPr id="8" name="Picture 7">
            <a:extLst>
              <a:ext uri="{FF2B5EF4-FFF2-40B4-BE49-F238E27FC236}">
                <a16:creationId xmlns:a16="http://schemas.microsoft.com/office/drawing/2014/main" id="{1DC44D11-2212-D073-60F5-DD0D2DE1B811}"/>
              </a:ext>
            </a:extLst>
          </p:cNvPr>
          <p:cNvPicPr>
            <a:picLocks noChangeAspect="1"/>
          </p:cNvPicPr>
          <p:nvPr/>
        </p:nvPicPr>
        <p:blipFill>
          <a:blip r:embed="rId3"/>
          <a:stretch>
            <a:fillRect/>
          </a:stretch>
        </p:blipFill>
        <p:spPr>
          <a:xfrm>
            <a:off x="138075" y="2116446"/>
            <a:ext cx="12002117" cy="3695890"/>
          </a:xfrm>
          <a:prstGeom prst="rect">
            <a:avLst/>
          </a:prstGeom>
          <a:ln>
            <a:solidFill>
              <a:srgbClr val="A9A9A9"/>
            </a:solidFill>
          </a:ln>
        </p:spPr>
      </p:pic>
      <p:sp>
        <p:nvSpPr>
          <p:cNvPr id="4" name="Oval 3">
            <a:extLst>
              <a:ext uri="{FF2B5EF4-FFF2-40B4-BE49-F238E27FC236}">
                <a16:creationId xmlns:a16="http://schemas.microsoft.com/office/drawing/2014/main" id="{9C7B5F27-740C-359C-D39F-399462F672D5}"/>
              </a:ext>
            </a:extLst>
          </p:cNvPr>
          <p:cNvSpPr/>
          <p:nvPr/>
        </p:nvSpPr>
        <p:spPr>
          <a:xfrm>
            <a:off x="10815992" y="2911437"/>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
        <p:nvSpPr>
          <p:cNvPr id="7" name="Oval 6">
            <a:extLst>
              <a:ext uri="{FF2B5EF4-FFF2-40B4-BE49-F238E27FC236}">
                <a16:creationId xmlns:a16="http://schemas.microsoft.com/office/drawing/2014/main" id="{2E05C0E2-BA9E-501C-DD78-073DA8CDA946}"/>
              </a:ext>
            </a:extLst>
          </p:cNvPr>
          <p:cNvSpPr/>
          <p:nvPr/>
        </p:nvSpPr>
        <p:spPr>
          <a:xfrm>
            <a:off x="10900618" y="3863878"/>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3</a:t>
            </a:r>
          </a:p>
        </p:txBody>
      </p:sp>
      <p:sp>
        <p:nvSpPr>
          <p:cNvPr id="9" name="Oval 8">
            <a:extLst>
              <a:ext uri="{FF2B5EF4-FFF2-40B4-BE49-F238E27FC236}">
                <a16:creationId xmlns:a16="http://schemas.microsoft.com/office/drawing/2014/main" id="{D04FFCAC-8708-9786-A45F-D8713FF89C24}"/>
              </a:ext>
            </a:extLst>
          </p:cNvPr>
          <p:cNvSpPr/>
          <p:nvPr/>
        </p:nvSpPr>
        <p:spPr>
          <a:xfrm>
            <a:off x="1186051" y="2319442"/>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sp>
        <p:nvSpPr>
          <p:cNvPr id="10" name="Oval 9">
            <a:extLst>
              <a:ext uri="{FF2B5EF4-FFF2-40B4-BE49-F238E27FC236}">
                <a16:creationId xmlns:a16="http://schemas.microsoft.com/office/drawing/2014/main" id="{70556C1D-1D03-939A-EE15-56F52433D8F1}"/>
              </a:ext>
            </a:extLst>
          </p:cNvPr>
          <p:cNvSpPr/>
          <p:nvPr/>
        </p:nvSpPr>
        <p:spPr>
          <a:xfrm>
            <a:off x="10639779" y="4463894"/>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3</a:t>
            </a:r>
          </a:p>
        </p:txBody>
      </p:sp>
    </p:spTree>
    <p:extLst>
      <p:ext uri="{BB962C8B-B14F-4D97-AF65-F5344CB8AC3E}">
        <p14:creationId xmlns:p14="http://schemas.microsoft.com/office/powerpoint/2010/main" val="27590845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97953-D35C-D9F4-2028-313499E523AF}"/>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DBA5D044-D0EA-752A-E860-72FD572499E3}"/>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II. POWERPOINT</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71E8A0FB-0EA6-5AFE-2772-908D5CC6A311}"/>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82891D33-F637-35D4-A553-80F88BBE2D35}"/>
              </a:ext>
            </a:extLst>
          </p:cNvPr>
          <p:cNvSpPr txBox="1">
            <a:spLocks/>
          </p:cNvSpPr>
          <p:nvPr/>
        </p:nvSpPr>
        <p:spPr>
          <a:xfrm>
            <a:off x="457200" y="761000"/>
            <a:ext cx="11353800"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13 : Thêm tài nguyên</a:t>
            </a:r>
          </a:p>
          <a:p>
            <a:pPr algn="l"/>
            <a:r>
              <a:rPr lang="en-US" sz="1800" b="1">
                <a:latin typeface="Times New Roman" panose="02020603050405020304" pitchFamily="18" charset="0"/>
                <a:cs typeface="Times New Roman" panose="02020603050405020304" pitchFamily="18" charset="0"/>
              </a:rPr>
              <a:t>13.3  Quay video màn hình</a:t>
            </a:r>
          </a:p>
          <a:p>
            <a:pPr algn="l"/>
            <a:r>
              <a:rPr lang="en-US" sz="1800">
                <a:latin typeface="Times New Roman" panose="02020603050405020304" pitchFamily="18" charset="0"/>
                <a:cs typeface="Times New Roman" panose="02020603050405020304" pitchFamily="18" charset="0"/>
              </a:rPr>
              <a:t>Chọn Insert (1)/Media (2)/Screen recording (3)</a:t>
            </a:r>
            <a:endParaRPr lang="en-US" sz="2000" b="1">
              <a:latin typeface="Times New Roman" panose="02020603050405020304" pitchFamily="18" charset="0"/>
              <a:cs typeface="Times New Roman" panose="02020603050405020304" pitchFamily="18" charset="0"/>
            </a:endParaRPr>
          </a:p>
          <a:p>
            <a:pPr algn="l"/>
            <a:endParaRPr lang="en-US" sz="2000" b="1">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CDFB36C7-48C1-D3EB-C82D-BCC67A7A0D9B}"/>
              </a:ext>
            </a:extLst>
          </p:cNvPr>
          <p:cNvPicPr>
            <a:picLocks noChangeAspect="1"/>
          </p:cNvPicPr>
          <p:nvPr/>
        </p:nvPicPr>
        <p:blipFill>
          <a:blip r:embed="rId2"/>
          <a:stretch>
            <a:fillRect/>
          </a:stretch>
        </p:blipFill>
        <p:spPr>
          <a:xfrm>
            <a:off x="457200" y="2039484"/>
            <a:ext cx="11543043" cy="2325477"/>
          </a:xfrm>
          <a:prstGeom prst="rect">
            <a:avLst/>
          </a:prstGeom>
          <a:ln>
            <a:solidFill>
              <a:srgbClr val="A9A9A9"/>
            </a:solidFill>
          </a:ln>
        </p:spPr>
      </p:pic>
      <p:sp>
        <p:nvSpPr>
          <p:cNvPr id="13" name="Oval 12">
            <a:extLst>
              <a:ext uri="{FF2B5EF4-FFF2-40B4-BE49-F238E27FC236}">
                <a16:creationId xmlns:a16="http://schemas.microsoft.com/office/drawing/2014/main" id="{6290D82B-9996-9AD5-A902-345145E9F7D0}"/>
              </a:ext>
            </a:extLst>
          </p:cNvPr>
          <p:cNvSpPr/>
          <p:nvPr/>
        </p:nvSpPr>
        <p:spPr>
          <a:xfrm>
            <a:off x="11223477" y="3202222"/>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
        <p:nvSpPr>
          <p:cNvPr id="14" name="Oval 13">
            <a:extLst>
              <a:ext uri="{FF2B5EF4-FFF2-40B4-BE49-F238E27FC236}">
                <a16:creationId xmlns:a16="http://schemas.microsoft.com/office/drawing/2014/main" id="{6201B133-16FB-E2AF-26D4-ACDC1A4D7196}"/>
              </a:ext>
            </a:extLst>
          </p:cNvPr>
          <p:cNvSpPr/>
          <p:nvPr/>
        </p:nvSpPr>
        <p:spPr>
          <a:xfrm>
            <a:off x="11553196" y="4086891"/>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3</a:t>
            </a:r>
          </a:p>
        </p:txBody>
      </p:sp>
      <p:sp>
        <p:nvSpPr>
          <p:cNvPr id="15" name="Oval 14">
            <a:extLst>
              <a:ext uri="{FF2B5EF4-FFF2-40B4-BE49-F238E27FC236}">
                <a16:creationId xmlns:a16="http://schemas.microsoft.com/office/drawing/2014/main" id="{7B84EF4E-8064-2899-AF6B-D77E909AB294}"/>
              </a:ext>
            </a:extLst>
          </p:cNvPr>
          <p:cNvSpPr/>
          <p:nvPr/>
        </p:nvSpPr>
        <p:spPr>
          <a:xfrm>
            <a:off x="1556985" y="2569600"/>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spTree>
    <p:extLst>
      <p:ext uri="{BB962C8B-B14F-4D97-AF65-F5344CB8AC3E}">
        <p14:creationId xmlns:p14="http://schemas.microsoft.com/office/powerpoint/2010/main" val="10727290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46CEB-141F-CD75-A73D-F81926BCAFD9}"/>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94B7BF0F-C7C3-E8CD-20D1-D3DD27C13B14}"/>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II. POWERPOINT</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0C96DE83-0C0A-98AF-69AF-29497FA8413D}"/>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5AE45B8E-C6AC-592E-341C-985C2AB1B755}"/>
              </a:ext>
            </a:extLst>
          </p:cNvPr>
          <p:cNvSpPr txBox="1">
            <a:spLocks/>
          </p:cNvSpPr>
          <p:nvPr/>
        </p:nvSpPr>
        <p:spPr>
          <a:xfrm>
            <a:off x="457200" y="761000"/>
            <a:ext cx="11353800"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14 : Hiệu ứng chuyển slide</a:t>
            </a:r>
          </a:p>
          <a:p>
            <a:pPr algn="l"/>
            <a:r>
              <a:rPr lang="en-US" sz="1800">
                <a:latin typeface="Times New Roman" panose="02020603050405020304" pitchFamily="18" charset="0"/>
                <a:cs typeface="Times New Roman" panose="02020603050405020304" pitchFamily="18" charset="0"/>
              </a:rPr>
              <a:t>Trên thanh công cụ Ribon / chọn Tab TRANSITIONS / chọn hiệu ứng chuyển Slide. Khi đang chọn Slide nào thì hiệu ứng sẽ áp dụng cho Slide đó.</a:t>
            </a:r>
            <a:endParaRPr lang="en-US" sz="1800" b="1">
              <a:latin typeface="Times New Roman" panose="02020603050405020304" pitchFamily="18" charset="0"/>
              <a:cs typeface="Times New Roman" panose="02020603050405020304" pitchFamily="18" charset="0"/>
            </a:endParaRPr>
          </a:p>
          <a:p>
            <a:pPr algn="l"/>
            <a:endParaRPr lang="en-US" sz="2000" b="1">
              <a:latin typeface="Times New Roman" panose="02020603050405020304" pitchFamily="18" charset="0"/>
              <a:cs typeface="Times New Roman" panose="02020603050405020304" pitchFamily="18" charset="0"/>
            </a:endParaRPr>
          </a:p>
          <a:p>
            <a:pPr algn="l"/>
            <a:endParaRPr lang="en-US" sz="2000" b="1">
              <a:latin typeface="Times New Roman" panose="02020603050405020304" pitchFamily="18" charset="0"/>
              <a:cs typeface="Times New Roman" panose="02020603050405020304" pitchFamily="18" charset="0"/>
            </a:endParaRPr>
          </a:p>
          <a:p>
            <a:pPr algn="l"/>
            <a:endParaRPr lang="en-US" sz="2000" b="1">
              <a:latin typeface="Times New Roman" panose="02020603050405020304" pitchFamily="18" charset="0"/>
              <a:cs typeface="Times New Roman" panose="02020603050405020304" pitchFamily="18" charset="0"/>
            </a:endParaRPr>
          </a:p>
          <a:p>
            <a:pPr algn="l"/>
            <a:endParaRPr lang="en-US" sz="2000" b="1">
              <a:latin typeface="Times New Roman" panose="02020603050405020304" pitchFamily="18" charset="0"/>
              <a:cs typeface="Times New Roman" panose="02020603050405020304" pitchFamily="18" charset="0"/>
            </a:endParaRPr>
          </a:p>
          <a:p>
            <a:pPr algn="l"/>
            <a:r>
              <a:rPr lang="en-US" sz="1800">
                <a:latin typeface="Times New Roman" panose="02020603050405020304" pitchFamily="18" charset="0"/>
                <a:cs typeface="Times New Roman" panose="02020603050405020304" pitchFamily="18" charset="0"/>
              </a:rPr>
              <a:t>Để chỉnh thời gian cho hiệu ứng chuyển Slide, trên thanh Ribon trong mục “Duration” là thời gian hiệu ứng sẽ chạy. </a:t>
            </a:r>
          </a:p>
          <a:p>
            <a:pPr algn="l"/>
            <a:r>
              <a:rPr lang="vi-VN" sz="1800">
                <a:latin typeface="Times New Roman" panose="02020603050405020304" pitchFamily="18" charset="0"/>
                <a:cs typeface="Times New Roman" panose="02020603050405020304" pitchFamily="18" charset="0"/>
              </a:rPr>
              <a:t>Mặc định thì khi hết 1 Slide muốn qua Slide khác thì phải click chuột hoặc bấm</a:t>
            </a:r>
            <a:r>
              <a:rPr lang="en-US" sz="1800">
                <a:latin typeface="Times New Roman" panose="02020603050405020304" pitchFamily="18" charset="0"/>
                <a:cs typeface="Times New Roman" panose="02020603050405020304" pitchFamily="18" charset="0"/>
              </a:rPr>
              <a:t> </a:t>
            </a:r>
            <a:r>
              <a:rPr lang="vi-VN" sz="1800">
                <a:latin typeface="Times New Roman" panose="02020603050405020304" pitchFamily="18" charset="0"/>
                <a:cs typeface="Times New Roman" panose="02020603050405020304" pitchFamily="18" charset="0"/>
              </a:rPr>
              <a:t>bàn phím. Tuy nhiên trong một vài trường hợp muốn hết một Slide thì trình chiếu</a:t>
            </a:r>
            <a:r>
              <a:rPr lang="en-US" sz="1800">
                <a:latin typeface="Times New Roman" panose="02020603050405020304" pitchFamily="18" charset="0"/>
                <a:cs typeface="Times New Roman" panose="02020603050405020304" pitchFamily="18" charset="0"/>
              </a:rPr>
              <a:t> </a:t>
            </a:r>
            <a:r>
              <a:rPr lang="vi-VN" sz="1800">
                <a:latin typeface="Times New Roman" panose="02020603050405020304" pitchFamily="18" charset="0"/>
                <a:cs typeface="Times New Roman" panose="02020603050405020304" pitchFamily="18" charset="0"/>
              </a:rPr>
              <a:t>sẽ tự động chuyển qua Slide tiếp theo trong khoảng thời gian nhất định thì bỏ</a:t>
            </a:r>
            <a:r>
              <a:rPr lang="en-US" sz="1800">
                <a:latin typeface="Times New Roman" panose="02020603050405020304" pitchFamily="18" charset="0"/>
                <a:cs typeface="Times New Roman" panose="02020603050405020304" pitchFamily="18" charset="0"/>
              </a:rPr>
              <a:t> </a:t>
            </a:r>
            <a:r>
              <a:rPr lang="vi-VN" sz="1800">
                <a:latin typeface="Times New Roman" panose="02020603050405020304" pitchFamily="18" charset="0"/>
                <a:cs typeface="Times New Roman" panose="02020603050405020304" pitchFamily="18" charset="0"/>
              </a:rPr>
              <a:t>dấu chọn vào mục “On Mouse click”, đánh dấu vào “After” và nhập khoảng thời gian trình chiếu tự động chuyển Slide (giờ / phút / giây). </a:t>
            </a:r>
            <a:endParaRPr lang="en-US" sz="1800">
              <a:latin typeface="Times New Roman" panose="02020603050405020304" pitchFamily="18" charset="0"/>
              <a:cs typeface="Times New Roman" panose="02020603050405020304" pitchFamily="18" charset="0"/>
            </a:endParaRPr>
          </a:p>
          <a:p>
            <a:pPr algn="l"/>
            <a:r>
              <a:rPr lang="vi-VN" sz="1800">
                <a:latin typeface="Times New Roman" panose="02020603050405020304" pitchFamily="18" charset="0"/>
                <a:cs typeface="Times New Roman" panose="02020603050405020304" pitchFamily="18" charset="0"/>
              </a:rPr>
              <a:t>Muốn áp dụng cho toàn</a:t>
            </a:r>
            <a:r>
              <a:rPr lang="en-US" sz="1800">
                <a:latin typeface="Times New Roman" panose="02020603050405020304" pitchFamily="18" charset="0"/>
                <a:cs typeface="Times New Roman" panose="02020603050405020304" pitchFamily="18" charset="0"/>
              </a:rPr>
              <a:t> </a:t>
            </a:r>
            <a:r>
              <a:rPr lang="vi-VN" sz="1800">
                <a:latin typeface="Times New Roman" panose="02020603050405020304" pitchFamily="18" charset="0"/>
                <a:cs typeface="Times New Roman" panose="02020603050405020304" pitchFamily="18" charset="0"/>
              </a:rPr>
              <a:t>bộ Slide thì bấm vào nút “Apply To All”.</a:t>
            </a:r>
            <a:endParaRPr lang="en-US" sz="1800">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E0B8066-53BE-2995-69ED-6BDC0013548F}"/>
              </a:ext>
            </a:extLst>
          </p:cNvPr>
          <p:cNvPicPr>
            <a:picLocks noChangeAspect="1"/>
          </p:cNvPicPr>
          <p:nvPr/>
        </p:nvPicPr>
        <p:blipFill>
          <a:blip r:embed="rId2"/>
          <a:stretch>
            <a:fillRect/>
          </a:stretch>
        </p:blipFill>
        <p:spPr>
          <a:xfrm>
            <a:off x="1544159" y="1782127"/>
            <a:ext cx="8103016" cy="1301817"/>
          </a:xfrm>
          <a:prstGeom prst="rect">
            <a:avLst/>
          </a:prstGeom>
          <a:ln>
            <a:solidFill>
              <a:srgbClr val="A9A9A9"/>
            </a:solidFill>
          </a:ln>
        </p:spPr>
      </p:pic>
      <p:pic>
        <p:nvPicPr>
          <p:cNvPr id="10" name="Picture 9">
            <a:extLst>
              <a:ext uri="{FF2B5EF4-FFF2-40B4-BE49-F238E27FC236}">
                <a16:creationId xmlns:a16="http://schemas.microsoft.com/office/drawing/2014/main" id="{3DF4B796-C02E-472D-B235-64D3C1788E0F}"/>
              </a:ext>
            </a:extLst>
          </p:cNvPr>
          <p:cNvPicPr>
            <a:picLocks noChangeAspect="1"/>
          </p:cNvPicPr>
          <p:nvPr/>
        </p:nvPicPr>
        <p:blipFill>
          <a:blip r:embed="rId3"/>
          <a:stretch>
            <a:fillRect/>
          </a:stretch>
        </p:blipFill>
        <p:spPr>
          <a:xfrm>
            <a:off x="6883879" y="4726093"/>
            <a:ext cx="3130711" cy="1104957"/>
          </a:xfrm>
          <a:prstGeom prst="rect">
            <a:avLst/>
          </a:prstGeom>
          <a:ln>
            <a:solidFill>
              <a:srgbClr val="A9A9A9"/>
            </a:solidFill>
          </a:ln>
        </p:spPr>
      </p:pic>
    </p:spTree>
    <p:extLst>
      <p:ext uri="{BB962C8B-B14F-4D97-AF65-F5344CB8AC3E}">
        <p14:creationId xmlns:p14="http://schemas.microsoft.com/office/powerpoint/2010/main" val="30598990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7FE8B-8618-8FFA-154D-CA0A0C589D1A}"/>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FA9AD673-794F-F05A-16B4-6F64162229D9}"/>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II. POWERPOINT</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7F35D1EA-407F-6902-E354-14ABF275DB92}"/>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DCF0F2B4-CCDA-E55B-E519-8711BFA0B950}"/>
              </a:ext>
            </a:extLst>
          </p:cNvPr>
          <p:cNvSpPr txBox="1">
            <a:spLocks/>
          </p:cNvSpPr>
          <p:nvPr/>
        </p:nvSpPr>
        <p:spPr>
          <a:xfrm>
            <a:off x="457200" y="761000"/>
            <a:ext cx="11353800"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15 : Hiệu ứng trong slide (Animations)</a:t>
            </a:r>
          </a:p>
          <a:p>
            <a:pPr algn="l"/>
            <a:r>
              <a:rPr lang="vi-VN" sz="1800">
                <a:latin typeface="Times New Roman" panose="02020603050405020304" pitchFamily="18" charset="0"/>
                <a:cs typeface="Times New Roman" panose="02020603050405020304" pitchFamily="18" charset="0"/>
              </a:rPr>
              <a:t>Để tạo hiệu ứng cho chữ, trong Slide</a:t>
            </a:r>
            <a:r>
              <a:rPr lang="en-US" sz="1800">
                <a:latin typeface="Times New Roman" panose="02020603050405020304" pitchFamily="18" charset="0"/>
                <a:cs typeface="Times New Roman" panose="02020603050405020304" pitchFamily="18" charset="0"/>
              </a:rPr>
              <a:t> </a:t>
            </a:r>
            <a:r>
              <a:rPr lang="vi-VN" sz="1800">
                <a:latin typeface="Times New Roman" panose="02020603050405020304" pitchFamily="18" charset="0"/>
                <a:cs typeface="Times New Roman" panose="02020603050405020304" pitchFamily="18" charset="0"/>
              </a:rPr>
              <a:t>đang thiết kế chọn chữ muốn tạo hiệu ứng. Trên thanh Ribon chọn Tab</a:t>
            </a:r>
            <a:r>
              <a:rPr lang="en-US" sz="1800">
                <a:latin typeface="Times New Roman" panose="02020603050405020304" pitchFamily="18" charset="0"/>
                <a:cs typeface="Times New Roman" panose="02020603050405020304" pitchFamily="18" charset="0"/>
              </a:rPr>
              <a:t> </a:t>
            </a:r>
            <a:r>
              <a:rPr lang="vi-VN" sz="1800">
                <a:latin typeface="Times New Roman" panose="02020603050405020304" pitchFamily="18" charset="0"/>
                <a:cs typeface="Times New Roman" panose="02020603050405020304" pitchFamily="18" charset="0"/>
              </a:rPr>
              <a:t>ANIMATIONS / lúc này phía dưới sẽ hiện ra danh sách các hiệu ứng.</a:t>
            </a:r>
            <a:endParaRPr lang="en-US" sz="1800">
              <a:latin typeface="Times New Roman" panose="02020603050405020304" pitchFamily="18" charset="0"/>
              <a:cs typeface="Times New Roman" panose="02020603050405020304" pitchFamily="18" charset="0"/>
            </a:endParaRPr>
          </a:p>
          <a:p>
            <a:pPr algn="l"/>
            <a:r>
              <a:rPr lang="vi-VN" sz="1800">
                <a:latin typeface="Times New Roman" panose="02020603050405020304" pitchFamily="18" charset="0"/>
                <a:cs typeface="Times New Roman" panose="02020603050405020304" pitchFamily="18" charset="0"/>
              </a:rPr>
              <a:t>Sau đó chỉ việc bấm chọn hiệu ứng, muốn hiển thị nhiều hiệu ứng hơn nữa bấmvào phím mũi tên màu đen.</a:t>
            </a:r>
          </a:p>
          <a:p>
            <a:pPr algn="l"/>
            <a:endParaRPr lang="en-US" sz="200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163399F-F814-615B-288D-9CCD212ECB3A}"/>
              </a:ext>
            </a:extLst>
          </p:cNvPr>
          <p:cNvPicPr>
            <a:picLocks noChangeAspect="1"/>
          </p:cNvPicPr>
          <p:nvPr/>
        </p:nvPicPr>
        <p:blipFill>
          <a:blip r:embed="rId2"/>
          <a:stretch>
            <a:fillRect/>
          </a:stretch>
        </p:blipFill>
        <p:spPr>
          <a:xfrm>
            <a:off x="2749253" y="2232305"/>
            <a:ext cx="6933942" cy="3737174"/>
          </a:xfrm>
          <a:prstGeom prst="rect">
            <a:avLst/>
          </a:prstGeom>
          <a:ln>
            <a:solidFill>
              <a:srgbClr val="A9A9A9"/>
            </a:solidFill>
          </a:ln>
        </p:spPr>
      </p:pic>
    </p:spTree>
    <p:extLst>
      <p:ext uri="{BB962C8B-B14F-4D97-AF65-F5344CB8AC3E}">
        <p14:creationId xmlns:p14="http://schemas.microsoft.com/office/powerpoint/2010/main" val="17044877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23EAF-14E8-3BDB-9162-BD20071B82DE}"/>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2D037C1F-F795-2B87-A46C-63648C42A6C7}"/>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II. POWERPOINT</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59C2B500-24CF-ADBB-9EDF-20D04AB71079}"/>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8900E976-F99B-BCDA-FA33-679D455BD51B}"/>
              </a:ext>
            </a:extLst>
          </p:cNvPr>
          <p:cNvSpPr txBox="1">
            <a:spLocks/>
          </p:cNvSpPr>
          <p:nvPr/>
        </p:nvSpPr>
        <p:spPr>
          <a:xfrm>
            <a:off x="457200" y="761000"/>
            <a:ext cx="11353800"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15 : Hiệu ứng trong slide (Animations)</a:t>
            </a:r>
          </a:p>
          <a:p>
            <a:pPr algn="l"/>
            <a:r>
              <a:rPr lang="vi-VN" sz="1800">
                <a:latin typeface="Times New Roman" panose="02020603050405020304" pitchFamily="18" charset="0"/>
                <a:cs typeface="Times New Roman" panose="02020603050405020304" pitchFamily="18" charset="0"/>
              </a:rPr>
              <a:t>Tuỳ chỉnh cho hiệu ứng:</a:t>
            </a:r>
            <a:endParaRPr lang="en-US" sz="1800">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q"/>
            </a:pPr>
            <a:r>
              <a:rPr lang="vi-VN" sz="1800">
                <a:latin typeface="Times New Roman" panose="02020603050405020304" pitchFamily="18" charset="0"/>
                <a:cs typeface="Times New Roman" panose="02020603050405020304" pitchFamily="18" charset="0"/>
              </a:rPr>
              <a:t>Start: hiệu ứng xuất hiện tự động hoặc bấm chuột.</a:t>
            </a:r>
          </a:p>
          <a:p>
            <a:pPr marL="285750" indent="-285750" algn="l">
              <a:buFont typeface="Wingdings" panose="05000000000000000000" pitchFamily="2" charset="2"/>
              <a:buChar char="q"/>
            </a:pPr>
            <a:r>
              <a:rPr lang="vi-VN" sz="1800">
                <a:latin typeface="Times New Roman" panose="02020603050405020304" pitchFamily="18" charset="0"/>
                <a:cs typeface="Times New Roman" panose="02020603050405020304" pitchFamily="18" charset="0"/>
              </a:rPr>
              <a:t>Duration: thời gian hiệu ứng xuất hiện (giây)</a:t>
            </a:r>
          </a:p>
          <a:p>
            <a:pPr marL="285750" indent="-285750" algn="l">
              <a:buFont typeface="Wingdings" panose="05000000000000000000" pitchFamily="2" charset="2"/>
              <a:buChar char="q"/>
            </a:pPr>
            <a:r>
              <a:rPr lang="vi-VN" sz="1800">
                <a:latin typeface="Times New Roman" panose="02020603050405020304" pitchFamily="18" charset="0"/>
                <a:cs typeface="Times New Roman" panose="02020603050405020304" pitchFamily="18" charset="0"/>
              </a:rPr>
              <a:t>Delay: thời gian lập lại hiệu ứng</a:t>
            </a:r>
          </a:p>
          <a:p>
            <a:pPr algn="l"/>
            <a:endParaRPr lang="en-US" sz="2000">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a:p>
            <a:pPr algn="l"/>
            <a:r>
              <a:rPr lang="vi-VN" sz="2000">
                <a:latin typeface="Times New Roman" panose="02020603050405020304" pitchFamily="18" charset="0"/>
                <a:cs typeface="Times New Roman" panose="02020603050405020304" pitchFamily="18" charset="0"/>
              </a:rPr>
              <a:t>Để tuỳ chỉnh chi tiết hơn cho chữ/ hình ảnh thì tại cửa sổ “Animation Pane”, bấm</a:t>
            </a:r>
            <a:r>
              <a:rPr lang="en-US" sz="2000">
                <a:latin typeface="Times New Roman" panose="02020603050405020304" pitchFamily="18" charset="0"/>
                <a:cs typeface="Times New Roman" panose="02020603050405020304" pitchFamily="18" charset="0"/>
              </a:rPr>
              <a:t> </a:t>
            </a:r>
            <a:r>
              <a:rPr lang="vi-VN" sz="2000">
                <a:latin typeface="Times New Roman" panose="02020603050405020304" pitchFamily="18" charset="0"/>
                <a:cs typeface="Times New Roman" panose="02020603050405020304" pitchFamily="18" charset="0"/>
              </a:rPr>
              <a:t>chuột phải vào hiệu ứng muốn tuỳ chỉnh chọn “Effect Options”</a:t>
            </a:r>
          </a:p>
          <a:p>
            <a:pPr algn="l"/>
            <a:endParaRPr lang="en-US" sz="200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908D67DC-1AF8-99DD-9CDA-0D4A6059DEEA}"/>
              </a:ext>
            </a:extLst>
          </p:cNvPr>
          <p:cNvPicPr>
            <a:picLocks noChangeAspect="1"/>
          </p:cNvPicPr>
          <p:nvPr/>
        </p:nvPicPr>
        <p:blipFill>
          <a:blip r:embed="rId2"/>
          <a:stretch>
            <a:fillRect/>
          </a:stretch>
        </p:blipFill>
        <p:spPr>
          <a:xfrm>
            <a:off x="457200" y="2575410"/>
            <a:ext cx="11163874" cy="1200212"/>
          </a:xfrm>
          <a:prstGeom prst="rect">
            <a:avLst/>
          </a:prstGeom>
          <a:ln>
            <a:solidFill>
              <a:srgbClr val="A9A9A9"/>
            </a:solidFill>
          </a:ln>
        </p:spPr>
      </p:pic>
      <p:pic>
        <p:nvPicPr>
          <p:cNvPr id="9" name="Picture 8">
            <a:extLst>
              <a:ext uri="{FF2B5EF4-FFF2-40B4-BE49-F238E27FC236}">
                <a16:creationId xmlns:a16="http://schemas.microsoft.com/office/drawing/2014/main" id="{A729A0E4-BCAE-D050-87F0-6BD6A932F88F}"/>
              </a:ext>
            </a:extLst>
          </p:cNvPr>
          <p:cNvPicPr>
            <a:picLocks noChangeAspect="1"/>
          </p:cNvPicPr>
          <p:nvPr/>
        </p:nvPicPr>
        <p:blipFill>
          <a:blip r:embed="rId3"/>
          <a:srcRect b="17530"/>
          <a:stretch>
            <a:fillRect/>
          </a:stretch>
        </p:blipFill>
        <p:spPr>
          <a:xfrm>
            <a:off x="4843272" y="4229458"/>
            <a:ext cx="2184512" cy="2409086"/>
          </a:xfrm>
          <a:prstGeom prst="rect">
            <a:avLst/>
          </a:prstGeom>
          <a:ln>
            <a:solidFill>
              <a:srgbClr val="A9A9A9"/>
            </a:solidFill>
          </a:ln>
        </p:spPr>
      </p:pic>
    </p:spTree>
    <p:extLst>
      <p:ext uri="{BB962C8B-B14F-4D97-AF65-F5344CB8AC3E}">
        <p14:creationId xmlns:p14="http://schemas.microsoft.com/office/powerpoint/2010/main" val="1149229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fade">
                                      <p:cBhvr>
                                        <p:cTn id="16" dur="500"/>
                                        <p:tgtEl>
                                          <p:spTgt spid="2">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fade">
                                      <p:cBhvr>
                                        <p:cTn id="19" dur="500"/>
                                        <p:tgtEl>
                                          <p:spTgt spid="2">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
                                            <p:txEl>
                                              <p:pRg st="8" end="8"/>
                                            </p:txEl>
                                          </p:spTgt>
                                        </p:tgtEl>
                                        <p:attrNameLst>
                                          <p:attrName>style.visibility</p:attrName>
                                        </p:attrNameLst>
                                      </p:cBhvr>
                                      <p:to>
                                        <p:strVal val="visible"/>
                                      </p:to>
                                    </p:set>
                                    <p:animEffect transition="in" filter="fade">
                                      <p:cBhvr>
                                        <p:cTn id="22"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allAtOnce"/>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B0F70-0A4D-048B-3F5D-D647783F32F9}"/>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F551823A-D030-5E08-D2D7-0B01C26C6969}"/>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II. POWERPOINT</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924AA111-391A-84B9-3193-EF3ED1CF7C37}"/>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8E93CC2C-49D8-3A83-79A8-82B63DB1E5D3}"/>
              </a:ext>
            </a:extLst>
          </p:cNvPr>
          <p:cNvSpPr txBox="1">
            <a:spLocks/>
          </p:cNvSpPr>
          <p:nvPr/>
        </p:nvSpPr>
        <p:spPr>
          <a:xfrm>
            <a:off x="457200" y="761000"/>
            <a:ext cx="11353800"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15 : Hiệu ứng trong slide (Animations)</a:t>
            </a:r>
          </a:p>
          <a:p>
            <a:pPr marL="285750" indent="-285750" algn="l">
              <a:buFont typeface="Wingdings" panose="05000000000000000000" pitchFamily="2" charset="2"/>
              <a:buChar char="v"/>
            </a:pPr>
            <a:r>
              <a:rPr lang="en-US" sz="1800" b="1">
                <a:latin typeface="Times New Roman" panose="02020603050405020304" pitchFamily="18" charset="0"/>
                <a:cs typeface="Times New Roman" panose="02020603050405020304" pitchFamily="18" charset="0"/>
              </a:rPr>
              <a:t>Tab Effect: </a:t>
            </a:r>
            <a:r>
              <a:rPr lang="en-US" sz="1800">
                <a:latin typeface="Times New Roman" panose="02020603050405020304" pitchFamily="18" charset="0"/>
                <a:cs typeface="Times New Roman" panose="02020603050405020304" pitchFamily="18" charset="0"/>
              </a:rPr>
              <a:t>Cửa sổ Fade xuất hiện</a:t>
            </a:r>
          </a:p>
          <a:p>
            <a:pPr marL="285750" indent="-285750" algn="l">
              <a:buFont typeface="Wingdings" panose="05000000000000000000" pitchFamily="2" charset="2"/>
              <a:buChar char="q"/>
            </a:pPr>
            <a:r>
              <a:rPr lang="en-US" sz="1800">
                <a:latin typeface="Times New Roman" panose="02020603050405020304" pitchFamily="18" charset="0"/>
                <a:cs typeface="Times New Roman" panose="02020603050405020304" pitchFamily="18" charset="0"/>
              </a:rPr>
              <a:t>Để tạo âm thanh lúc xuất hiện chữ trong mục “Sound” chọn một âm thanh</a:t>
            </a:r>
          </a:p>
          <a:p>
            <a:pPr marL="285750" indent="-285750" algn="l">
              <a:buFont typeface="Wingdings" panose="05000000000000000000" pitchFamily="2" charset="2"/>
              <a:buChar char="q"/>
            </a:pPr>
            <a:r>
              <a:rPr lang="en-US" sz="1800">
                <a:latin typeface="Times New Roman" panose="02020603050405020304" pitchFamily="18" charset="0"/>
                <a:cs typeface="Times New Roman" panose="02020603050405020304" pitchFamily="18" charset="0"/>
              </a:rPr>
              <a:t>After animation: hành động sau khi hiệu ứng chạy xong.</a:t>
            </a:r>
          </a:p>
          <a:p>
            <a:pPr marL="285750" indent="-285750" algn="l">
              <a:buFont typeface="Wingdings" panose="05000000000000000000" pitchFamily="2" charset="2"/>
              <a:buChar char="q"/>
            </a:pPr>
            <a:r>
              <a:rPr lang="en-US" sz="1800">
                <a:latin typeface="Times New Roman" panose="02020603050405020304" pitchFamily="18" charset="0"/>
                <a:cs typeface="Times New Roman" panose="02020603050405020304" pitchFamily="18" charset="0"/>
              </a:rPr>
              <a:t>Animate text : chữ xuất hiện theo kiều nào? (từng ký tự, từng chữ hay</a:t>
            </a:r>
          </a:p>
          <a:p>
            <a:pPr marL="285750" indent="-285750" algn="l">
              <a:buFont typeface="Wingdings" panose="05000000000000000000" pitchFamily="2" charset="2"/>
              <a:buChar char="q"/>
            </a:pPr>
            <a:r>
              <a:rPr lang="en-US" sz="1800">
                <a:latin typeface="Times New Roman" panose="02020603050405020304" pitchFamily="18" charset="0"/>
                <a:cs typeface="Times New Roman" panose="02020603050405020304" pitchFamily="18" charset="0"/>
              </a:rPr>
              <a:t>cả đoạn văn)</a:t>
            </a:r>
          </a:p>
          <a:p>
            <a:pPr marL="285750" indent="-285750" algn="l">
              <a:buFont typeface="Wingdings" panose="05000000000000000000" pitchFamily="2" charset="2"/>
              <a:buChar char="q"/>
            </a:pPr>
            <a:endParaRPr lang="en-US" sz="1800">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q"/>
            </a:pPr>
            <a:endParaRPr lang="en-US" sz="1800">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q"/>
            </a:pPr>
            <a:endParaRPr lang="en-US" sz="1800">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v"/>
            </a:pPr>
            <a:r>
              <a:rPr lang="en-US" sz="1800" b="1">
                <a:latin typeface="Times New Roman" panose="02020603050405020304" pitchFamily="18" charset="0"/>
                <a:cs typeface="Times New Roman" panose="02020603050405020304" pitchFamily="18" charset="0"/>
              </a:rPr>
              <a:t>Tab Timing:</a:t>
            </a:r>
          </a:p>
          <a:p>
            <a:pPr marL="285750" indent="-285750" algn="l">
              <a:buFont typeface="Wingdings" panose="05000000000000000000" pitchFamily="2" charset="2"/>
              <a:buChar char="q"/>
            </a:pPr>
            <a:r>
              <a:rPr lang="en-US" sz="1800">
                <a:latin typeface="Times New Roman" panose="02020603050405020304" pitchFamily="18" charset="0"/>
                <a:cs typeface="Times New Roman" panose="02020603050405020304" pitchFamily="18" charset="0"/>
              </a:rPr>
              <a:t>Start : chạy hiệu ứng bằng cách nào?</a:t>
            </a:r>
          </a:p>
          <a:p>
            <a:pPr marL="285750" indent="-285750" algn="l">
              <a:buFont typeface="Wingdings" panose="05000000000000000000" pitchFamily="2" charset="2"/>
              <a:buChar char="q"/>
            </a:pPr>
            <a:r>
              <a:rPr lang="en-US" sz="1800">
                <a:latin typeface="Times New Roman" panose="02020603050405020304" pitchFamily="18" charset="0"/>
                <a:cs typeface="Times New Roman" panose="02020603050405020304" pitchFamily="18" charset="0"/>
              </a:rPr>
              <a:t>Delay : thời gian trì hoãn.</a:t>
            </a:r>
          </a:p>
          <a:p>
            <a:pPr marL="285750" indent="-285750" algn="l">
              <a:buFont typeface="Wingdings" panose="05000000000000000000" pitchFamily="2" charset="2"/>
              <a:buChar char="q"/>
            </a:pPr>
            <a:r>
              <a:rPr lang="en-US" sz="1800">
                <a:latin typeface="Times New Roman" panose="02020603050405020304" pitchFamily="18" charset="0"/>
                <a:cs typeface="Times New Roman" panose="02020603050405020304" pitchFamily="18" charset="0"/>
              </a:rPr>
              <a:t>Duration: thời gian chạy hiệu ứng.</a:t>
            </a:r>
          </a:p>
          <a:p>
            <a:pPr marL="285750" indent="-285750" algn="l">
              <a:buFont typeface="Wingdings" panose="05000000000000000000" pitchFamily="2" charset="2"/>
              <a:buChar char="q"/>
            </a:pPr>
            <a:r>
              <a:rPr lang="en-US" sz="1800">
                <a:latin typeface="Times New Roman" panose="02020603050405020304" pitchFamily="18" charset="0"/>
                <a:cs typeface="Times New Roman" panose="02020603050405020304" pitchFamily="18" charset="0"/>
              </a:rPr>
              <a:t>Repeat: lặp lại hành động.</a:t>
            </a:r>
          </a:p>
        </p:txBody>
      </p:sp>
      <p:pic>
        <p:nvPicPr>
          <p:cNvPr id="5" name="Picture 4">
            <a:extLst>
              <a:ext uri="{FF2B5EF4-FFF2-40B4-BE49-F238E27FC236}">
                <a16:creationId xmlns:a16="http://schemas.microsoft.com/office/drawing/2014/main" id="{31456AE9-DAEB-56B2-87B3-15E9866A1327}"/>
              </a:ext>
            </a:extLst>
          </p:cNvPr>
          <p:cNvPicPr>
            <a:picLocks noChangeAspect="1"/>
          </p:cNvPicPr>
          <p:nvPr/>
        </p:nvPicPr>
        <p:blipFill>
          <a:blip r:embed="rId2"/>
          <a:stretch>
            <a:fillRect/>
          </a:stretch>
        </p:blipFill>
        <p:spPr>
          <a:xfrm>
            <a:off x="7762939" y="802564"/>
            <a:ext cx="3018853" cy="2942288"/>
          </a:xfrm>
          <a:prstGeom prst="rect">
            <a:avLst/>
          </a:prstGeom>
        </p:spPr>
      </p:pic>
      <p:pic>
        <p:nvPicPr>
          <p:cNvPr id="10" name="Picture 9">
            <a:extLst>
              <a:ext uri="{FF2B5EF4-FFF2-40B4-BE49-F238E27FC236}">
                <a16:creationId xmlns:a16="http://schemas.microsoft.com/office/drawing/2014/main" id="{3D55CA28-43CF-53B8-8509-4B02DF759079}"/>
              </a:ext>
            </a:extLst>
          </p:cNvPr>
          <p:cNvPicPr>
            <a:picLocks noChangeAspect="1"/>
          </p:cNvPicPr>
          <p:nvPr/>
        </p:nvPicPr>
        <p:blipFill>
          <a:blip r:embed="rId3"/>
          <a:stretch>
            <a:fillRect/>
          </a:stretch>
        </p:blipFill>
        <p:spPr>
          <a:xfrm>
            <a:off x="4470400" y="3777217"/>
            <a:ext cx="2965732" cy="2890515"/>
          </a:xfrm>
          <a:prstGeom prst="rect">
            <a:avLst/>
          </a:prstGeom>
        </p:spPr>
      </p:pic>
    </p:spTree>
    <p:extLst>
      <p:ext uri="{BB962C8B-B14F-4D97-AF65-F5344CB8AC3E}">
        <p14:creationId xmlns:p14="http://schemas.microsoft.com/office/powerpoint/2010/main" val="4201474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fade">
                                      <p:cBhvr>
                                        <p:cTn id="16" dur="500"/>
                                        <p:tgtEl>
                                          <p:spTgt spid="2">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fade">
                                      <p:cBhvr>
                                        <p:cTn id="19" dur="500"/>
                                        <p:tgtEl>
                                          <p:spTgt spid="2">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fade">
                                      <p:cBhvr>
                                        <p:cTn id="22" dur="500"/>
                                        <p:tgtEl>
                                          <p:spTgt spid="2">
                                            <p:txEl>
                                              <p:pRg st="5" end="5"/>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
                                            <p:txEl>
                                              <p:pRg st="9" end="9"/>
                                            </p:txEl>
                                          </p:spTgt>
                                        </p:tgtEl>
                                        <p:attrNameLst>
                                          <p:attrName>style.visibility</p:attrName>
                                        </p:attrNameLst>
                                      </p:cBhvr>
                                      <p:to>
                                        <p:strVal val="visible"/>
                                      </p:to>
                                    </p:set>
                                    <p:animEffect transition="in" filter="fade">
                                      <p:cBhvr>
                                        <p:cTn id="25" dur="500"/>
                                        <p:tgtEl>
                                          <p:spTgt spid="2">
                                            <p:txEl>
                                              <p:pRg st="9" end="9"/>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
                                            <p:txEl>
                                              <p:pRg st="10" end="10"/>
                                            </p:txEl>
                                          </p:spTgt>
                                        </p:tgtEl>
                                        <p:attrNameLst>
                                          <p:attrName>style.visibility</p:attrName>
                                        </p:attrNameLst>
                                      </p:cBhvr>
                                      <p:to>
                                        <p:strVal val="visible"/>
                                      </p:to>
                                    </p:set>
                                    <p:animEffect transition="in" filter="fade">
                                      <p:cBhvr>
                                        <p:cTn id="28" dur="500"/>
                                        <p:tgtEl>
                                          <p:spTgt spid="2">
                                            <p:txEl>
                                              <p:pRg st="10" end="10"/>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
                                            <p:txEl>
                                              <p:pRg st="11" end="11"/>
                                            </p:txEl>
                                          </p:spTgt>
                                        </p:tgtEl>
                                        <p:attrNameLst>
                                          <p:attrName>style.visibility</p:attrName>
                                        </p:attrNameLst>
                                      </p:cBhvr>
                                      <p:to>
                                        <p:strVal val="visible"/>
                                      </p:to>
                                    </p:set>
                                    <p:animEffect transition="in" filter="fade">
                                      <p:cBhvr>
                                        <p:cTn id="31" dur="500"/>
                                        <p:tgtEl>
                                          <p:spTgt spid="2">
                                            <p:txEl>
                                              <p:pRg st="11" end="11"/>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
                                            <p:txEl>
                                              <p:pRg st="12" end="12"/>
                                            </p:txEl>
                                          </p:spTgt>
                                        </p:tgtEl>
                                        <p:attrNameLst>
                                          <p:attrName>style.visibility</p:attrName>
                                        </p:attrNameLst>
                                      </p:cBhvr>
                                      <p:to>
                                        <p:strVal val="visible"/>
                                      </p:to>
                                    </p:set>
                                    <p:animEffect transition="in" filter="fade">
                                      <p:cBhvr>
                                        <p:cTn id="34" dur="500"/>
                                        <p:tgtEl>
                                          <p:spTgt spid="2">
                                            <p:txEl>
                                              <p:pRg st="12" end="12"/>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
                                            <p:txEl>
                                              <p:pRg st="13" end="13"/>
                                            </p:txEl>
                                          </p:spTgt>
                                        </p:tgtEl>
                                        <p:attrNameLst>
                                          <p:attrName>style.visibility</p:attrName>
                                        </p:attrNameLst>
                                      </p:cBhvr>
                                      <p:to>
                                        <p:strVal val="visible"/>
                                      </p:to>
                                    </p:set>
                                    <p:animEffect transition="in" filter="fade">
                                      <p:cBhvr>
                                        <p:cTn id="37" dur="500"/>
                                        <p:tgtEl>
                                          <p:spTgt spid="2">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allAtOnce"/>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392FD-D682-3F83-500F-A9025FED13F4}"/>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B4A845F9-666D-FD52-E701-906C298BF104}"/>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II. POWERPOINT</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3AFA1866-883C-2E1A-00E0-E2334823B4EF}"/>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4D83F4F6-0608-6969-0E6C-6450C12EA0F6}"/>
              </a:ext>
            </a:extLst>
          </p:cNvPr>
          <p:cNvSpPr txBox="1">
            <a:spLocks/>
          </p:cNvSpPr>
          <p:nvPr/>
        </p:nvSpPr>
        <p:spPr>
          <a:xfrm>
            <a:off x="457200" y="761000"/>
            <a:ext cx="11353800"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16 : Slide Master</a:t>
            </a:r>
          </a:p>
          <a:p>
            <a:pPr algn="l"/>
            <a:r>
              <a:rPr lang="en-US" sz="1800">
                <a:latin typeface="Times New Roman" panose="02020603050405020304" pitchFamily="18" charset="0"/>
                <a:cs typeface="Times New Roman" panose="02020603050405020304" pitchFamily="18" charset="0"/>
              </a:rPr>
              <a:t>Slide Master là công cụ giúp quản lý định dạng chung cho toàn bộ bài trình chiếu.Khi chỉnh trong Slide Master, các thay đổi sẽ tự áp dụng cho nhiều slide cùng lúc.</a:t>
            </a:r>
          </a:p>
          <a:p>
            <a:pPr algn="l"/>
            <a:r>
              <a:rPr lang="en-US" sz="1800">
                <a:latin typeface="Times New Roman" panose="02020603050405020304" pitchFamily="18" charset="0"/>
                <a:cs typeface="Times New Roman" panose="02020603050405020304" pitchFamily="18" charset="0"/>
              </a:rPr>
              <a:t>Chọn View (1) / Slide Master (2)</a:t>
            </a:r>
          </a:p>
          <a:p>
            <a:pPr algn="l"/>
            <a:endParaRPr lang="en-US" sz="1800">
              <a:latin typeface="Times New Roman" panose="02020603050405020304" pitchFamily="18" charset="0"/>
              <a:cs typeface="Times New Roman" panose="02020603050405020304" pitchFamily="18" charset="0"/>
            </a:endParaRPr>
          </a:p>
          <a:p>
            <a:pPr algn="l"/>
            <a:endParaRPr lang="en-US" sz="1800">
              <a:latin typeface="Times New Roman" panose="02020603050405020304" pitchFamily="18" charset="0"/>
              <a:cs typeface="Times New Roman" panose="02020603050405020304" pitchFamily="18" charset="0"/>
            </a:endParaRPr>
          </a:p>
          <a:p>
            <a:pPr algn="l"/>
            <a:endParaRPr lang="en-US" sz="1800">
              <a:latin typeface="Times New Roman" panose="02020603050405020304" pitchFamily="18" charset="0"/>
              <a:cs typeface="Times New Roman" panose="02020603050405020304" pitchFamily="18" charset="0"/>
            </a:endParaRPr>
          </a:p>
          <a:p>
            <a:pPr algn="l"/>
            <a:endParaRPr lang="en-US" sz="1800">
              <a:latin typeface="Times New Roman" panose="02020603050405020304" pitchFamily="18" charset="0"/>
              <a:cs typeface="Times New Roman" panose="02020603050405020304" pitchFamily="18" charset="0"/>
            </a:endParaRPr>
          </a:p>
          <a:p>
            <a:pPr algn="l"/>
            <a:endParaRPr lang="en-US" sz="1800">
              <a:latin typeface="Times New Roman" panose="02020603050405020304" pitchFamily="18" charset="0"/>
              <a:cs typeface="Times New Roman" panose="02020603050405020304" pitchFamily="18" charset="0"/>
            </a:endParaRPr>
          </a:p>
          <a:p>
            <a:pPr algn="l"/>
            <a:r>
              <a:rPr lang="en-US" sz="1800">
                <a:latin typeface="Times New Roman" panose="02020603050405020304" pitchFamily="18" charset="0"/>
                <a:cs typeface="Times New Roman" panose="02020603050405020304" pitchFamily="18" charset="0"/>
              </a:rPr>
              <a:t>Sau khi chỉnh sửa hoàn tất nhấn Close master view (3)</a:t>
            </a:r>
          </a:p>
        </p:txBody>
      </p:sp>
      <p:pic>
        <p:nvPicPr>
          <p:cNvPr id="7" name="Picture 6">
            <a:extLst>
              <a:ext uri="{FF2B5EF4-FFF2-40B4-BE49-F238E27FC236}">
                <a16:creationId xmlns:a16="http://schemas.microsoft.com/office/drawing/2014/main" id="{46EFE949-2DEE-2F79-A9C6-F73ED7855675}"/>
              </a:ext>
            </a:extLst>
          </p:cNvPr>
          <p:cNvPicPr>
            <a:picLocks noChangeAspect="1"/>
          </p:cNvPicPr>
          <p:nvPr/>
        </p:nvPicPr>
        <p:blipFill>
          <a:blip r:embed="rId2"/>
          <a:stretch>
            <a:fillRect/>
          </a:stretch>
        </p:blipFill>
        <p:spPr>
          <a:xfrm>
            <a:off x="457200" y="2250502"/>
            <a:ext cx="8248725" cy="1389844"/>
          </a:xfrm>
          <a:prstGeom prst="rect">
            <a:avLst/>
          </a:prstGeom>
          <a:ln>
            <a:solidFill>
              <a:srgbClr val="A9A9A9"/>
            </a:solidFill>
          </a:ln>
        </p:spPr>
      </p:pic>
      <p:sp>
        <p:nvSpPr>
          <p:cNvPr id="8" name="Oval 7">
            <a:extLst>
              <a:ext uri="{FF2B5EF4-FFF2-40B4-BE49-F238E27FC236}">
                <a16:creationId xmlns:a16="http://schemas.microsoft.com/office/drawing/2014/main" id="{CDBE685C-B48B-728F-1582-1F7D4A2EB233}"/>
              </a:ext>
            </a:extLst>
          </p:cNvPr>
          <p:cNvSpPr/>
          <p:nvPr/>
        </p:nvSpPr>
        <p:spPr>
          <a:xfrm>
            <a:off x="3168591" y="3320712"/>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
        <p:nvSpPr>
          <p:cNvPr id="9" name="Oval 8">
            <a:extLst>
              <a:ext uri="{FF2B5EF4-FFF2-40B4-BE49-F238E27FC236}">
                <a16:creationId xmlns:a16="http://schemas.microsoft.com/office/drawing/2014/main" id="{471403CE-7119-66EA-AB41-C480E9395E0E}"/>
              </a:ext>
            </a:extLst>
          </p:cNvPr>
          <p:cNvSpPr/>
          <p:nvPr/>
        </p:nvSpPr>
        <p:spPr>
          <a:xfrm>
            <a:off x="7306408" y="1999934"/>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pic>
        <p:nvPicPr>
          <p:cNvPr id="12" name="Picture 11">
            <a:extLst>
              <a:ext uri="{FF2B5EF4-FFF2-40B4-BE49-F238E27FC236}">
                <a16:creationId xmlns:a16="http://schemas.microsoft.com/office/drawing/2014/main" id="{A1BEFCF3-BB23-62D4-AFCC-3288F15A4C37}"/>
              </a:ext>
            </a:extLst>
          </p:cNvPr>
          <p:cNvPicPr>
            <a:picLocks noChangeAspect="1"/>
          </p:cNvPicPr>
          <p:nvPr/>
        </p:nvPicPr>
        <p:blipFill>
          <a:blip r:embed="rId3"/>
          <a:stretch>
            <a:fillRect/>
          </a:stretch>
        </p:blipFill>
        <p:spPr>
          <a:xfrm>
            <a:off x="457200" y="4798941"/>
            <a:ext cx="1981302" cy="1092256"/>
          </a:xfrm>
          <a:prstGeom prst="rect">
            <a:avLst/>
          </a:prstGeom>
          <a:ln>
            <a:solidFill>
              <a:srgbClr val="A9A9A9"/>
            </a:solidFill>
          </a:ln>
        </p:spPr>
      </p:pic>
      <p:sp>
        <p:nvSpPr>
          <p:cNvPr id="13" name="Oval 12">
            <a:extLst>
              <a:ext uri="{FF2B5EF4-FFF2-40B4-BE49-F238E27FC236}">
                <a16:creationId xmlns:a16="http://schemas.microsoft.com/office/drawing/2014/main" id="{9C0EC070-DC5D-E97E-5E86-287ACD2C8ACC}"/>
              </a:ext>
            </a:extLst>
          </p:cNvPr>
          <p:cNvSpPr/>
          <p:nvPr/>
        </p:nvSpPr>
        <p:spPr>
          <a:xfrm>
            <a:off x="1543950" y="4585551"/>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Tree>
    <p:extLst>
      <p:ext uri="{BB962C8B-B14F-4D97-AF65-F5344CB8AC3E}">
        <p14:creationId xmlns:p14="http://schemas.microsoft.com/office/powerpoint/2010/main" val="1628997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
                                            <p:txEl>
                                              <p:pRg st="8" end="8"/>
                                            </p:txEl>
                                          </p:spTgt>
                                        </p:tgtEl>
                                        <p:attrNameLst>
                                          <p:attrName>style.visibility</p:attrName>
                                        </p:attrNameLst>
                                      </p:cBhvr>
                                      <p:to>
                                        <p:strVal val="visible"/>
                                      </p:to>
                                    </p:set>
                                    <p:animEffect transition="in" filter="fade">
                                      <p:cBhvr>
                                        <p:cTn id="16"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allAtOnce"/>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B5A4A-0EDF-75DF-53CC-C5BC00F366FA}"/>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4813BC88-34D9-627D-EC03-6CB1D80F578A}"/>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III. WORD</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B3347864-8E44-273B-8AE7-583CC9242A0F}"/>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7350FCB0-7B04-B561-8390-F6735A35CBF6}"/>
              </a:ext>
            </a:extLst>
          </p:cNvPr>
          <p:cNvSpPr txBox="1">
            <a:spLocks/>
          </p:cNvSpPr>
          <p:nvPr/>
        </p:nvSpPr>
        <p:spPr>
          <a:xfrm>
            <a:off x="457200" y="761000"/>
            <a:ext cx="11353800"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17 : Tìm kiếm và thay thế</a:t>
            </a:r>
          </a:p>
          <a:p>
            <a:pPr algn="l"/>
            <a:r>
              <a:rPr lang="en-US" sz="1800">
                <a:latin typeface="Times New Roman" panose="02020603050405020304" pitchFamily="18" charset="0"/>
                <a:cs typeface="Times New Roman" panose="02020603050405020304" pitchFamily="18" charset="0"/>
              </a:rPr>
              <a:t>Nhấn Ctrl+H để tìm kiếm và thay thế.</a:t>
            </a:r>
          </a:p>
          <a:p>
            <a:pPr algn="l"/>
            <a:r>
              <a:rPr lang="en-US" sz="1800">
                <a:latin typeface="Times New Roman" panose="02020603050405020304" pitchFamily="18" charset="0"/>
                <a:cs typeface="Times New Roman" panose="02020603050405020304" pitchFamily="18" charset="0"/>
              </a:rPr>
              <a:t>Điền từ cần thay thế vào ô “Find what”</a:t>
            </a:r>
          </a:p>
          <a:p>
            <a:pPr algn="l"/>
            <a:r>
              <a:rPr lang="en-US" sz="1800">
                <a:latin typeface="Times New Roman" panose="02020603050405020304" pitchFamily="18" charset="0"/>
                <a:cs typeface="Times New Roman" panose="02020603050405020304" pitchFamily="18" charset="0"/>
              </a:rPr>
              <a:t>Điền từ thay thế vào ô “Replace with”</a:t>
            </a:r>
          </a:p>
          <a:p>
            <a:pPr algn="l"/>
            <a:endParaRPr lang="en-US" sz="1800">
              <a:latin typeface="Times New Roman" panose="02020603050405020304" pitchFamily="18" charset="0"/>
              <a:cs typeface="Times New Roman" panose="02020603050405020304" pitchFamily="18" charset="0"/>
            </a:endParaRPr>
          </a:p>
          <a:p>
            <a:pPr algn="l"/>
            <a:endParaRPr lang="en-US" sz="1800">
              <a:latin typeface="Times New Roman" panose="02020603050405020304" pitchFamily="18" charset="0"/>
              <a:cs typeface="Times New Roman" panose="02020603050405020304" pitchFamily="18" charset="0"/>
            </a:endParaRPr>
          </a:p>
          <a:p>
            <a:pPr algn="l"/>
            <a:endParaRPr lang="en-US" sz="1800">
              <a:latin typeface="Times New Roman" panose="02020603050405020304" pitchFamily="18" charset="0"/>
              <a:cs typeface="Times New Roman" panose="02020603050405020304" pitchFamily="18" charset="0"/>
            </a:endParaRPr>
          </a:p>
          <a:p>
            <a:pPr algn="l"/>
            <a:endParaRPr lang="en-US" sz="1800">
              <a:latin typeface="Times New Roman" panose="02020603050405020304" pitchFamily="18" charset="0"/>
              <a:cs typeface="Times New Roman" panose="02020603050405020304" pitchFamily="18" charset="0"/>
            </a:endParaRPr>
          </a:p>
          <a:p>
            <a:pPr algn="l"/>
            <a:endParaRPr lang="en-US" sz="1800">
              <a:latin typeface="Times New Roman" panose="02020603050405020304" pitchFamily="18" charset="0"/>
              <a:cs typeface="Times New Roman" panose="02020603050405020304" pitchFamily="18" charset="0"/>
            </a:endParaRPr>
          </a:p>
          <a:p>
            <a:pPr algn="l"/>
            <a:endParaRPr lang="en-US" sz="1800">
              <a:latin typeface="Times New Roman" panose="02020603050405020304" pitchFamily="18" charset="0"/>
              <a:cs typeface="Times New Roman" panose="02020603050405020304" pitchFamily="18" charset="0"/>
            </a:endParaRPr>
          </a:p>
          <a:p>
            <a:pPr algn="l"/>
            <a:endParaRPr lang="en-US" sz="1800">
              <a:latin typeface="Times New Roman" panose="02020603050405020304" pitchFamily="18" charset="0"/>
              <a:cs typeface="Times New Roman" panose="02020603050405020304" pitchFamily="18" charset="0"/>
            </a:endParaRPr>
          </a:p>
          <a:p>
            <a:pPr algn="l"/>
            <a:endParaRPr lang="en-US" sz="1800">
              <a:latin typeface="Times New Roman" panose="02020603050405020304" pitchFamily="18" charset="0"/>
              <a:cs typeface="Times New Roman" panose="02020603050405020304" pitchFamily="18" charset="0"/>
            </a:endParaRPr>
          </a:p>
          <a:p>
            <a:pPr algn="l"/>
            <a:r>
              <a:rPr lang="en-US" sz="1800">
                <a:latin typeface="Times New Roman" panose="02020603050405020304" pitchFamily="18" charset="0"/>
                <a:cs typeface="Times New Roman" panose="02020603050405020304" pitchFamily="18" charset="0"/>
              </a:rPr>
              <a:t>Chọn “Replace” để thay thế từ đang tìm thấy</a:t>
            </a:r>
          </a:p>
          <a:p>
            <a:pPr algn="l"/>
            <a:r>
              <a:rPr lang="en-US" sz="1800">
                <a:latin typeface="Times New Roman" panose="02020603050405020304" pitchFamily="18" charset="0"/>
                <a:cs typeface="Times New Roman" panose="02020603050405020304" pitchFamily="18" charset="0"/>
              </a:rPr>
              <a:t>Chọn “Replace All” để thay thế tất cả</a:t>
            </a:r>
          </a:p>
        </p:txBody>
      </p:sp>
      <p:pic>
        <p:nvPicPr>
          <p:cNvPr id="5" name="Picture 4">
            <a:extLst>
              <a:ext uri="{FF2B5EF4-FFF2-40B4-BE49-F238E27FC236}">
                <a16:creationId xmlns:a16="http://schemas.microsoft.com/office/drawing/2014/main" id="{7C2730DD-97CB-67BA-7008-7C1AF8F7962D}"/>
              </a:ext>
            </a:extLst>
          </p:cNvPr>
          <p:cNvPicPr>
            <a:picLocks noChangeAspect="1"/>
          </p:cNvPicPr>
          <p:nvPr/>
        </p:nvPicPr>
        <p:blipFill>
          <a:blip r:embed="rId2"/>
          <a:stretch>
            <a:fillRect/>
          </a:stretch>
        </p:blipFill>
        <p:spPr>
          <a:xfrm>
            <a:off x="1897812" y="2433967"/>
            <a:ext cx="5764175" cy="2534848"/>
          </a:xfrm>
          <a:prstGeom prst="rect">
            <a:avLst/>
          </a:prstGeom>
        </p:spPr>
      </p:pic>
    </p:spTree>
    <p:extLst>
      <p:ext uri="{BB962C8B-B14F-4D97-AF65-F5344CB8AC3E}">
        <p14:creationId xmlns:p14="http://schemas.microsoft.com/office/powerpoint/2010/main" val="29745383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FD016-77C6-BA4F-DF53-FEF38CD88A52}"/>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EEB2FB40-2B66-D2FD-D3FC-B007ED6199CA}"/>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III. WORD</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9C818E38-C386-2B9A-3FEC-D5863E920911}"/>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4F48DE25-25E6-3E54-891D-3A96AE02B613}"/>
              </a:ext>
            </a:extLst>
          </p:cNvPr>
          <p:cNvSpPr txBox="1">
            <a:spLocks/>
          </p:cNvSpPr>
          <p:nvPr/>
        </p:nvSpPr>
        <p:spPr>
          <a:xfrm>
            <a:off x="457200" y="761000"/>
            <a:ext cx="11353800"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18 : </a:t>
            </a:r>
            <a:r>
              <a:rPr lang="vi-VN" sz="2000" b="1">
                <a:latin typeface="Times New Roman" panose="02020603050405020304" pitchFamily="18" charset="0"/>
                <a:cs typeface="Times New Roman" panose="02020603050405020304" pitchFamily="18" charset="0"/>
              </a:rPr>
              <a:t>Thay đổi thành kiểu chữ hoa hay chữ thường</a:t>
            </a:r>
            <a:endParaRPr lang="en-US" sz="2000" b="1">
              <a:latin typeface="Times New Roman" panose="02020603050405020304" pitchFamily="18" charset="0"/>
              <a:cs typeface="Times New Roman" panose="02020603050405020304" pitchFamily="18" charset="0"/>
            </a:endParaRPr>
          </a:p>
          <a:p>
            <a:pPr algn="l"/>
            <a:r>
              <a:rPr lang="en-US" sz="1800">
                <a:latin typeface="Times New Roman" panose="02020603050405020304" pitchFamily="18" charset="0"/>
                <a:cs typeface="Times New Roman" panose="02020603050405020304" pitchFamily="18" charset="0"/>
              </a:rPr>
              <a:t>Word hỗ trợ chuyển từ ký tự thường sang viết Hoa và ngược lại. Ngoài ra các tùy chọn khác như ảnh dưới đây.</a:t>
            </a:r>
          </a:p>
          <a:p>
            <a:pPr algn="l"/>
            <a:endParaRPr lang="en-US" sz="2000" b="1">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0C9C7FC-8416-EBFB-F4D3-D7EA299C4D19}"/>
              </a:ext>
            </a:extLst>
          </p:cNvPr>
          <p:cNvPicPr>
            <a:picLocks noChangeAspect="1"/>
          </p:cNvPicPr>
          <p:nvPr/>
        </p:nvPicPr>
        <p:blipFill>
          <a:blip r:embed="rId2"/>
          <a:stretch>
            <a:fillRect/>
          </a:stretch>
        </p:blipFill>
        <p:spPr>
          <a:xfrm>
            <a:off x="3769744" y="1867055"/>
            <a:ext cx="2463927" cy="2991004"/>
          </a:xfrm>
          <a:prstGeom prst="rect">
            <a:avLst/>
          </a:prstGeom>
          <a:ln>
            <a:solidFill>
              <a:srgbClr val="A9A9A9"/>
            </a:solidFill>
          </a:ln>
        </p:spPr>
      </p:pic>
    </p:spTree>
    <p:extLst>
      <p:ext uri="{BB962C8B-B14F-4D97-AF65-F5344CB8AC3E}">
        <p14:creationId xmlns:p14="http://schemas.microsoft.com/office/powerpoint/2010/main" val="26022140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CAE93-C61E-3DA4-F584-FFDC4AAF0CA3}"/>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FD321834-90DE-8848-A781-01FAFABAF7AF}"/>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III. WORD</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9C7C0B03-9945-82CD-50E5-4F9E854E953F}"/>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3C23D442-541E-83EC-8999-41B69BA2EAD3}"/>
              </a:ext>
            </a:extLst>
          </p:cNvPr>
          <p:cNvSpPr txBox="1">
            <a:spLocks/>
          </p:cNvSpPr>
          <p:nvPr/>
        </p:nvSpPr>
        <p:spPr>
          <a:xfrm>
            <a:off x="457200" y="761000"/>
            <a:ext cx="11353800"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19 : Đánh số tự động</a:t>
            </a:r>
          </a:p>
          <a:p>
            <a:pPr algn="l"/>
            <a:r>
              <a:rPr lang="en-US" sz="1800">
                <a:latin typeface="Times New Roman" panose="02020603050405020304" pitchFamily="18" charset="0"/>
                <a:cs typeface="Times New Roman" panose="02020603050405020304" pitchFamily="18" charset="0"/>
              </a:rPr>
              <a:t>Chọn Tab Insert (1) / Page Number (2) / Vị trí hiển thị (3)</a:t>
            </a:r>
          </a:p>
          <a:p>
            <a:pPr algn="l"/>
            <a:endParaRPr lang="en-US" sz="200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E583D1B-3AE9-D2D3-3072-08B925850D37}"/>
              </a:ext>
            </a:extLst>
          </p:cNvPr>
          <p:cNvPicPr>
            <a:picLocks noChangeAspect="1"/>
          </p:cNvPicPr>
          <p:nvPr/>
        </p:nvPicPr>
        <p:blipFill>
          <a:blip r:embed="rId2"/>
          <a:stretch>
            <a:fillRect/>
          </a:stretch>
        </p:blipFill>
        <p:spPr>
          <a:xfrm>
            <a:off x="91766" y="2080006"/>
            <a:ext cx="12008467" cy="3664138"/>
          </a:xfrm>
          <a:prstGeom prst="rect">
            <a:avLst/>
          </a:prstGeom>
          <a:ln>
            <a:solidFill>
              <a:srgbClr val="A9A9A9"/>
            </a:solidFill>
          </a:ln>
        </p:spPr>
      </p:pic>
      <p:sp>
        <p:nvSpPr>
          <p:cNvPr id="7" name="Oval 6">
            <a:extLst>
              <a:ext uri="{FF2B5EF4-FFF2-40B4-BE49-F238E27FC236}">
                <a16:creationId xmlns:a16="http://schemas.microsoft.com/office/drawing/2014/main" id="{67D00992-88C7-8830-1D28-9FC9F2CB9DF0}"/>
              </a:ext>
            </a:extLst>
          </p:cNvPr>
          <p:cNvSpPr/>
          <p:nvPr/>
        </p:nvSpPr>
        <p:spPr>
          <a:xfrm>
            <a:off x="7429275" y="2855860"/>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
        <p:nvSpPr>
          <p:cNvPr id="8" name="Oval 7">
            <a:extLst>
              <a:ext uri="{FF2B5EF4-FFF2-40B4-BE49-F238E27FC236}">
                <a16:creationId xmlns:a16="http://schemas.microsoft.com/office/drawing/2014/main" id="{E3EA03BF-786C-37E5-1E8D-975E740F735E}"/>
              </a:ext>
            </a:extLst>
          </p:cNvPr>
          <p:cNvSpPr/>
          <p:nvPr/>
        </p:nvSpPr>
        <p:spPr>
          <a:xfrm>
            <a:off x="1249901" y="1769145"/>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sp>
        <p:nvSpPr>
          <p:cNvPr id="9" name="Oval 8">
            <a:extLst>
              <a:ext uri="{FF2B5EF4-FFF2-40B4-BE49-F238E27FC236}">
                <a16:creationId xmlns:a16="http://schemas.microsoft.com/office/drawing/2014/main" id="{3E883495-07C2-5CC6-5206-C7B5F61A7C98}"/>
              </a:ext>
            </a:extLst>
          </p:cNvPr>
          <p:cNvSpPr/>
          <p:nvPr/>
        </p:nvSpPr>
        <p:spPr>
          <a:xfrm>
            <a:off x="8944648" y="4007403"/>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3</a:t>
            </a:r>
          </a:p>
        </p:txBody>
      </p:sp>
    </p:spTree>
    <p:extLst>
      <p:ext uri="{BB962C8B-B14F-4D97-AF65-F5344CB8AC3E}">
        <p14:creationId xmlns:p14="http://schemas.microsoft.com/office/powerpoint/2010/main" val="16101710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D77B8-9A4D-FCE9-7E30-FB8EE296772C}"/>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21439F20-9991-7DEF-50AB-718B902B3E41}"/>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III. WORD</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640DD528-2605-F3E0-26B0-03C6D89FC562}"/>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A162F9EC-A181-33BD-5269-8E82011057F6}"/>
              </a:ext>
            </a:extLst>
          </p:cNvPr>
          <p:cNvSpPr txBox="1">
            <a:spLocks/>
          </p:cNvSpPr>
          <p:nvPr/>
        </p:nvSpPr>
        <p:spPr>
          <a:xfrm>
            <a:off x="457200" y="761000"/>
            <a:ext cx="11353800"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20 : Chỉnh sửa Header – Footer</a:t>
            </a:r>
          </a:p>
          <a:p>
            <a:pPr algn="l"/>
            <a:r>
              <a:rPr lang="en-US" sz="2000">
                <a:latin typeface="Times New Roman" panose="02020603050405020304" pitchFamily="18" charset="0"/>
                <a:cs typeface="Times New Roman" panose="02020603050405020304" pitchFamily="18" charset="0"/>
              </a:rPr>
              <a:t>Chọn tab Insert (1)/Header (2) chọn loại header phù hợp</a:t>
            </a:r>
          </a:p>
          <a:p>
            <a:pPr algn="l"/>
            <a:endParaRPr lang="en-US" sz="2000">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a:p>
            <a:pPr algn="l"/>
            <a:r>
              <a:rPr lang="en-US" sz="2000">
                <a:latin typeface="Times New Roman" panose="02020603050405020304" pitchFamily="18" charset="0"/>
                <a:cs typeface="Times New Roman" panose="02020603050405020304" pitchFamily="18" charset="0"/>
              </a:rPr>
              <a:t>Double click vào header hoặc footer để sửa header hoặc footer</a:t>
            </a:r>
          </a:p>
          <a:p>
            <a:pPr algn="l"/>
            <a:endParaRPr lang="en-US" sz="2000">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C1A6B52-048C-7064-2433-D42FEA5185C4}"/>
              </a:ext>
            </a:extLst>
          </p:cNvPr>
          <p:cNvPicPr>
            <a:picLocks noChangeAspect="1"/>
          </p:cNvPicPr>
          <p:nvPr/>
        </p:nvPicPr>
        <p:blipFill>
          <a:blip r:embed="rId2"/>
          <a:stretch>
            <a:fillRect/>
          </a:stretch>
        </p:blipFill>
        <p:spPr>
          <a:xfrm>
            <a:off x="190500" y="1668641"/>
            <a:ext cx="11811000" cy="2614414"/>
          </a:xfrm>
          <a:prstGeom prst="rect">
            <a:avLst/>
          </a:prstGeom>
          <a:ln>
            <a:solidFill>
              <a:srgbClr val="A9A9A9"/>
            </a:solidFill>
          </a:ln>
        </p:spPr>
      </p:pic>
      <p:sp>
        <p:nvSpPr>
          <p:cNvPr id="7" name="Oval 6">
            <a:extLst>
              <a:ext uri="{FF2B5EF4-FFF2-40B4-BE49-F238E27FC236}">
                <a16:creationId xmlns:a16="http://schemas.microsoft.com/office/drawing/2014/main" id="{1E326E86-41A0-8EDD-30BF-2B1E05188A54}"/>
              </a:ext>
            </a:extLst>
          </p:cNvPr>
          <p:cNvSpPr/>
          <p:nvPr/>
        </p:nvSpPr>
        <p:spPr>
          <a:xfrm>
            <a:off x="7041087" y="1892784"/>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
        <p:nvSpPr>
          <p:cNvPr id="8" name="Oval 7">
            <a:extLst>
              <a:ext uri="{FF2B5EF4-FFF2-40B4-BE49-F238E27FC236}">
                <a16:creationId xmlns:a16="http://schemas.microsoft.com/office/drawing/2014/main" id="{521DB31E-A07A-002C-78B9-FCE627089BE8}"/>
              </a:ext>
            </a:extLst>
          </p:cNvPr>
          <p:cNvSpPr/>
          <p:nvPr/>
        </p:nvSpPr>
        <p:spPr>
          <a:xfrm>
            <a:off x="1206771" y="1427170"/>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sp>
        <p:nvSpPr>
          <p:cNvPr id="9" name="Oval 8">
            <a:extLst>
              <a:ext uri="{FF2B5EF4-FFF2-40B4-BE49-F238E27FC236}">
                <a16:creationId xmlns:a16="http://schemas.microsoft.com/office/drawing/2014/main" id="{B44B819B-896C-0B22-BC13-473B80FEC6A8}"/>
              </a:ext>
            </a:extLst>
          </p:cNvPr>
          <p:cNvSpPr/>
          <p:nvPr/>
        </p:nvSpPr>
        <p:spPr>
          <a:xfrm>
            <a:off x="8565088" y="3960246"/>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pic>
        <p:nvPicPr>
          <p:cNvPr id="11" name="Picture 10">
            <a:extLst>
              <a:ext uri="{FF2B5EF4-FFF2-40B4-BE49-F238E27FC236}">
                <a16:creationId xmlns:a16="http://schemas.microsoft.com/office/drawing/2014/main" id="{39118852-7F63-820E-EAB9-670D00E7A8E9}"/>
              </a:ext>
            </a:extLst>
          </p:cNvPr>
          <p:cNvPicPr>
            <a:picLocks noChangeAspect="1"/>
          </p:cNvPicPr>
          <p:nvPr/>
        </p:nvPicPr>
        <p:blipFill>
          <a:blip r:embed="rId3"/>
          <a:stretch>
            <a:fillRect/>
          </a:stretch>
        </p:blipFill>
        <p:spPr>
          <a:xfrm>
            <a:off x="2863945" y="4931691"/>
            <a:ext cx="7982360" cy="1670136"/>
          </a:xfrm>
          <a:prstGeom prst="rect">
            <a:avLst/>
          </a:prstGeom>
          <a:ln>
            <a:solidFill>
              <a:srgbClr val="A9A9A9"/>
            </a:solidFill>
          </a:ln>
        </p:spPr>
      </p:pic>
    </p:spTree>
    <p:extLst>
      <p:ext uri="{BB962C8B-B14F-4D97-AF65-F5344CB8AC3E}">
        <p14:creationId xmlns:p14="http://schemas.microsoft.com/office/powerpoint/2010/main" val="15374619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E4513-E4FD-05B7-328B-A0AB159F1C12}"/>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D6032BFB-79A2-6402-5C2B-29DF6ABFDD16}"/>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III. WORD</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834F1505-BD7B-1882-880A-C43D556C357C}"/>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78BB59BF-EC0D-E019-01DA-CD42B6637C31}"/>
              </a:ext>
            </a:extLst>
          </p:cNvPr>
          <p:cNvSpPr txBox="1">
            <a:spLocks/>
          </p:cNvSpPr>
          <p:nvPr/>
        </p:nvSpPr>
        <p:spPr>
          <a:xfrm>
            <a:off x="457200" y="761000"/>
            <a:ext cx="11353800"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21: Thêm ký tự đặc biệt</a:t>
            </a:r>
          </a:p>
          <a:p>
            <a:pPr algn="l"/>
            <a:r>
              <a:rPr lang="en-US" sz="1800">
                <a:latin typeface="Times New Roman" panose="02020603050405020304" pitchFamily="18" charset="0"/>
                <a:cs typeface="Times New Roman" panose="02020603050405020304" pitchFamily="18" charset="0"/>
              </a:rPr>
              <a:t>Chọn Tab Insert (1) / Symbol (2) chọn ký tự đặc biệt hoặc chọn More symbols (3) để chọn thêm ký tự đặc biệt khác</a:t>
            </a:r>
          </a:p>
          <a:p>
            <a:pPr algn="l"/>
            <a:endParaRPr lang="en-US" sz="1800">
              <a:latin typeface="Times New Roman" panose="02020603050405020304" pitchFamily="18" charset="0"/>
              <a:cs typeface="Times New Roman" panose="02020603050405020304" pitchFamily="18" charset="0"/>
            </a:endParaRPr>
          </a:p>
          <a:p>
            <a:pPr algn="l"/>
            <a:endParaRPr lang="en-US" sz="1800">
              <a:latin typeface="Times New Roman" panose="02020603050405020304" pitchFamily="18" charset="0"/>
              <a:cs typeface="Times New Roman" panose="02020603050405020304" pitchFamily="18" charset="0"/>
            </a:endParaRPr>
          </a:p>
          <a:p>
            <a:pPr algn="l"/>
            <a:endParaRPr lang="en-US" sz="1800">
              <a:latin typeface="Times New Roman" panose="02020603050405020304" pitchFamily="18" charset="0"/>
              <a:cs typeface="Times New Roman" panose="02020603050405020304" pitchFamily="18" charset="0"/>
            </a:endParaRPr>
          </a:p>
          <a:p>
            <a:pPr algn="l"/>
            <a:endParaRPr lang="en-US" sz="1800">
              <a:latin typeface="Times New Roman" panose="02020603050405020304" pitchFamily="18" charset="0"/>
              <a:cs typeface="Times New Roman" panose="02020603050405020304" pitchFamily="18" charset="0"/>
            </a:endParaRPr>
          </a:p>
          <a:p>
            <a:pPr algn="l"/>
            <a:endParaRPr lang="en-US" sz="1800">
              <a:latin typeface="Times New Roman" panose="02020603050405020304" pitchFamily="18" charset="0"/>
              <a:cs typeface="Times New Roman" panose="02020603050405020304" pitchFamily="18" charset="0"/>
            </a:endParaRPr>
          </a:p>
          <a:p>
            <a:pPr algn="l"/>
            <a:endParaRPr lang="en-US" sz="1800">
              <a:latin typeface="Times New Roman" panose="02020603050405020304" pitchFamily="18" charset="0"/>
              <a:cs typeface="Times New Roman" panose="02020603050405020304" pitchFamily="18" charset="0"/>
            </a:endParaRPr>
          </a:p>
          <a:p>
            <a:pPr algn="l"/>
            <a:endParaRPr lang="en-US" sz="1800">
              <a:latin typeface="Times New Roman" panose="02020603050405020304" pitchFamily="18" charset="0"/>
              <a:cs typeface="Times New Roman" panose="02020603050405020304" pitchFamily="18" charset="0"/>
            </a:endParaRPr>
          </a:p>
          <a:p>
            <a:pPr algn="l"/>
            <a:r>
              <a:rPr lang="en-US" sz="1800">
                <a:latin typeface="Times New Roman" panose="02020603050405020304" pitchFamily="18" charset="0"/>
                <a:cs typeface="Times New Roman" panose="02020603050405020304" pitchFamily="18" charset="0"/>
              </a:rPr>
              <a:t>Cách chọn ký tự gần cùng nhóm với ký tự đang có:</a:t>
            </a:r>
          </a:p>
          <a:p>
            <a:pPr algn="l"/>
            <a:r>
              <a:rPr lang="en-US" sz="1800">
                <a:latin typeface="Times New Roman" panose="02020603050405020304" pitchFamily="18" charset="0"/>
                <a:cs typeface="Times New Roman" panose="02020603050405020304" pitchFamily="18" charset="0"/>
              </a:rPr>
              <a:t>Chọn ký tự đang có nhấn symbol (2)</a:t>
            </a:r>
          </a:p>
          <a:p>
            <a:pPr algn="l"/>
            <a:endParaRPr lang="en-US" sz="200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4B1FAC3-48A4-B276-0C5C-DFE2E63FF880}"/>
              </a:ext>
            </a:extLst>
          </p:cNvPr>
          <p:cNvPicPr>
            <a:picLocks noChangeAspect="1"/>
          </p:cNvPicPr>
          <p:nvPr/>
        </p:nvPicPr>
        <p:blipFill>
          <a:blip r:embed="rId2"/>
          <a:stretch>
            <a:fillRect/>
          </a:stretch>
        </p:blipFill>
        <p:spPr>
          <a:xfrm>
            <a:off x="457200" y="1669050"/>
            <a:ext cx="10446589" cy="2233936"/>
          </a:xfrm>
          <a:prstGeom prst="rect">
            <a:avLst/>
          </a:prstGeom>
          <a:ln>
            <a:solidFill>
              <a:srgbClr val="A9A9A9"/>
            </a:solidFill>
          </a:ln>
        </p:spPr>
      </p:pic>
      <p:sp>
        <p:nvSpPr>
          <p:cNvPr id="7" name="Oval 6">
            <a:extLst>
              <a:ext uri="{FF2B5EF4-FFF2-40B4-BE49-F238E27FC236}">
                <a16:creationId xmlns:a16="http://schemas.microsoft.com/office/drawing/2014/main" id="{7B206622-FA3B-301A-5FF1-CA7191CFEA90}"/>
              </a:ext>
            </a:extLst>
          </p:cNvPr>
          <p:cNvSpPr/>
          <p:nvPr/>
        </p:nvSpPr>
        <p:spPr>
          <a:xfrm>
            <a:off x="9896430" y="2096740"/>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
        <p:nvSpPr>
          <p:cNvPr id="8" name="Oval 7">
            <a:extLst>
              <a:ext uri="{FF2B5EF4-FFF2-40B4-BE49-F238E27FC236}">
                <a16:creationId xmlns:a16="http://schemas.microsoft.com/office/drawing/2014/main" id="{92295588-553F-A6C6-5754-4C51DF6DA7A2}"/>
              </a:ext>
            </a:extLst>
          </p:cNvPr>
          <p:cNvSpPr/>
          <p:nvPr/>
        </p:nvSpPr>
        <p:spPr>
          <a:xfrm>
            <a:off x="1396550" y="1418482"/>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sp>
        <p:nvSpPr>
          <p:cNvPr id="9" name="Oval 8">
            <a:extLst>
              <a:ext uri="{FF2B5EF4-FFF2-40B4-BE49-F238E27FC236}">
                <a16:creationId xmlns:a16="http://schemas.microsoft.com/office/drawing/2014/main" id="{26622890-521C-0FDE-E764-06A3A473E1C6}"/>
              </a:ext>
            </a:extLst>
          </p:cNvPr>
          <p:cNvSpPr/>
          <p:nvPr/>
        </p:nvSpPr>
        <p:spPr>
          <a:xfrm>
            <a:off x="10418533" y="3583352"/>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3</a:t>
            </a:r>
          </a:p>
        </p:txBody>
      </p:sp>
      <p:pic>
        <p:nvPicPr>
          <p:cNvPr id="11" name="Picture 10">
            <a:extLst>
              <a:ext uri="{FF2B5EF4-FFF2-40B4-BE49-F238E27FC236}">
                <a16:creationId xmlns:a16="http://schemas.microsoft.com/office/drawing/2014/main" id="{F41968D8-8ECF-C28F-603B-269F7A433446}"/>
              </a:ext>
            </a:extLst>
          </p:cNvPr>
          <p:cNvPicPr>
            <a:picLocks noChangeAspect="1"/>
          </p:cNvPicPr>
          <p:nvPr/>
        </p:nvPicPr>
        <p:blipFill>
          <a:blip r:embed="rId3"/>
          <a:stretch>
            <a:fillRect/>
          </a:stretch>
        </p:blipFill>
        <p:spPr>
          <a:xfrm>
            <a:off x="5650302" y="4055211"/>
            <a:ext cx="3792009" cy="2802789"/>
          </a:xfrm>
          <a:prstGeom prst="rect">
            <a:avLst/>
          </a:prstGeom>
          <a:ln>
            <a:solidFill>
              <a:srgbClr val="A9A9A9"/>
            </a:solidFill>
          </a:ln>
        </p:spPr>
      </p:pic>
    </p:spTree>
    <p:extLst>
      <p:ext uri="{BB962C8B-B14F-4D97-AF65-F5344CB8AC3E}">
        <p14:creationId xmlns:p14="http://schemas.microsoft.com/office/powerpoint/2010/main" val="16838261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EC4CC-ECD2-2AAB-2866-E3875FA0D55C}"/>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7E59B639-4511-A4F5-975C-9BFDD912B2AE}"/>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III. WORD</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75E70FA6-FE06-9F62-A006-6C5A96C08781}"/>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9FA20AAA-4B0F-B17F-EEDF-6E8873546249}"/>
              </a:ext>
            </a:extLst>
          </p:cNvPr>
          <p:cNvSpPr txBox="1">
            <a:spLocks/>
          </p:cNvSpPr>
          <p:nvPr/>
        </p:nvSpPr>
        <p:spPr>
          <a:xfrm>
            <a:off x="457200" y="761000"/>
            <a:ext cx="11353800"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22: Định dạng trang in</a:t>
            </a:r>
          </a:p>
          <a:p>
            <a:pPr algn="l"/>
            <a:r>
              <a:rPr lang="vi-VN" sz="1800">
                <a:latin typeface="Times New Roman" panose="02020603050405020304" pitchFamily="18" charset="0"/>
                <a:cs typeface="Times New Roman" panose="02020603050405020304" pitchFamily="18" charset="0"/>
              </a:rPr>
              <a:t>Thông</a:t>
            </a:r>
            <a:r>
              <a:rPr lang="en-US" sz="1800">
                <a:latin typeface="Times New Roman" panose="02020603050405020304" pitchFamily="18" charset="0"/>
                <a:cs typeface="Times New Roman" panose="02020603050405020304" pitchFamily="18" charset="0"/>
              </a:rPr>
              <a:t> </a:t>
            </a:r>
            <a:r>
              <a:rPr lang="vi-VN" sz="1800">
                <a:latin typeface="Times New Roman" panose="02020603050405020304" pitchFamily="18" charset="0"/>
                <a:cs typeface="Times New Roman" panose="02020603050405020304" pitchFamily="18" charset="0"/>
              </a:rPr>
              <a:t>thường văn bản thường được đặt là khổ giấy A4. Đôi khi cần phải thay đổi đối khổ giấy cho một loại</a:t>
            </a:r>
            <a:r>
              <a:rPr lang="en-US" sz="1800">
                <a:latin typeface="Times New Roman" panose="02020603050405020304" pitchFamily="18" charset="0"/>
                <a:cs typeface="Times New Roman" panose="02020603050405020304" pitchFamily="18" charset="0"/>
              </a:rPr>
              <a:t> </a:t>
            </a:r>
            <a:r>
              <a:rPr lang="vi-VN" sz="1800">
                <a:latin typeface="Times New Roman" panose="02020603050405020304" pitchFamily="18" charset="0"/>
                <a:cs typeface="Times New Roman" panose="02020603050405020304" pitchFamily="18" charset="0"/>
              </a:rPr>
              <a:t>văn bản đòi hỏi có khổ giấy khác. Để thực hiện như sau:</a:t>
            </a:r>
          </a:p>
          <a:p>
            <a:pPr algn="l"/>
            <a:r>
              <a:rPr lang="vi-VN" sz="1800">
                <a:latin typeface="Times New Roman" panose="02020603050405020304" pitchFamily="18" charset="0"/>
                <a:cs typeface="Times New Roman" panose="02020603050405020304" pitchFamily="18" charset="0"/>
              </a:rPr>
              <a:t>Chọn Tab Page Layout trên thanh công cụ Ribbon tìm tới nhóm Page Setup</a:t>
            </a:r>
            <a:endParaRPr lang="en-US" sz="1800">
              <a:latin typeface="Times New Roman" panose="02020603050405020304" pitchFamily="18" charset="0"/>
              <a:cs typeface="Times New Roman" panose="02020603050405020304" pitchFamily="18" charset="0"/>
            </a:endParaRPr>
          </a:p>
          <a:p>
            <a:pPr algn="l"/>
            <a:endParaRPr lang="en-US" sz="1800">
              <a:latin typeface="Times New Roman" panose="02020603050405020304" pitchFamily="18" charset="0"/>
              <a:cs typeface="Times New Roman" panose="02020603050405020304" pitchFamily="18" charset="0"/>
            </a:endParaRPr>
          </a:p>
          <a:p>
            <a:pPr algn="l"/>
            <a:endParaRPr lang="en-US" sz="1800">
              <a:latin typeface="Times New Roman" panose="02020603050405020304" pitchFamily="18" charset="0"/>
              <a:cs typeface="Times New Roman" panose="02020603050405020304" pitchFamily="18" charset="0"/>
            </a:endParaRPr>
          </a:p>
          <a:p>
            <a:pPr algn="l"/>
            <a:endParaRPr lang="en-US" sz="1800">
              <a:latin typeface="Times New Roman" panose="02020603050405020304" pitchFamily="18" charset="0"/>
              <a:cs typeface="Times New Roman" panose="02020603050405020304" pitchFamily="18" charset="0"/>
            </a:endParaRPr>
          </a:p>
          <a:p>
            <a:pPr algn="l"/>
            <a:endParaRPr lang="en-US" sz="1800">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q"/>
            </a:pPr>
            <a:r>
              <a:rPr lang="vi-VN" sz="1800">
                <a:latin typeface="Times New Roman" panose="02020603050405020304" pitchFamily="18" charset="0"/>
                <a:cs typeface="Times New Roman" panose="02020603050405020304" pitchFamily="18" charset="0"/>
              </a:rPr>
              <a:t> Margins: Căn lề cho văn bản, để thực hiện bạn nhấp chọn vào biểu tượng này một danh sách</a:t>
            </a:r>
            <a:endParaRPr lang="en-US" sz="1800">
              <a:latin typeface="Times New Roman" panose="02020603050405020304" pitchFamily="18" charset="0"/>
              <a:cs typeface="Times New Roman" panose="02020603050405020304" pitchFamily="18" charset="0"/>
            </a:endParaRPr>
          </a:p>
          <a:p>
            <a:pPr algn="l"/>
            <a:r>
              <a:rPr lang="vi-VN" sz="1800">
                <a:latin typeface="Times New Roman" panose="02020603050405020304" pitchFamily="18" charset="0"/>
                <a:cs typeface="Times New Roman" panose="02020603050405020304" pitchFamily="18" charset="0"/>
              </a:rPr>
              <a:t>đổ xuống</a:t>
            </a:r>
            <a:r>
              <a:rPr lang="en-US" sz="1800">
                <a:latin typeface="Times New Roman" panose="02020603050405020304" pitchFamily="18" charset="0"/>
                <a:cs typeface="Times New Roman" panose="02020603050405020304" pitchFamily="18" charset="0"/>
              </a:rPr>
              <a:t> </a:t>
            </a:r>
            <a:r>
              <a:rPr lang="vi-VN" sz="1800">
                <a:latin typeface="Times New Roman" panose="02020603050405020304" pitchFamily="18" charset="0"/>
                <a:cs typeface="Times New Roman" panose="02020603050405020304" pitchFamily="18" charset="0"/>
              </a:rPr>
              <a:t>với một số mẫu có sẵn.</a:t>
            </a:r>
            <a:endParaRPr lang="en-US" sz="1800">
              <a:latin typeface="Times New Roman" panose="02020603050405020304" pitchFamily="18" charset="0"/>
              <a:cs typeface="Times New Roman" panose="02020603050405020304" pitchFamily="18" charset="0"/>
            </a:endParaRPr>
          </a:p>
          <a:p>
            <a:pPr algn="l"/>
            <a:endParaRPr lang="en-US" sz="200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B86D43E-A727-C72B-1708-777FAE1AE6CA}"/>
              </a:ext>
            </a:extLst>
          </p:cNvPr>
          <p:cNvPicPr>
            <a:picLocks noChangeAspect="1"/>
          </p:cNvPicPr>
          <p:nvPr/>
        </p:nvPicPr>
        <p:blipFill>
          <a:blip r:embed="rId2"/>
          <a:stretch>
            <a:fillRect/>
          </a:stretch>
        </p:blipFill>
        <p:spPr>
          <a:xfrm>
            <a:off x="3622571" y="2139884"/>
            <a:ext cx="4032457" cy="1289116"/>
          </a:xfrm>
          <a:prstGeom prst="rect">
            <a:avLst/>
          </a:prstGeom>
          <a:ln>
            <a:solidFill>
              <a:srgbClr val="A9A9A9"/>
            </a:solidFill>
          </a:ln>
        </p:spPr>
      </p:pic>
      <p:pic>
        <p:nvPicPr>
          <p:cNvPr id="8" name="Picture 7">
            <a:extLst>
              <a:ext uri="{FF2B5EF4-FFF2-40B4-BE49-F238E27FC236}">
                <a16:creationId xmlns:a16="http://schemas.microsoft.com/office/drawing/2014/main" id="{B90EB3DA-CA8C-77CA-D515-D3343CEBE4E0}"/>
              </a:ext>
            </a:extLst>
          </p:cNvPr>
          <p:cNvPicPr>
            <a:picLocks noChangeAspect="1"/>
          </p:cNvPicPr>
          <p:nvPr/>
        </p:nvPicPr>
        <p:blipFill>
          <a:blip r:embed="rId3"/>
          <a:stretch>
            <a:fillRect/>
          </a:stretch>
        </p:blipFill>
        <p:spPr>
          <a:xfrm>
            <a:off x="9377735" y="1651055"/>
            <a:ext cx="2641736" cy="4832598"/>
          </a:xfrm>
          <a:prstGeom prst="rect">
            <a:avLst/>
          </a:prstGeom>
          <a:ln>
            <a:solidFill>
              <a:srgbClr val="A9A9A9"/>
            </a:solidFill>
          </a:ln>
        </p:spPr>
      </p:pic>
    </p:spTree>
    <p:extLst>
      <p:ext uri="{BB962C8B-B14F-4D97-AF65-F5344CB8AC3E}">
        <p14:creationId xmlns:p14="http://schemas.microsoft.com/office/powerpoint/2010/main" val="31330760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2BB1E-8649-C71F-0CAC-42E52F958B40}"/>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6CA1069F-E561-7085-EEA3-4DEDD5797453}"/>
              </a:ext>
            </a:extLst>
          </p:cNvPr>
          <p:cNvSpPr txBox="1">
            <a:spLocks/>
          </p:cNvSpPr>
          <p:nvPr/>
        </p:nvSpPr>
        <p:spPr>
          <a:xfrm>
            <a:off x="457200" y="-3629"/>
            <a:ext cx="11180618" cy="731838"/>
          </a:xfrm>
          <a:prstGeom prst="rect">
            <a:avLst/>
          </a:prstGeom>
        </p:spPr>
        <p:txBody>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en-US" sz="4400" b="0">
                <a:latin typeface="Times New Roman" panose="02020603050405020304" pitchFamily="18" charset="0"/>
                <a:cs typeface="Times New Roman" panose="02020603050405020304" pitchFamily="18" charset="0"/>
              </a:rPr>
              <a:t>III. WORD</a:t>
            </a:r>
            <a:endParaRPr lang="en-US" sz="4400" b="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B79D88B9-6F34-ABCA-2D18-DAC3A9859228}"/>
              </a:ext>
            </a:extLst>
          </p:cNvPr>
          <p:cNvCxnSpPr/>
          <p:nvPr/>
        </p:nvCxnSpPr>
        <p:spPr>
          <a:xfrm>
            <a:off x="0" y="686644"/>
            <a:ext cx="1219200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141E6BBB-316E-81BA-C5E5-210ABBF75D81}"/>
              </a:ext>
            </a:extLst>
          </p:cNvPr>
          <p:cNvSpPr txBox="1">
            <a:spLocks/>
          </p:cNvSpPr>
          <p:nvPr/>
        </p:nvSpPr>
        <p:spPr>
          <a:xfrm>
            <a:off x="457200" y="761000"/>
            <a:ext cx="11353800" cy="5487400"/>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2000" b="1">
                <a:latin typeface="Times New Roman" panose="02020603050405020304" pitchFamily="18" charset="0"/>
                <a:cs typeface="Times New Roman" panose="02020603050405020304" pitchFamily="18" charset="0"/>
              </a:rPr>
              <a:t>Bài 22: Định dạng trang in</a:t>
            </a:r>
          </a:p>
          <a:p>
            <a:pPr algn="l"/>
            <a:r>
              <a:rPr lang="en-US" sz="1800">
                <a:latin typeface="Times New Roman" panose="02020603050405020304" pitchFamily="18" charset="0"/>
                <a:cs typeface="Times New Roman" panose="02020603050405020304" pitchFamily="18" charset="0"/>
              </a:rPr>
              <a:t>C</a:t>
            </a:r>
            <a:r>
              <a:rPr lang="vi-VN" sz="1800">
                <a:latin typeface="Times New Roman" panose="02020603050405020304" pitchFamily="18" charset="0"/>
                <a:cs typeface="Times New Roman" panose="02020603050405020304" pitchFamily="18" charset="0"/>
              </a:rPr>
              <a:t>ó thể chọn một trong số những mẫu này hoặc tùy chỉnh bằng cách nhấp chọn mục Custom</a:t>
            </a:r>
            <a:r>
              <a:rPr lang="en-US" sz="1800">
                <a:latin typeface="Times New Roman" panose="02020603050405020304" pitchFamily="18" charset="0"/>
                <a:cs typeface="Times New Roman" panose="02020603050405020304" pitchFamily="18" charset="0"/>
              </a:rPr>
              <a:t> </a:t>
            </a:r>
            <a:r>
              <a:rPr lang="vi-VN" sz="1800">
                <a:latin typeface="Times New Roman" panose="02020603050405020304" pitchFamily="18" charset="0"/>
                <a:cs typeface="Times New Roman" panose="02020603050405020304" pitchFamily="18" charset="0"/>
              </a:rPr>
              <a:t>Margins… Hộp thoại Page Setup xuất hiện trỏ tới Tab Margins bạn có thể tùy chỉnh các giá trị trong mục</a:t>
            </a:r>
            <a:r>
              <a:rPr lang="en-US" sz="1800">
                <a:latin typeface="Times New Roman" panose="02020603050405020304" pitchFamily="18" charset="0"/>
                <a:cs typeface="Times New Roman" panose="02020603050405020304" pitchFamily="18" charset="0"/>
              </a:rPr>
              <a:t>. </a:t>
            </a:r>
            <a:r>
              <a:rPr lang="vi-VN" sz="1800">
                <a:latin typeface="Times New Roman" panose="02020603050405020304" pitchFamily="18" charset="0"/>
                <a:cs typeface="Times New Roman" panose="02020603050405020304" pitchFamily="18" charset="0"/>
              </a:rPr>
              <a:t>Margins để căn lề cho văn bản theo ý muốn, sau đó nhấp nút Ok để lưu lại.</a:t>
            </a:r>
            <a:endParaRPr lang="en-US" sz="180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7D0A2D6B-79B4-4B25-7588-D9D0E538A904}"/>
              </a:ext>
            </a:extLst>
          </p:cNvPr>
          <p:cNvPicPr>
            <a:picLocks noChangeAspect="1"/>
          </p:cNvPicPr>
          <p:nvPr/>
        </p:nvPicPr>
        <p:blipFill>
          <a:blip r:embed="rId2"/>
          <a:stretch>
            <a:fillRect/>
          </a:stretch>
        </p:blipFill>
        <p:spPr>
          <a:xfrm>
            <a:off x="4856671" y="1681589"/>
            <a:ext cx="3807113" cy="5037811"/>
          </a:xfrm>
          <a:prstGeom prst="rect">
            <a:avLst/>
          </a:prstGeom>
        </p:spPr>
      </p:pic>
    </p:spTree>
    <p:extLst>
      <p:ext uri="{BB962C8B-B14F-4D97-AF65-F5344CB8AC3E}">
        <p14:creationId xmlns:p14="http://schemas.microsoft.com/office/powerpoint/2010/main" val="2645419389"/>
      </p:ext>
    </p:extLst>
  </p:cSld>
  <p:clrMapOvr>
    <a:masterClrMapping/>
  </p:clrMapOvr>
</p:sld>
</file>

<file path=ppt/theme/theme1.xml><?xml version="1.0" encoding="utf-8"?>
<a:theme xmlns:a="http://schemas.openxmlformats.org/drawingml/2006/main" name="Kyocera">
  <a:themeElements>
    <a:clrScheme name="Saffron(Branding)">
      <a:dk1>
        <a:sysClr val="windowText" lastClr="000000"/>
      </a:dk1>
      <a:lt1>
        <a:sysClr val="window" lastClr="FFFFFF"/>
      </a:lt1>
      <a:dk2>
        <a:srgbClr val="282828"/>
      </a:dk2>
      <a:lt2>
        <a:srgbClr val="F2F2F2"/>
      </a:lt2>
      <a:accent1>
        <a:srgbClr val="6E3CBE"/>
      </a:accent1>
      <a:accent2>
        <a:srgbClr val="F5B400"/>
      </a:accent2>
      <a:accent3>
        <a:srgbClr val="0A9BCD"/>
      </a:accent3>
      <a:accent4>
        <a:srgbClr val="F06400"/>
      </a:accent4>
      <a:accent5>
        <a:srgbClr val="26AF72"/>
      </a:accent5>
      <a:accent6>
        <a:srgbClr val="A9A9A9"/>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Kyocera_PPT_Template_KDC(MeiryoUI)4x3_201904.potx" id="{F7824327-EC3B-4A60-8311-B051A00F6AFE}" vid="{6D7B0D19-6042-4B58-9131-C9BAC69EA51B}"/>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020C45F11115134F91C22EC17B4E2172" ma:contentTypeVersion="6" ma:contentTypeDescription="新しいドキュメントを作成します。" ma:contentTypeScope="" ma:versionID="0f02be9c4bbbbad9952571b44dcd4e70">
  <xsd:schema xmlns:xsd="http://www.w3.org/2001/XMLSchema" xmlns:xs="http://www.w3.org/2001/XMLSchema" xmlns:p="http://schemas.microsoft.com/office/2006/metadata/properties" xmlns:ns2="0822f7e7-e76d-4d34-b36a-2e1b760e47af" targetNamespace="http://schemas.microsoft.com/office/2006/metadata/properties" ma:root="true" ma:fieldsID="cfa2c8bd0d594cd0e29817af954bd091" ns2:_="">
    <xsd:import namespace="0822f7e7-e76d-4d34-b36a-2e1b760e47af"/>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DateTake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822f7e7-e76d-4d34-b36a-2e1b760e47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コンテンツ タイプ"/>
        <xsd:element ref="dc:title" minOccurs="0" maxOccurs="1" ma:index="3"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FBBDCFB-9C08-42FC-9D9C-DB5C3E1AD68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822f7e7-e76d-4d34-b36a-2e1b760e47a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8E8814D-B370-44EF-8BA8-DEB5221437A1}">
  <ds:schemaRefs>
    <ds:schemaRef ds:uri="http://purl.org/dc/terms/"/>
    <ds:schemaRef ds:uri="0822f7e7-e76d-4d34-b36a-2e1b760e47af"/>
    <ds:schemaRef ds:uri="http://purl.org/dc/elements/1.1/"/>
    <ds:schemaRef ds:uri="http://schemas.microsoft.com/office/2006/documentManagement/types"/>
    <ds:schemaRef ds:uri="http://schemas.openxmlformats.org/package/2006/metadata/core-properties"/>
    <ds:schemaRef ds:uri="http://schemas.microsoft.com/office/2006/metadata/properties"/>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6DD3D008-3E51-4FD4-A566-4E24AFFD36A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Kyocera_PPT_Template_KDC(MeiryoUI)4x3_201904</Template>
  <TotalTime>12073</TotalTime>
  <Words>3547</Words>
  <Application>Microsoft Office PowerPoint</Application>
  <PresentationFormat>Widescreen</PresentationFormat>
  <Paragraphs>535</Paragraphs>
  <Slides>45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Meiryo UI</vt:lpstr>
      <vt:lpstr>游ゴシック</vt:lpstr>
      <vt:lpstr>Arial</vt:lpstr>
      <vt:lpstr>Times New Roman</vt:lpstr>
      <vt:lpstr>Wingdings</vt:lpstr>
      <vt:lpstr>Kyocera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Eguchi，Yuko(江口優子)</dc:creator>
  <cp:lastModifiedBy>Lê Đức Huy(Le Duc Huy)</cp:lastModifiedBy>
  <cp:revision>145</cp:revision>
  <cp:lastPrinted>2020-10-06T05:38:29Z</cp:lastPrinted>
  <dcterms:created xsi:type="dcterms:W3CDTF">2019-04-25T02:35:23Z</dcterms:created>
  <dcterms:modified xsi:type="dcterms:W3CDTF">2026-06-10T05:14:24Z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0x010100020C45F11115134F91C22EC17B4E2172</vt:lpwstr>
  </property>
</Properties>
</file>